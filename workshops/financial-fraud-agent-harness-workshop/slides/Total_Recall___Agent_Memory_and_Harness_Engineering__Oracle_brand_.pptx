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86067"/>
  </p:normalViewPr>
  <p:slideViewPr>
    <p:cSldViewPr snapToGrid="0" snapToObjects="1">
      <p:cViewPr>
        <p:scale>
          <a:sx n="54" d="100"/>
          <a:sy n="54" d="100"/>
        </p:scale>
        <p:origin x="1992" y="6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3121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Thesis: agent reliability is a harness problem, and memory is its non-negotiable core. Agent = Model + Harness. We dissect the harness layer by layer, then map every layer onto Oracle primitives.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Thesis: agent reliability is a harness problem, and memory is its non-negotiable core. Agent = Model + Harness. We dissect the harness layer by layer, then map every layer onto Oracle primitives.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what the agent stack is and zoom into the data layer where memory lives. Then , shapes of AI apps, what an agent is, followed by the seven layers that make up an agent harness; finally talk a bit about continual learning, and how Oracle is uniquely positioned to help in the development of all of this.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agent sits on five layers: Application (the product surface), Data (memory, knowledge, retrieval), Model (the reasoning LLM), Infrastructure (orchestration, serving, security), and Compute (GPUs and the database engine).
The application, model, infrastructure and compute layers are increasingly commoditised:
The data layer is where memory and reliability are won, and where we will focus today.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layer is where the agent harness appears.
A Gateway and MCP Connectivity layer is the agent's door to tools and data.
Behind it sit the data layers
- Memory (episodic, semantic, working)
- Semantic layer (what the schema means)
- Retrieval (keyword, vector, rerank)
- Context (compaction and offloading)
- Tools and Skills as searchable memory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applications take four shapes from passive to active: chatbot, RAG, workflow automation, agents. The frontier is the bottom two converging.
We see people talking about AI developers using agents to build automations rather than simply writing code lately – people are starting to build automations and workflows that can be reused over and over to maximize productivity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functions: reasoning (the model), memory (the database), action (tools), perception (inputs). Memory is the one most teams under-build.
Reasoning + memory + tools  + perception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agent is reasoning + memory + tools + perception. Three of those (memory, tools, perception) are infrastructure the agent engineer owns; reasoning is the frontier labs' remit. The goal of harness engineering: reliable, predictable behaviour that survives a model swap.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applications take four shapes from passive to active: chatbot, RAG, workflow automation, agents. The frontier is the bottom two converging.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applications take four shapes from passive to active: chatbot, RAG, workflow automation, agents. The frontier is the bottom two converging.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forces converge. 
Automation gives reliability; autonomy gives flexibility. 
Agentic products sit at the meeting point: OpenAI Codex, Claude Cowork, Claude Code, OpenClaw (open-source personal agent), and Nous Research's Hermes (a self-improving skills-and-memory loop). Automate the routine, decide the rest.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harness is the engineering scaffolding around a model and its agent loop: memory, retrieval, tools, context and control. The model is capable but stateless and non-deterministic; the harness is what turns that raw capability into a system that produces reliable, repeatable outcomes across executions.
This is the core equation of the talk: agent equals model plus harness, and the harness is where the engineering lives.
MODEL ITSELF: NONDETERMINISTIC
HARNESS: DETERMINISTIC, RELIABLE, REPEATABLE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 Model + Harness. Reasoning feeds the Model box, the part you rent from frontier labs. Memory, tools and perception feed the Harness box, the infrastructure you build and own, along with the other surfaces that support them. The model is one box; the rest is the harness, and where reliability is won or lost.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harness encapsulates seven layers, built bottom-up. The model sits at the core (shown dark): the one part you do not build, wrapped by everything you do. 
Three layers, encoding and retrieval, memory, and the semantic layer, are the heart of memory engineering. 
We return to this container at the end, mapped to Oracle primitives. ----- UNTIL HERE WE HAVE DONE AN INTRODUCTION TO WHAT AN AI AGENT IS, THE COMPONENTS OF A SYSTEM, ITS USE CASES. NOW WE DIVE DEEPER INTO AN AGENT HARNESS AND ITS COMPONENTS.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layer is the reasoning core. Frozen between turns. That is the motivation for the harness, and later for continual learning in token space.
MOTIVATION TO SOLVE THIS FROZEN STATE -&amp;gt; CONTINUAL LEARNING
WEIGHTS NEVER CHANGE 99.99999% TIME. BUT WAIT...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camps are right. Files match the model's instincts and are cheap; databases give safety and search. The resolution: use each for what it is good at.
(
Transactional consistency ACID 
Hybrid search rather tan grepping
Backups, and many other database benefits not present in Operating Systems: data security too (kept inside the db: kept safe with one single point of entry) vs. In the OS: many attack vectors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are attractive: the model speaks them and they externalise state for free. The catch is concurrency, search, and being outside the database's guarantees.
FILES: Easy to write, hard to linearly scale too (no indexes and no structured query method) 
The notebook shows two workers losing updates on a plain file.
Transactional consistency ACID 
Hybrid search rather tan grepping
Backups, and many other database benefits not present in Operating Systems: data security too (kept inside the db: kept safe with one single point of entry) vs. In the OS: many attack vectors
DATA SECURITY VS. MANY ATTACK VECTORS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database adds: durability and isolation, vector search, relations and ranking, enterprise scale and security. Isolation is the one that bites agents under concurrent tool calls.
ACID: Atomic, Consistent, Isolated, Durable
High Availability with my example: a couple of months ago I lost my whole cloud environment where I was coding 24/7 – had I had a system that would save my skills, workflows, etc… I wouldn’t have had to start all over again. 
DEGENERATE LIKE ME
AGENTS + SUBAGENTS
WORKTREES -&amp;gt; MERGE AT THE END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DBFS puts a POSIX filesystem (compatible amongst different OS’s) inside the database on SecureFile LOBs. Agents get the verbs they know; you keep ACID, vector search, relations, security. </a:t>
            </a:r>
          </a:p>
          <a:p>
            <a:r>
              <a:rPr lang="en-US" dirty="0"/>
              <a:t>
The file interface is </a:t>
            </a:r>
            <a:r>
              <a:rPr lang="en-US" dirty="0" err="1"/>
              <a:t>posix</a:t>
            </a:r>
            <a:r>
              <a:rPr lang="en-US" dirty="0"/>
              <a:t> compatible 
Hybrid system works best: Short-term scratch lives in files; a scheduled pipeline promotes keepers into long-term tables.</a:t>
            </a:r>
          </a:p>
          <a:p>
            <a:endParaRPr lang="en-US" dirty="0"/>
          </a:p>
          <a:p>
            <a:r>
              <a:rPr lang="en-US" dirty="0"/>
              <a:t>WHAT HAPPENS WHEN YOU HAVE MULTIPLE AGENTS WORKING ON THE SAME CODEBASE? -&gt;&gt; WORKTREES!!!</a:t>
            </a:r>
          </a:p>
          <a:p>
            <a:endParaRPr lang="en-US" dirty="0"/>
          </a:p>
          <a:p>
            <a:r>
              <a:rPr lang="en-US" dirty="0"/>
              <a:t>+ TRANSACTION CONSISTENCY: ACID (POSITIVE DB)</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Encoding computes embeddings in-database via OracleVS: one model, one vector space. Retrieval climbs a ladder: keyword, vector, hybrid RRF, cross-encoder rerank. Retrieval is progressive disclosure for tables.
LANGCHAIN-ORACLEDB 
IN-DB SUPPORT</a:t>
            </a:r>
          </a:p>
          <a:p>
            <a:endParaRPr lang="en-US" dirty="0"/>
          </a:p>
          <a:p>
            <a:r>
              <a:rPr lang="en-US" dirty="0"/>
              <a:t>EMBEDDINGS INSIDE THE DATABASE! IMPORTANT BECAUSE DATA NEVER LEAVES.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embedder is a bi-encoder, the reranker is a cross-encoder, and they act at different times. At indexing time the bi-encoder encodes each document alone into one fixed vector, stored in the HNSW index. At query time the bi-encoder encodes the query alone, a cheap cosine nearest-neighbour pulls top-N candidates, and the cross-encoder then reads each query-document pair together to score relevance precisely, returning the top-k. Bi-encoder: separate and precomputed, fast over millions but approximate. Cross-encoder: joint and accurate but expensive, so only on the shortlist. The shape is the lesson: retrieve cheaply, then rerank precisely.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APPLICATION: LOTS OF MAINTENANCE + ENGINEERING EFFORT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AGENTS NEED TO MAINTAIN ALL OF THIS </a:t>
            </a:r>
          </a:p>
          <a:p>
            <a:endParaRPr lang="en-US" dirty="0"/>
          </a:p>
          <a:p>
            <a:r>
              <a:rPr lang="en-US" dirty="0"/>
              <a:t>+ TOKENS + LATENCY + COMPLEXITY (UNNECESSARILY)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converged database is a single database engine that natively supports multiple data models and workload types — relational, vector, graph, spatial, JSON, and key-value — without requiring separate systems for each. 
BY HAVING DATA IN OUR DB, YOU WILL SAVE TIME AND HEADACHES: ALL REASONS EXPLAINED + SECURITY UPDATES. 
ONE ENGINE, ONE QUERY INTERFACE, ONE DEV STACK. 
Rather than forcing architects to stitch together a vector store for semantic search, a graph database for entity traversal, and a relational system for transactional records, a converged database handles all of these within one engine, one query interface, and one operational stack. The practical consequence for AI agent pipelines is significant: a single SQL statement can join across structured customer records, semantically retrieved policy documents, and graph-traversed relationship paths simultaneously, with full ACID guarantees spanning every data type. 
This eliminates the data synchronisation tax — the per-inference latency, consistency risk, and engineering overhead incurred when an agent must coordinate reads and writes across multiple disconnected stores. Oracle AI Database is the canonical example, providing vector search, native graph traversal, spatial indexing, JSON storage, and relational querying within a single converged engine purpose-built for the demands of production AI workloads.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BE THE ENGINE IN YOUR AI APPS.
The encapsulation point: Oracle is the engine, not a step in a pipeline. The container holds the ingestion pipeline, the embedding model, vector search and the reranker. Only the data sources, the user query, the LLM (OCI Generative AI) and the grounded response sit outside. Sources land as a data object, are chunked, cleaned and redacted, embedded in-database, and stored as spatial, JSON, graph, operational and vector. A query is embedded, vector-searched top-k against the same store, reranked, then handed to the LLM for the grounded answer.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memory: the persistent, governable store of what the agent knows and has done, kept outside the model so it survives restarts.)
</a:t>
            </a:r>
          </a:p>
          <a:p>
            <a:r>
              <a:rPr lang="en-US" dirty="0"/>
              <a:t>WE INTERACT WITH AI AGENTS EVERYDAY
We wanna REUSE this data (and refine it in the process) so next time we observe a problem, this problem becomes easier for our AI Agents.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lnSpc>
                <a:spcPct val="92160"/>
              </a:lnSpc>
              <a:buNone/>
            </a:pPr>
            <a:r>
              <a:rPr lang="en-US" sz="1200" i="1" dirty="0">
                <a:solidFill>
                  <a:srgbClr val="C3D7DC"/>
                </a:solidFill>
                <a:latin typeface="Oracle Sans Tab" pitchFamily="34" charset="0"/>
                <a:ea typeface="Oracle Sans Tab" pitchFamily="34" charset="-122"/>
                <a:cs typeface="Oracle Sans Tab" pitchFamily="34" charset="-120"/>
              </a:rPr>
              <a:t>Short term is ephemeral, long term persists across sessions, and shared memory spans agents. Naming the types tells you where each kind should live.</a:t>
            </a:r>
          </a:p>
          <a:p>
            <a:pPr marL="0" indent="0" algn="l">
              <a:lnSpc>
                <a:spcPct val="92160"/>
              </a:lnSpc>
              <a:buNone/>
            </a:pPr>
            <a:endParaRPr lang="en-US" sz="1200" i="1" dirty="0">
              <a:solidFill>
                <a:srgbClr val="C3D7DC"/>
              </a:solidFill>
              <a:latin typeface="Oracle Sans Tab" pitchFamily="34" charset="0"/>
              <a:cs typeface="Oracle Sans Tab" pitchFamily="34" charset="-120"/>
            </a:endParaRPr>
          </a:p>
          <a:p>
            <a:pPr marL="0" indent="0" algn="l">
              <a:lnSpc>
                <a:spcPct val="92160"/>
              </a:lnSpc>
              <a:buNone/>
            </a:pPr>
            <a:r>
              <a:rPr lang="en-US" sz="1200" i="1" dirty="0">
                <a:solidFill>
                  <a:srgbClr val="C3D7DC"/>
                </a:solidFill>
                <a:latin typeface="Oracle Sans Tab" pitchFamily="34" charset="0"/>
                <a:cs typeface="Oracle Sans Tab" pitchFamily="34" charset="-120"/>
              </a:rPr>
              <a:t>SHORT TERM = SCRATCHPAD, IDEAS IN SHORT BUFFER LIKE HUMANS</a:t>
            </a:r>
          </a:p>
          <a:p>
            <a:pPr marL="0" indent="0" algn="l">
              <a:lnSpc>
                <a:spcPct val="92160"/>
              </a:lnSpc>
              <a:buNone/>
            </a:pPr>
            <a:r>
              <a:rPr lang="en-US" sz="1200" i="1" dirty="0">
                <a:solidFill>
                  <a:srgbClr val="C3D7DC"/>
                </a:solidFill>
                <a:latin typeface="Oracle Sans Tab" pitchFamily="34" charset="0"/>
                <a:cs typeface="Oracle Sans Tab" pitchFamily="34" charset="-120"/>
              </a:rPr>
              <a:t>LONG TERM &lt;- SHORT TERM AFTER SOME TIME</a:t>
            </a:r>
          </a:p>
          <a:p>
            <a:pPr marL="0" indent="0" algn="l">
              <a:lnSpc>
                <a:spcPct val="92160"/>
              </a:lnSpc>
              <a:buNone/>
            </a:pPr>
            <a:endParaRPr lang="en-US" sz="1200" i="1" dirty="0">
              <a:solidFill>
                <a:srgbClr val="C3D7DC"/>
              </a:solidFill>
              <a:latin typeface="Oracle Sans Tab" pitchFamily="34" charset="0"/>
              <a:cs typeface="Oracle Sans Tab" pitchFamily="34" charset="-120"/>
            </a:endParaRPr>
          </a:p>
          <a:p>
            <a:pPr marL="0" indent="0" algn="l">
              <a:lnSpc>
                <a:spcPct val="92160"/>
              </a:lnSpc>
              <a:buNone/>
            </a:pPr>
            <a:r>
              <a:rPr lang="en-US" sz="1200" i="1" dirty="0">
                <a:solidFill>
                  <a:srgbClr val="C3D7DC"/>
                </a:solidFill>
                <a:latin typeface="Oracle Sans Tab" pitchFamily="34" charset="0"/>
                <a:cs typeface="Oracle Sans Tab" pitchFamily="34" charset="-120"/>
              </a:rPr>
              <a:t>LONG TERM MEMORY NEEDS TO PERSIST ACROSS SESSIONS / HUMAN DAYS</a:t>
            </a:r>
          </a:p>
          <a:p>
            <a:pPr marL="171450" indent="-171450" algn="l">
              <a:lnSpc>
                <a:spcPct val="92160"/>
              </a:lnSpc>
              <a:buFontTx/>
              <a:buChar char="-"/>
            </a:pPr>
            <a:r>
              <a:rPr lang="en-US" sz="1200" i="1" dirty="0">
                <a:solidFill>
                  <a:srgbClr val="C3D7DC"/>
                </a:solidFill>
                <a:latin typeface="Oracle Sans Tab" pitchFamily="34" charset="0"/>
                <a:cs typeface="Oracle Sans Tab" pitchFamily="34" charset="-120"/>
              </a:rPr>
              <a:t>Muscle memory</a:t>
            </a:r>
          </a:p>
          <a:p>
            <a:pPr marL="171450" indent="-171450" algn="l">
              <a:lnSpc>
                <a:spcPct val="92160"/>
              </a:lnSpc>
              <a:buFontTx/>
              <a:buChar char="-"/>
            </a:pPr>
            <a:r>
              <a:rPr lang="en-US" sz="1200" i="1" dirty="0">
                <a:solidFill>
                  <a:srgbClr val="C3D7DC"/>
                </a:solidFill>
                <a:latin typeface="Oracle Sans Tab" pitchFamily="34" charset="0"/>
                <a:cs typeface="Oracle Sans Tab" pitchFamily="34" charset="-120"/>
              </a:rPr>
              <a:t>THINGS LIKE: IF I HIT THESE 4 MUSCLE GROUPS IN THE GYM, I GET A GOOD WORKOUT. -&gt; WORKFLOW MEMORY. SKILLS EXECUTED IN THE SAME ORDER (LIKE SKILL.MDS)</a:t>
            </a:r>
          </a:p>
          <a:p>
            <a:pPr marL="171450" indent="-171450" algn="l">
              <a:lnSpc>
                <a:spcPct val="92160"/>
              </a:lnSpc>
              <a:buFontTx/>
              <a:buChar char="-"/>
            </a:pPr>
            <a:r>
              <a:rPr lang="en-US" sz="1200" i="1" dirty="0">
                <a:solidFill>
                  <a:srgbClr val="C3D7DC"/>
                </a:solidFill>
                <a:latin typeface="Oracle Sans Tab" pitchFamily="34" charset="0"/>
                <a:cs typeface="Oracle Sans Tab" pitchFamily="34" charset="-120"/>
              </a:rPr>
              <a:t>ENTITY / PERSONA MEMORY: WHO I AM</a:t>
            </a:r>
          </a:p>
          <a:p>
            <a:pPr marL="171450" indent="-171450" algn="l">
              <a:lnSpc>
                <a:spcPct val="92160"/>
              </a:lnSpc>
              <a:buFontTx/>
              <a:buChar char="-"/>
            </a:pPr>
            <a:r>
              <a:rPr lang="en-US" sz="1200" i="1" dirty="0">
                <a:solidFill>
                  <a:srgbClr val="C3D7DC"/>
                </a:solidFill>
                <a:latin typeface="Oracle Sans Tab" pitchFamily="34" charset="0"/>
                <a:cs typeface="Oracle Sans Tab" pitchFamily="34" charset="-120"/>
              </a:rPr>
              <a:t>SKILLBOX / TOOLBOX MEMORY </a:t>
            </a:r>
            <a:endParaRPr lang="en-US" sz="1200"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bigger window is not the fix: context rot. Two techniques, compaction (the OAMP context card) and offloading, keep token growth flat. Measured, not asserted.
In fact, LLM context window scales attention matrix quadratically on attention based models which makes values in the attention matrix less relevant vs. having a smaller context window. Mentions ome papers that study the degradation in performance between 256k and 1M and it’s quite appalling for some use cases. 
CONTEXT ROT + ATTENTION MATRIX DEGRADATION
I TALK TO YOU FOR 8 HOURS: BEGINNING OK, AFTER 8 HOURS YOU WANT TO PUNCH ME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engineering is the discipline of building and operating the systems that give an agent memory: schemas, indexes, retrieval, lifecycle, governance. It is the name for treating memory as engineering, not a bolt-on. The next three layers (encoding and retrieval, memory, semantic) are its core.
RETAIN RECALL REUSE REFINE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five surfaces: schemas, indexes, lifecycle, retrieval, governance. OAMP is Oracle's managed answer: durable memory, scoped threads, and a scratchpad.
Different memory types: short term, long term… each one with their own use – we have different types of retrieval and types of data we store, we have ways to manage the context like summarization and compaction – we have retrieval strategies in place, etc.</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five surfaces: schemas, indexes, lifecycle, retrieval, governance.
OAMP is Oracle's managed answer: durable memory, scoped threads, and a scratchpad.
OAMP IS THE MANAGED ANSWER TO INTERACT AND WORK WITH AGENT MEMORY.</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card is not just convenience: it absorbs a whole category of cognitive load. Without OAMP you decide when to summarise, write a summariser that keeps signal and drops filler, rank and retrieve relevant memories per turn, extract durable facts from chatty conversation, glue summary, memories and recent turns into a prompt, and bound it all to a token budget. With OAMP it is one call, mem.context_card(thread_id), returning a bounded, prompt-ready block: topics, summary, relevant memories, recent turns. The payoff is twofold: the developer writes one line instead of a memory subsystem, and the agent spends its attention on the task instead of housekeeping its own memory. That is the promise of memory engineering: make the hard, easy-to-get-wrong parts of remembering a solved, reusable component.
WE WANNA REDUCE THE COGNITIVE LOAD OF YOU, AS AN AI DEVELOPER OR AI ENGINEER
LOTS OF DECISIONS TO MAKE (LEFT). BUT, OAMP SOLVES ALL OF THEM FOR YOU.</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card is OAMP's prompt-assembly primitive: one call returns four parts, ready for the next turn. Topics give a semantic fingerprint; the summary is a recap plus current intent; relevant information is typed and timestamped (a fact is truth, a preference shapes the answer, an episodic memory tracks task state, including the open, unanswered question); recent messages are the last turns verbatim. It compacts by construction, bounds prompt size, and lives in Oracle.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Topics orient the model
- the summary compacts the thread and states the current intent of the agent
- relevant information is typed (fact, preference, episodic memory) and timestamped, so the model treats truth, styling rules, and task state differently,
- the episodic memory explicitly tracks the open, unanswered question
- recent messages give verbatim local context.
All of it assembled by one call</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Revisit the stack. Memory (layer 4) recalls what happened; the semantic layer (layer 5) explains what the data means. They work together: the semantic layer makes the unsaid searchable, and memory recall lands in the right context. That pairing is what grounds the agent.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semantic layer is the machine-readable meaning of your schema, scanned into a searchable catalog and refreshed on a schedule.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Grounding gives the agent a surface lens onto its reality, so it filters and acts only on what matters. The analogy: humans do not see the world as it is; the brain filters by experience and relevance. The named concept is Umwelt, coined by Jakob von Uexkull: each organism perceives only its own relevant slice of reality. The semantic layer is the agent's Umwelt.</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captures the said: every interaction with the agent. But most organisational knowledge was never typed into a chat. The hard part is not remembering the conversation, it is everything the conversation assumes.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unsaid is the real knowledge: institutional (the rules and definitions), tribal (what the team just knows), and domain context (what the data means). It lives in how data is modelled, how queries are executed, and the metadata in infrastructure artefacts. It is already in the database.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agent's grounding comes from. In the database, schema meaning exists in two flavours. Institutional knowledge is declared and shared: business views (correct joins and formulas, pre-named), column and table comments, machine-readable annotations, use-case domains (value-type contracts) and foreign keys (joins the agent can trust). Tribal knowledge is observed, not declared: the live V$SQL workload reveals which columns and joins people actually use. A scanner runs on a schedule inside the database, reads the dictionary, the foreign keys and the V$SQL workload, and embeds each finding into a searchable catalog, which is the agent's entity memory. Separately, the memory layer (OAMP) holds episodic, semantic and working memory: what the agent already knows about the user, the domain and the task. The agent assembles both the semantic catalog and memory into one context window and reasons over them, producing a more grounded response: correct joins and formulas, real column meaning, anchored in what it remembers.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loop is the driver: assemble, call, dispatch, persist, repeat under a budget.
It is what makes a model an agent.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compiled graph. __start__ enters assemble_context (OBSERVE); call_model (REASON) decides; persist saves state every turn; then a conditional edge: stop ends at __end__, or tools routes to dispatch_tools (ACT), whose results re-enter assemble_context on the next iteration. It loops under an iteration and wall-clock budget. Dynamic recall every turn, retry-based recovery, and a human gate on side effects.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CONTEXT ENGINEERING, ONLY USE THE TOOLS THAT WILL BE USEFUL IN THE ITERATION OF THE LOOP. 
REEVALUATE EVERY ITERATION</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Oracle's first MCP server shipped in July for the database - a real product milestone. One GitHub repo now holds around thirty sample servers: MySQL on-prem and HeatWave, JDBC debugging for Java developers, OCI cost estimator and Terraform stacks. New servers land monthly.
Two server shapes: OCI-managed, with OAuth 2 and identity federation (Azure Entra ID, Okta, Auth0), running across Oracle Cloud and Oracle at hyperscaler on AWS and GCP; and HTTPS streaming for on-prem customers who manage their own servers.
Security is two layers: the MCP layer authenticates to the web service, then the database's own security applies. Because OAuth 2 identity - roles and user info - propagates into the database session, rules like role-based redaction still hold for an agentic query. That bundle is Deep Data Security.
Setup cost: federation takes system administrators a couple of days; end users do a one-time OAuth login.
Coverage: all currently supported releases, 19 and 26, including the free downloadable edition and the Docker containers. oracle.com/mcp.</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flow is natural language to SQL, and it is brittle: the same question compiles to a different query on a different turn, table relationships get inferred rather than known, and you maintain prompts instead of queries.
Oracle's differentiator: upload the reports your analysts already wrote - hard-coded queries included - into the MCP server. The agent selects a report and binds the inputs rather than authoring SQL. Consistent, trustworthy, and it reuses work that already exists.
Pain points worth naming: security anxiety about agents loose in the database, and integration fatigue from wiring the same thing into every data platform - set it up once, at the database. And demos are easy, production is not, so pick a pressing, painful problem first.
A report is just a tool - which is exactly how it enters the registry we retrieve from. That is the segue into the toolbox pattern.</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Skillbox = skills as searchable memory. A workflow is distilled by the LLM into a SKILL.md (frontmatter + When-to-use + Steps), SHA-256 versioned, embedded, stored in agent_skills (HNSW). Retrieval is two-level: a compact manifest every turn, the full body on demand. SHA gates refresh; promotion retires the raw workflow.</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Dynamic skill discovery lives in assemble_context, which runs every turn. It queries the semantic catalog, the skillbox manifest, proven workflow recipes, and the OAMP context card against the latest user message, assembles them into the system prompt, and calls the model. So a skill learned this session surfaces on the next relevant turn automatically.</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offloading keeps the context window flat. It sits in the agent loop's dispatch_tools node: after a tool runs, its raw string result passes through maybe_offload before being wrapped in a ToolMessage, so whatever maybe_offload returns is what the model sees. The size gate: if the result is under 1200 characters it is returned unchanged and stays inline, with no indirection cost. Otherwise a deterministic md5 hash names the payload (same payload, same name), and a type router checks whether the result begins with a brace or bracket. Structured results (JSON) are embedded in the database with the same 384-dimension ONNX model and inserted into the agent_tool_log table (id, tool, payload CLOB, embedding VECTOR(384), HNSW index), so past tool outputs stay vector-searchable; the model gets back the handle [tool_log:&amp;lt;id&amp;gt;]. Blobs are written to a ScratchFS file at /tool_out/&amp;lt;tool&amp;gt;_&amp;lt;md5&amp;gt;.txt on a SecureFile LOB (a deterministic name, so the same blob overwrites the same file, a natural dedup), and the model gets the handle [file:/tool_out/...], sliceable later with read_file, tail_file or grep_files. Recovery is fetch_tool_output, itself a registered tool retrieved by meaning, so the model decides when to pull the full data back: it dispatches on the handle prefix, SELECT payload for a tool_log id, read_file for a file path. Net effect: a 120-row result of several thousand characters becomes a forty-to-sixty character handle in context, a large reduction that is fully recoverable. This is the tool-output twin of the context card: the card compacts the conversation, offloading compacts tool results, and both keep the window flat while the full data stays durable in Oracle and retrievable on demand.</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Continual learning: getting better from experience after training, without a full retrain. The interesting question is the storage location of the new knowledge.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How does the agent get better when the model is frozen? By choosing where new knowledge is stored.</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Continual learning branches by where knowledge is stored: weight space (parametric, fine-tuning), latent space (representational, embedding training), and context/token space (non-parametric, RAG and memory). Our agent learns in the third: non-parametric memory.</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 taxonomy: weight space (parameter updates), latent space (representation adaptation), token/context space (external memory), and hybrid combinations. Equivalently, continual learning is parametric plus representational plus non-parametric memory. Our agent is non-parametric.</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fill the window. Left: raw workflow recipes, verbose and re-derived, retrieved as lower-priority text. Right: a compact skills manifest in the system layer, with the full body loaded on demand. Same knowledge, different home. Skills win on compactness and priority.</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promote_workflow_to_skill turns a one-off trajectory into a reusable skill. A captured workflow recipe is checked: worth promoting only if it recurs and is reliable (successes beat failures). If not, it stays a candidate recipe, still recalled into context. If yes, the LLM distils it into a proper SKILL.md (frontmatter, when-to-use, steps); a deterministic fallback guarantees a valid skill even if the JSON is malformed, so the pipeline never breaks. save_skill stores the SKILL.md, its SHA and embedding in the skillbox. Then two things happen, and they are the point: the raw workflow is marked promoted='Y' so recall_workflow skips it (the skill is now the canonical version), and in Part 7 the skill is injected first in the system prompt. Why does that earn more weight? Instruction hierarchy: system-level instructions outrank ordinary conversation, so a skill in the system prompt counts for more than the same steps buried in past turns. And attention is a budget: a short, curated skill is higher-signal per token and, placed near the top, counters lost-in-the-middle decay. This is continual learning in token space: not changing the weights, changing how much weight a piece of knowledge gets at inference.
This is one of the things we teach in the new deeplearning.ai course</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skills rank higher: frontier models are trained to follow an instruction hierarchy, system &amp;gt; developer &amp;gt; user &amp;gt; tool/retrieved content.
A SKILL.md loads into the system prompt, so it carries system-level authority, above ad-hoc retrieved workflow text. Prioritising privileged instructions also improves steerability and reliability. Implication: must-follow knowledge belongs in skills; volatile data belongs in retrieval.</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at a glance, read bottom-up, the order we build it. Foundation (1): the database, a least-privilege AGENT user, the loaded models. Substrate (2): one ACID boundary holding vector and relational tables plus an in-database scratch filesystem. Write side: encoding (3) turns text into in-database vectors; read side: retrieval (3) climbs the keyword, vector, hybrid, rerank ladder. The semantic layer (5) is the searchable map of the data's meaning. Cognitive memory (4) is OAMP: episodic, semantic, working and procedural. Context engineering (8) keeps the window flat. Skills and automations (6) are the toolbox and skillbox. The agent loop (7) ties it together. Two arrows carry the story: tools down the left (the only way to act) and read/write down the right (how it remembers). Every box lives in the one Oracle AI Database; only the chat model is reached over the network.</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bookend. The same container from earlier, every layer now a concrete Oracle primitive. The model is OCI Generative AI (with embedder and reranker in-database); everything else is Oracle products and packages, inside one engine.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bookend. The same container from earlier, every layer now a concrete Oracle primitive. The model is OCI Generative AI (with embedder and reranker in-database); everything else is Oracle products and packages, inside one engine.</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bookend. The same container from earlier, every layer now a concrete Oracle primitive. The model is OCI Generative AI (with embedder and reranker in-database); everything else is Oracle products and packages, inside one engine.</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jpe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jpe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jpe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21.png"/><Relationship Id="rId5" Type="http://schemas.openxmlformats.org/officeDocument/2006/relationships/image" Target="../media/image17.png"/><Relationship Id="rId10" Type="http://schemas.openxmlformats.org/officeDocument/2006/relationships/image" Target="../media/image20.png"/><Relationship Id="rId4" Type="http://schemas.openxmlformats.org/officeDocument/2006/relationships/image" Target="../media/image16.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2.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2.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jpeg"/><Relationship Id="rId7"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5.png"/><Relationship Id="rId4" Type="http://schemas.openxmlformats.org/officeDocument/2006/relationships/image" Target="../media/image24.png"/><Relationship Id="rId9" Type="http://schemas.openxmlformats.org/officeDocument/2006/relationships/image" Target="../media/image27.png"/></Relationships>
</file>

<file path=ppt/slides/_rels/slide2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jpeg"/><Relationship Id="rId7"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jpeg"/></Relationships>
</file>

<file path=ppt/slides/_rels/slide2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jpeg"/><Relationship Id="rId7"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jpeg"/></Relationships>
</file>

<file path=ppt/slides/_rels/slide3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jpeg"/><Relationship Id="rId7"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jpeg"/></Relationships>
</file>

<file path=ppt/slides/_rels/slide3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jpeg"/><Relationship Id="rId7"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jpeg"/><Relationship Id="rId9" Type="http://schemas.openxmlformats.org/officeDocument/2006/relationships/image" Target="../media/image33.png"/></Relationships>
</file>

<file path=ppt/slides/_rels/slide32.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26.png"/><Relationship Id="rId3" Type="http://schemas.openxmlformats.org/officeDocument/2006/relationships/image" Target="../media/image1.jpeg"/><Relationship Id="rId7" Type="http://schemas.openxmlformats.org/officeDocument/2006/relationships/image" Target="../media/image36.png"/><Relationship Id="rId12" Type="http://schemas.openxmlformats.org/officeDocument/2006/relationships/image" Target="../media/image18.png"/><Relationship Id="rId17" Type="http://schemas.openxmlformats.org/officeDocument/2006/relationships/image" Target="../media/image13.png"/><Relationship Id="rId2" Type="http://schemas.openxmlformats.org/officeDocument/2006/relationships/notesSlide" Target="../notesSlides/notesSlide32.xml"/><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5.png"/><Relationship Id="rId5" Type="http://schemas.openxmlformats.org/officeDocument/2006/relationships/image" Target="../media/image35.png"/><Relationship Id="rId15" Type="http://schemas.openxmlformats.org/officeDocument/2006/relationships/image" Target="../media/image41.png"/><Relationship Id="rId10" Type="http://schemas.openxmlformats.org/officeDocument/2006/relationships/image" Target="../media/image39.png"/><Relationship Id="rId4" Type="http://schemas.openxmlformats.org/officeDocument/2006/relationships/image" Target="../media/image34.png"/><Relationship Id="rId9" Type="http://schemas.openxmlformats.org/officeDocument/2006/relationships/image" Target="../media/image38.png"/><Relationship Id="rId1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43.jpeg"/></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41.png"/><Relationship Id="rId3" Type="http://schemas.openxmlformats.org/officeDocument/2006/relationships/image" Target="../media/image1.jpeg"/><Relationship Id="rId7" Type="http://schemas.openxmlformats.org/officeDocument/2006/relationships/image" Target="../media/image46.png"/><Relationship Id="rId12"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4.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45.png"/><Relationship Id="rId9" Type="http://schemas.openxmlformats.org/officeDocument/2006/relationships/image" Target="../media/image39.png"/></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49.png"/><Relationship Id="rId4" Type="http://schemas.openxmlformats.org/officeDocument/2006/relationships/image" Target="../media/image48.png"/></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11.png"/></Relationships>
</file>

<file path=ppt/slides/_rels/slide4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11.png"/><Relationship Id="rId4" Type="http://schemas.openxmlformats.org/officeDocument/2006/relationships/image" Target="../media/image51.png"/></Relationships>
</file>

<file path=ppt/slides/_rels/slide4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jpeg"/><Relationship Id="rId7" Type="http://schemas.openxmlformats.org/officeDocument/2006/relationships/image" Target="../media/image21.png"/><Relationship Id="rId12" Type="http://schemas.openxmlformats.org/officeDocument/2006/relationships/image" Target="../media/image15.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46.png"/><Relationship Id="rId11" Type="http://schemas.openxmlformats.org/officeDocument/2006/relationships/image" Target="../media/image13.png"/><Relationship Id="rId5" Type="http://schemas.openxmlformats.org/officeDocument/2006/relationships/image" Target="../media/image41.png"/><Relationship Id="rId10" Type="http://schemas.openxmlformats.org/officeDocument/2006/relationships/image" Target="../media/image18.png"/><Relationship Id="rId4" Type="http://schemas.openxmlformats.org/officeDocument/2006/relationships/image" Target="../media/image52.png"/><Relationship Id="rId9" Type="http://schemas.openxmlformats.org/officeDocument/2006/relationships/image" Target="../media/image39.png"/></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18.png"/></Relationships>
</file>

<file path=ppt/slides/_rels/slide5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1.jpeg"/><Relationship Id="rId7" Type="http://schemas.openxmlformats.org/officeDocument/2006/relationships/image" Target="../media/image56.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5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5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59.png"/><Relationship Id="rId4" Type="http://schemas.openxmlformats.org/officeDocument/2006/relationships/image" Target="../media/image14.png"/></Relationships>
</file>

<file path=ppt/slides/_rels/slide5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5.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12.png"/></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5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44.png"/><Relationship Id="rId11" Type="http://schemas.openxmlformats.org/officeDocument/2006/relationships/image" Target="../media/image20.png"/><Relationship Id="rId5" Type="http://schemas.openxmlformats.org/officeDocument/2006/relationships/image" Target="../media/image23.png"/><Relationship Id="rId10" Type="http://schemas.openxmlformats.org/officeDocument/2006/relationships/image" Target="../media/image45.png"/><Relationship Id="rId4" Type="http://schemas.openxmlformats.org/officeDocument/2006/relationships/image" Target="../media/image16.png"/><Relationship Id="rId9" Type="http://schemas.openxmlformats.org/officeDocument/2006/relationships/image" Target="../media/image14.png"/></Relationships>
</file>

<file path=ppt/slides/_rels/slide6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61.jpeg"/></Relationships>
</file>

<file path=ppt/slides/_rels/slide6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62.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99004" y="754373"/>
            <a:ext cx="7628826" cy="312399"/>
          </a:xfrm>
          <a:prstGeom prst="rect">
            <a:avLst/>
          </a:prstGeom>
          <a:noFill/>
          <a:ln/>
        </p:spPr>
        <p:txBody>
          <a:bodyPr wrap="square" lIns="25400" tIns="25400" rIns="25400" bIns="25400" rtlCol="0" anchor="t">
            <a:normAutofit/>
          </a:bodyPr>
          <a:lstStyle/>
          <a:p>
            <a:pPr marL="0" indent="0" algn="r">
              <a:lnSpc>
                <a:spcPct val="92160"/>
              </a:lnSpc>
              <a:buNone/>
            </a:pPr>
            <a:r>
              <a:rPr lang="en-US" sz="1800" b="1" dirty="0">
                <a:solidFill>
                  <a:srgbClr val="FFFFFF"/>
                </a:solidFill>
                <a:latin typeface="Oracle Sans Tab" pitchFamily="34" charset="0"/>
                <a:ea typeface="Oracle Sans Tab" pitchFamily="34" charset="-122"/>
                <a:cs typeface="Oracle Sans Tab" pitchFamily="34" charset="-120"/>
              </a:rPr>
              <a:t>ORACLE</a:t>
            </a:r>
            <a:r>
              <a:rPr lang="en-US" sz="1800" dirty="0">
                <a:solidFill>
                  <a:srgbClr val="C3D7DC"/>
                </a:solidFill>
                <a:latin typeface="Oracle Sans Tab" pitchFamily="34" charset="0"/>
                <a:ea typeface="Oracle Sans Tab" pitchFamily="34" charset="-122"/>
                <a:cs typeface="Oracle Sans Tab" pitchFamily="34" charset="-120"/>
              </a:rPr>
              <a:t>| AI Developer Experience</a:t>
            </a:r>
            <a:endParaRPr lang="en-US" sz="1200" dirty="0"/>
          </a:p>
        </p:txBody>
      </p:sp>
      <p:sp>
        <p:nvSpPr>
          <p:cNvPr id="4" name="Text 1"/>
          <p:cNvSpPr/>
          <p:nvPr/>
        </p:nvSpPr>
        <p:spPr>
          <a:xfrm>
            <a:off x="960096" y="3703288"/>
            <a:ext cx="17376769" cy="1882122"/>
          </a:xfrm>
          <a:prstGeom prst="rect">
            <a:avLst/>
          </a:prstGeom>
          <a:noFill/>
          <a:ln/>
        </p:spPr>
        <p:txBody>
          <a:bodyPr wrap="square" lIns="25400" tIns="25400" rIns="25400" bIns="25400" rtlCol="0" anchor="t">
            <a:normAutofit/>
          </a:bodyPr>
          <a:lstStyle/>
          <a:p>
            <a:pPr marL="0" indent="0" algn="l">
              <a:lnSpc>
                <a:spcPct val="84480"/>
              </a:lnSpc>
              <a:buNone/>
            </a:pPr>
            <a:r>
              <a:rPr lang="en-US" sz="7200" b="1" dirty="0">
                <a:solidFill>
                  <a:srgbClr val="FFFFFF"/>
                </a:solidFill>
                <a:latin typeface="Oracle Sans Tab" pitchFamily="34" charset="0"/>
                <a:ea typeface="Oracle Sans Tab" pitchFamily="34" charset="-122"/>
                <a:cs typeface="Oracle Sans Tab" pitchFamily="34" charset="-120"/>
              </a:rPr>
              <a:t>Total Recall: </a:t>
            </a:r>
            <a:r>
              <a:rPr lang="en-US" sz="6000" b="1" dirty="0">
                <a:solidFill>
                  <a:srgbClr val="FFFFFF"/>
                </a:solidFill>
                <a:latin typeface="Oracle Sans Tab" pitchFamily="34" charset="0"/>
                <a:ea typeface="Oracle Sans Tab" pitchFamily="34" charset="-122"/>
                <a:cs typeface="Oracle Sans Tab" pitchFamily="34" charset="-120"/>
              </a:rPr>
              <a:t>Agent Memory and Harness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2193059" y="821965"/>
            <a:ext cx="13901809" cy="723846"/>
          </a:xfrm>
          <a:prstGeom prst="rect">
            <a:avLst/>
          </a:prstGeom>
          <a:noFill/>
          <a:ln/>
        </p:spPr>
        <p:txBody>
          <a:bodyPr wrap="square" lIns="25400" tIns="25400" rIns="25400" bIns="25400" rtlCol="0" anchor="t">
            <a:normAutofit/>
          </a:bodyPr>
          <a:lstStyle/>
          <a:p>
            <a:pPr marL="0" indent="0" algn="ctr">
              <a:lnSpc>
                <a:spcPct val="92160"/>
              </a:lnSpc>
              <a:buNone/>
            </a:pPr>
            <a:r>
              <a:rPr lang="en-US" sz="4500" b="1" u="sng" dirty="0">
                <a:solidFill>
                  <a:srgbClr val="FD6953"/>
                </a:solidFill>
                <a:latin typeface="Oracle Sans Tab" pitchFamily="34" charset="0"/>
                <a:ea typeface="Oracle Sans Tab" pitchFamily="34" charset="-122"/>
                <a:cs typeface="Oracle Sans Tab" pitchFamily="34" charset="-120"/>
              </a:rPr>
              <a:t>WORKSHOP INSTRUCTIONS</a:t>
            </a:r>
            <a:endParaRPr lang="en-US" sz="4500" dirty="0"/>
          </a:p>
        </p:txBody>
      </p:sp>
      <p:pic>
        <p:nvPicPr>
          <p:cNvPr id="4" name="Image 1" descr="preencoded.png"/>
          <p:cNvPicPr>
            <a:picLocks noChangeAspect="1"/>
          </p:cNvPicPr>
          <p:nvPr/>
        </p:nvPicPr>
        <p:blipFill>
          <a:blip r:embed="rId4"/>
          <a:srcRect/>
          <a:stretch/>
        </p:blipFill>
        <p:spPr>
          <a:xfrm>
            <a:off x="5843571" y="3492810"/>
            <a:ext cx="6600785" cy="6600785"/>
          </a:xfrm>
          <a:prstGeom prst="rect">
            <a:avLst/>
          </a:prstGeom>
        </p:spPr>
      </p:pic>
      <p:sp>
        <p:nvSpPr>
          <p:cNvPr id="5" name="Text 1"/>
          <p:cNvSpPr/>
          <p:nvPr/>
        </p:nvSpPr>
        <p:spPr>
          <a:xfrm>
            <a:off x="5047288" y="2124986"/>
            <a:ext cx="8721731"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workshopwaitingroom.com</a:t>
            </a:r>
            <a:endParaRPr lang="en-US" sz="5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pic>
        <p:nvPicPr>
          <p:cNvPr id="3" name="Image 1" descr="preencoded.png"/>
          <p:cNvPicPr>
            <a:picLocks noChangeAspect="1"/>
          </p:cNvPicPr>
          <p:nvPr/>
        </p:nvPicPr>
        <p:blipFill>
          <a:blip r:embed="rId4"/>
          <a:srcRect t="-1" b="-1"/>
          <a:stretch/>
        </p:blipFill>
        <p:spPr>
          <a:xfrm>
            <a:off x="3699464" y="0"/>
            <a:ext cx="10888017" cy="1028696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pic>
        <p:nvPicPr>
          <p:cNvPr id="3" name="Image 1" descr="preencoded.png"/>
          <p:cNvPicPr>
            <a:picLocks noChangeAspect="1"/>
          </p:cNvPicPr>
          <p:nvPr/>
        </p:nvPicPr>
        <p:blipFill>
          <a:blip r:embed="rId4"/>
          <a:srcRect l="-2" r="-2"/>
          <a:stretch/>
        </p:blipFill>
        <p:spPr>
          <a:xfrm>
            <a:off x="3314681" y="750548"/>
            <a:ext cx="11658564" cy="87858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pic>
        <p:nvPicPr>
          <p:cNvPr id="3" name="Image 1" descr="preencoded.png"/>
          <p:cNvPicPr>
            <a:picLocks noChangeAspect="1"/>
          </p:cNvPicPr>
          <p:nvPr/>
        </p:nvPicPr>
        <p:blipFill>
          <a:blip r:embed="rId4"/>
          <a:srcRect t="-5" b="-5"/>
          <a:stretch/>
        </p:blipFill>
        <p:spPr>
          <a:xfrm>
            <a:off x="-59996" y="0"/>
            <a:ext cx="18347975" cy="4270023"/>
          </a:xfrm>
          <a:prstGeom prst="rect">
            <a:avLst/>
          </a:prstGeom>
        </p:spPr>
      </p:pic>
      <p:pic>
        <p:nvPicPr>
          <p:cNvPr id="4" name="Image 2" descr="preencoded.png"/>
          <p:cNvPicPr>
            <a:picLocks noChangeAspect="1"/>
          </p:cNvPicPr>
          <p:nvPr/>
        </p:nvPicPr>
        <p:blipFill>
          <a:blip r:embed="rId5"/>
          <a:srcRect l="-2" r="-2"/>
          <a:stretch/>
        </p:blipFill>
        <p:spPr>
          <a:xfrm>
            <a:off x="-59996" y="4270023"/>
            <a:ext cx="18347975" cy="610836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21" y="385010"/>
            <a:ext cx="18287979" cy="10286969"/>
          </a:xfrm>
          <a:prstGeom prst="rect">
            <a:avLst/>
          </a:prstGeom>
        </p:spPr>
      </p:pic>
      <p:sp>
        <p:nvSpPr>
          <p:cNvPr id="3" name="Text 0"/>
          <p:cNvSpPr/>
          <p:nvPr/>
        </p:nvSpPr>
        <p:spPr>
          <a:xfrm>
            <a:off x="2679026" y="2895532"/>
            <a:ext cx="1165849" cy="312399"/>
          </a:xfrm>
          <a:prstGeom prst="rect">
            <a:avLst/>
          </a:prstGeom>
          <a:noFill/>
          <a:ln/>
        </p:spPr>
        <p:txBody>
          <a:bodyPr wrap="square" lIns="25400" tIns="25400" rIns="25400" bIns="25400" rtlCol="0" anchor="t">
            <a:normAutofit/>
          </a:bodyPr>
          <a:lstStyle/>
          <a:p>
            <a:pPr marL="0" indent="0" algn="r">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ORACLE</a:t>
            </a:r>
            <a:endParaRPr lang="en-US" sz="1800" dirty="0"/>
          </a:p>
        </p:txBody>
      </p:sp>
      <p:sp>
        <p:nvSpPr>
          <p:cNvPr id="4" name="Text 1"/>
          <p:cNvSpPr/>
          <p:nvPr/>
        </p:nvSpPr>
        <p:spPr>
          <a:xfrm>
            <a:off x="869611" y="1603985"/>
            <a:ext cx="17376769" cy="1043930"/>
          </a:xfrm>
          <a:prstGeom prst="rect">
            <a:avLst/>
          </a:prstGeom>
          <a:noFill/>
          <a:ln/>
        </p:spPr>
        <p:txBody>
          <a:bodyPr wrap="square" lIns="25400" tIns="25400" rIns="25400" bIns="25400" rtlCol="0" anchor="t">
            <a:normAutofit/>
          </a:bodyPr>
          <a:lstStyle/>
          <a:p>
            <a:pPr marL="0" indent="0" algn="l">
              <a:lnSpc>
                <a:spcPct val="84480"/>
              </a:lnSpc>
              <a:buNone/>
            </a:pPr>
            <a:r>
              <a:rPr lang="en-US" sz="7200" b="1" dirty="0">
                <a:solidFill>
                  <a:srgbClr val="FD6953"/>
                </a:solidFill>
                <a:latin typeface="Oracle Sans Tab" pitchFamily="34" charset="0"/>
                <a:ea typeface="Oracle Sans Tab" pitchFamily="34" charset="-122"/>
                <a:cs typeface="Oracle Sans Tab" pitchFamily="34" charset="-120"/>
              </a:rPr>
              <a:t>Who Am I?</a:t>
            </a:r>
            <a:endParaRPr lang="en-US" sz="7200" dirty="0"/>
          </a:p>
        </p:txBody>
      </p:sp>
      <p:sp>
        <p:nvSpPr>
          <p:cNvPr id="5" name="Text 2"/>
          <p:cNvSpPr/>
          <p:nvPr/>
        </p:nvSpPr>
        <p:spPr>
          <a:xfrm>
            <a:off x="1006760" y="2941267"/>
            <a:ext cx="9269449" cy="220931"/>
          </a:xfrm>
          <a:prstGeom prst="rect">
            <a:avLst/>
          </a:prstGeom>
          <a:noFill/>
          <a:ln/>
        </p:spPr>
        <p:txBody>
          <a:bodyPr wrap="square" lIns="25400" tIns="25400" rIns="25400" bIns="25400" rtlCol="0" anchor="t">
            <a:normAutofit lnSpcReduction="10000"/>
          </a:bodyPr>
          <a:lstStyle/>
          <a:p>
            <a:pPr marL="0" indent="0" algn="l">
              <a:lnSpc>
                <a:spcPct val="92160"/>
              </a:lnSpc>
              <a:buNone/>
            </a:pPr>
            <a:r>
              <a:rPr lang="en-US" sz="1200" dirty="0">
                <a:solidFill>
                  <a:srgbClr val="FFFFFF"/>
                </a:solidFill>
                <a:latin typeface="Oracle Sans Tab" pitchFamily="34" charset="0"/>
                <a:ea typeface="Oracle Sans Tab" pitchFamily="34" charset="-122"/>
                <a:cs typeface="Oracle Sans Tab" pitchFamily="34" charset="-120"/>
              </a:rPr>
              <a:t>Data Scientist Advocate @</a:t>
            </a:r>
            <a:endParaRPr lang="en-US" sz="1200" dirty="0"/>
          </a:p>
        </p:txBody>
      </p:sp>
      <p:pic>
        <p:nvPicPr>
          <p:cNvPr id="6" name="Image 1" descr="preencoded.png"/>
          <p:cNvPicPr>
            <a:picLocks noChangeAspect="1"/>
          </p:cNvPicPr>
          <p:nvPr/>
        </p:nvPicPr>
        <p:blipFill>
          <a:blip r:embed="rId4"/>
          <a:srcRect l="-3" r="-3"/>
          <a:stretch/>
        </p:blipFill>
        <p:spPr>
          <a:xfrm>
            <a:off x="869611" y="4991065"/>
            <a:ext cx="7902876" cy="5263503"/>
          </a:xfrm>
          <a:prstGeom prst="rect">
            <a:avLst/>
          </a:prstGeom>
        </p:spPr>
      </p:pic>
      <p:pic>
        <p:nvPicPr>
          <p:cNvPr id="7" name="Image 2" descr="preencoded.png"/>
          <p:cNvPicPr>
            <a:picLocks noChangeAspect="1"/>
          </p:cNvPicPr>
          <p:nvPr/>
        </p:nvPicPr>
        <p:blipFill>
          <a:blip r:embed="rId5"/>
          <a:srcRect/>
          <a:stretch/>
        </p:blipFill>
        <p:spPr>
          <a:xfrm>
            <a:off x="10438433" y="5125371"/>
            <a:ext cx="6838910" cy="5129196"/>
          </a:xfrm>
          <a:prstGeom prst="rect">
            <a:avLst/>
          </a:prstGeom>
        </p:spPr>
      </p:pic>
      <p:pic>
        <p:nvPicPr>
          <p:cNvPr id="8" name="Image 3" descr="preencoded.png"/>
          <p:cNvPicPr>
            <a:picLocks noChangeAspect="1"/>
          </p:cNvPicPr>
          <p:nvPr/>
        </p:nvPicPr>
        <p:blipFill>
          <a:blip r:embed="rId6"/>
          <a:srcRect/>
          <a:stretch/>
        </p:blipFill>
        <p:spPr>
          <a:xfrm>
            <a:off x="10438433" y="-3772"/>
            <a:ext cx="6838910" cy="5129196"/>
          </a:xfrm>
          <a:prstGeom prst="rect">
            <a:avLst/>
          </a:prstGeom>
        </p:spPr>
      </p:pic>
      <p:sp>
        <p:nvSpPr>
          <p:cNvPr id="9" name="Text 3"/>
          <p:cNvSpPr/>
          <p:nvPr/>
        </p:nvSpPr>
        <p:spPr>
          <a:xfrm>
            <a:off x="1006760" y="3658536"/>
            <a:ext cx="9269449" cy="220931"/>
          </a:xfrm>
          <a:prstGeom prst="rect">
            <a:avLst/>
          </a:prstGeom>
          <a:noFill/>
          <a:ln/>
        </p:spPr>
        <p:txBody>
          <a:bodyPr wrap="square" lIns="25400" tIns="25400" rIns="25400" bIns="25400" rtlCol="0" anchor="t">
            <a:normAutofit lnSpcReduction="10000"/>
          </a:bodyPr>
          <a:lstStyle/>
          <a:p>
            <a:pPr marL="0" indent="0" algn="l">
              <a:lnSpc>
                <a:spcPct val="92160"/>
              </a:lnSpc>
              <a:buNone/>
            </a:pPr>
            <a:r>
              <a:rPr lang="en-US" sz="1200" dirty="0">
                <a:solidFill>
                  <a:srgbClr val="FFFFFF"/>
                </a:solidFill>
                <a:latin typeface="Oracle Sans Tab" pitchFamily="34" charset="0"/>
                <a:ea typeface="Oracle Sans Tab" pitchFamily="34" charset="-122"/>
                <a:cs typeface="Oracle Sans Tab" pitchFamily="34" charset="-120"/>
              </a:rPr>
              <a:t>Find my talks and projects on YouTube + GitHub</a:t>
            </a:r>
            <a:endParaRPr lang="en-US" sz="1200" dirty="0"/>
          </a:p>
        </p:txBody>
      </p:sp>
      <p:sp>
        <p:nvSpPr>
          <p:cNvPr id="10" name="Text 4"/>
          <p:cNvSpPr/>
          <p:nvPr/>
        </p:nvSpPr>
        <p:spPr>
          <a:xfrm>
            <a:off x="1006760" y="4258603"/>
            <a:ext cx="9269449" cy="220931"/>
          </a:xfrm>
          <a:prstGeom prst="rect">
            <a:avLst/>
          </a:prstGeom>
          <a:noFill/>
          <a:ln/>
        </p:spPr>
        <p:txBody>
          <a:bodyPr wrap="square" lIns="25400" tIns="25400" rIns="25400" bIns="25400" rtlCol="0" anchor="t">
            <a:normAutofit lnSpcReduction="10000"/>
          </a:bodyPr>
          <a:lstStyle/>
          <a:p>
            <a:pPr marL="0" indent="0" algn="l">
              <a:lnSpc>
                <a:spcPct val="92160"/>
              </a:lnSpc>
              <a:buNone/>
            </a:pPr>
            <a:r>
              <a:rPr lang="en-US" sz="1200" dirty="0">
                <a:solidFill>
                  <a:srgbClr val="FFFFFF"/>
                </a:solidFill>
                <a:latin typeface="Oracle Sans Tab" pitchFamily="34" charset="0"/>
                <a:ea typeface="Oracle Sans Tab" pitchFamily="34" charset="-122"/>
                <a:cs typeface="Oracle Sans Tab" pitchFamily="34" charset="-120"/>
              </a:rPr>
              <a:t>Launched two courses this year with Andrew Ng on Building Memory-Aware Agents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869611" y="1603985"/>
            <a:ext cx="17376769" cy="1043930"/>
          </a:xfrm>
          <a:prstGeom prst="rect">
            <a:avLst/>
          </a:prstGeom>
          <a:noFill/>
          <a:ln/>
        </p:spPr>
        <p:txBody>
          <a:bodyPr wrap="square" lIns="25400" tIns="25400" rIns="25400" bIns="25400" rtlCol="0" anchor="t">
            <a:normAutofit/>
          </a:bodyPr>
          <a:lstStyle/>
          <a:p>
            <a:pPr marL="0" indent="0" algn="l">
              <a:lnSpc>
                <a:spcPct val="84480"/>
              </a:lnSpc>
              <a:buNone/>
            </a:pPr>
            <a:r>
              <a:rPr lang="en-US" sz="7200" b="1" dirty="0">
                <a:solidFill>
                  <a:srgbClr val="FD6953"/>
                </a:solidFill>
                <a:latin typeface="Oracle Sans Tab" pitchFamily="34" charset="0"/>
                <a:ea typeface="Oracle Sans Tab" pitchFamily="34" charset="-122"/>
                <a:cs typeface="Oracle Sans Tab" pitchFamily="34" charset="-120"/>
              </a:rPr>
              <a:t>NbuildingAdaptive AI Agents</a:t>
            </a:r>
            <a:endParaRPr lang="en-US" sz="7200" dirty="0"/>
          </a:p>
        </p:txBody>
      </p:sp>
      <p:pic>
        <p:nvPicPr>
          <p:cNvPr id="4" name="Image 1" descr="preencoded.png"/>
          <p:cNvPicPr>
            <a:picLocks noChangeAspect="1"/>
          </p:cNvPicPr>
          <p:nvPr/>
        </p:nvPicPr>
        <p:blipFill>
          <a:blip r:embed="rId4"/>
          <a:srcRect l="-1" r="-1"/>
          <a:stretch/>
        </p:blipFill>
        <p:spPr>
          <a:xfrm>
            <a:off x="0" y="1493501"/>
            <a:ext cx="18287979" cy="729898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548597"/>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AGENDA</a:t>
            </a:r>
            <a:endParaRPr lang="en-US" sz="1575" dirty="0"/>
          </a:p>
        </p:txBody>
      </p:sp>
      <p:sp>
        <p:nvSpPr>
          <p:cNvPr id="4" name="Text 1"/>
          <p:cNvSpPr/>
          <p:nvPr/>
        </p:nvSpPr>
        <p:spPr>
          <a:xfrm>
            <a:off x="8225466" y="548597"/>
            <a:ext cx="9097610"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WHAT WE'LL COVER</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453503"/>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AGENDA</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What we'll talk </a:t>
            </a:r>
            <a:r>
              <a:rPr lang="en-US" sz="5100" b="1" i="1" dirty="0">
                <a:solidFill>
                  <a:srgbClr val="FD6953"/>
                </a:solidFill>
                <a:latin typeface="Oracle Sans Tab" pitchFamily="34" charset="0"/>
                <a:ea typeface="Oracle Sans Tab" pitchFamily="34" charset="-122"/>
                <a:cs typeface="Oracle Sans Tab" pitchFamily="34" charset="-120"/>
              </a:rPr>
              <a:t>through.</a:t>
            </a:r>
            <a:endParaRPr lang="en-US" sz="1200" dirty="0"/>
          </a:p>
        </p:txBody>
      </p:sp>
      <p:sp>
        <p:nvSpPr>
          <p:cNvPr id="8" name="Text 5"/>
          <p:cNvSpPr/>
          <p:nvPr/>
        </p:nvSpPr>
        <p:spPr>
          <a:xfrm>
            <a:off x="960096" y="3840437"/>
            <a:ext cx="1036296" cy="472389"/>
          </a:xfrm>
          <a:prstGeom prst="rect">
            <a:avLst/>
          </a:prstGeom>
          <a:noFill/>
          <a:ln/>
        </p:spPr>
        <p:txBody>
          <a:bodyPr wrap="square" lIns="25400" tIns="25400" rIns="25400" bIns="25400" rtlCol="0" anchor="t">
            <a:normAutofit/>
          </a:bodyPr>
          <a:lstStyle/>
          <a:p>
            <a:pPr marL="0" indent="0" algn="l">
              <a:lnSpc>
                <a:spcPct val="92160"/>
              </a:lnSpc>
              <a:buNone/>
            </a:pPr>
            <a:r>
              <a:rPr lang="en-US" sz="2850" dirty="0">
                <a:solidFill>
                  <a:srgbClr val="FD6953"/>
                </a:solidFill>
                <a:latin typeface="Oracle Sans Tab" pitchFamily="34" charset="0"/>
                <a:ea typeface="Oracle Sans Tab" pitchFamily="34" charset="-122"/>
                <a:cs typeface="Oracle Sans Tab" pitchFamily="34" charset="-120"/>
              </a:rPr>
              <a:t>01</a:t>
            </a:r>
            <a:endParaRPr lang="en-US" sz="2850" dirty="0"/>
          </a:p>
        </p:txBody>
      </p:sp>
      <p:sp>
        <p:nvSpPr>
          <p:cNvPr id="9" name="Text 6"/>
          <p:cNvSpPr/>
          <p:nvPr/>
        </p:nvSpPr>
        <p:spPr>
          <a:xfrm>
            <a:off x="1920193" y="3868084"/>
            <a:ext cx="7063718" cy="426707"/>
          </a:xfrm>
          <a:prstGeom prst="rect">
            <a:avLst/>
          </a:prstGeom>
          <a:noFill/>
          <a:ln/>
        </p:spPr>
        <p:txBody>
          <a:bodyPr wrap="square" lIns="25400" tIns="25400" rIns="25400" bIns="25400" rtlCol="0" anchor="t">
            <a:normAutofit/>
          </a:bodyPr>
          <a:lstStyle/>
          <a:p>
            <a:pPr marL="0" indent="0" algn="l">
              <a:lnSpc>
                <a:spcPct val="92160"/>
              </a:lnSpc>
              <a:buNone/>
            </a:pPr>
            <a:r>
              <a:rPr lang="en-US" sz="2550" b="1" dirty="0">
                <a:solidFill>
                  <a:srgbClr val="FFFFFF"/>
                </a:solidFill>
                <a:latin typeface="Oracle Sans Tab" pitchFamily="34" charset="0"/>
                <a:ea typeface="Oracle Sans Tab" pitchFamily="34" charset="-122"/>
                <a:cs typeface="Oracle Sans Tab" pitchFamily="34" charset="-120"/>
              </a:rPr>
              <a:t>The agent stack</a:t>
            </a:r>
            <a:endParaRPr lang="en-US" sz="2550" dirty="0"/>
          </a:p>
        </p:txBody>
      </p:sp>
      <p:sp>
        <p:nvSpPr>
          <p:cNvPr id="10" name="Text 7"/>
          <p:cNvSpPr/>
          <p:nvPr/>
        </p:nvSpPr>
        <p:spPr>
          <a:xfrm>
            <a:off x="1920193" y="4444328"/>
            <a:ext cx="7845505"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Oracle Sans Tab" pitchFamily="34" charset="0"/>
                <a:ea typeface="Oracle Sans Tab" pitchFamily="34" charset="-122"/>
                <a:cs typeface="Oracle Sans Tab" pitchFamily="34" charset="-120"/>
              </a:rPr>
              <a:t>APPLICATION TO COMPUTE</a:t>
            </a:r>
            <a:endParaRPr lang="en-US" sz="1425" dirty="0"/>
          </a:p>
        </p:txBody>
      </p:sp>
      <p:sp>
        <p:nvSpPr>
          <p:cNvPr id="11" name="Text 8"/>
          <p:cNvSpPr/>
          <p:nvPr/>
        </p:nvSpPr>
        <p:spPr>
          <a:xfrm>
            <a:off x="960096" y="5019642"/>
            <a:ext cx="1036296" cy="472389"/>
          </a:xfrm>
          <a:prstGeom prst="rect">
            <a:avLst/>
          </a:prstGeom>
          <a:noFill/>
          <a:ln/>
        </p:spPr>
        <p:txBody>
          <a:bodyPr wrap="square" lIns="25400" tIns="25400" rIns="25400" bIns="25400" rtlCol="0" anchor="t">
            <a:normAutofit/>
          </a:bodyPr>
          <a:lstStyle/>
          <a:p>
            <a:pPr marL="0" indent="0" algn="l">
              <a:lnSpc>
                <a:spcPct val="92160"/>
              </a:lnSpc>
              <a:buNone/>
            </a:pPr>
            <a:r>
              <a:rPr lang="en-US" sz="2850" dirty="0">
                <a:solidFill>
                  <a:srgbClr val="FD6953"/>
                </a:solidFill>
                <a:latin typeface="Oracle Sans Tab" pitchFamily="34" charset="0"/>
                <a:ea typeface="Oracle Sans Tab" pitchFamily="34" charset="-122"/>
                <a:cs typeface="Oracle Sans Tab" pitchFamily="34" charset="-120"/>
              </a:rPr>
              <a:t>02</a:t>
            </a:r>
            <a:endParaRPr lang="en-US" sz="2850" dirty="0"/>
          </a:p>
        </p:txBody>
      </p:sp>
      <p:sp>
        <p:nvSpPr>
          <p:cNvPr id="12" name="Text 9"/>
          <p:cNvSpPr/>
          <p:nvPr/>
        </p:nvSpPr>
        <p:spPr>
          <a:xfrm>
            <a:off x="1920193" y="5047288"/>
            <a:ext cx="7063718" cy="426707"/>
          </a:xfrm>
          <a:prstGeom prst="rect">
            <a:avLst/>
          </a:prstGeom>
          <a:noFill/>
          <a:ln/>
        </p:spPr>
        <p:txBody>
          <a:bodyPr wrap="square" lIns="25400" tIns="25400" rIns="25400" bIns="25400" rtlCol="0" anchor="t">
            <a:normAutofit/>
          </a:bodyPr>
          <a:lstStyle/>
          <a:p>
            <a:pPr marL="0" indent="0" algn="l">
              <a:lnSpc>
                <a:spcPct val="92160"/>
              </a:lnSpc>
              <a:buNone/>
            </a:pPr>
            <a:r>
              <a:rPr lang="en-US" sz="2550" b="1" dirty="0">
                <a:solidFill>
                  <a:srgbClr val="FFFFFF"/>
                </a:solidFill>
                <a:latin typeface="Oracle Sans Tab" pitchFamily="34" charset="0"/>
                <a:ea typeface="Oracle Sans Tab" pitchFamily="34" charset="-122"/>
                <a:cs typeface="Oracle Sans Tab" pitchFamily="34" charset="-120"/>
              </a:rPr>
              <a:t>The four shapes</a:t>
            </a:r>
            <a:endParaRPr lang="en-US" sz="2550" dirty="0"/>
          </a:p>
        </p:txBody>
      </p:sp>
      <p:sp>
        <p:nvSpPr>
          <p:cNvPr id="13" name="Text 10"/>
          <p:cNvSpPr/>
          <p:nvPr/>
        </p:nvSpPr>
        <p:spPr>
          <a:xfrm>
            <a:off x="1920193" y="5623532"/>
            <a:ext cx="7845505"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Oracle Sans Tab" pitchFamily="34" charset="0"/>
                <a:ea typeface="Oracle Sans Tab" pitchFamily="34" charset="-122"/>
                <a:cs typeface="Oracle Sans Tab" pitchFamily="34" charset="-120"/>
              </a:rPr>
              <a:t>FORM FACTOR, EVOLUTION</a:t>
            </a:r>
            <a:endParaRPr lang="en-US" sz="1425" dirty="0"/>
          </a:p>
        </p:txBody>
      </p:sp>
      <p:sp>
        <p:nvSpPr>
          <p:cNvPr id="14" name="Text 11"/>
          <p:cNvSpPr/>
          <p:nvPr/>
        </p:nvSpPr>
        <p:spPr>
          <a:xfrm>
            <a:off x="960096" y="6199776"/>
            <a:ext cx="1036296" cy="472389"/>
          </a:xfrm>
          <a:prstGeom prst="rect">
            <a:avLst/>
          </a:prstGeom>
          <a:noFill/>
          <a:ln/>
        </p:spPr>
        <p:txBody>
          <a:bodyPr wrap="square" lIns="25400" tIns="25400" rIns="25400" bIns="25400" rtlCol="0" anchor="t">
            <a:normAutofit/>
          </a:bodyPr>
          <a:lstStyle/>
          <a:p>
            <a:pPr marL="0" indent="0" algn="l">
              <a:lnSpc>
                <a:spcPct val="92160"/>
              </a:lnSpc>
              <a:buNone/>
            </a:pPr>
            <a:r>
              <a:rPr lang="en-US" sz="2850" dirty="0">
                <a:solidFill>
                  <a:srgbClr val="FD6953"/>
                </a:solidFill>
                <a:latin typeface="Oracle Sans Tab" pitchFamily="34" charset="0"/>
                <a:ea typeface="Oracle Sans Tab" pitchFamily="34" charset="-122"/>
                <a:cs typeface="Oracle Sans Tab" pitchFamily="34" charset="-120"/>
              </a:rPr>
              <a:t>03</a:t>
            </a:r>
            <a:endParaRPr lang="en-US" sz="2850" dirty="0"/>
          </a:p>
        </p:txBody>
      </p:sp>
      <p:sp>
        <p:nvSpPr>
          <p:cNvPr id="15" name="Text 12"/>
          <p:cNvSpPr/>
          <p:nvPr/>
        </p:nvSpPr>
        <p:spPr>
          <a:xfrm>
            <a:off x="1920193" y="6227423"/>
            <a:ext cx="7063718" cy="426707"/>
          </a:xfrm>
          <a:prstGeom prst="rect">
            <a:avLst/>
          </a:prstGeom>
          <a:noFill/>
          <a:ln/>
        </p:spPr>
        <p:txBody>
          <a:bodyPr wrap="square" lIns="25400" tIns="25400" rIns="25400" bIns="25400" rtlCol="0" anchor="t">
            <a:normAutofit/>
          </a:bodyPr>
          <a:lstStyle/>
          <a:p>
            <a:pPr marL="0" indent="0" algn="l">
              <a:lnSpc>
                <a:spcPct val="92160"/>
              </a:lnSpc>
              <a:buNone/>
            </a:pPr>
            <a:r>
              <a:rPr lang="en-US" sz="2550" b="1" dirty="0">
                <a:solidFill>
                  <a:srgbClr val="FFFFFF"/>
                </a:solidFill>
                <a:latin typeface="Oracle Sans Tab" pitchFamily="34" charset="0"/>
                <a:ea typeface="Oracle Sans Tab" pitchFamily="34" charset="-122"/>
                <a:cs typeface="Oracle Sans Tab" pitchFamily="34" charset="-120"/>
              </a:rPr>
              <a:t>What is an agent</a:t>
            </a:r>
            <a:endParaRPr lang="en-US" sz="2550" dirty="0"/>
          </a:p>
        </p:txBody>
      </p:sp>
      <p:sp>
        <p:nvSpPr>
          <p:cNvPr id="16" name="Text 13"/>
          <p:cNvSpPr/>
          <p:nvPr/>
        </p:nvSpPr>
        <p:spPr>
          <a:xfrm>
            <a:off x="1920193" y="6802737"/>
            <a:ext cx="7845505"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Menlo" pitchFamily="34" charset="0"/>
                <a:ea typeface="Menlo" pitchFamily="34" charset="-122"/>
                <a:cs typeface="Menlo" pitchFamily="34" charset="-120"/>
              </a:rPr>
              <a:t>MODEL + HARNESS = AGENT</a:t>
            </a:r>
            <a:endParaRPr lang="en-US" sz="1425" dirty="0"/>
          </a:p>
        </p:txBody>
      </p:sp>
      <p:sp>
        <p:nvSpPr>
          <p:cNvPr id="17" name="Text 14"/>
          <p:cNvSpPr/>
          <p:nvPr/>
        </p:nvSpPr>
        <p:spPr>
          <a:xfrm>
            <a:off x="960096" y="7378981"/>
            <a:ext cx="1036296" cy="472389"/>
          </a:xfrm>
          <a:prstGeom prst="rect">
            <a:avLst/>
          </a:prstGeom>
          <a:noFill/>
          <a:ln/>
        </p:spPr>
        <p:txBody>
          <a:bodyPr wrap="square" lIns="25400" tIns="25400" rIns="25400" bIns="25400" rtlCol="0" anchor="t">
            <a:normAutofit/>
          </a:bodyPr>
          <a:lstStyle/>
          <a:p>
            <a:pPr marL="0" indent="0" algn="l">
              <a:lnSpc>
                <a:spcPct val="92160"/>
              </a:lnSpc>
              <a:buNone/>
            </a:pPr>
            <a:r>
              <a:rPr lang="en-US" sz="2850" dirty="0">
                <a:solidFill>
                  <a:srgbClr val="FD6953"/>
                </a:solidFill>
                <a:latin typeface="Oracle Sans Tab" pitchFamily="34" charset="0"/>
                <a:ea typeface="Oracle Sans Tab" pitchFamily="34" charset="-122"/>
                <a:cs typeface="Oracle Sans Tab" pitchFamily="34" charset="-120"/>
              </a:rPr>
              <a:t>04</a:t>
            </a:r>
            <a:endParaRPr lang="en-US" sz="2850" dirty="0"/>
          </a:p>
        </p:txBody>
      </p:sp>
      <p:sp>
        <p:nvSpPr>
          <p:cNvPr id="18" name="Text 15"/>
          <p:cNvSpPr/>
          <p:nvPr/>
        </p:nvSpPr>
        <p:spPr>
          <a:xfrm>
            <a:off x="1920193" y="7406628"/>
            <a:ext cx="7063718" cy="426707"/>
          </a:xfrm>
          <a:prstGeom prst="rect">
            <a:avLst/>
          </a:prstGeom>
          <a:noFill/>
          <a:ln/>
        </p:spPr>
        <p:txBody>
          <a:bodyPr wrap="square" lIns="25400" tIns="25400" rIns="25400" bIns="25400" rtlCol="0" anchor="t">
            <a:normAutofit/>
          </a:bodyPr>
          <a:lstStyle/>
          <a:p>
            <a:pPr marL="0" indent="0" algn="l">
              <a:lnSpc>
                <a:spcPct val="92160"/>
              </a:lnSpc>
              <a:buNone/>
            </a:pPr>
            <a:r>
              <a:rPr lang="en-US" sz="2550" b="1" dirty="0">
                <a:solidFill>
                  <a:srgbClr val="FFFFFF"/>
                </a:solidFill>
                <a:latin typeface="Oracle Sans Tab" pitchFamily="34" charset="0"/>
                <a:ea typeface="Oracle Sans Tab" pitchFamily="34" charset="-122"/>
                <a:cs typeface="Oracle Sans Tab" pitchFamily="34" charset="-120"/>
              </a:rPr>
              <a:t>Inside the harness</a:t>
            </a:r>
            <a:endParaRPr lang="en-US" sz="2550" dirty="0"/>
          </a:p>
        </p:txBody>
      </p:sp>
      <p:sp>
        <p:nvSpPr>
          <p:cNvPr id="19" name="Text 16"/>
          <p:cNvSpPr/>
          <p:nvPr/>
        </p:nvSpPr>
        <p:spPr>
          <a:xfrm>
            <a:off x="1920193" y="7982871"/>
            <a:ext cx="7845505"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Oracle Sans Tab" pitchFamily="34" charset="0"/>
                <a:ea typeface="Oracle Sans Tab" pitchFamily="34" charset="-122"/>
                <a:cs typeface="Oracle Sans Tab" pitchFamily="34" charset="-120"/>
              </a:rPr>
              <a:t>THE LAYERS, ONE BY ONE</a:t>
            </a:r>
            <a:endParaRPr lang="en-US" sz="1425" dirty="0"/>
          </a:p>
        </p:txBody>
      </p:sp>
      <p:sp>
        <p:nvSpPr>
          <p:cNvPr id="20" name="Text 17"/>
          <p:cNvSpPr/>
          <p:nvPr/>
        </p:nvSpPr>
        <p:spPr>
          <a:xfrm>
            <a:off x="960096" y="8559115"/>
            <a:ext cx="1036296" cy="472389"/>
          </a:xfrm>
          <a:prstGeom prst="rect">
            <a:avLst/>
          </a:prstGeom>
          <a:noFill/>
          <a:ln/>
        </p:spPr>
        <p:txBody>
          <a:bodyPr wrap="square" lIns="25400" tIns="25400" rIns="25400" bIns="25400" rtlCol="0" anchor="t">
            <a:normAutofit/>
          </a:bodyPr>
          <a:lstStyle/>
          <a:p>
            <a:pPr marL="0" indent="0" algn="l">
              <a:lnSpc>
                <a:spcPct val="92160"/>
              </a:lnSpc>
              <a:buNone/>
            </a:pPr>
            <a:r>
              <a:rPr lang="en-US" sz="2850" dirty="0">
                <a:solidFill>
                  <a:srgbClr val="FD6953"/>
                </a:solidFill>
                <a:latin typeface="Oracle Sans Tab" pitchFamily="34" charset="0"/>
                <a:ea typeface="Oracle Sans Tab" pitchFamily="34" charset="-122"/>
                <a:cs typeface="Oracle Sans Tab" pitchFamily="34" charset="-120"/>
              </a:rPr>
              <a:t>05</a:t>
            </a:r>
            <a:endParaRPr lang="en-US" sz="2850" dirty="0"/>
          </a:p>
        </p:txBody>
      </p:sp>
      <p:sp>
        <p:nvSpPr>
          <p:cNvPr id="21" name="Text 18"/>
          <p:cNvSpPr/>
          <p:nvPr/>
        </p:nvSpPr>
        <p:spPr>
          <a:xfrm>
            <a:off x="1920193" y="8585832"/>
            <a:ext cx="7063718" cy="426707"/>
          </a:xfrm>
          <a:prstGeom prst="rect">
            <a:avLst/>
          </a:prstGeom>
          <a:noFill/>
          <a:ln/>
        </p:spPr>
        <p:txBody>
          <a:bodyPr wrap="square" lIns="25400" tIns="25400" rIns="25400" bIns="25400" rtlCol="0" anchor="t">
            <a:normAutofit/>
          </a:bodyPr>
          <a:lstStyle/>
          <a:p>
            <a:pPr marL="0" indent="0" algn="l">
              <a:lnSpc>
                <a:spcPct val="92160"/>
              </a:lnSpc>
              <a:buNone/>
            </a:pPr>
            <a:r>
              <a:rPr lang="en-US" sz="2550" b="1" dirty="0">
                <a:solidFill>
                  <a:srgbClr val="FFFFFF"/>
                </a:solidFill>
                <a:latin typeface="Oracle Sans Tab" pitchFamily="34" charset="0"/>
                <a:ea typeface="Oracle Sans Tab" pitchFamily="34" charset="-122"/>
                <a:cs typeface="Oracle Sans Tab" pitchFamily="34" charset="-120"/>
              </a:rPr>
              <a:t>The memory substrate</a:t>
            </a:r>
            <a:endParaRPr lang="en-US" sz="2550" dirty="0"/>
          </a:p>
        </p:txBody>
      </p:sp>
      <p:sp>
        <p:nvSpPr>
          <p:cNvPr id="22" name="Text 19"/>
          <p:cNvSpPr/>
          <p:nvPr/>
        </p:nvSpPr>
        <p:spPr>
          <a:xfrm>
            <a:off x="1920193" y="9162076"/>
            <a:ext cx="7845505"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Oracle Sans Tab" pitchFamily="34" charset="0"/>
                <a:ea typeface="Oracle Sans Tab" pitchFamily="34" charset="-122"/>
                <a:cs typeface="Oracle Sans Tab" pitchFamily="34" charset="-120"/>
              </a:rPr>
              <a:t>FILESYSTEM + DATABASE</a:t>
            </a:r>
            <a:endParaRPr lang="en-US" sz="1425" dirty="0"/>
          </a:p>
        </p:txBody>
      </p:sp>
      <p:sp>
        <p:nvSpPr>
          <p:cNvPr id="23" name="Text 20"/>
          <p:cNvSpPr/>
          <p:nvPr/>
        </p:nvSpPr>
        <p:spPr>
          <a:xfrm>
            <a:off x="9532596" y="3840437"/>
            <a:ext cx="1036296" cy="472389"/>
          </a:xfrm>
          <a:prstGeom prst="rect">
            <a:avLst/>
          </a:prstGeom>
          <a:noFill/>
          <a:ln/>
        </p:spPr>
        <p:txBody>
          <a:bodyPr wrap="square" lIns="25400" tIns="25400" rIns="25400" bIns="25400" rtlCol="0" anchor="t">
            <a:normAutofit/>
          </a:bodyPr>
          <a:lstStyle/>
          <a:p>
            <a:pPr marL="0" indent="0" algn="l">
              <a:lnSpc>
                <a:spcPct val="92160"/>
              </a:lnSpc>
              <a:buNone/>
            </a:pPr>
            <a:r>
              <a:rPr lang="en-US" sz="2850" dirty="0">
                <a:solidFill>
                  <a:srgbClr val="FD6953"/>
                </a:solidFill>
                <a:latin typeface="Oracle Sans Tab" pitchFamily="34" charset="0"/>
                <a:ea typeface="Oracle Sans Tab" pitchFamily="34" charset="-122"/>
                <a:cs typeface="Oracle Sans Tab" pitchFamily="34" charset="-120"/>
              </a:rPr>
              <a:t>06</a:t>
            </a:r>
            <a:endParaRPr lang="en-US" sz="2850" dirty="0"/>
          </a:p>
        </p:txBody>
      </p:sp>
      <p:sp>
        <p:nvSpPr>
          <p:cNvPr id="24" name="Text 21"/>
          <p:cNvSpPr/>
          <p:nvPr/>
        </p:nvSpPr>
        <p:spPr>
          <a:xfrm>
            <a:off x="10492692" y="3868084"/>
            <a:ext cx="7063718" cy="426707"/>
          </a:xfrm>
          <a:prstGeom prst="rect">
            <a:avLst/>
          </a:prstGeom>
          <a:noFill/>
          <a:ln/>
        </p:spPr>
        <p:txBody>
          <a:bodyPr wrap="square" lIns="25400" tIns="25400" rIns="25400" bIns="25400" rtlCol="0" anchor="t">
            <a:normAutofit/>
          </a:bodyPr>
          <a:lstStyle/>
          <a:p>
            <a:pPr marL="0" indent="0" algn="l">
              <a:lnSpc>
                <a:spcPct val="92160"/>
              </a:lnSpc>
              <a:buNone/>
            </a:pPr>
            <a:r>
              <a:rPr lang="en-US" sz="2550" b="1" dirty="0">
                <a:solidFill>
                  <a:srgbClr val="FFFFFF"/>
                </a:solidFill>
                <a:latin typeface="Oracle Sans Tab" pitchFamily="34" charset="0"/>
                <a:ea typeface="Oracle Sans Tab" pitchFamily="34" charset="-122"/>
                <a:cs typeface="Oracle Sans Tab" pitchFamily="34" charset="-120"/>
              </a:rPr>
              <a:t>Find it, recall it</a:t>
            </a:r>
            <a:endParaRPr lang="en-US" sz="2550" dirty="0"/>
          </a:p>
        </p:txBody>
      </p:sp>
      <p:sp>
        <p:nvSpPr>
          <p:cNvPr id="25" name="Text 22"/>
          <p:cNvSpPr/>
          <p:nvPr/>
        </p:nvSpPr>
        <p:spPr>
          <a:xfrm>
            <a:off x="10492692" y="4444328"/>
            <a:ext cx="7845505"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Oracle Sans Tab" pitchFamily="34" charset="0"/>
                <a:ea typeface="Oracle Sans Tab" pitchFamily="34" charset="-122"/>
                <a:cs typeface="Oracle Sans Tab" pitchFamily="34" charset="-120"/>
              </a:rPr>
              <a:t>ENCODING, RETRIEVAL, MEMORY</a:t>
            </a:r>
            <a:endParaRPr lang="en-US" sz="1425" dirty="0"/>
          </a:p>
        </p:txBody>
      </p:sp>
      <p:sp>
        <p:nvSpPr>
          <p:cNvPr id="26" name="Text 23"/>
          <p:cNvSpPr/>
          <p:nvPr/>
        </p:nvSpPr>
        <p:spPr>
          <a:xfrm>
            <a:off x="9532596" y="5019642"/>
            <a:ext cx="1036296" cy="472389"/>
          </a:xfrm>
          <a:prstGeom prst="rect">
            <a:avLst/>
          </a:prstGeom>
          <a:noFill/>
          <a:ln/>
        </p:spPr>
        <p:txBody>
          <a:bodyPr wrap="square" lIns="25400" tIns="25400" rIns="25400" bIns="25400" rtlCol="0" anchor="t">
            <a:normAutofit/>
          </a:bodyPr>
          <a:lstStyle/>
          <a:p>
            <a:pPr marL="0" indent="0" algn="l">
              <a:lnSpc>
                <a:spcPct val="92160"/>
              </a:lnSpc>
              <a:buNone/>
            </a:pPr>
            <a:r>
              <a:rPr lang="en-US" sz="2850" dirty="0">
                <a:solidFill>
                  <a:srgbClr val="FD6953"/>
                </a:solidFill>
                <a:latin typeface="Oracle Sans Tab" pitchFamily="34" charset="0"/>
                <a:ea typeface="Oracle Sans Tab" pitchFamily="34" charset="-122"/>
                <a:cs typeface="Oracle Sans Tab" pitchFamily="34" charset="-120"/>
              </a:rPr>
              <a:t>07</a:t>
            </a:r>
            <a:endParaRPr lang="en-US" sz="2850" dirty="0"/>
          </a:p>
        </p:txBody>
      </p:sp>
      <p:sp>
        <p:nvSpPr>
          <p:cNvPr id="27" name="Text 24"/>
          <p:cNvSpPr/>
          <p:nvPr/>
        </p:nvSpPr>
        <p:spPr>
          <a:xfrm>
            <a:off x="10492692" y="5047288"/>
            <a:ext cx="7063718" cy="426707"/>
          </a:xfrm>
          <a:prstGeom prst="rect">
            <a:avLst/>
          </a:prstGeom>
          <a:noFill/>
          <a:ln/>
        </p:spPr>
        <p:txBody>
          <a:bodyPr wrap="square" lIns="25400" tIns="25400" rIns="25400" bIns="25400" rtlCol="0" anchor="t">
            <a:normAutofit/>
          </a:bodyPr>
          <a:lstStyle/>
          <a:p>
            <a:pPr marL="0" indent="0" algn="l">
              <a:lnSpc>
                <a:spcPct val="92160"/>
              </a:lnSpc>
              <a:buNone/>
            </a:pPr>
            <a:r>
              <a:rPr lang="en-US" sz="2550" b="1" dirty="0">
                <a:solidFill>
                  <a:srgbClr val="FFFFFF"/>
                </a:solidFill>
                <a:latin typeface="Oracle Sans Tab" pitchFamily="34" charset="0"/>
                <a:ea typeface="Oracle Sans Tab" pitchFamily="34" charset="-122"/>
                <a:cs typeface="Oracle Sans Tab" pitchFamily="34" charset="-120"/>
              </a:rPr>
              <a:t>Ground it, drive it, fit it</a:t>
            </a:r>
            <a:endParaRPr lang="en-US" sz="2550" dirty="0"/>
          </a:p>
        </p:txBody>
      </p:sp>
      <p:sp>
        <p:nvSpPr>
          <p:cNvPr id="28" name="Text 25"/>
          <p:cNvSpPr/>
          <p:nvPr/>
        </p:nvSpPr>
        <p:spPr>
          <a:xfrm>
            <a:off x="10492692" y="5623532"/>
            <a:ext cx="7845505"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Oracle Sans Tab" pitchFamily="34" charset="0"/>
                <a:ea typeface="Oracle Sans Tab" pitchFamily="34" charset="-122"/>
                <a:cs typeface="Oracle Sans Tab" pitchFamily="34" charset="-120"/>
              </a:rPr>
              <a:t>SEMANTIC, LOOP, CONTEXT</a:t>
            </a:r>
            <a:endParaRPr lang="en-US" sz="1425" dirty="0"/>
          </a:p>
        </p:txBody>
      </p:sp>
      <p:sp>
        <p:nvSpPr>
          <p:cNvPr id="29" name="Text 26"/>
          <p:cNvSpPr/>
          <p:nvPr/>
        </p:nvSpPr>
        <p:spPr>
          <a:xfrm>
            <a:off x="9532596" y="6199776"/>
            <a:ext cx="1036296" cy="472389"/>
          </a:xfrm>
          <a:prstGeom prst="rect">
            <a:avLst/>
          </a:prstGeom>
          <a:noFill/>
          <a:ln/>
        </p:spPr>
        <p:txBody>
          <a:bodyPr wrap="square" lIns="25400" tIns="25400" rIns="25400" bIns="25400" rtlCol="0" anchor="t">
            <a:normAutofit/>
          </a:bodyPr>
          <a:lstStyle/>
          <a:p>
            <a:pPr marL="0" indent="0" algn="l">
              <a:lnSpc>
                <a:spcPct val="92160"/>
              </a:lnSpc>
              <a:buNone/>
            </a:pPr>
            <a:r>
              <a:rPr lang="en-US" sz="2850" dirty="0">
                <a:solidFill>
                  <a:srgbClr val="FD6953"/>
                </a:solidFill>
                <a:latin typeface="Oracle Sans Tab" pitchFamily="34" charset="0"/>
                <a:ea typeface="Oracle Sans Tab" pitchFamily="34" charset="-122"/>
                <a:cs typeface="Oracle Sans Tab" pitchFamily="34" charset="-120"/>
              </a:rPr>
              <a:t>08</a:t>
            </a:r>
            <a:endParaRPr lang="en-US" sz="2850" dirty="0"/>
          </a:p>
        </p:txBody>
      </p:sp>
      <p:sp>
        <p:nvSpPr>
          <p:cNvPr id="30" name="Text 27"/>
          <p:cNvSpPr/>
          <p:nvPr/>
        </p:nvSpPr>
        <p:spPr>
          <a:xfrm>
            <a:off x="10492692" y="6227423"/>
            <a:ext cx="7063718" cy="426707"/>
          </a:xfrm>
          <a:prstGeom prst="rect">
            <a:avLst/>
          </a:prstGeom>
          <a:noFill/>
          <a:ln/>
        </p:spPr>
        <p:txBody>
          <a:bodyPr wrap="square" lIns="25400" tIns="25400" rIns="25400" bIns="25400" rtlCol="0" anchor="t">
            <a:normAutofit/>
          </a:bodyPr>
          <a:lstStyle/>
          <a:p>
            <a:pPr marL="0" indent="0" algn="l">
              <a:lnSpc>
                <a:spcPct val="92160"/>
              </a:lnSpc>
              <a:buNone/>
            </a:pPr>
            <a:r>
              <a:rPr lang="en-US" sz="2550" b="1" dirty="0">
                <a:solidFill>
                  <a:srgbClr val="FFFFFF"/>
                </a:solidFill>
                <a:latin typeface="Oracle Sans Tab" pitchFamily="34" charset="0"/>
                <a:ea typeface="Oracle Sans Tab" pitchFamily="34" charset="-122"/>
                <a:cs typeface="Oracle Sans Tab" pitchFamily="34" charset="-120"/>
              </a:rPr>
              <a:t>Continual learning</a:t>
            </a:r>
            <a:endParaRPr lang="en-US" sz="2550" dirty="0"/>
          </a:p>
        </p:txBody>
      </p:sp>
      <p:sp>
        <p:nvSpPr>
          <p:cNvPr id="31" name="Text 28"/>
          <p:cNvSpPr/>
          <p:nvPr/>
        </p:nvSpPr>
        <p:spPr>
          <a:xfrm>
            <a:off x="10492692" y="6802737"/>
            <a:ext cx="7845505"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Oracle Sans Tab" pitchFamily="34" charset="0"/>
                <a:ea typeface="Oracle Sans Tab" pitchFamily="34" charset="-122"/>
                <a:cs typeface="Oracle Sans Tab" pitchFamily="34" charset="-120"/>
              </a:rPr>
              <a:t>WEIGHT, LATENT, TOKEN SPACE</a:t>
            </a:r>
            <a:endParaRPr lang="en-US" sz="1425" dirty="0"/>
          </a:p>
        </p:txBody>
      </p:sp>
      <p:sp>
        <p:nvSpPr>
          <p:cNvPr id="32" name="Text 29"/>
          <p:cNvSpPr/>
          <p:nvPr/>
        </p:nvSpPr>
        <p:spPr>
          <a:xfrm>
            <a:off x="9532596" y="7378981"/>
            <a:ext cx="1036296" cy="472389"/>
          </a:xfrm>
          <a:prstGeom prst="rect">
            <a:avLst/>
          </a:prstGeom>
          <a:noFill/>
          <a:ln/>
        </p:spPr>
        <p:txBody>
          <a:bodyPr wrap="square" lIns="25400" tIns="25400" rIns="25400" bIns="25400" rtlCol="0" anchor="t">
            <a:normAutofit/>
          </a:bodyPr>
          <a:lstStyle/>
          <a:p>
            <a:pPr marL="0" indent="0" algn="l">
              <a:lnSpc>
                <a:spcPct val="92160"/>
              </a:lnSpc>
              <a:buNone/>
            </a:pPr>
            <a:r>
              <a:rPr lang="en-US" sz="2850" dirty="0">
                <a:solidFill>
                  <a:srgbClr val="FD6953"/>
                </a:solidFill>
                <a:latin typeface="Oracle Sans Tab" pitchFamily="34" charset="0"/>
                <a:ea typeface="Oracle Sans Tab" pitchFamily="34" charset="-122"/>
                <a:cs typeface="Oracle Sans Tab" pitchFamily="34" charset="-120"/>
              </a:rPr>
              <a:t>09</a:t>
            </a:r>
            <a:endParaRPr lang="en-US" sz="2850" dirty="0"/>
          </a:p>
        </p:txBody>
      </p:sp>
      <p:sp>
        <p:nvSpPr>
          <p:cNvPr id="33" name="Text 30"/>
          <p:cNvSpPr/>
          <p:nvPr/>
        </p:nvSpPr>
        <p:spPr>
          <a:xfrm>
            <a:off x="10492692" y="7406628"/>
            <a:ext cx="7063718" cy="426707"/>
          </a:xfrm>
          <a:prstGeom prst="rect">
            <a:avLst/>
          </a:prstGeom>
          <a:noFill/>
          <a:ln/>
        </p:spPr>
        <p:txBody>
          <a:bodyPr wrap="square" lIns="25400" tIns="25400" rIns="25400" bIns="25400" rtlCol="0" anchor="t">
            <a:normAutofit/>
          </a:bodyPr>
          <a:lstStyle/>
          <a:p>
            <a:pPr marL="0" indent="0" algn="l">
              <a:lnSpc>
                <a:spcPct val="92160"/>
              </a:lnSpc>
              <a:buNone/>
            </a:pPr>
            <a:r>
              <a:rPr lang="en-US" sz="2550" b="1" dirty="0">
                <a:solidFill>
                  <a:srgbClr val="FFFFFF"/>
                </a:solidFill>
                <a:latin typeface="Oracle Sans Tab" pitchFamily="34" charset="0"/>
                <a:ea typeface="Oracle Sans Tab" pitchFamily="34" charset="-122"/>
                <a:cs typeface="Oracle Sans Tab" pitchFamily="34" charset="-120"/>
              </a:rPr>
              <a:t>One substrate</a:t>
            </a:r>
            <a:endParaRPr lang="en-US" sz="2550" dirty="0"/>
          </a:p>
        </p:txBody>
      </p:sp>
      <p:sp>
        <p:nvSpPr>
          <p:cNvPr id="34" name="Text 31"/>
          <p:cNvSpPr/>
          <p:nvPr/>
        </p:nvSpPr>
        <p:spPr>
          <a:xfrm>
            <a:off x="10492692" y="7982871"/>
            <a:ext cx="7845505"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Oracle Sans Tab" pitchFamily="34" charset="0"/>
                <a:ea typeface="Oracle Sans Tab" pitchFamily="34" charset="-122"/>
                <a:cs typeface="Oracle Sans Tab" pitchFamily="34" charset="-120"/>
              </a:rPr>
              <a:t>IT ALL RUNS ON ORACLE</a:t>
            </a:r>
            <a:endParaRPr lang="en-US" sz="14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SETTING THE CONTEXT</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THE AGENT STACK</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14363" y="2325956"/>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D6953"/>
                </a:solidFill>
                <a:latin typeface="Oracle Sans Tab" pitchFamily="34" charset="0"/>
                <a:ea typeface="Oracle Sans Tab" pitchFamily="34" charset="-122"/>
                <a:cs typeface="Oracle Sans Tab" pitchFamily="34" charset="-120"/>
              </a:rPr>
              <a:t>THE AGENT STACK</a:t>
            </a:r>
            <a:endParaRPr lang="en-US" sz="4500" dirty="0"/>
          </a:p>
        </p:txBody>
      </p:sp>
      <p:sp>
        <p:nvSpPr>
          <p:cNvPr id="7" name="Shape 4"/>
          <p:cNvSpPr/>
          <p:nvPr/>
        </p:nvSpPr>
        <p:spPr>
          <a:xfrm>
            <a:off x="960096" y="3593734"/>
            <a:ext cx="16367735" cy="1015339"/>
          </a:xfrm>
          <a:prstGeom prst="roundRect">
            <a:avLst>
              <a:gd name="adj" fmla="val 9475"/>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8" name="Image 1" descr="preencoded.png"/>
          <p:cNvPicPr>
            <a:picLocks noChangeAspect="1"/>
          </p:cNvPicPr>
          <p:nvPr/>
        </p:nvPicPr>
        <p:blipFill>
          <a:blip r:embed="rId4"/>
          <a:srcRect/>
          <a:stretch/>
        </p:blipFill>
        <p:spPr>
          <a:xfrm>
            <a:off x="1440170" y="3812842"/>
            <a:ext cx="576244" cy="576244"/>
          </a:xfrm>
          <a:prstGeom prst="rect">
            <a:avLst/>
          </a:prstGeom>
        </p:spPr>
      </p:pic>
      <p:sp>
        <p:nvSpPr>
          <p:cNvPr id="9" name="Text 5"/>
          <p:cNvSpPr/>
          <p:nvPr/>
        </p:nvSpPr>
        <p:spPr>
          <a:xfrm>
            <a:off x="2331692" y="3918520"/>
            <a:ext cx="4238231"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b="1" dirty="0">
                <a:solidFill>
                  <a:srgbClr val="FFFFFF"/>
                </a:solidFill>
                <a:latin typeface="Oracle Sans Tab" pitchFamily="34" charset="0"/>
                <a:ea typeface="Oracle Sans Tab" pitchFamily="34" charset="-122"/>
                <a:cs typeface="Oracle Sans Tab" pitchFamily="34" charset="-120"/>
              </a:rPr>
              <a:t>Application</a:t>
            </a:r>
            <a:endParaRPr lang="en-US" sz="2400" dirty="0"/>
          </a:p>
        </p:txBody>
      </p:sp>
      <p:sp>
        <p:nvSpPr>
          <p:cNvPr id="10" name="Text 6"/>
          <p:cNvSpPr/>
          <p:nvPr/>
        </p:nvSpPr>
        <p:spPr>
          <a:xfrm>
            <a:off x="6446480" y="3958518"/>
            <a:ext cx="10782989"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the agent users interact with: the product surface</a:t>
            </a:r>
            <a:endParaRPr lang="en-US" sz="1875" dirty="0"/>
          </a:p>
        </p:txBody>
      </p:sp>
      <p:sp>
        <p:nvSpPr>
          <p:cNvPr id="11" name="Shape 7"/>
          <p:cNvSpPr/>
          <p:nvPr/>
        </p:nvSpPr>
        <p:spPr>
          <a:xfrm>
            <a:off x="960096" y="4787253"/>
            <a:ext cx="16367735" cy="1015339"/>
          </a:xfrm>
          <a:prstGeom prst="roundRect">
            <a:avLst>
              <a:gd name="adj" fmla="val 9475"/>
            </a:avLst>
          </a:prstGeom>
          <a:solidFill>
            <a:srgbClr val="0B5060"/>
          </a:solidFill>
          <a:ln w="26458">
            <a:solidFill>
              <a:srgbClr val="FFFFFF">
                <a:alpha val="55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12" name="Image 2" descr="preencoded.png"/>
          <p:cNvPicPr>
            <a:picLocks noChangeAspect="1"/>
          </p:cNvPicPr>
          <p:nvPr/>
        </p:nvPicPr>
        <p:blipFill>
          <a:blip r:embed="rId5"/>
          <a:srcRect/>
          <a:stretch/>
        </p:blipFill>
        <p:spPr>
          <a:xfrm>
            <a:off x="1440170" y="5006309"/>
            <a:ext cx="576244" cy="576244"/>
          </a:xfrm>
          <a:prstGeom prst="rect">
            <a:avLst/>
          </a:prstGeom>
        </p:spPr>
      </p:pic>
      <p:sp>
        <p:nvSpPr>
          <p:cNvPr id="13" name="Text 8"/>
          <p:cNvSpPr/>
          <p:nvPr/>
        </p:nvSpPr>
        <p:spPr>
          <a:xfrm>
            <a:off x="2331692" y="5112039"/>
            <a:ext cx="4238231"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b="1" dirty="0">
                <a:solidFill>
                  <a:srgbClr val="FFFFFF"/>
                </a:solidFill>
                <a:latin typeface="Oracle Sans Tab" pitchFamily="34" charset="0"/>
                <a:ea typeface="Oracle Sans Tab" pitchFamily="34" charset="-122"/>
                <a:cs typeface="Oracle Sans Tab" pitchFamily="34" charset="-120"/>
              </a:rPr>
              <a:t>Data</a:t>
            </a:r>
            <a:endParaRPr lang="en-US" sz="2400" dirty="0"/>
          </a:p>
        </p:txBody>
      </p:sp>
      <p:sp>
        <p:nvSpPr>
          <p:cNvPr id="14" name="Text 9"/>
          <p:cNvSpPr/>
          <p:nvPr/>
        </p:nvSpPr>
        <p:spPr>
          <a:xfrm>
            <a:off x="6446480" y="5152037"/>
            <a:ext cx="10782989"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memory, knowledge and retrieval: what the agent knows</a:t>
            </a:r>
            <a:endParaRPr lang="en-US" sz="1875" dirty="0"/>
          </a:p>
        </p:txBody>
      </p:sp>
      <p:sp>
        <p:nvSpPr>
          <p:cNvPr id="15" name="Shape 10"/>
          <p:cNvSpPr/>
          <p:nvPr/>
        </p:nvSpPr>
        <p:spPr>
          <a:xfrm>
            <a:off x="960096" y="5979790"/>
            <a:ext cx="16367735" cy="1015339"/>
          </a:xfrm>
          <a:prstGeom prst="roundRect">
            <a:avLst>
              <a:gd name="adj" fmla="val 9475"/>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16" name="Image 3" descr="preencoded.png"/>
          <p:cNvPicPr>
            <a:picLocks noChangeAspect="1"/>
          </p:cNvPicPr>
          <p:nvPr/>
        </p:nvPicPr>
        <p:blipFill>
          <a:blip r:embed="rId6"/>
          <a:srcRect/>
          <a:stretch/>
        </p:blipFill>
        <p:spPr>
          <a:xfrm>
            <a:off x="1440170" y="6199776"/>
            <a:ext cx="576244" cy="576244"/>
          </a:xfrm>
          <a:prstGeom prst="rect">
            <a:avLst/>
          </a:prstGeom>
        </p:spPr>
      </p:pic>
      <p:sp>
        <p:nvSpPr>
          <p:cNvPr id="17" name="Text 11"/>
          <p:cNvSpPr/>
          <p:nvPr/>
        </p:nvSpPr>
        <p:spPr>
          <a:xfrm>
            <a:off x="2331692" y="6304576"/>
            <a:ext cx="4238231"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b="1" dirty="0">
                <a:solidFill>
                  <a:srgbClr val="FFFFFF"/>
                </a:solidFill>
                <a:latin typeface="Oracle Sans Tab" pitchFamily="34" charset="0"/>
                <a:ea typeface="Oracle Sans Tab" pitchFamily="34" charset="-122"/>
                <a:cs typeface="Oracle Sans Tab" pitchFamily="34" charset="-120"/>
              </a:rPr>
              <a:t>Model</a:t>
            </a:r>
            <a:endParaRPr lang="en-US" sz="2400" dirty="0"/>
          </a:p>
        </p:txBody>
      </p:sp>
      <p:sp>
        <p:nvSpPr>
          <p:cNvPr id="18" name="Text 12"/>
          <p:cNvSpPr/>
          <p:nvPr/>
        </p:nvSpPr>
        <p:spPr>
          <a:xfrm>
            <a:off x="6446480" y="6344574"/>
            <a:ext cx="10782989"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the reasoning core: the LLM that decides</a:t>
            </a:r>
            <a:endParaRPr lang="en-US" sz="1875" dirty="0"/>
          </a:p>
        </p:txBody>
      </p:sp>
      <p:sp>
        <p:nvSpPr>
          <p:cNvPr id="19" name="Shape 13"/>
          <p:cNvSpPr/>
          <p:nvPr/>
        </p:nvSpPr>
        <p:spPr>
          <a:xfrm>
            <a:off x="960096" y="7173257"/>
            <a:ext cx="16367735" cy="1015339"/>
          </a:xfrm>
          <a:prstGeom prst="roundRect">
            <a:avLst>
              <a:gd name="adj" fmla="val 9475"/>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20" name="Image 4" descr="preencoded.png"/>
          <p:cNvPicPr>
            <a:picLocks noChangeAspect="1"/>
          </p:cNvPicPr>
          <p:nvPr/>
        </p:nvPicPr>
        <p:blipFill>
          <a:blip r:embed="rId7"/>
          <a:srcRect/>
          <a:stretch/>
        </p:blipFill>
        <p:spPr>
          <a:xfrm>
            <a:off x="1440170" y="7393295"/>
            <a:ext cx="576244" cy="576244"/>
          </a:xfrm>
          <a:prstGeom prst="rect">
            <a:avLst/>
          </a:prstGeom>
        </p:spPr>
      </p:pic>
      <p:sp>
        <p:nvSpPr>
          <p:cNvPr id="21" name="Text 14"/>
          <p:cNvSpPr/>
          <p:nvPr/>
        </p:nvSpPr>
        <p:spPr>
          <a:xfrm>
            <a:off x="2331692" y="7498043"/>
            <a:ext cx="4238231"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b="1" dirty="0">
                <a:solidFill>
                  <a:srgbClr val="FFFFFF"/>
                </a:solidFill>
                <a:latin typeface="Oracle Sans Tab" pitchFamily="34" charset="0"/>
                <a:ea typeface="Oracle Sans Tab" pitchFamily="34" charset="-122"/>
                <a:cs typeface="Oracle Sans Tab" pitchFamily="34" charset="-120"/>
              </a:rPr>
              <a:t>Infrastructure</a:t>
            </a:r>
            <a:endParaRPr lang="en-US" sz="2400" dirty="0"/>
          </a:p>
        </p:txBody>
      </p:sp>
      <p:sp>
        <p:nvSpPr>
          <p:cNvPr id="22" name="Text 15"/>
          <p:cNvSpPr/>
          <p:nvPr/>
        </p:nvSpPr>
        <p:spPr>
          <a:xfrm>
            <a:off x="6446480" y="7538041"/>
            <a:ext cx="10782989"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orchestration, serving and security: how it runs</a:t>
            </a:r>
            <a:endParaRPr lang="en-US" sz="1875" dirty="0"/>
          </a:p>
        </p:txBody>
      </p:sp>
      <p:sp>
        <p:nvSpPr>
          <p:cNvPr id="23" name="Shape 16"/>
          <p:cNvSpPr/>
          <p:nvPr/>
        </p:nvSpPr>
        <p:spPr>
          <a:xfrm>
            <a:off x="960096" y="8366724"/>
            <a:ext cx="16367735" cy="1015339"/>
          </a:xfrm>
          <a:prstGeom prst="roundRect">
            <a:avLst>
              <a:gd name="adj" fmla="val 9475"/>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24" name="Image 5" descr="preencoded.png"/>
          <p:cNvPicPr>
            <a:picLocks noChangeAspect="1"/>
          </p:cNvPicPr>
          <p:nvPr/>
        </p:nvPicPr>
        <p:blipFill>
          <a:blip r:embed="rId8"/>
          <a:srcRect/>
          <a:stretch/>
        </p:blipFill>
        <p:spPr>
          <a:xfrm>
            <a:off x="1440170" y="8585832"/>
            <a:ext cx="576244" cy="576244"/>
          </a:xfrm>
          <a:prstGeom prst="rect">
            <a:avLst/>
          </a:prstGeom>
        </p:spPr>
      </p:pic>
      <p:sp>
        <p:nvSpPr>
          <p:cNvPr id="25" name="Text 17"/>
          <p:cNvSpPr/>
          <p:nvPr/>
        </p:nvSpPr>
        <p:spPr>
          <a:xfrm>
            <a:off x="2331692" y="8691511"/>
            <a:ext cx="4238231"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b="1" dirty="0">
                <a:solidFill>
                  <a:srgbClr val="FFFFFF"/>
                </a:solidFill>
                <a:latin typeface="Oracle Sans Tab" pitchFamily="34" charset="0"/>
                <a:ea typeface="Oracle Sans Tab" pitchFamily="34" charset="-122"/>
                <a:cs typeface="Oracle Sans Tab" pitchFamily="34" charset="-120"/>
              </a:rPr>
              <a:t>Compute</a:t>
            </a:r>
            <a:endParaRPr lang="en-US" sz="2400" dirty="0"/>
          </a:p>
        </p:txBody>
      </p:sp>
      <p:sp>
        <p:nvSpPr>
          <p:cNvPr id="26" name="Text 18"/>
          <p:cNvSpPr/>
          <p:nvPr/>
        </p:nvSpPr>
        <p:spPr>
          <a:xfrm>
            <a:off x="6446480" y="8731508"/>
            <a:ext cx="10782989"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GPUs and the database engine: the hardware underneath</a:t>
            </a:r>
            <a:endParaRPr lang="en-US" sz="18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SETTING THE CONTEXT</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THE AGENT STACK</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14363" y="2325956"/>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D6953"/>
                </a:solidFill>
                <a:latin typeface="Oracle Sans Tab" pitchFamily="34" charset="0"/>
                <a:ea typeface="Oracle Sans Tab" pitchFamily="34" charset="-122"/>
                <a:cs typeface="Oracle Sans Tab" pitchFamily="34" charset="-120"/>
              </a:rPr>
              <a:t>THE AGENT STACK</a:t>
            </a:r>
            <a:endParaRPr lang="en-US" sz="4500" dirty="0"/>
          </a:p>
        </p:txBody>
      </p:sp>
      <p:sp>
        <p:nvSpPr>
          <p:cNvPr id="7" name="Shape 4"/>
          <p:cNvSpPr/>
          <p:nvPr/>
        </p:nvSpPr>
        <p:spPr>
          <a:xfrm>
            <a:off x="960096" y="3593734"/>
            <a:ext cx="16367735" cy="1015339"/>
          </a:xfrm>
          <a:prstGeom prst="roundRect">
            <a:avLst>
              <a:gd name="adj" fmla="val 9475"/>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8" name="Image 1" descr="preencoded.png"/>
          <p:cNvPicPr>
            <a:picLocks noChangeAspect="1"/>
          </p:cNvPicPr>
          <p:nvPr/>
        </p:nvPicPr>
        <p:blipFill>
          <a:blip r:embed="rId4"/>
          <a:srcRect/>
          <a:stretch/>
        </p:blipFill>
        <p:spPr>
          <a:xfrm>
            <a:off x="1440170" y="3812842"/>
            <a:ext cx="576244" cy="576244"/>
          </a:xfrm>
          <a:prstGeom prst="rect">
            <a:avLst/>
          </a:prstGeom>
        </p:spPr>
      </p:pic>
      <p:sp>
        <p:nvSpPr>
          <p:cNvPr id="9" name="Text 5"/>
          <p:cNvSpPr/>
          <p:nvPr/>
        </p:nvSpPr>
        <p:spPr>
          <a:xfrm>
            <a:off x="2331692" y="3918520"/>
            <a:ext cx="4238231"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b="1" dirty="0">
                <a:solidFill>
                  <a:srgbClr val="FFFFFF"/>
                </a:solidFill>
                <a:latin typeface="Oracle Sans Tab" pitchFamily="34" charset="0"/>
                <a:ea typeface="Oracle Sans Tab" pitchFamily="34" charset="-122"/>
                <a:cs typeface="Oracle Sans Tab" pitchFamily="34" charset="-120"/>
              </a:rPr>
              <a:t>Application</a:t>
            </a:r>
            <a:endParaRPr lang="en-US" sz="2400" dirty="0"/>
          </a:p>
        </p:txBody>
      </p:sp>
      <p:sp>
        <p:nvSpPr>
          <p:cNvPr id="10" name="Text 6"/>
          <p:cNvSpPr/>
          <p:nvPr/>
        </p:nvSpPr>
        <p:spPr>
          <a:xfrm>
            <a:off x="6446480" y="3958518"/>
            <a:ext cx="10782989"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the agent users interact with: the product surface</a:t>
            </a:r>
            <a:endParaRPr lang="en-US" sz="1875" dirty="0"/>
          </a:p>
        </p:txBody>
      </p:sp>
      <p:sp>
        <p:nvSpPr>
          <p:cNvPr id="11" name="Shape 7"/>
          <p:cNvSpPr/>
          <p:nvPr/>
        </p:nvSpPr>
        <p:spPr>
          <a:xfrm>
            <a:off x="960096" y="4787253"/>
            <a:ext cx="16367735" cy="1015339"/>
          </a:xfrm>
          <a:prstGeom prst="roundRect">
            <a:avLst>
              <a:gd name="adj" fmla="val 9475"/>
            </a:avLst>
          </a:prstGeom>
          <a:solidFill>
            <a:srgbClr val="0B5060"/>
          </a:solidFill>
          <a:ln w="26458">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pic>
        <p:nvPicPr>
          <p:cNvPr id="12" name="Image 2" descr="preencoded.png"/>
          <p:cNvPicPr>
            <a:picLocks noChangeAspect="1"/>
          </p:cNvPicPr>
          <p:nvPr/>
        </p:nvPicPr>
        <p:blipFill>
          <a:blip r:embed="rId5"/>
          <a:srcRect/>
          <a:stretch/>
        </p:blipFill>
        <p:spPr>
          <a:xfrm>
            <a:off x="1440170" y="5006309"/>
            <a:ext cx="576244" cy="576244"/>
          </a:xfrm>
          <a:prstGeom prst="rect">
            <a:avLst/>
          </a:prstGeom>
        </p:spPr>
      </p:pic>
      <p:sp>
        <p:nvSpPr>
          <p:cNvPr id="13" name="Text 8"/>
          <p:cNvSpPr/>
          <p:nvPr/>
        </p:nvSpPr>
        <p:spPr>
          <a:xfrm>
            <a:off x="2331692" y="5112039"/>
            <a:ext cx="4238231"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b="1" dirty="0">
                <a:solidFill>
                  <a:srgbClr val="FD6953"/>
                </a:solidFill>
                <a:latin typeface="Oracle Sans Tab" pitchFamily="34" charset="0"/>
                <a:ea typeface="Oracle Sans Tab" pitchFamily="34" charset="-122"/>
                <a:cs typeface="Oracle Sans Tab" pitchFamily="34" charset="-120"/>
              </a:rPr>
              <a:t>Data</a:t>
            </a:r>
            <a:endParaRPr lang="en-US" sz="2400" dirty="0"/>
          </a:p>
        </p:txBody>
      </p:sp>
      <p:sp>
        <p:nvSpPr>
          <p:cNvPr id="14" name="Text 9"/>
          <p:cNvSpPr/>
          <p:nvPr/>
        </p:nvSpPr>
        <p:spPr>
          <a:xfrm>
            <a:off x="6446480" y="5152037"/>
            <a:ext cx="10782989"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memory, knowledge and retrieval: what the agent knows</a:t>
            </a:r>
            <a:endParaRPr lang="en-US" sz="1875" dirty="0"/>
          </a:p>
        </p:txBody>
      </p:sp>
      <p:sp>
        <p:nvSpPr>
          <p:cNvPr id="15" name="Text 10"/>
          <p:cNvSpPr/>
          <p:nvPr/>
        </p:nvSpPr>
        <p:spPr>
          <a:xfrm>
            <a:off x="14714215" y="5169193"/>
            <a:ext cx="2270743" cy="289558"/>
          </a:xfrm>
          <a:prstGeom prst="rect">
            <a:avLst/>
          </a:prstGeom>
          <a:noFill/>
          <a:ln/>
        </p:spPr>
        <p:txBody>
          <a:bodyPr wrap="square" lIns="25400" tIns="25400" rIns="25400" bIns="25400" rtlCol="0" anchor="t">
            <a:normAutofit/>
          </a:bodyPr>
          <a:lstStyle/>
          <a:p>
            <a:pPr marL="0" indent="0" algn="r">
              <a:lnSpc>
                <a:spcPct val="92160"/>
              </a:lnSpc>
              <a:buNone/>
            </a:pPr>
            <a:r>
              <a:rPr lang="en-US" sz="1650" b="1" i="1" dirty="0">
                <a:solidFill>
                  <a:srgbClr val="FD6953"/>
                </a:solidFill>
                <a:latin typeface="Oracle Sans Tab" pitchFamily="34" charset="0"/>
                <a:ea typeface="Oracle Sans Tab" pitchFamily="34" charset="-122"/>
                <a:cs typeface="Oracle Sans Tab" pitchFamily="34" charset="-120"/>
              </a:rPr>
              <a:t>we are here</a:t>
            </a:r>
            <a:endParaRPr lang="en-US" sz="1650" dirty="0"/>
          </a:p>
        </p:txBody>
      </p:sp>
      <p:sp>
        <p:nvSpPr>
          <p:cNvPr id="16" name="Shape 11"/>
          <p:cNvSpPr/>
          <p:nvPr/>
        </p:nvSpPr>
        <p:spPr>
          <a:xfrm>
            <a:off x="960096" y="5979790"/>
            <a:ext cx="16367735" cy="1015339"/>
          </a:xfrm>
          <a:prstGeom prst="roundRect">
            <a:avLst>
              <a:gd name="adj" fmla="val 9475"/>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17" name="Image 3" descr="preencoded.png"/>
          <p:cNvPicPr>
            <a:picLocks noChangeAspect="1"/>
          </p:cNvPicPr>
          <p:nvPr/>
        </p:nvPicPr>
        <p:blipFill>
          <a:blip r:embed="rId6"/>
          <a:srcRect/>
          <a:stretch/>
        </p:blipFill>
        <p:spPr>
          <a:xfrm>
            <a:off x="1440170" y="6199776"/>
            <a:ext cx="576244" cy="576244"/>
          </a:xfrm>
          <a:prstGeom prst="rect">
            <a:avLst/>
          </a:prstGeom>
        </p:spPr>
      </p:pic>
      <p:sp>
        <p:nvSpPr>
          <p:cNvPr id="18" name="Text 12"/>
          <p:cNvSpPr/>
          <p:nvPr/>
        </p:nvSpPr>
        <p:spPr>
          <a:xfrm>
            <a:off x="2331692" y="6304576"/>
            <a:ext cx="4238231"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b="1" dirty="0">
                <a:solidFill>
                  <a:srgbClr val="FFFFFF"/>
                </a:solidFill>
                <a:latin typeface="Oracle Sans Tab" pitchFamily="34" charset="0"/>
                <a:ea typeface="Oracle Sans Tab" pitchFamily="34" charset="-122"/>
                <a:cs typeface="Oracle Sans Tab" pitchFamily="34" charset="-120"/>
              </a:rPr>
              <a:t>Model</a:t>
            </a:r>
            <a:endParaRPr lang="en-US" sz="2400" dirty="0"/>
          </a:p>
        </p:txBody>
      </p:sp>
      <p:sp>
        <p:nvSpPr>
          <p:cNvPr id="19" name="Text 13"/>
          <p:cNvSpPr/>
          <p:nvPr/>
        </p:nvSpPr>
        <p:spPr>
          <a:xfrm>
            <a:off x="6446480" y="6344574"/>
            <a:ext cx="10782989"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the reasoning core: the LLM that decides</a:t>
            </a:r>
            <a:endParaRPr lang="en-US" sz="1875" dirty="0"/>
          </a:p>
        </p:txBody>
      </p:sp>
      <p:sp>
        <p:nvSpPr>
          <p:cNvPr id="20" name="Shape 14"/>
          <p:cNvSpPr/>
          <p:nvPr/>
        </p:nvSpPr>
        <p:spPr>
          <a:xfrm>
            <a:off x="960096" y="7173257"/>
            <a:ext cx="16367735" cy="1015339"/>
          </a:xfrm>
          <a:prstGeom prst="roundRect">
            <a:avLst>
              <a:gd name="adj" fmla="val 9475"/>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21" name="Image 4" descr="preencoded.png"/>
          <p:cNvPicPr>
            <a:picLocks noChangeAspect="1"/>
          </p:cNvPicPr>
          <p:nvPr/>
        </p:nvPicPr>
        <p:blipFill>
          <a:blip r:embed="rId7"/>
          <a:srcRect/>
          <a:stretch/>
        </p:blipFill>
        <p:spPr>
          <a:xfrm>
            <a:off x="1440170" y="7393295"/>
            <a:ext cx="576244" cy="576244"/>
          </a:xfrm>
          <a:prstGeom prst="rect">
            <a:avLst/>
          </a:prstGeom>
        </p:spPr>
      </p:pic>
      <p:sp>
        <p:nvSpPr>
          <p:cNvPr id="22" name="Text 15"/>
          <p:cNvSpPr/>
          <p:nvPr/>
        </p:nvSpPr>
        <p:spPr>
          <a:xfrm>
            <a:off x="2331692" y="7498043"/>
            <a:ext cx="4238231"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b="1" dirty="0">
                <a:solidFill>
                  <a:srgbClr val="FFFFFF"/>
                </a:solidFill>
                <a:latin typeface="Oracle Sans Tab" pitchFamily="34" charset="0"/>
                <a:ea typeface="Oracle Sans Tab" pitchFamily="34" charset="-122"/>
                <a:cs typeface="Oracle Sans Tab" pitchFamily="34" charset="-120"/>
              </a:rPr>
              <a:t>Infrastructure</a:t>
            </a:r>
            <a:endParaRPr lang="en-US" sz="2400" dirty="0"/>
          </a:p>
        </p:txBody>
      </p:sp>
      <p:sp>
        <p:nvSpPr>
          <p:cNvPr id="23" name="Text 16"/>
          <p:cNvSpPr/>
          <p:nvPr/>
        </p:nvSpPr>
        <p:spPr>
          <a:xfrm>
            <a:off x="6446480" y="7538041"/>
            <a:ext cx="10782989"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orchestration, serving and security: how it runs</a:t>
            </a:r>
            <a:endParaRPr lang="en-US" sz="1875" dirty="0"/>
          </a:p>
        </p:txBody>
      </p:sp>
      <p:sp>
        <p:nvSpPr>
          <p:cNvPr id="24" name="Shape 17"/>
          <p:cNvSpPr/>
          <p:nvPr/>
        </p:nvSpPr>
        <p:spPr>
          <a:xfrm>
            <a:off x="960096" y="8366724"/>
            <a:ext cx="16367735" cy="1015339"/>
          </a:xfrm>
          <a:prstGeom prst="roundRect">
            <a:avLst>
              <a:gd name="adj" fmla="val 9475"/>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25" name="Image 5" descr="preencoded.png"/>
          <p:cNvPicPr>
            <a:picLocks noChangeAspect="1"/>
          </p:cNvPicPr>
          <p:nvPr/>
        </p:nvPicPr>
        <p:blipFill>
          <a:blip r:embed="rId8"/>
          <a:srcRect/>
          <a:stretch/>
        </p:blipFill>
        <p:spPr>
          <a:xfrm>
            <a:off x="1440170" y="8585832"/>
            <a:ext cx="576244" cy="576244"/>
          </a:xfrm>
          <a:prstGeom prst="rect">
            <a:avLst/>
          </a:prstGeom>
        </p:spPr>
      </p:pic>
      <p:sp>
        <p:nvSpPr>
          <p:cNvPr id="26" name="Text 18"/>
          <p:cNvSpPr/>
          <p:nvPr/>
        </p:nvSpPr>
        <p:spPr>
          <a:xfrm>
            <a:off x="2331692" y="8691511"/>
            <a:ext cx="4238231"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b="1" dirty="0">
                <a:solidFill>
                  <a:srgbClr val="FFFFFF"/>
                </a:solidFill>
                <a:latin typeface="Oracle Sans Tab" pitchFamily="34" charset="0"/>
                <a:ea typeface="Oracle Sans Tab" pitchFamily="34" charset="-122"/>
                <a:cs typeface="Oracle Sans Tab" pitchFamily="34" charset="-120"/>
              </a:rPr>
              <a:t>Compute</a:t>
            </a:r>
            <a:endParaRPr lang="en-US" sz="2400" dirty="0"/>
          </a:p>
        </p:txBody>
      </p:sp>
      <p:sp>
        <p:nvSpPr>
          <p:cNvPr id="27" name="Text 19"/>
          <p:cNvSpPr/>
          <p:nvPr/>
        </p:nvSpPr>
        <p:spPr>
          <a:xfrm>
            <a:off x="6446480" y="8731508"/>
            <a:ext cx="10782989"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GPUs and the database engine: the hardware underneath</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SETTING THE CONTEXT</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INSIDE THE DATA LAYER</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DOUBLE-CLICK THE DATA LAYER</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The data layer, </a:t>
            </a:r>
            <a:r>
              <a:rPr lang="en-US" sz="4500" b="1" i="1" dirty="0">
                <a:solidFill>
                  <a:srgbClr val="FD6953"/>
                </a:solidFill>
                <a:latin typeface="Oracle Sans Tab" pitchFamily="34" charset="0"/>
                <a:ea typeface="Oracle Sans Tab" pitchFamily="34" charset="-122"/>
                <a:cs typeface="Oracle Sans Tab" pitchFamily="34" charset="-120"/>
              </a:rPr>
              <a:t>unpacked.</a:t>
            </a:r>
            <a:endParaRPr lang="en-US" sz="1200" dirty="0"/>
          </a:p>
        </p:txBody>
      </p:sp>
      <p:sp>
        <p:nvSpPr>
          <p:cNvPr id="8" name="Text 5"/>
          <p:cNvSpPr/>
          <p:nvPr/>
        </p:nvSpPr>
        <p:spPr>
          <a:xfrm>
            <a:off x="960096" y="2976511"/>
            <a:ext cx="17094241"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i="1" dirty="0">
                <a:solidFill>
                  <a:srgbClr val="C3D7DC"/>
                </a:solidFill>
                <a:latin typeface="Oracle Sans Tab" pitchFamily="34" charset="0"/>
                <a:ea typeface="Oracle Sans Tab" pitchFamily="34" charset="-122"/>
                <a:cs typeface="Oracle Sans Tab" pitchFamily="34" charset="-120"/>
              </a:rPr>
              <a:t>Double-click the data layer: an orchestrator drives the app, a gateway fronts it, and memory, meaning, retrieval and context sit under one security boundary.</a:t>
            </a:r>
            <a:endParaRPr lang="en-US" sz="1800" dirty="0"/>
          </a:p>
        </p:txBody>
      </p:sp>
      <p:sp>
        <p:nvSpPr>
          <p:cNvPr id="9" name="Shape 6"/>
          <p:cNvSpPr/>
          <p:nvPr/>
        </p:nvSpPr>
        <p:spPr>
          <a:xfrm>
            <a:off x="960096" y="3868084"/>
            <a:ext cx="3977638" cy="685798"/>
          </a:xfrm>
          <a:prstGeom prst="roundRect">
            <a:avLst>
              <a:gd name="adj" fmla="val 14028"/>
            </a:avLst>
          </a:prstGeom>
          <a:solidFill>
            <a:srgbClr val="0B5060"/>
          </a:solidFill>
          <a:ln w="26458">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pic>
        <p:nvPicPr>
          <p:cNvPr id="10" name="Image 1" descr="preencoded.png"/>
          <p:cNvPicPr>
            <a:picLocks noChangeAspect="1"/>
          </p:cNvPicPr>
          <p:nvPr/>
        </p:nvPicPr>
        <p:blipFill>
          <a:blip r:embed="rId4"/>
          <a:srcRect/>
          <a:stretch/>
        </p:blipFill>
        <p:spPr>
          <a:xfrm>
            <a:off x="1206800" y="3977638"/>
            <a:ext cx="466690" cy="466690"/>
          </a:xfrm>
          <a:prstGeom prst="rect">
            <a:avLst/>
          </a:prstGeom>
        </p:spPr>
      </p:pic>
      <p:sp>
        <p:nvSpPr>
          <p:cNvPr id="11" name="Text 7"/>
          <p:cNvSpPr/>
          <p:nvPr/>
        </p:nvSpPr>
        <p:spPr>
          <a:xfrm>
            <a:off x="1810690" y="4073808"/>
            <a:ext cx="3108015"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Agent Orchestrator</a:t>
            </a:r>
            <a:endParaRPr lang="en-US" sz="1800" dirty="0"/>
          </a:p>
        </p:txBody>
      </p:sp>
      <p:sp>
        <p:nvSpPr>
          <p:cNvPr id="12" name="Shape 8"/>
          <p:cNvSpPr/>
          <p:nvPr/>
        </p:nvSpPr>
        <p:spPr>
          <a:xfrm rot="5400000">
            <a:off x="2827207" y="4650646"/>
            <a:ext cx="219075" cy="26458"/>
          </a:xfrm>
          <a:prstGeom prst="rect">
            <a:avLst/>
          </a:prstGeom>
          <a:solidFill>
            <a:srgbClr val="FD6953"/>
          </a:solidFill>
          <a:ln/>
        </p:spPr>
        <p:txBody>
          <a:bodyPr/>
          <a:lstStyle/>
          <a:p>
            <a:endParaRPr lang="en-US"/>
          </a:p>
        </p:txBody>
      </p:sp>
      <p:sp>
        <p:nvSpPr>
          <p:cNvPr id="13" name="Shape 9"/>
          <p:cNvSpPr/>
          <p:nvPr/>
        </p:nvSpPr>
        <p:spPr>
          <a:xfrm rot="5400000">
            <a:off x="2886077" y="4630993"/>
            <a:ext cx="125677" cy="161925"/>
          </a:xfrm>
          <a:prstGeom prst="rect">
            <a:avLst/>
          </a:prstGeom>
          <a:solidFill>
            <a:srgbClr val="FD6953"/>
          </a:solidFill>
          <a:ln/>
        </p:spPr>
        <p:txBody>
          <a:bodyPr/>
          <a:lstStyle/>
          <a:p>
            <a:endParaRPr lang="en-US"/>
          </a:p>
        </p:txBody>
      </p:sp>
      <p:sp>
        <p:nvSpPr>
          <p:cNvPr id="14" name="Shape 10"/>
          <p:cNvSpPr/>
          <p:nvPr/>
        </p:nvSpPr>
        <p:spPr>
          <a:xfrm>
            <a:off x="960096" y="4800585"/>
            <a:ext cx="3977638" cy="767705"/>
          </a:xfrm>
          <a:prstGeom prst="roundRect">
            <a:avLst>
              <a:gd name="adj" fmla="val 12531"/>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5" name="Text 11"/>
          <p:cNvSpPr/>
          <p:nvPr/>
        </p:nvSpPr>
        <p:spPr>
          <a:xfrm>
            <a:off x="900432" y="5041553"/>
            <a:ext cx="4096967" cy="323819"/>
          </a:xfrm>
          <a:prstGeom prst="rect">
            <a:avLst/>
          </a:prstGeom>
          <a:noFill/>
          <a:ln/>
        </p:spPr>
        <p:txBody>
          <a:bodyPr wrap="square" lIns="25400" tIns="25400" rIns="25400" bIns="25400" rtlCol="0" anchor="t">
            <a:normAutofit/>
          </a:bodyPr>
          <a:lstStyle/>
          <a:p>
            <a:pPr marL="0" indent="0" algn="ctr">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Application</a:t>
            </a:r>
            <a:endParaRPr lang="en-US" sz="1875" dirty="0"/>
          </a:p>
        </p:txBody>
      </p:sp>
      <p:sp>
        <p:nvSpPr>
          <p:cNvPr id="16" name="Shape 12"/>
          <p:cNvSpPr/>
          <p:nvPr/>
        </p:nvSpPr>
        <p:spPr>
          <a:xfrm>
            <a:off x="960096" y="5678775"/>
            <a:ext cx="3977638" cy="767705"/>
          </a:xfrm>
          <a:prstGeom prst="roundRect">
            <a:avLst>
              <a:gd name="adj" fmla="val 12531"/>
            </a:avLst>
          </a:prstGeom>
          <a:solidFill>
            <a:srgbClr val="0B5060"/>
          </a:solidFill>
          <a:ln w="26458">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17" name="Text 13"/>
          <p:cNvSpPr/>
          <p:nvPr/>
        </p:nvSpPr>
        <p:spPr>
          <a:xfrm>
            <a:off x="900432" y="5919742"/>
            <a:ext cx="4096967" cy="323819"/>
          </a:xfrm>
          <a:prstGeom prst="rect">
            <a:avLst/>
          </a:prstGeom>
          <a:noFill/>
          <a:ln/>
        </p:spPr>
        <p:txBody>
          <a:bodyPr wrap="square" lIns="25400" tIns="25400" rIns="25400" bIns="25400" rtlCol="0" anchor="t">
            <a:normAutofit/>
          </a:bodyPr>
          <a:lstStyle/>
          <a:p>
            <a:pPr marL="0" indent="0" algn="ctr">
              <a:lnSpc>
                <a:spcPct val="92160"/>
              </a:lnSpc>
              <a:buNone/>
            </a:pPr>
            <a:r>
              <a:rPr lang="en-US" sz="1875" b="1" dirty="0">
                <a:solidFill>
                  <a:srgbClr val="FD6953"/>
                </a:solidFill>
                <a:latin typeface="Oracle Sans Tab" pitchFamily="34" charset="0"/>
                <a:ea typeface="Oracle Sans Tab" pitchFamily="34" charset="-122"/>
                <a:cs typeface="Oracle Sans Tab" pitchFamily="34" charset="-120"/>
              </a:rPr>
              <a:t>Data</a:t>
            </a:r>
            <a:endParaRPr lang="en-US" sz="1875" dirty="0"/>
          </a:p>
        </p:txBody>
      </p:sp>
      <p:sp>
        <p:nvSpPr>
          <p:cNvPr id="18" name="Shape 14"/>
          <p:cNvSpPr/>
          <p:nvPr/>
        </p:nvSpPr>
        <p:spPr>
          <a:xfrm>
            <a:off x="960096" y="6556034"/>
            <a:ext cx="3977638" cy="767705"/>
          </a:xfrm>
          <a:prstGeom prst="roundRect">
            <a:avLst>
              <a:gd name="adj" fmla="val 12531"/>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9" name="Text 15"/>
          <p:cNvSpPr/>
          <p:nvPr/>
        </p:nvSpPr>
        <p:spPr>
          <a:xfrm>
            <a:off x="900432" y="6797001"/>
            <a:ext cx="4096967" cy="323819"/>
          </a:xfrm>
          <a:prstGeom prst="rect">
            <a:avLst/>
          </a:prstGeom>
          <a:noFill/>
          <a:ln/>
        </p:spPr>
        <p:txBody>
          <a:bodyPr wrap="square" lIns="25400" tIns="25400" rIns="25400" bIns="25400" rtlCol="0" anchor="t">
            <a:normAutofit/>
          </a:bodyPr>
          <a:lstStyle/>
          <a:p>
            <a:pPr marL="0" indent="0" algn="ctr">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Model</a:t>
            </a:r>
            <a:endParaRPr lang="en-US" sz="1875" dirty="0"/>
          </a:p>
        </p:txBody>
      </p:sp>
      <p:sp>
        <p:nvSpPr>
          <p:cNvPr id="20" name="Shape 16"/>
          <p:cNvSpPr/>
          <p:nvPr/>
        </p:nvSpPr>
        <p:spPr>
          <a:xfrm>
            <a:off x="960096" y="7434223"/>
            <a:ext cx="3977638" cy="767705"/>
          </a:xfrm>
          <a:prstGeom prst="roundRect">
            <a:avLst>
              <a:gd name="adj" fmla="val 12531"/>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1" name="Text 17"/>
          <p:cNvSpPr/>
          <p:nvPr/>
        </p:nvSpPr>
        <p:spPr>
          <a:xfrm>
            <a:off x="900432" y="7675190"/>
            <a:ext cx="4096967" cy="323819"/>
          </a:xfrm>
          <a:prstGeom prst="rect">
            <a:avLst/>
          </a:prstGeom>
          <a:noFill/>
          <a:ln/>
        </p:spPr>
        <p:txBody>
          <a:bodyPr wrap="square" lIns="25400" tIns="25400" rIns="25400" bIns="25400" rtlCol="0" anchor="t">
            <a:normAutofit/>
          </a:bodyPr>
          <a:lstStyle/>
          <a:p>
            <a:pPr marL="0" indent="0" algn="ctr">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Infrastructure</a:t>
            </a:r>
            <a:endParaRPr lang="en-US" sz="1875" dirty="0"/>
          </a:p>
        </p:txBody>
      </p:sp>
      <p:sp>
        <p:nvSpPr>
          <p:cNvPr id="22" name="Shape 18"/>
          <p:cNvSpPr/>
          <p:nvPr/>
        </p:nvSpPr>
        <p:spPr>
          <a:xfrm>
            <a:off x="960096" y="8311482"/>
            <a:ext cx="3977638" cy="767705"/>
          </a:xfrm>
          <a:prstGeom prst="roundRect">
            <a:avLst>
              <a:gd name="adj" fmla="val 12531"/>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3" name="Text 19"/>
          <p:cNvSpPr/>
          <p:nvPr/>
        </p:nvSpPr>
        <p:spPr>
          <a:xfrm>
            <a:off x="900432" y="8552449"/>
            <a:ext cx="4096967" cy="323819"/>
          </a:xfrm>
          <a:prstGeom prst="rect">
            <a:avLst/>
          </a:prstGeom>
          <a:noFill/>
          <a:ln/>
        </p:spPr>
        <p:txBody>
          <a:bodyPr wrap="square" lIns="25400" tIns="25400" rIns="25400" bIns="25400" rtlCol="0" anchor="t">
            <a:normAutofit/>
          </a:bodyPr>
          <a:lstStyle/>
          <a:p>
            <a:pPr marL="0" indent="0" algn="ctr">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Compute</a:t>
            </a:r>
            <a:endParaRPr lang="en-US" sz="1875" dirty="0"/>
          </a:p>
        </p:txBody>
      </p:sp>
      <p:sp>
        <p:nvSpPr>
          <p:cNvPr id="24" name="Shape 20"/>
          <p:cNvSpPr/>
          <p:nvPr/>
        </p:nvSpPr>
        <p:spPr>
          <a:xfrm rot="8028000">
            <a:off x="4518936" y="4673213"/>
            <a:ext cx="2771774" cy="19844"/>
          </a:xfrm>
          <a:prstGeom prst="rect">
            <a:avLst/>
          </a:prstGeom>
          <a:solidFill>
            <a:srgbClr val="E0836F"/>
          </a:solidFill>
          <a:ln/>
        </p:spPr>
        <p:txBody>
          <a:bodyPr/>
          <a:lstStyle/>
          <a:p>
            <a:endParaRPr lang="en-US"/>
          </a:p>
        </p:txBody>
      </p:sp>
      <p:sp>
        <p:nvSpPr>
          <p:cNvPr id="25" name="Shape 21"/>
          <p:cNvSpPr/>
          <p:nvPr/>
        </p:nvSpPr>
        <p:spPr>
          <a:xfrm rot="3163800">
            <a:off x="4303704" y="7704479"/>
            <a:ext cx="3171826" cy="19844"/>
          </a:xfrm>
          <a:prstGeom prst="rect">
            <a:avLst/>
          </a:prstGeom>
          <a:solidFill>
            <a:srgbClr val="E0836F"/>
          </a:solidFill>
          <a:ln/>
        </p:spPr>
        <p:txBody>
          <a:bodyPr/>
          <a:lstStyle/>
          <a:p>
            <a:endParaRPr lang="en-US"/>
          </a:p>
        </p:txBody>
      </p:sp>
      <p:sp>
        <p:nvSpPr>
          <p:cNvPr id="26" name="Shape 22"/>
          <p:cNvSpPr/>
          <p:nvPr/>
        </p:nvSpPr>
        <p:spPr>
          <a:xfrm>
            <a:off x="6857979" y="3675693"/>
            <a:ext cx="9052522" cy="767705"/>
          </a:xfrm>
          <a:prstGeom prst="roundRect">
            <a:avLst>
              <a:gd name="adj" fmla="val 12531"/>
            </a:avLst>
          </a:prstGeom>
          <a:solidFill>
            <a:srgbClr val="0B5060"/>
          </a:solidFill>
          <a:ln w="16536">
            <a:solidFill>
              <a:srgbClr val="FFFFFF">
                <a:alpha val="3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27" name="Image 2" descr="preencoded.png"/>
          <p:cNvPicPr>
            <a:picLocks noChangeAspect="1"/>
          </p:cNvPicPr>
          <p:nvPr/>
        </p:nvPicPr>
        <p:blipFill>
          <a:blip r:embed="rId5"/>
          <a:srcRect/>
          <a:stretch/>
        </p:blipFill>
        <p:spPr>
          <a:xfrm>
            <a:off x="7159925" y="3840437"/>
            <a:ext cx="439095" cy="439095"/>
          </a:xfrm>
          <a:prstGeom prst="rect">
            <a:avLst/>
          </a:prstGeom>
        </p:spPr>
      </p:pic>
      <p:sp>
        <p:nvSpPr>
          <p:cNvPr id="28" name="Text 23"/>
          <p:cNvSpPr/>
          <p:nvPr/>
        </p:nvSpPr>
        <p:spPr>
          <a:xfrm>
            <a:off x="7845722" y="3916660"/>
            <a:ext cx="4662022"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Gateway &amp; MCP</a:t>
            </a:r>
            <a:endParaRPr lang="en-US" sz="1875" dirty="0"/>
          </a:p>
        </p:txBody>
      </p:sp>
      <p:sp>
        <p:nvSpPr>
          <p:cNvPr id="29" name="Text 24"/>
          <p:cNvSpPr/>
          <p:nvPr/>
        </p:nvSpPr>
        <p:spPr>
          <a:xfrm>
            <a:off x="12344363" y="3950973"/>
            <a:ext cx="3620967"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Oracle Sans Tab" pitchFamily="34" charset="0"/>
                <a:ea typeface="Oracle Sans Tab" pitchFamily="34" charset="-122"/>
                <a:cs typeface="Oracle Sans Tab" pitchFamily="34" charset="-120"/>
              </a:rPr>
              <a:t>connectivity to tools and data</a:t>
            </a:r>
            <a:endParaRPr lang="en-US" sz="1425" dirty="0"/>
          </a:p>
        </p:txBody>
      </p:sp>
      <p:sp>
        <p:nvSpPr>
          <p:cNvPr id="30" name="Shape 25"/>
          <p:cNvSpPr/>
          <p:nvPr/>
        </p:nvSpPr>
        <p:spPr>
          <a:xfrm>
            <a:off x="6857979" y="4581477"/>
            <a:ext cx="9052522" cy="767705"/>
          </a:xfrm>
          <a:prstGeom prst="roundRect">
            <a:avLst>
              <a:gd name="adj" fmla="val 12531"/>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31" name="Image 3" descr="preencoded.png"/>
          <p:cNvPicPr>
            <a:picLocks noChangeAspect="1"/>
          </p:cNvPicPr>
          <p:nvPr/>
        </p:nvPicPr>
        <p:blipFill>
          <a:blip r:embed="rId6"/>
          <a:srcRect/>
          <a:stretch/>
        </p:blipFill>
        <p:spPr>
          <a:xfrm>
            <a:off x="7159925" y="4745343"/>
            <a:ext cx="439095" cy="439095"/>
          </a:xfrm>
          <a:prstGeom prst="rect">
            <a:avLst/>
          </a:prstGeom>
        </p:spPr>
      </p:pic>
      <p:sp>
        <p:nvSpPr>
          <p:cNvPr id="32" name="Text 26"/>
          <p:cNvSpPr/>
          <p:nvPr/>
        </p:nvSpPr>
        <p:spPr>
          <a:xfrm>
            <a:off x="7845722" y="4822445"/>
            <a:ext cx="4662022"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Memory Layer</a:t>
            </a:r>
            <a:endParaRPr lang="en-US" sz="1875" dirty="0"/>
          </a:p>
        </p:txBody>
      </p:sp>
      <p:sp>
        <p:nvSpPr>
          <p:cNvPr id="33" name="Text 27"/>
          <p:cNvSpPr/>
          <p:nvPr/>
        </p:nvSpPr>
        <p:spPr>
          <a:xfrm>
            <a:off x="12344363" y="4856758"/>
            <a:ext cx="3620967"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Oracle Sans Tab" pitchFamily="34" charset="0"/>
                <a:ea typeface="Oracle Sans Tab" pitchFamily="34" charset="-122"/>
                <a:cs typeface="Oracle Sans Tab" pitchFamily="34" charset="-120"/>
              </a:rPr>
              <a:t>episodic, semantic, working</a:t>
            </a:r>
            <a:endParaRPr lang="en-US" sz="1425" dirty="0"/>
          </a:p>
        </p:txBody>
      </p:sp>
      <p:sp>
        <p:nvSpPr>
          <p:cNvPr id="34" name="Shape 28"/>
          <p:cNvSpPr/>
          <p:nvPr/>
        </p:nvSpPr>
        <p:spPr>
          <a:xfrm>
            <a:off x="6857979" y="5486383"/>
            <a:ext cx="9052522" cy="767705"/>
          </a:xfrm>
          <a:prstGeom prst="roundRect">
            <a:avLst>
              <a:gd name="adj" fmla="val 12531"/>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35" name="Image 4" descr="preencoded.png"/>
          <p:cNvPicPr>
            <a:picLocks noChangeAspect="1"/>
          </p:cNvPicPr>
          <p:nvPr/>
        </p:nvPicPr>
        <p:blipFill>
          <a:blip r:embed="rId7"/>
          <a:srcRect/>
          <a:stretch/>
        </p:blipFill>
        <p:spPr>
          <a:xfrm>
            <a:off x="7159925" y="5651179"/>
            <a:ext cx="439095" cy="439095"/>
          </a:xfrm>
          <a:prstGeom prst="rect">
            <a:avLst/>
          </a:prstGeom>
        </p:spPr>
      </p:pic>
      <p:sp>
        <p:nvSpPr>
          <p:cNvPr id="36" name="Text 29"/>
          <p:cNvSpPr/>
          <p:nvPr/>
        </p:nvSpPr>
        <p:spPr>
          <a:xfrm>
            <a:off x="7845722" y="5727350"/>
            <a:ext cx="4662022"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Semantic Layer</a:t>
            </a:r>
            <a:endParaRPr lang="en-US" sz="1875" dirty="0"/>
          </a:p>
        </p:txBody>
      </p:sp>
      <p:sp>
        <p:nvSpPr>
          <p:cNvPr id="37" name="Text 30"/>
          <p:cNvSpPr/>
          <p:nvPr/>
        </p:nvSpPr>
        <p:spPr>
          <a:xfrm>
            <a:off x="12344363" y="5761663"/>
            <a:ext cx="3620967"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Oracle Sans Tab" pitchFamily="34" charset="0"/>
                <a:ea typeface="Oracle Sans Tab" pitchFamily="34" charset="-122"/>
                <a:cs typeface="Oracle Sans Tab" pitchFamily="34" charset="-120"/>
              </a:rPr>
              <a:t>what the schema means</a:t>
            </a:r>
            <a:endParaRPr lang="en-US" sz="1425" dirty="0"/>
          </a:p>
        </p:txBody>
      </p:sp>
      <p:sp>
        <p:nvSpPr>
          <p:cNvPr id="38" name="Shape 31"/>
          <p:cNvSpPr/>
          <p:nvPr/>
        </p:nvSpPr>
        <p:spPr>
          <a:xfrm>
            <a:off x="6857979" y="6391238"/>
            <a:ext cx="9052522" cy="767705"/>
          </a:xfrm>
          <a:prstGeom prst="roundRect">
            <a:avLst>
              <a:gd name="adj" fmla="val 12531"/>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39" name="Image 5" descr="preencoded.png"/>
          <p:cNvPicPr>
            <a:picLocks noChangeAspect="1"/>
          </p:cNvPicPr>
          <p:nvPr/>
        </p:nvPicPr>
        <p:blipFill>
          <a:blip r:embed="rId8"/>
          <a:srcRect/>
          <a:stretch/>
        </p:blipFill>
        <p:spPr>
          <a:xfrm>
            <a:off x="7159925" y="6556034"/>
            <a:ext cx="439095" cy="439095"/>
          </a:xfrm>
          <a:prstGeom prst="rect">
            <a:avLst/>
          </a:prstGeom>
        </p:spPr>
      </p:pic>
      <p:sp>
        <p:nvSpPr>
          <p:cNvPr id="40" name="Text 32"/>
          <p:cNvSpPr/>
          <p:nvPr/>
        </p:nvSpPr>
        <p:spPr>
          <a:xfrm>
            <a:off x="7845722" y="6632204"/>
            <a:ext cx="4662022"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Retrieval Layer</a:t>
            </a:r>
            <a:endParaRPr lang="en-US" sz="1875" dirty="0"/>
          </a:p>
        </p:txBody>
      </p:sp>
      <p:sp>
        <p:nvSpPr>
          <p:cNvPr id="41" name="Text 33"/>
          <p:cNvSpPr/>
          <p:nvPr/>
        </p:nvSpPr>
        <p:spPr>
          <a:xfrm>
            <a:off x="12344363" y="6666518"/>
            <a:ext cx="3620967"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Oracle Sans Tab" pitchFamily="34" charset="0"/>
                <a:ea typeface="Oracle Sans Tab" pitchFamily="34" charset="-122"/>
                <a:cs typeface="Oracle Sans Tab" pitchFamily="34" charset="-120"/>
              </a:rPr>
              <a:t>keyword, vector, rerank</a:t>
            </a:r>
            <a:endParaRPr lang="en-US" sz="1425" dirty="0"/>
          </a:p>
        </p:txBody>
      </p:sp>
      <p:sp>
        <p:nvSpPr>
          <p:cNvPr id="42" name="Shape 34"/>
          <p:cNvSpPr/>
          <p:nvPr/>
        </p:nvSpPr>
        <p:spPr>
          <a:xfrm>
            <a:off x="6857979" y="7297074"/>
            <a:ext cx="9052522" cy="767705"/>
          </a:xfrm>
          <a:prstGeom prst="roundRect">
            <a:avLst>
              <a:gd name="adj" fmla="val 12531"/>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43" name="Image 6" descr="preencoded.png"/>
          <p:cNvPicPr>
            <a:picLocks noChangeAspect="1"/>
          </p:cNvPicPr>
          <p:nvPr/>
        </p:nvPicPr>
        <p:blipFill>
          <a:blip r:embed="rId9"/>
          <a:srcRect/>
          <a:stretch/>
        </p:blipFill>
        <p:spPr>
          <a:xfrm>
            <a:off x="7159925" y="7461870"/>
            <a:ext cx="439095" cy="439095"/>
          </a:xfrm>
          <a:prstGeom prst="rect">
            <a:avLst/>
          </a:prstGeom>
        </p:spPr>
      </p:pic>
      <p:sp>
        <p:nvSpPr>
          <p:cNvPr id="44" name="Text 35"/>
          <p:cNvSpPr/>
          <p:nvPr/>
        </p:nvSpPr>
        <p:spPr>
          <a:xfrm>
            <a:off x="7845722" y="7538041"/>
            <a:ext cx="4662022"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Context Layer</a:t>
            </a:r>
            <a:endParaRPr lang="en-US" sz="1875" dirty="0"/>
          </a:p>
        </p:txBody>
      </p:sp>
      <p:sp>
        <p:nvSpPr>
          <p:cNvPr id="45" name="Text 36"/>
          <p:cNvSpPr/>
          <p:nvPr/>
        </p:nvSpPr>
        <p:spPr>
          <a:xfrm>
            <a:off x="12344363" y="7572354"/>
            <a:ext cx="3620967"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Oracle Sans Tab" pitchFamily="34" charset="0"/>
                <a:ea typeface="Oracle Sans Tab" pitchFamily="34" charset="-122"/>
                <a:cs typeface="Oracle Sans Tab" pitchFamily="34" charset="-120"/>
              </a:rPr>
              <a:t>compaction and offloading</a:t>
            </a:r>
            <a:endParaRPr lang="en-US" sz="1425" dirty="0"/>
          </a:p>
        </p:txBody>
      </p:sp>
      <p:sp>
        <p:nvSpPr>
          <p:cNvPr id="46" name="Shape 37"/>
          <p:cNvSpPr/>
          <p:nvPr/>
        </p:nvSpPr>
        <p:spPr>
          <a:xfrm>
            <a:off x="6857979" y="8201928"/>
            <a:ext cx="9052522" cy="767705"/>
          </a:xfrm>
          <a:prstGeom prst="roundRect">
            <a:avLst>
              <a:gd name="adj" fmla="val 12531"/>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47" name="Image 7" descr="preencoded.png"/>
          <p:cNvPicPr>
            <a:picLocks noChangeAspect="1"/>
          </p:cNvPicPr>
          <p:nvPr/>
        </p:nvPicPr>
        <p:blipFill>
          <a:blip r:embed="rId10"/>
          <a:srcRect/>
          <a:stretch/>
        </p:blipFill>
        <p:spPr>
          <a:xfrm>
            <a:off x="7159925" y="8366724"/>
            <a:ext cx="439095" cy="439095"/>
          </a:xfrm>
          <a:prstGeom prst="rect">
            <a:avLst/>
          </a:prstGeom>
        </p:spPr>
      </p:pic>
      <p:sp>
        <p:nvSpPr>
          <p:cNvPr id="48" name="Text 38"/>
          <p:cNvSpPr/>
          <p:nvPr/>
        </p:nvSpPr>
        <p:spPr>
          <a:xfrm>
            <a:off x="7845722" y="8442895"/>
            <a:ext cx="4662022"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Tools &amp; Skills</a:t>
            </a:r>
            <a:endParaRPr lang="en-US" sz="1875" dirty="0"/>
          </a:p>
        </p:txBody>
      </p:sp>
      <p:sp>
        <p:nvSpPr>
          <p:cNvPr id="49" name="Text 39"/>
          <p:cNvSpPr/>
          <p:nvPr/>
        </p:nvSpPr>
        <p:spPr>
          <a:xfrm>
            <a:off x="12344363" y="8477208"/>
            <a:ext cx="3620967"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Oracle Sans Tab" pitchFamily="34" charset="0"/>
                <a:ea typeface="Oracle Sans Tab" pitchFamily="34" charset="-122"/>
                <a:cs typeface="Oracle Sans Tab" pitchFamily="34" charset="-120"/>
              </a:rPr>
              <a:t>searchable memory</a:t>
            </a:r>
            <a:endParaRPr lang="en-US" sz="1425" dirty="0"/>
          </a:p>
        </p:txBody>
      </p:sp>
      <p:sp>
        <p:nvSpPr>
          <p:cNvPr id="50" name="Shape 40"/>
          <p:cNvSpPr/>
          <p:nvPr/>
        </p:nvSpPr>
        <p:spPr>
          <a:xfrm rot="5400000">
            <a:off x="13905286" y="6761137"/>
            <a:ext cx="4391025" cy="29766"/>
          </a:xfrm>
          <a:prstGeom prst="rect">
            <a:avLst/>
          </a:prstGeom>
          <a:solidFill>
            <a:srgbClr val="FD6953"/>
          </a:solidFill>
          <a:ln/>
        </p:spPr>
        <p:txBody>
          <a:bodyPr/>
          <a:lstStyle/>
          <a:p>
            <a:endParaRPr lang="en-US"/>
          </a:p>
        </p:txBody>
      </p:sp>
      <p:sp>
        <p:nvSpPr>
          <p:cNvPr id="51" name="Shape 41"/>
          <p:cNvSpPr/>
          <p:nvPr/>
        </p:nvSpPr>
        <p:spPr>
          <a:xfrm>
            <a:off x="15979127" y="4564527"/>
            <a:ext cx="137149" cy="26458"/>
          </a:xfrm>
          <a:prstGeom prst="rect">
            <a:avLst/>
          </a:prstGeom>
          <a:solidFill>
            <a:srgbClr val="FD6953"/>
          </a:solidFill>
          <a:ln/>
        </p:spPr>
        <p:txBody>
          <a:bodyPr/>
          <a:lstStyle/>
          <a:p>
            <a:endParaRPr lang="en-US"/>
          </a:p>
        </p:txBody>
      </p:sp>
      <p:sp>
        <p:nvSpPr>
          <p:cNvPr id="52" name="Shape 42"/>
          <p:cNvSpPr/>
          <p:nvPr/>
        </p:nvSpPr>
        <p:spPr>
          <a:xfrm>
            <a:off x="15979127" y="8953665"/>
            <a:ext cx="137149" cy="26458"/>
          </a:xfrm>
          <a:prstGeom prst="rect">
            <a:avLst/>
          </a:prstGeom>
          <a:solidFill>
            <a:srgbClr val="FD6953"/>
          </a:solidFill>
          <a:ln/>
        </p:spPr>
        <p:txBody>
          <a:bodyPr/>
          <a:lstStyle/>
          <a:p>
            <a:endParaRPr lang="en-US"/>
          </a:p>
        </p:txBody>
      </p:sp>
      <p:sp>
        <p:nvSpPr>
          <p:cNvPr id="53" name="Shape 43"/>
          <p:cNvSpPr/>
          <p:nvPr/>
        </p:nvSpPr>
        <p:spPr>
          <a:xfrm>
            <a:off x="15869573" y="6759122"/>
            <a:ext cx="246652" cy="26458"/>
          </a:xfrm>
          <a:prstGeom prst="rect">
            <a:avLst/>
          </a:prstGeom>
          <a:solidFill>
            <a:srgbClr val="FD6953"/>
          </a:solidFill>
          <a:ln/>
        </p:spPr>
        <p:txBody>
          <a:bodyPr/>
          <a:lstStyle/>
          <a:p>
            <a:endParaRPr lang="en-US"/>
          </a:p>
        </p:txBody>
      </p:sp>
      <p:sp>
        <p:nvSpPr>
          <p:cNvPr id="54" name="Shape 44"/>
          <p:cNvSpPr/>
          <p:nvPr/>
        </p:nvSpPr>
        <p:spPr>
          <a:xfrm>
            <a:off x="15869573" y="6702898"/>
            <a:ext cx="125677" cy="165365"/>
          </a:xfrm>
          <a:prstGeom prst="rect">
            <a:avLst/>
          </a:prstGeom>
          <a:solidFill>
            <a:srgbClr val="FD6953"/>
          </a:solidFill>
          <a:ln/>
        </p:spPr>
        <p:txBody>
          <a:bodyPr/>
          <a:lstStyle/>
          <a:p>
            <a:endParaRPr lang="en-US"/>
          </a:p>
        </p:txBody>
      </p:sp>
      <p:pic>
        <p:nvPicPr>
          <p:cNvPr id="55" name="Image 8" descr="preencoded.png"/>
          <p:cNvPicPr>
            <a:picLocks noChangeAspect="1"/>
          </p:cNvPicPr>
          <p:nvPr/>
        </p:nvPicPr>
        <p:blipFill>
          <a:blip r:embed="rId11"/>
          <a:srcRect/>
          <a:stretch/>
        </p:blipFill>
        <p:spPr>
          <a:xfrm>
            <a:off x="16527776" y="6144534"/>
            <a:ext cx="439095" cy="439095"/>
          </a:xfrm>
          <a:prstGeom prst="rect">
            <a:avLst/>
          </a:prstGeom>
        </p:spPr>
      </p:pic>
      <p:sp>
        <p:nvSpPr>
          <p:cNvPr id="56" name="Text 45"/>
          <p:cNvSpPr/>
          <p:nvPr/>
        </p:nvSpPr>
        <p:spPr>
          <a:xfrm>
            <a:off x="15983933" y="6757003"/>
            <a:ext cx="1402912" cy="266665"/>
          </a:xfrm>
          <a:prstGeom prst="rect">
            <a:avLst/>
          </a:prstGeom>
          <a:noFill/>
          <a:ln/>
        </p:spPr>
        <p:txBody>
          <a:bodyPr wrap="square" lIns="25400" tIns="25400" rIns="25400" bIns="25400" rtlCol="0" anchor="t">
            <a:normAutofit/>
          </a:bodyPr>
          <a:lstStyle/>
          <a:p>
            <a:pPr marL="0" indent="0" algn="ctr">
              <a:lnSpc>
                <a:spcPct val="92160"/>
              </a:lnSpc>
              <a:buNone/>
            </a:pPr>
            <a:r>
              <a:rPr lang="en-US" sz="1500" b="1" dirty="0">
                <a:solidFill>
                  <a:srgbClr val="FD6953"/>
                </a:solidFill>
                <a:latin typeface="Oracle Sans Tab" pitchFamily="34" charset="0"/>
                <a:ea typeface="Oracle Sans Tab" pitchFamily="34" charset="-122"/>
                <a:cs typeface="Oracle Sans Tab" pitchFamily="34" charset="-120"/>
              </a:rPr>
              <a:t>Security</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WHERE THE FIELD IS TODAY</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Four shapes AI applications </a:t>
            </a:r>
            <a:r>
              <a:rPr lang="en-US" sz="5100" b="1" i="1" dirty="0">
                <a:solidFill>
                  <a:srgbClr val="FD6953"/>
                </a:solidFill>
                <a:latin typeface="Oracle Sans Tab" pitchFamily="34" charset="0"/>
                <a:ea typeface="Oracle Sans Tab" pitchFamily="34" charset="-122"/>
                <a:cs typeface="Oracle Sans Tab" pitchFamily="34" charset="-120"/>
              </a:rPr>
              <a:t>take.</a:t>
            </a:r>
            <a:endParaRPr lang="en-US" sz="1200" dirty="0"/>
          </a:p>
        </p:txBody>
      </p:sp>
      <p:sp>
        <p:nvSpPr>
          <p:cNvPr id="8" name="Text 5"/>
          <p:cNvSpPr/>
          <p:nvPr/>
        </p:nvSpPr>
        <p:spPr>
          <a:xfrm>
            <a:off x="960096" y="5463490"/>
            <a:ext cx="4238231" cy="632482"/>
          </a:xfrm>
          <a:prstGeom prst="rect">
            <a:avLst/>
          </a:prstGeom>
          <a:noFill/>
          <a:ln/>
        </p:spPr>
        <p:txBody>
          <a:bodyPr wrap="square" lIns="25400" tIns="25400" rIns="25400" bIns="25400" rtlCol="0" anchor="t">
            <a:normAutofit/>
          </a:bodyPr>
          <a:lstStyle/>
          <a:p>
            <a:pPr marL="0" indent="0" algn="l">
              <a:lnSpc>
                <a:spcPct val="92160"/>
              </a:lnSpc>
              <a:buNone/>
            </a:pPr>
            <a:r>
              <a:rPr lang="en-US" sz="3900" b="1" dirty="0">
                <a:solidFill>
                  <a:srgbClr val="FFFFFF"/>
                </a:solidFill>
                <a:latin typeface="Oracle Sans Tab" pitchFamily="34" charset="0"/>
                <a:ea typeface="Oracle Sans Tab" pitchFamily="34" charset="-122"/>
                <a:cs typeface="Oracle Sans Tab" pitchFamily="34" charset="-120"/>
              </a:rPr>
              <a:t>AI Application</a:t>
            </a:r>
            <a:endParaRPr lang="en-US" sz="3900" dirty="0"/>
          </a:p>
        </p:txBody>
      </p:sp>
      <p:sp>
        <p:nvSpPr>
          <p:cNvPr id="9" name="Shape 6"/>
          <p:cNvSpPr/>
          <p:nvPr/>
        </p:nvSpPr>
        <p:spPr>
          <a:xfrm rot="5400000">
            <a:off x="6104754" y="6432786"/>
            <a:ext cx="4362450" cy="26458"/>
          </a:xfrm>
          <a:prstGeom prst="rect">
            <a:avLst/>
          </a:prstGeom>
          <a:solidFill>
            <a:srgbClr val="FD6953"/>
          </a:solidFill>
          <a:ln/>
        </p:spPr>
        <p:txBody>
          <a:bodyPr/>
          <a:lstStyle/>
          <a:p>
            <a:endParaRPr lang="en-US"/>
          </a:p>
        </p:txBody>
      </p:sp>
      <p:sp>
        <p:nvSpPr>
          <p:cNvPr id="10" name="Shape 7"/>
          <p:cNvSpPr/>
          <p:nvPr/>
        </p:nvSpPr>
        <p:spPr>
          <a:xfrm>
            <a:off x="4114788" y="5760682"/>
            <a:ext cx="4183362" cy="26458"/>
          </a:xfrm>
          <a:prstGeom prst="rect">
            <a:avLst/>
          </a:prstGeom>
          <a:solidFill>
            <a:srgbClr val="FD6953"/>
          </a:solidFill>
          <a:ln/>
        </p:spPr>
        <p:txBody>
          <a:bodyPr/>
          <a:lstStyle/>
          <a:p>
            <a:endParaRPr lang="en-US"/>
          </a:p>
        </p:txBody>
      </p:sp>
      <p:sp>
        <p:nvSpPr>
          <p:cNvPr id="11" name="Shape 8"/>
          <p:cNvSpPr/>
          <p:nvPr/>
        </p:nvSpPr>
        <p:spPr>
          <a:xfrm>
            <a:off x="8298149" y="4265269"/>
            <a:ext cx="1302969" cy="26458"/>
          </a:xfrm>
          <a:prstGeom prst="rect">
            <a:avLst/>
          </a:prstGeom>
          <a:solidFill>
            <a:srgbClr val="FD6953"/>
          </a:solidFill>
          <a:ln/>
        </p:spPr>
        <p:txBody>
          <a:bodyPr/>
          <a:lstStyle/>
          <a:p>
            <a:endParaRPr lang="en-US"/>
          </a:p>
        </p:txBody>
      </p:sp>
      <p:sp>
        <p:nvSpPr>
          <p:cNvPr id="12" name="Shape 9"/>
          <p:cNvSpPr/>
          <p:nvPr/>
        </p:nvSpPr>
        <p:spPr>
          <a:xfrm>
            <a:off x="9601171" y="3771863"/>
            <a:ext cx="7680926" cy="987692"/>
          </a:xfrm>
          <a:prstGeom prst="roundRect">
            <a:avLst>
              <a:gd name="adj" fmla="val 974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3" name="Text 10"/>
          <p:cNvSpPr/>
          <p:nvPr/>
        </p:nvSpPr>
        <p:spPr>
          <a:xfrm>
            <a:off x="10012670" y="4088536"/>
            <a:ext cx="7204982" cy="392394"/>
          </a:xfrm>
          <a:prstGeom prst="rect">
            <a:avLst/>
          </a:prstGeom>
          <a:noFill/>
          <a:ln/>
        </p:spPr>
        <p:txBody>
          <a:bodyPr wrap="square" lIns="25400" tIns="25400" rIns="25400" bIns="25400" rtlCol="0" anchor="t">
            <a:normAutofit/>
          </a:bodyPr>
          <a:lstStyle/>
          <a:p>
            <a:pPr marL="0" indent="0" algn="l">
              <a:lnSpc>
                <a:spcPct val="92160"/>
              </a:lnSpc>
              <a:buNone/>
            </a:pPr>
            <a:r>
              <a:rPr lang="en-US" sz="2325" b="1" dirty="0">
                <a:solidFill>
                  <a:srgbClr val="FFFFFF"/>
                </a:solidFill>
                <a:latin typeface="Oracle Sans Tab" pitchFamily="34" charset="0"/>
                <a:ea typeface="Oracle Sans Tab" pitchFamily="34" charset="-122"/>
                <a:cs typeface="Oracle Sans Tab" pitchFamily="34" charset="-120"/>
              </a:rPr>
              <a:t>LLM Chatbot</a:t>
            </a:r>
            <a:endParaRPr lang="en-US" sz="2325" dirty="0"/>
          </a:p>
        </p:txBody>
      </p:sp>
      <p:sp>
        <p:nvSpPr>
          <p:cNvPr id="14" name="Shape 11"/>
          <p:cNvSpPr/>
          <p:nvPr/>
        </p:nvSpPr>
        <p:spPr>
          <a:xfrm>
            <a:off x="8298149" y="5719754"/>
            <a:ext cx="1302969" cy="26458"/>
          </a:xfrm>
          <a:prstGeom prst="rect">
            <a:avLst/>
          </a:prstGeom>
          <a:solidFill>
            <a:srgbClr val="FD6953"/>
          </a:solidFill>
          <a:ln/>
        </p:spPr>
        <p:txBody>
          <a:bodyPr/>
          <a:lstStyle/>
          <a:p>
            <a:endParaRPr lang="en-US"/>
          </a:p>
        </p:txBody>
      </p:sp>
      <p:sp>
        <p:nvSpPr>
          <p:cNvPr id="15" name="Shape 12"/>
          <p:cNvSpPr/>
          <p:nvPr/>
        </p:nvSpPr>
        <p:spPr>
          <a:xfrm>
            <a:off x="9601171" y="5225365"/>
            <a:ext cx="7680926" cy="987692"/>
          </a:xfrm>
          <a:prstGeom prst="roundRect">
            <a:avLst>
              <a:gd name="adj" fmla="val 974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6" name="Text 13"/>
          <p:cNvSpPr/>
          <p:nvPr/>
        </p:nvSpPr>
        <p:spPr>
          <a:xfrm>
            <a:off x="10012670" y="5542039"/>
            <a:ext cx="7204982" cy="392394"/>
          </a:xfrm>
          <a:prstGeom prst="rect">
            <a:avLst/>
          </a:prstGeom>
          <a:noFill/>
          <a:ln/>
        </p:spPr>
        <p:txBody>
          <a:bodyPr wrap="square" lIns="25400" tIns="25400" rIns="25400" bIns="25400" rtlCol="0" anchor="t">
            <a:normAutofit/>
          </a:bodyPr>
          <a:lstStyle/>
          <a:p>
            <a:pPr marL="0" indent="0" algn="l">
              <a:lnSpc>
                <a:spcPct val="92160"/>
              </a:lnSpc>
              <a:buNone/>
            </a:pPr>
            <a:r>
              <a:rPr lang="en-US" sz="2325" b="1" dirty="0">
                <a:solidFill>
                  <a:srgbClr val="FFFFFF"/>
                </a:solidFill>
                <a:latin typeface="Oracle Sans Tab" pitchFamily="34" charset="0"/>
                <a:ea typeface="Oracle Sans Tab" pitchFamily="34" charset="-122"/>
                <a:cs typeface="Oracle Sans Tab" pitchFamily="34" charset="-120"/>
              </a:rPr>
              <a:t>RAG Applications</a:t>
            </a:r>
            <a:endParaRPr lang="en-US" sz="2325" dirty="0"/>
          </a:p>
        </p:txBody>
      </p:sp>
      <p:sp>
        <p:nvSpPr>
          <p:cNvPr id="17" name="Shape 14"/>
          <p:cNvSpPr/>
          <p:nvPr/>
        </p:nvSpPr>
        <p:spPr>
          <a:xfrm>
            <a:off x="8298149" y="7173257"/>
            <a:ext cx="1302969" cy="26458"/>
          </a:xfrm>
          <a:prstGeom prst="rect">
            <a:avLst/>
          </a:prstGeom>
          <a:solidFill>
            <a:srgbClr val="FD6953"/>
          </a:solidFill>
          <a:ln/>
        </p:spPr>
        <p:txBody>
          <a:bodyPr/>
          <a:lstStyle/>
          <a:p>
            <a:endParaRPr lang="en-US"/>
          </a:p>
        </p:txBody>
      </p:sp>
      <p:sp>
        <p:nvSpPr>
          <p:cNvPr id="18" name="Shape 15"/>
          <p:cNvSpPr/>
          <p:nvPr/>
        </p:nvSpPr>
        <p:spPr>
          <a:xfrm>
            <a:off x="9601171" y="6679850"/>
            <a:ext cx="7680926" cy="987692"/>
          </a:xfrm>
          <a:prstGeom prst="roundRect">
            <a:avLst>
              <a:gd name="adj" fmla="val 974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9" name="Text 16"/>
          <p:cNvSpPr/>
          <p:nvPr/>
        </p:nvSpPr>
        <p:spPr>
          <a:xfrm>
            <a:off x="10012670" y="6996524"/>
            <a:ext cx="7204982" cy="392394"/>
          </a:xfrm>
          <a:prstGeom prst="rect">
            <a:avLst/>
          </a:prstGeom>
          <a:noFill/>
          <a:ln/>
        </p:spPr>
        <p:txBody>
          <a:bodyPr wrap="square" lIns="25400" tIns="25400" rIns="25400" bIns="25400" rtlCol="0" anchor="t">
            <a:normAutofit/>
          </a:bodyPr>
          <a:lstStyle/>
          <a:p>
            <a:pPr marL="0" indent="0" algn="l">
              <a:lnSpc>
                <a:spcPct val="92160"/>
              </a:lnSpc>
              <a:buNone/>
            </a:pPr>
            <a:r>
              <a:rPr lang="en-US" sz="2325" b="1" dirty="0">
                <a:solidFill>
                  <a:srgbClr val="FFFFFF"/>
                </a:solidFill>
                <a:latin typeface="Oracle Sans Tab" pitchFamily="34" charset="0"/>
                <a:ea typeface="Oracle Sans Tab" pitchFamily="34" charset="-122"/>
                <a:cs typeface="Oracle Sans Tab" pitchFamily="34" charset="-120"/>
              </a:rPr>
              <a:t>LLM-Driven Workflow (Automation)</a:t>
            </a:r>
            <a:endParaRPr lang="en-US" sz="2325" dirty="0"/>
          </a:p>
        </p:txBody>
      </p:sp>
      <p:sp>
        <p:nvSpPr>
          <p:cNvPr id="20" name="Shape 17"/>
          <p:cNvSpPr/>
          <p:nvPr/>
        </p:nvSpPr>
        <p:spPr>
          <a:xfrm>
            <a:off x="8298149" y="8627742"/>
            <a:ext cx="1302969" cy="26458"/>
          </a:xfrm>
          <a:prstGeom prst="rect">
            <a:avLst/>
          </a:prstGeom>
          <a:solidFill>
            <a:srgbClr val="FD6953"/>
          </a:solidFill>
          <a:ln/>
        </p:spPr>
        <p:txBody>
          <a:bodyPr/>
          <a:lstStyle/>
          <a:p>
            <a:endParaRPr lang="en-US"/>
          </a:p>
        </p:txBody>
      </p:sp>
      <p:sp>
        <p:nvSpPr>
          <p:cNvPr id="21" name="Shape 18"/>
          <p:cNvSpPr/>
          <p:nvPr/>
        </p:nvSpPr>
        <p:spPr>
          <a:xfrm>
            <a:off x="9601171" y="8133354"/>
            <a:ext cx="7680926" cy="987692"/>
          </a:xfrm>
          <a:prstGeom prst="roundRect">
            <a:avLst>
              <a:gd name="adj" fmla="val 974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2" name="Text 19"/>
          <p:cNvSpPr/>
          <p:nvPr/>
        </p:nvSpPr>
        <p:spPr>
          <a:xfrm>
            <a:off x="10012670" y="8450027"/>
            <a:ext cx="7204982" cy="392394"/>
          </a:xfrm>
          <a:prstGeom prst="rect">
            <a:avLst/>
          </a:prstGeom>
          <a:noFill/>
          <a:ln/>
        </p:spPr>
        <p:txBody>
          <a:bodyPr wrap="square" lIns="25400" tIns="25400" rIns="25400" bIns="25400" rtlCol="0" anchor="t">
            <a:normAutofit/>
          </a:bodyPr>
          <a:lstStyle/>
          <a:p>
            <a:pPr marL="0" indent="0" algn="l">
              <a:lnSpc>
                <a:spcPct val="92160"/>
              </a:lnSpc>
              <a:buNone/>
            </a:pPr>
            <a:r>
              <a:rPr lang="en-US" sz="2325" b="1" dirty="0">
                <a:solidFill>
                  <a:srgbClr val="FFFFFF"/>
                </a:solidFill>
                <a:latin typeface="Oracle Sans Tab" pitchFamily="34" charset="0"/>
                <a:ea typeface="Oracle Sans Tab" pitchFamily="34" charset="-122"/>
                <a:cs typeface="Oracle Sans Tab" pitchFamily="34" charset="-120"/>
              </a:rPr>
              <a:t>AI Agents (Autonomy)</a:t>
            </a:r>
            <a:endParaRPr lang="en-US" sz="23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WHAT IS AN AGENT</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WHAT THE AGENT DOES</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What is an </a:t>
            </a:r>
            <a:r>
              <a:rPr lang="en-US" sz="5100" b="1" dirty="0">
                <a:solidFill>
                  <a:srgbClr val="FD6953"/>
                </a:solidFill>
                <a:latin typeface="Oracle Sans Tab" pitchFamily="34" charset="0"/>
                <a:ea typeface="Oracle Sans Tab" pitchFamily="34" charset="-122"/>
                <a:cs typeface="Oracle Sans Tab" pitchFamily="34" charset="-120"/>
              </a:rPr>
              <a:t>AI Agent</a:t>
            </a:r>
            <a:endParaRPr lang="en-US" sz="1200" dirty="0"/>
          </a:p>
        </p:txBody>
      </p:sp>
      <p:sp>
        <p:nvSpPr>
          <p:cNvPr id="8" name="Shape 5"/>
          <p:cNvSpPr/>
          <p:nvPr/>
        </p:nvSpPr>
        <p:spPr>
          <a:xfrm>
            <a:off x="960096" y="4869160"/>
            <a:ext cx="2331692" cy="1371596"/>
          </a:xfrm>
          <a:prstGeom prst="roundRect">
            <a:avLst>
              <a:gd name="adj" fmla="val 7014"/>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 name="Text 6"/>
          <p:cNvSpPr/>
          <p:nvPr/>
        </p:nvSpPr>
        <p:spPr>
          <a:xfrm>
            <a:off x="921996" y="5349182"/>
            <a:ext cx="2407892" cy="449599"/>
          </a:xfrm>
          <a:prstGeom prst="rect">
            <a:avLst/>
          </a:prstGeom>
          <a:noFill/>
          <a:ln/>
        </p:spPr>
        <p:txBody>
          <a:bodyPr wrap="square" lIns="25400" tIns="25400" rIns="25400" bIns="25400" rtlCol="0" anchor="t">
            <a:normAutofit/>
          </a:bodyPr>
          <a:lstStyle/>
          <a:p>
            <a:pPr marL="0" indent="0" algn="ctr">
              <a:lnSpc>
                <a:spcPct val="92160"/>
              </a:lnSpc>
              <a:buNone/>
            </a:pPr>
            <a:r>
              <a:rPr lang="en-US" sz="2700" b="1" dirty="0">
                <a:solidFill>
                  <a:srgbClr val="FFFFFF"/>
                </a:solidFill>
                <a:latin typeface="Oracle Sans Tab" pitchFamily="34" charset="0"/>
                <a:ea typeface="Oracle Sans Tab" pitchFamily="34" charset="-122"/>
                <a:cs typeface="Oracle Sans Tab" pitchFamily="34" charset="-120"/>
              </a:rPr>
              <a:t>Agent</a:t>
            </a:r>
            <a:endParaRPr lang="en-US" sz="2700" dirty="0"/>
          </a:p>
        </p:txBody>
      </p:sp>
      <p:sp>
        <p:nvSpPr>
          <p:cNvPr id="10" name="Text 7"/>
          <p:cNvSpPr/>
          <p:nvPr/>
        </p:nvSpPr>
        <p:spPr>
          <a:xfrm>
            <a:off x="3977638" y="4320511"/>
            <a:ext cx="13703645" cy="1926150"/>
          </a:xfrm>
          <a:prstGeom prst="rect">
            <a:avLst/>
          </a:prstGeom>
          <a:noFill/>
          <a:ln/>
        </p:spPr>
        <p:txBody>
          <a:bodyPr wrap="square" lIns="25400" tIns="25400" rIns="25400" bIns="25400" rtlCol="0" anchor="t">
            <a:normAutofit/>
          </a:bodyPr>
          <a:lstStyle/>
          <a:p>
            <a:pPr marL="0" indent="0" algn="l">
              <a:lnSpc>
                <a:spcPct val="90624"/>
              </a:lnSpc>
              <a:buNone/>
            </a:pPr>
            <a:r>
              <a:rPr lang="en-US" sz="3150" dirty="0">
                <a:solidFill>
                  <a:srgbClr val="FFFFFF"/>
                </a:solidFill>
                <a:latin typeface="Oracle Sans Tab" pitchFamily="34" charset="0"/>
                <a:ea typeface="Oracle Sans Tab" pitchFamily="34" charset="-122"/>
                <a:cs typeface="Oracle Sans Tab" pitchFamily="34" charset="-120"/>
              </a:rPr>
              <a:t>An autonomous computational entity whose cognitive functions are powered by a </a:t>
            </a:r>
            <a:r>
              <a:rPr lang="en-US" sz="3150" b="1" dirty="0">
                <a:solidFill>
                  <a:srgbClr val="FFFFFF"/>
                </a:solidFill>
                <a:latin typeface="Oracle Sans Tab" pitchFamily="34" charset="0"/>
                <a:ea typeface="Oracle Sans Tab" pitchFamily="34" charset="-122"/>
                <a:cs typeface="Oracle Sans Tab" pitchFamily="34" charset="-120"/>
              </a:rPr>
              <a:t>language model for reasoning</a:t>
            </a:r>
            <a:r>
              <a:rPr lang="en-US" sz="3150" dirty="0">
                <a:solidFill>
                  <a:srgbClr val="FFFFFF"/>
                </a:solidFill>
                <a:latin typeface="Oracle Sans Tab" pitchFamily="34" charset="0"/>
                <a:ea typeface="Oracle Sans Tab" pitchFamily="34" charset="-122"/>
                <a:cs typeface="Oracle Sans Tab" pitchFamily="34" charset="-120"/>
              </a:rPr>
              <a:t>, augmented by a </a:t>
            </a:r>
            <a:r>
              <a:rPr lang="en-US" sz="3150" b="1" dirty="0">
                <a:solidFill>
                  <a:srgbClr val="FFFFFF"/>
                </a:solidFill>
                <a:latin typeface="Oracle Sans Tab" pitchFamily="34" charset="0"/>
                <a:ea typeface="Oracle Sans Tab" pitchFamily="34" charset="-122"/>
                <a:cs typeface="Oracle Sans Tab" pitchFamily="34" charset="-120"/>
              </a:rPr>
              <a:t>database for memory</a:t>
            </a:r>
            <a:r>
              <a:rPr lang="en-US" sz="3150" dirty="0">
                <a:solidFill>
                  <a:srgbClr val="FFFFFF"/>
                </a:solidFill>
                <a:latin typeface="Oracle Sans Tab" pitchFamily="34" charset="0"/>
                <a:ea typeface="Oracle Sans Tab" pitchFamily="34" charset="-122"/>
                <a:cs typeface="Oracle Sans Tab" pitchFamily="34" charset="-120"/>
              </a:rPr>
              <a:t>, extended through </a:t>
            </a:r>
            <a:r>
              <a:rPr lang="en-US" sz="3150" b="1" dirty="0">
                <a:solidFill>
                  <a:srgbClr val="FFFFFF"/>
                </a:solidFill>
                <a:latin typeface="Oracle Sans Tab" pitchFamily="34" charset="0"/>
                <a:ea typeface="Oracle Sans Tab" pitchFamily="34" charset="-122"/>
                <a:cs typeface="Oracle Sans Tab" pitchFamily="34" charset="-120"/>
              </a:rPr>
              <a:t>tools for action </a:t>
            </a:r>
            <a:r>
              <a:rPr lang="en-US" sz="3150" dirty="0">
                <a:solidFill>
                  <a:srgbClr val="FFFFFF"/>
                </a:solidFill>
                <a:latin typeface="Oracle Sans Tab" pitchFamily="34" charset="0"/>
                <a:ea typeface="Oracle Sans Tab" pitchFamily="34" charset="-122"/>
                <a:cs typeface="Oracle Sans Tab" pitchFamily="34" charset="-120"/>
              </a:rPr>
              <a:t>, and grounded in </a:t>
            </a:r>
            <a:r>
              <a:rPr lang="en-US" sz="3150" b="1" dirty="0">
                <a:solidFill>
                  <a:srgbClr val="FFFFFF"/>
                </a:solidFill>
                <a:latin typeface="Oracle Sans Tab" pitchFamily="34" charset="0"/>
                <a:ea typeface="Oracle Sans Tab" pitchFamily="34" charset="-122"/>
                <a:cs typeface="Oracle Sans Tab" pitchFamily="34" charset="-120"/>
              </a:rPr>
              <a:t>inputs </a:t>
            </a:r>
            <a:r>
              <a:rPr lang="en-US" sz="3150" dirty="0">
                <a:solidFill>
                  <a:srgbClr val="FFFFFF"/>
                </a:solidFill>
                <a:latin typeface="Oracle Sans Tab" pitchFamily="34" charset="0"/>
                <a:ea typeface="Oracle Sans Tab" pitchFamily="34" charset="-122"/>
                <a:cs typeface="Oracle Sans Tab" pitchFamily="34" charset="-120"/>
              </a:rPr>
              <a:t>that let it perceive its environment.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21214"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THE ANATOMY</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REASONING, MEMORY, TOOLS, PERCEPTION</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WHAT AN AGENT IS MADE OF</a:t>
            </a:r>
            <a:endParaRPr lang="en-US" sz="1800" dirty="0"/>
          </a:p>
        </p:txBody>
      </p:sp>
      <p:sp>
        <p:nvSpPr>
          <p:cNvPr id="7" name="Text 4"/>
          <p:cNvSpPr/>
          <p:nvPr/>
        </p:nvSpPr>
        <p:spPr>
          <a:xfrm>
            <a:off x="960096" y="1988819"/>
            <a:ext cx="16952925" cy="769580"/>
          </a:xfrm>
          <a:prstGeom prst="rect">
            <a:avLst/>
          </a:prstGeom>
          <a:noFill/>
          <a:ln/>
        </p:spPr>
        <p:txBody>
          <a:bodyPr wrap="square" lIns="25400" tIns="25400" rIns="25400" bIns="25400" rtlCol="0" anchor="t">
            <a:normAutofit/>
          </a:bodyPr>
          <a:lstStyle/>
          <a:p>
            <a:pPr marL="0" indent="0" algn="l">
              <a:lnSpc>
                <a:spcPct val="92160"/>
              </a:lnSpc>
              <a:buNone/>
            </a:pPr>
            <a:r>
              <a:rPr lang="en-US" sz="4800" b="1" dirty="0">
                <a:solidFill>
                  <a:srgbClr val="FFFFFF"/>
                </a:solidFill>
                <a:latin typeface="Oracle Sans Tab" pitchFamily="34" charset="0"/>
                <a:ea typeface="Oracle Sans Tab" pitchFamily="34" charset="-122"/>
                <a:cs typeface="Oracle Sans Tab" pitchFamily="34" charset="-120"/>
              </a:rPr>
              <a:t>Reasoning, memory, tools, </a:t>
            </a:r>
            <a:r>
              <a:rPr lang="en-US" sz="4800" b="1" i="1" dirty="0">
                <a:solidFill>
                  <a:srgbClr val="FD6953"/>
                </a:solidFill>
                <a:latin typeface="Oracle Sans Tab" pitchFamily="34" charset="0"/>
                <a:ea typeface="Oracle Sans Tab" pitchFamily="34" charset="-122"/>
                <a:cs typeface="Oracle Sans Tab" pitchFamily="34" charset="-120"/>
              </a:rPr>
              <a:t>perception.</a:t>
            </a:r>
            <a:endParaRPr lang="en-US" sz="1200" dirty="0"/>
          </a:p>
        </p:txBody>
      </p:sp>
      <p:sp>
        <p:nvSpPr>
          <p:cNvPr id="8" name="Shape 5"/>
          <p:cNvSpPr/>
          <p:nvPr/>
        </p:nvSpPr>
        <p:spPr>
          <a:xfrm>
            <a:off x="1056318" y="5754016"/>
            <a:ext cx="3894749" cy="2125968"/>
          </a:xfrm>
          <a:prstGeom prst="roundRect">
            <a:avLst>
              <a:gd name="adj" fmla="val 4525"/>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rcRect/>
          <a:stretch/>
        </p:blipFill>
        <p:spPr>
          <a:xfrm>
            <a:off x="2633638" y="6055961"/>
            <a:ext cx="741040" cy="741040"/>
          </a:xfrm>
          <a:prstGeom prst="rect">
            <a:avLst/>
          </a:prstGeom>
        </p:spPr>
      </p:pic>
      <p:sp>
        <p:nvSpPr>
          <p:cNvPr id="10" name="Text 6"/>
          <p:cNvSpPr/>
          <p:nvPr/>
        </p:nvSpPr>
        <p:spPr>
          <a:xfrm>
            <a:off x="997897" y="7001743"/>
            <a:ext cx="4011592" cy="381025"/>
          </a:xfrm>
          <a:prstGeom prst="rect">
            <a:avLst/>
          </a:prstGeom>
          <a:noFill/>
          <a:ln/>
        </p:spPr>
        <p:txBody>
          <a:bodyPr wrap="square" lIns="25400" tIns="25400" rIns="25400" bIns="25400" rtlCol="0" anchor="t">
            <a:normAutofit/>
          </a:bodyPr>
          <a:lstStyle/>
          <a:p>
            <a:pPr marL="0" indent="0" algn="ctr">
              <a:lnSpc>
                <a:spcPct val="92160"/>
              </a:lnSpc>
              <a:buNone/>
            </a:pPr>
            <a:r>
              <a:rPr lang="en-US" sz="2250" b="1" dirty="0">
                <a:solidFill>
                  <a:srgbClr val="FFFFFF"/>
                </a:solidFill>
                <a:latin typeface="Oracle Sans Tab" pitchFamily="34" charset="0"/>
                <a:ea typeface="Oracle Sans Tab" pitchFamily="34" charset="-122"/>
                <a:cs typeface="Oracle Sans Tab" pitchFamily="34" charset="-120"/>
              </a:rPr>
              <a:t>Reasoning</a:t>
            </a:r>
            <a:endParaRPr lang="en-US" sz="2250" dirty="0"/>
          </a:p>
        </p:txBody>
      </p:sp>
      <p:sp>
        <p:nvSpPr>
          <p:cNvPr id="11" name="Text 7"/>
          <p:cNvSpPr/>
          <p:nvPr/>
        </p:nvSpPr>
        <p:spPr>
          <a:xfrm>
            <a:off x="1209778" y="7460423"/>
            <a:ext cx="3588758" cy="300926"/>
          </a:xfrm>
          <a:prstGeom prst="rect">
            <a:avLst/>
          </a:prstGeom>
          <a:noFill/>
          <a:ln/>
        </p:spPr>
        <p:txBody>
          <a:bodyPr wrap="square" lIns="25400" tIns="25400" rIns="25400" bIns="25400" rtlCol="0" anchor="t">
            <a:normAutofit/>
          </a:bodyPr>
          <a:lstStyle/>
          <a:p>
            <a:pPr marL="0" indent="0" algn="ctr">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the frontier LLM</a:t>
            </a:r>
            <a:endParaRPr lang="en-US" sz="1725" dirty="0"/>
          </a:p>
        </p:txBody>
      </p:sp>
      <p:sp>
        <p:nvSpPr>
          <p:cNvPr id="12" name="Shape 8"/>
          <p:cNvSpPr/>
          <p:nvPr/>
        </p:nvSpPr>
        <p:spPr>
          <a:xfrm>
            <a:off x="5212033" y="5754016"/>
            <a:ext cx="3894749" cy="2125968"/>
          </a:xfrm>
          <a:prstGeom prst="roundRect">
            <a:avLst>
              <a:gd name="adj" fmla="val 4525"/>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13" name="Image 2" descr="preencoded.png"/>
          <p:cNvPicPr>
            <a:picLocks noChangeAspect="1"/>
          </p:cNvPicPr>
          <p:nvPr/>
        </p:nvPicPr>
        <p:blipFill>
          <a:blip r:embed="rId5"/>
          <a:srcRect/>
          <a:stretch/>
        </p:blipFill>
        <p:spPr>
          <a:xfrm>
            <a:off x="6789404" y="6055961"/>
            <a:ext cx="741040" cy="741040"/>
          </a:xfrm>
          <a:prstGeom prst="rect">
            <a:avLst/>
          </a:prstGeom>
        </p:spPr>
      </p:pic>
      <p:sp>
        <p:nvSpPr>
          <p:cNvPr id="14" name="Text 9"/>
          <p:cNvSpPr/>
          <p:nvPr/>
        </p:nvSpPr>
        <p:spPr>
          <a:xfrm>
            <a:off x="5153612" y="7001743"/>
            <a:ext cx="4011592" cy="381025"/>
          </a:xfrm>
          <a:prstGeom prst="rect">
            <a:avLst/>
          </a:prstGeom>
          <a:noFill/>
          <a:ln/>
        </p:spPr>
        <p:txBody>
          <a:bodyPr wrap="square" lIns="25400" tIns="25400" rIns="25400" bIns="25400" rtlCol="0" anchor="t">
            <a:normAutofit/>
          </a:bodyPr>
          <a:lstStyle/>
          <a:p>
            <a:pPr marL="0" indent="0" algn="ctr">
              <a:lnSpc>
                <a:spcPct val="92160"/>
              </a:lnSpc>
              <a:buNone/>
            </a:pPr>
            <a:r>
              <a:rPr lang="en-US" sz="2250" b="1" dirty="0">
                <a:solidFill>
                  <a:srgbClr val="FFFFFF"/>
                </a:solidFill>
                <a:latin typeface="Oracle Sans Tab" pitchFamily="34" charset="0"/>
                <a:ea typeface="Oracle Sans Tab" pitchFamily="34" charset="-122"/>
                <a:cs typeface="Oracle Sans Tab" pitchFamily="34" charset="-120"/>
              </a:rPr>
              <a:t>Memory</a:t>
            </a:r>
            <a:endParaRPr lang="en-US" sz="2250" dirty="0"/>
          </a:p>
        </p:txBody>
      </p:sp>
      <p:sp>
        <p:nvSpPr>
          <p:cNvPr id="15" name="Text 10"/>
          <p:cNvSpPr/>
          <p:nvPr/>
        </p:nvSpPr>
        <p:spPr>
          <a:xfrm>
            <a:off x="5365545" y="7460423"/>
            <a:ext cx="3588758" cy="300926"/>
          </a:xfrm>
          <a:prstGeom prst="rect">
            <a:avLst/>
          </a:prstGeom>
          <a:noFill/>
          <a:ln/>
        </p:spPr>
        <p:txBody>
          <a:bodyPr wrap="square" lIns="25400" tIns="25400" rIns="25400" bIns="25400" rtlCol="0" anchor="t">
            <a:normAutofit/>
          </a:bodyPr>
          <a:lstStyle/>
          <a:p>
            <a:pPr marL="0" indent="0" algn="ctr">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what it knows &amp; has done</a:t>
            </a:r>
            <a:endParaRPr lang="en-US" sz="1725" dirty="0"/>
          </a:p>
        </p:txBody>
      </p:sp>
      <p:sp>
        <p:nvSpPr>
          <p:cNvPr id="16" name="Shape 11"/>
          <p:cNvSpPr/>
          <p:nvPr/>
        </p:nvSpPr>
        <p:spPr>
          <a:xfrm>
            <a:off x="9367800" y="5754016"/>
            <a:ext cx="3894749" cy="2125968"/>
          </a:xfrm>
          <a:prstGeom prst="roundRect">
            <a:avLst>
              <a:gd name="adj" fmla="val 4525"/>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17" name="Image 3" descr="preencoded.png"/>
          <p:cNvPicPr>
            <a:picLocks noChangeAspect="1"/>
          </p:cNvPicPr>
          <p:nvPr/>
        </p:nvPicPr>
        <p:blipFill>
          <a:blip r:embed="rId6"/>
          <a:srcRect/>
          <a:stretch/>
        </p:blipFill>
        <p:spPr>
          <a:xfrm>
            <a:off x="10945171" y="6055961"/>
            <a:ext cx="741040" cy="741040"/>
          </a:xfrm>
          <a:prstGeom prst="rect">
            <a:avLst/>
          </a:prstGeom>
        </p:spPr>
      </p:pic>
      <p:sp>
        <p:nvSpPr>
          <p:cNvPr id="18" name="Text 12"/>
          <p:cNvSpPr/>
          <p:nvPr/>
        </p:nvSpPr>
        <p:spPr>
          <a:xfrm>
            <a:off x="9309378" y="7001743"/>
            <a:ext cx="4011592" cy="381025"/>
          </a:xfrm>
          <a:prstGeom prst="rect">
            <a:avLst/>
          </a:prstGeom>
          <a:noFill/>
          <a:ln/>
        </p:spPr>
        <p:txBody>
          <a:bodyPr wrap="square" lIns="25400" tIns="25400" rIns="25400" bIns="25400" rtlCol="0" anchor="t">
            <a:normAutofit/>
          </a:bodyPr>
          <a:lstStyle/>
          <a:p>
            <a:pPr marL="0" indent="0" algn="ctr">
              <a:lnSpc>
                <a:spcPct val="92160"/>
              </a:lnSpc>
              <a:buNone/>
            </a:pPr>
            <a:r>
              <a:rPr lang="en-US" sz="2250" b="1" dirty="0">
                <a:solidFill>
                  <a:srgbClr val="FFFFFF"/>
                </a:solidFill>
                <a:latin typeface="Oracle Sans Tab" pitchFamily="34" charset="0"/>
                <a:ea typeface="Oracle Sans Tab" pitchFamily="34" charset="-122"/>
                <a:cs typeface="Oracle Sans Tab" pitchFamily="34" charset="-120"/>
              </a:rPr>
              <a:t>Tool use</a:t>
            </a:r>
            <a:endParaRPr lang="en-US" sz="2250" dirty="0"/>
          </a:p>
        </p:txBody>
      </p:sp>
      <p:sp>
        <p:nvSpPr>
          <p:cNvPr id="19" name="Text 13"/>
          <p:cNvSpPr/>
          <p:nvPr/>
        </p:nvSpPr>
        <p:spPr>
          <a:xfrm>
            <a:off x="9521312" y="7460423"/>
            <a:ext cx="3588758" cy="300926"/>
          </a:xfrm>
          <a:prstGeom prst="rect">
            <a:avLst/>
          </a:prstGeom>
          <a:noFill/>
          <a:ln/>
        </p:spPr>
        <p:txBody>
          <a:bodyPr wrap="square" lIns="25400" tIns="25400" rIns="25400" bIns="25400" rtlCol="0" anchor="t">
            <a:normAutofit/>
          </a:bodyPr>
          <a:lstStyle/>
          <a:p>
            <a:pPr marL="0" indent="0" algn="ctr">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how it acts</a:t>
            </a:r>
            <a:endParaRPr lang="en-US" sz="1725" dirty="0"/>
          </a:p>
        </p:txBody>
      </p:sp>
      <p:sp>
        <p:nvSpPr>
          <p:cNvPr id="20" name="Shape 14"/>
          <p:cNvSpPr/>
          <p:nvPr/>
        </p:nvSpPr>
        <p:spPr>
          <a:xfrm>
            <a:off x="13523566" y="5754016"/>
            <a:ext cx="3894749" cy="2125968"/>
          </a:xfrm>
          <a:prstGeom prst="roundRect">
            <a:avLst>
              <a:gd name="adj" fmla="val 4525"/>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21" name="Image 4" descr="preencoded.png"/>
          <p:cNvPicPr>
            <a:picLocks noChangeAspect="1"/>
          </p:cNvPicPr>
          <p:nvPr/>
        </p:nvPicPr>
        <p:blipFill>
          <a:blip r:embed="rId7"/>
          <a:srcRect/>
          <a:stretch/>
        </p:blipFill>
        <p:spPr>
          <a:xfrm>
            <a:off x="15100886" y="6055961"/>
            <a:ext cx="741040" cy="741040"/>
          </a:xfrm>
          <a:prstGeom prst="rect">
            <a:avLst/>
          </a:prstGeom>
        </p:spPr>
      </p:pic>
      <p:sp>
        <p:nvSpPr>
          <p:cNvPr id="22" name="Text 15"/>
          <p:cNvSpPr/>
          <p:nvPr/>
        </p:nvSpPr>
        <p:spPr>
          <a:xfrm>
            <a:off x="13465145" y="7001743"/>
            <a:ext cx="4011592" cy="381025"/>
          </a:xfrm>
          <a:prstGeom prst="rect">
            <a:avLst/>
          </a:prstGeom>
          <a:noFill/>
          <a:ln/>
        </p:spPr>
        <p:txBody>
          <a:bodyPr wrap="square" lIns="25400" tIns="25400" rIns="25400" bIns="25400" rtlCol="0" anchor="t">
            <a:normAutofit/>
          </a:bodyPr>
          <a:lstStyle/>
          <a:p>
            <a:pPr marL="0" indent="0" algn="ctr">
              <a:lnSpc>
                <a:spcPct val="92160"/>
              </a:lnSpc>
              <a:buNone/>
            </a:pPr>
            <a:r>
              <a:rPr lang="en-US" sz="2250" b="1" dirty="0">
                <a:solidFill>
                  <a:srgbClr val="FFFFFF"/>
                </a:solidFill>
                <a:latin typeface="Oracle Sans Tab" pitchFamily="34" charset="0"/>
                <a:ea typeface="Oracle Sans Tab" pitchFamily="34" charset="-122"/>
                <a:cs typeface="Oracle Sans Tab" pitchFamily="34" charset="-120"/>
              </a:rPr>
              <a:t>Perception</a:t>
            </a:r>
            <a:endParaRPr lang="en-US" sz="2250" dirty="0"/>
          </a:p>
        </p:txBody>
      </p:sp>
      <p:sp>
        <p:nvSpPr>
          <p:cNvPr id="23" name="Text 16"/>
          <p:cNvSpPr/>
          <p:nvPr/>
        </p:nvSpPr>
        <p:spPr>
          <a:xfrm>
            <a:off x="13677028" y="7460423"/>
            <a:ext cx="3588758" cy="300926"/>
          </a:xfrm>
          <a:prstGeom prst="rect">
            <a:avLst/>
          </a:prstGeom>
          <a:noFill/>
          <a:ln/>
        </p:spPr>
        <p:txBody>
          <a:bodyPr wrap="square" lIns="25400" tIns="25400" rIns="25400" bIns="25400" rtlCol="0" anchor="t">
            <a:normAutofit/>
          </a:bodyPr>
          <a:lstStyle/>
          <a:p>
            <a:pPr marL="0" indent="0" algn="ctr">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how it sees inputs</a:t>
            </a:r>
            <a:endParaRPr lang="en-US" sz="1725" dirty="0"/>
          </a:p>
        </p:txBody>
      </p:sp>
      <p:sp>
        <p:nvSpPr>
          <p:cNvPr id="24" name="Shape 17"/>
          <p:cNvSpPr/>
          <p:nvPr/>
        </p:nvSpPr>
        <p:spPr>
          <a:xfrm>
            <a:off x="1056318" y="8632496"/>
            <a:ext cx="3894749" cy="26458"/>
          </a:xfrm>
          <a:prstGeom prst="rect">
            <a:avLst/>
          </a:prstGeom>
          <a:solidFill>
            <a:srgbClr val="FD6953"/>
          </a:solidFill>
          <a:ln/>
        </p:spPr>
        <p:txBody>
          <a:bodyPr/>
          <a:lstStyle/>
          <a:p>
            <a:endParaRPr lang="en-US"/>
          </a:p>
        </p:txBody>
      </p:sp>
      <p:sp>
        <p:nvSpPr>
          <p:cNvPr id="25" name="Shape 18"/>
          <p:cNvSpPr/>
          <p:nvPr/>
        </p:nvSpPr>
        <p:spPr>
          <a:xfrm rot="5400000">
            <a:off x="963185" y="8701639"/>
            <a:ext cx="161925" cy="26458"/>
          </a:xfrm>
          <a:prstGeom prst="rect">
            <a:avLst/>
          </a:prstGeom>
          <a:solidFill>
            <a:srgbClr val="FD6953"/>
          </a:solidFill>
          <a:ln/>
        </p:spPr>
        <p:txBody>
          <a:bodyPr/>
          <a:lstStyle/>
          <a:p>
            <a:endParaRPr lang="en-US"/>
          </a:p>
        </p:txBody>
      </p:sp>
      <p:sp>
        <p:nvSpPr>
          <p:cNvPr id="26" name="Shape 19"/>
          <p:cNvSpPr/>
          <p:nvPr/>
        </p:nvSpPr>
        <p:spPr>
          <a:xfrm rot="5400000">
            <a:off x="4857934" y="8701639"/>
            <a:ext cx="161925" cy="26458"/>
          </a:xfrm>
          <a:prstGeom prst="rect">
            <a:avLst/>
          </a:prstGeom>
          <a:solidFill>
            <a:srgbClr val="FD6953"/>
          </a:solidFill>
          <a:ln/>
        </p:spPr>
        <p:txBody>
          <a:bodyPr/>
          <a:lstStyle/>
          <a:p>
            <a:endParaRPr lang="en-US"/>
          </a:p>
        </p:txBody>
      </p:sp>
      <p:sp>
        <p:nvSpPr>
          <p:cNvPr id="27" name="Text 20"/>
          <p:cNvSpPr/>
          <p:nvPr/>
        </p:nvSpPr>
        <p:spPr>
          <a:xfrm>
            <a:off x="997897" y="8931547"/>
            <a:ext cx="4011592"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b="1" dirty="0">
                <a:solidFill>
                  <a:srgbClr val="FD6953"/>
                </a:solidFill>
                <a:latin typeface="Oracle Sans Tab" pitchFamily="34" charset="0"/>
                <a:ea typeface="Oracle Sans Tab" pitchFamily="34" charset="-122"/>
                <a:cs typeface="Oracle Sans Tab" pitchFamily="34" charset="-120"/>
              </a:rPr>
              <a:t>Frontier AI labs (the model)</a:t>
            </a:r>
            <a:endParaRPr lang="en-US" sz="1650" dirty="0"/>
          </a:p>
        </p:txBody>
      </p:sp>
      <p:sp>
        <p:nvSpPr>
          <p:cNvPr id="28" name="Shape 21"/>
          <p:cNvSpPr/>
          <p:nvPr/>
        </p:nvSpPr>
        <p:spPr>
          <a:xfrm>
            <a:off x="5212033" y="8632496"/>
            <a:ext cx="12207213" cy="26458"/>
          </a:xfrm>
          <a:prstGeom prst="rect">
            <a:avLst/>
          </a:prstGeom>
          <a:solidFill>
            <a:srgbClr val="FFFFFF">
              <a:alpha val="45000"/>
            </a:srgbClr>
          </a:solidFill>
          <a:ln/>
        </p:spPr>
        <p:txBody>
          <a:bodyPr/>
          <a:lstStyle/>
          <a:p>
            <a:endParaRPr lang="en-US"/>
          </a:p>
        </p:txBody>
      </p:sp>
      <p:sp>
        <p:nvSpPr>
          <p:cNvPr id="29" name="Shape 22"/>
          <p:cNvSpPr/>
          <p:nvPr/>
        </p:nvSpPr>
        <p:spPr>
          <a:xfrm rot="5400000">
            <a:off x="5118900" y="8701639"/>
            <a:ext cx="161925" cy="26458"/>
          </a:xfrm>
          <a:prstGeom prst="rect">
            <a:avLst/>
          </a:prstGeom>
          <a:solidFill>
            <a:srgbClr val="FFFFFF">
              <a:alpha val="45000"/>
            </a:srgbClr>
          </a:solidFill>
          <a:ln/>
        </p:spPr>
        <p:txBody>
          <a:bodyPr/>
          <a:lstStyle/>
          <a:p>
            <a:endParaRPr lang="en-US"/>
          </a:p>
        </p:txBody>
      </p:sp>
      <p:sp>
        <p:nvSpPr>
          <p:cNvPr id="30" name="Shape 23"/>
          <p:cNvSpPr/>
          <p:nvPr/>
        </p:nvSpPr>
        <p:spPr>
          <a:xfrm rot="5400000">
            <a:off x="17326165" y="8701639"/>
            <a:ext cx="161925" cy="26458"/>
          </a:xfrm>
          <a:prstGeom prst="rect">
            <a:avLst/>
          </a:prstGeom>
          <a:solidFill>
            <a:srgbClr val="FFFFFF">
              <a:alpha val="45000"/>
            </a:srgbClr>
          </a:solidFill>
          <a:ln/>
        </p:spPr>
        <p:txBody>
          <a:bodyPr/>
          <a:lstStyle/>
          <a:p>
            <a:endParaRPr lang="en-US"/>
          </a:p>
        </p:txBody>
      </p:sp>
      <p:sp>
        <p:nvSpPr>
          <p:cNvPr id="31" name="Text 24"/>
          <p:cNvSpPr/>
          <p:nvPr/>
        </p:nvSpPr>
        <p:spPr>
          <a:xfrm>
            <a:off x="5028925" y="8931547"/>
            <a:ext cx="12573429"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Agent engineer / you (the harness, the infrastructure you build and own)</a:t>
            </a:r>
            <a:endParaRPr lang="en-US" sz="1650" dirty="0"/>
          </a:p>
        </p:txBody>
      </p:sp>
      <p:sp>
        <p:nvSpPr>
          <p:cNvPr id="32" name="Shape 25"/>
          <p:cNvSpPr/>
          <p:nvPr/>
        </p:nvSpPr>
        <p:spPr>
          <a:xfrm>
            <a:off x="7978117" y="3371835"/>
            <a:ext cx="2331692" cy="1371596"/>
          </a:xfrm>
          <a:prstGeom prst="roundRect">
            <a:avLst>
              <a:gd name="adj" fmla="val 7014"/>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33" name="Text 26"/>
          <p:cNvSpPr/>
          <p:nvPr/>
        </p:nvSpPr>
        <p:spPr>
          <a:xfrm>
            <a:off x="7940017" y="3851858"/>
            <a:ext cx="2407892" cy="449599"/>
          </a:xfrm>
          <a:prstGeom prst="rect">
            <a:avLst/>
          </a:prstGeom>
          <a:noFill/>
          <a:ln/>
        </p:spPr>
        <p:txBody>
          <a:bodyPr wrap="square" lIns="25400" tIns="25400" rIns="25400" bIns="25400" rtlCol="0" anchor="t">
            <a:normAutofit/>
          </a:bodyPr>
          <a:lstStyle/>
          <a:p>
            <a:pPr marL="0" indent="0" algn="ctr">
              <a:lnSpc>
                <a:spcPct val="92160"/>
              </a:lnSpc>
              <a:buNone/>
            </a:pPr>
            <a:r>
              <a:rPr lang="en-US" sz="2700" b="1" dirty="0">
                <a:solidFill>
                  <a:srgbClr val="FFFFFF"/>
                </a:solidFill>
                <a:latin typeface="Oracle Sans Tab" pitchFamily="34" charset="0"/>
                <a:ea typeface="Oracle Sans Tab" pitchFamily="34" charset="-122"/>
                <a:cs typeface="Oracle Sans Tab" pitchFamily="34" charset="-120"/>
              </a:rPr>
              <a:t>Agent</a:t>
            </a:r>
            <a:endParaRPr lang="en-US" sz="2700" dirty="0"/>
          </a:p>
        </p:txBody>
      </p:sp>
      <p:sp>
        <p:nvSpPr>
          <p:cNvPr id="34" name="Shape 27"/>
          <p:cNvSpPr/>
          <p:nvPr/>
        </p:nvSpPr>
        <p:spPr>
          <a:xfrm>
            <a:off x="9130243" y="4742915"/>
            <a:ext cx="13229" cy="13229"/>
          </a:xfrm>
          <a:prstGeom prst="rect">
            <a:avLst/>
          </a:prstGeom>
          <a:solidFill>
            <a:srgbClr val="FFFFFF">
              <a:alpha val="30000"/>
            </a:srgbClr>
          </a:solidFill>
          <a:ln/>
        </p:spPr>
        <p:txBody>
          <a:bodyPr/>
          <a:lstStyle/>
          <a:p>
            <a:endParaRPr lang="en-US"/>
          </a:p>
        </p:txBody>
      </p:sp>
      <p:sp>
        <p:nvSpPr>
          <p:cNvPr id="36" name="Shape 29"/>
          <p:cNvSpPr/>
          <p:nvPr/>
        </p:nvSpPr>
        <p:spPr>
          <a:xfrm>
            <a:off x="2990463" y="5247690"/>
            <a:ext cx="13229" cy="13229"/>
          </a:xfrm>
          <a:prstGeom prst="rect">
            <a:avLst/>
          </a:prstGeom>
          <a:solidFill>
            <a:srgbClr val="FFFFFF">
              <a:alpha val="30000"/>
            </a:srgbClr>
          </a:solidFill>
          <a:ln/>
        </p:spPr>
        <p:txBody>
          <a:bodyPr/>
          <a:lstStyle/>
          <a:p>
            <a:endParaRPr lang="en-US"/>
          </a:p>
        </p:txBody>
      </p:sp>
      <p:sp>
        <p:nvSpPr>
          <p:cNvPr id="37" name="Shape 30"/>
          <p:cNvSpPr/>
          <p:nvPr/>
        </p:nvSpPr>
        <p:spPr>
          <a:xfrm>
            <a:off x="9130735" y="4743405"/>
            <a:ext cx="13229" cy="13229"/>
          </a:xfrm>
          <a:prstGeom prst="rect">
            <a:avLst/>
          </a:prstGeom>
          <a:solidFill>
            <a:srgbClr val="FFFFFF">
              <a:alpha val="30000"/>
            </a:srgbClr>
          </a:solidFill>
          <a:ln/>
        </p:spPr>
        <p:txBody>
          <a:bodyPr/>
          <a:lstStyle/>
          <a:p>
            <a:endParaRPr lang="en-US"/>
          </a:p>
        </p:txBody>
      </p:sp>
      <p:sp>
        <p:nvSpPr>
          <p:cNvPr id="39" name="Shape 32"/>
          <p:cNvSpPr/>
          <p:nvPr/>
        </p:nvSpPr>
        <p:spPr>
          <a:xfrm>
            <a:off x="7146721" y="5248181"/>
            <a:ext cx="13229" cy="13229"/>
          </a:xfrm>
          <a:prstGeom prst="rect">
            <a:avLst/>
          </a:prstGeom>
          <a:solidFill>
            <a:srgbClr val="FFFFFF">
              <a:alpha val="30000"/>
            </a:srgbClr>
          </a:solidFill>
          <a:ln/>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FORM FACTOR, EVOLUTION</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WHERE THE FIELD IS TODAY</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Four shapes AI applications </a:t>
            </a:r>
            <a:r>
              <a:rPr lang="en-US" sz="5100" b="1" i="1" dirty="0">
                <a:solidFill>
                  <a:srgbClr val="FD6953"/>
                </a:solidFill>
                <a:latin typeface="Oracle Sans Tab" pitchFamily="34" charset="0"/>
                <a:ea typeface="Oracle Sans Tab" pitchFamily="34" charset="-122"/>
                <a:cs typeface="Oracle Sans Tab" pitchFamily="34" charset="-120"/>
              </a:rPr>
              <a:t>take.</a:t>
            </a:r>
            <a:endParaRPr lang="en-US" sz="1200" dirty="0"/>
          </a:p>
        </p:txBody>
      </p:sp>
      <p:sp>
        <p:nvSpPr>
          <p:cNvPr id="8" name="Text 5"/>
          <p:cNvSpPr/>
          <p:nvPr/>
        </p:nvSpPr>
        <p:spPr>
          <a:xfrm>
            <a:off x="960096" y="5463490"/>
            <a:ext cx="4238231" cy="632482"/>
          </a:xfrm>
          <a:prstGeom prst="rect">
            <a:avLst/>
          </a:prstGeom>
          <a:noFill/>
          <a:ln/>
        </p:spPr>
        <p:txBody>
          <a:bodyPr wrap="square" lIns="25400" tIns="25400" rIns="25400" bIns="25400" rtlCol="0" anchor="t">
            <a:normAutofit/>
          </a:bodyPr>
          <a:lstStyle/>
          <a:p>
            <a:pPr marL="0" indent="0" algn="l">
              <a:lnSpc>
                <a:spcPct val="92160"/>
              </a:lnSpc>
              <a:buNone/>
            </a:pPr>
            <a:r>
              <a:rPr lang="en-US" sz="3900" b="1" dirty="0">
                <a:solidFill>
                  <a:srgbClr val="FFFFFF"/>
                </a:solidFill>
                <a:latin typeface="Oracle Sans Tab" pitchFamily="34" charset="0"/>
                <a:ea typeface="Oracle Sans Tab" pitchFamily="34" charset="-122"/>
                <a:cs typeface="Oracle Sans Tab" pitchFamily="34" charset="-120"/>
              </a:rPr>
              <a:t>AI Application</a:t>
            </a:r>
            <a:endParaRPr lang="en-US" sz="3900" dirty="0"/>
          </a:p>
        </p:txBody>
      </p:sp>
      <p:sp>
        <p:nvSpPr>
          <p:cNvPr id="9" name="Shape 6"/>
          <p:cNvSpPr/>
          <p:nvPr/>
        </p:nvSpPr>
        <p:spPr>
          <a:xfrm rot="5400000">
            <a:off x="6104754" y="6432786"/>
            <a:ext cx="4362450" cy="26458"/>
          </a:xfrm>
          <a:prstGeom prst="rect">
            <a:avLst/>
          </a:prstGeom>
          <a:solidFill>
            <a:srgbClr val="FD6953"/>
          </a:solidFill>
          <a:ln/>
        </p:spPr>
        <p:txBody>
          <a:bodyPr/>
          <a:lstStyle/>
          <a:p>
            <a:endParaRPr lang="en-US"/>
          </a:p>
        </p:txBody>
      </p:sp>
      <p:sp>
        <p:nvSpPr>
          <p:cNvPr id="10" name="Shape 7"/>
          <p:cNvSpPr/>
          <p:nvPr/>
        </p:nvSpPr>
        <p:spPr>
          <a:xfrm>
            <a:off x="4114788" y="5760682"/>
            <a:ext cx="4183362" cy="26458"/>
          </a:xfrm>
          <a:prstGeom prst="rect">
            <a:avLst/>
          </a:prstGeom>
          <a:solidFill>
            <a:srgbClr val="FD6953"/>
          </a:solidFill>
          <a:ln/>
        </p:spPr>
        <p:txBody>
          <a:bodyPr/>
          <a:lstStyle/>
          <a:p>
            <a:endParaRPr lang="en-US"/>
          </a:p>
        </p:txBody>
      </p:sp>
      <p:sp>
        <p:nvSpPr>
          <p:cNvPr id="11" name="Shape 8"/>
          <p:cNvSpPr/>
          <p:nvPr/>
        </p:nvSpPr>
        <p:spPr>
          <a:xfrm>
            <a:off x="8298149" y="4265269"/>
            <a:ext cx="1302969" cy="26458"/>
          </a:xfrm>
          <a:prstGeom prst="rect">
            <a:avLst/>
          </a:prstGeom>
          <a:solidFill>
            <a:srgbClr val="FD6953"/>
          </a:solidFill>
          <a:ln/>
        </p:spPr>
        <p:txBody>
          <a:bodyPr/>
          <a:lstStyle/>
          <a:p>
            <a:endParaRPr lang="en-US"/>
          </a:p>
        </p:txBody>
      </p:sp>
      <p:sp>
        <p:nvSpPr>
          <p:cNvPr id="12" name="Shape 9"/>
          <p:cNvSpPr/>
          <p:nvPr/>
        </p:nvSpPr>
        <p:spPr>
          <a:xfrm>
            <a:off x="9601171" y="3771863"/>
            <a:ext cx="7680926" cy="987692"/>
          </a:xfrm>
          <a:prstGeom prst="roundRect">
            <a:avLst>
              <a:gd name="adj" fmla="val 974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3" name="Text 10"/>
          <p:cNvSpPr/>
          <p:nvPr/>
        </p:nvSpPr>
        <p:spPr>
          <a:xfrm>
            <a:off x="10012670" y="4088536"/>
            <a:ext cx="7204982" cy="392394"/>
          </a:xfrm>
          <a:prstGeom prst="rect">
            <a:avLst/>
          </a:prstGeom>
          <a:noFill/>
          <a:ln/>
        </p:spPr>
        <p:txBody>
          <a:bodyPr wrap="square" lIns="25400" tIns="25400" rIns="25400" bIns="25400" rtlCol="0" anchor="t">
            <a:normAutofit/>
          </a:bodyPr>
          <a:lstStyle/>
          <a:p>
            <a:pPr marL="0" indent="0" algn="l">
              <a:lnSpc>
                <a:spcPct val="92160"/>
              </a:lnSpc>
              <a:buNone/>
            </a:pPr>
            <a:r>
              <a:rPr lang="en-US" sz="2325" b="1" dirty="0">
                <a:solidFill>
                  <a:srgbClr val="FFFFFF"/>
                </a:solidFill>
                <a:latin typeface="Oracle Sans Tab" pitchFamily="34" charset="0"/>
                <a:ea typeface="Oracle Sans Tab" pitchFamily="34" charset="-122"/>
                <a:cs typeface="Oracle Sans Tab" pitchFamily="34" charset="-120"/>
              </a:rPr>
              <a:t>LLM Chatbot</a:t>
            </a:r>
            <a:endParaRPr lang="en-US" sz="2325" dirty="0"/>
          </a:p>
        </p:txBody>
      </p:sp>
      <p:sp>
        <p:nvSpPr>
          <p:cNvPr id="14" name="Shape 11"/>
          <p:cNvSpPr/>
          <p:nvPr/>
        </p:nvSpPr>
        <p:spPr>
          <a:xfrm>
            <a:off x="8298149" y="5719754"/>
            <a:ext cx="1302969" cy="26458"/>
          </a:xfrm>
          <a:prstGeom prst="rect">
            <a:avLst/>
          </a:prstGeom>
          <a:solidFill>
            <a:srgbClr val="FD6953"/>
          </a:solidFill>
          <a:ln/>
        </p:spPr>
        <p:txBody>
          <a:bodyPr/>
          <a:lstStyle/>
          <a:p>
            <a:endParaRPr lang="en-US"/>
          </a:p>
        </p:txBody>
      </p:sp>
      <p:sp>
        <p:nvSpPr>
          <p:cNvPr id="15" name="Shape 12"/>
          <p:cNvSpPr/>
          <p:nvPr/>
        </p:nvSpPr>
        <p:spPr>
          <a:xfrm>
            <a:off x="9601171" y="5225365"/>
            <a:ext cx="7680926" cy="987692"/>
          </a:xfrm>
          <a:prstGeom prst="roundRect">
            <a:avLst>
              <a:gd name="adj" fmla="val 974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6" name="Text 13"/>
          <p:cNvSpPr/>
          <p:nvPr/>
        </p:nvSpPr>
        <p:spPr>
          <a:xfrm>
            <a:off x="10012670" y="5542039"/>
            <a:ext cx="7204982" cy="392394"/>
          </a:xfrm>
          <a:prstGeom prst="rect">
            <a:avLst/>
          </a:prstGeom>
          <a:noFill/>
          <a:ln/>
        </p:spPr>
        <p:txBody>
          <a:bodyPr wrap="square" lIns="25400" tIns="25400" rIns="25400" bIns="25400" rtlCol="0" anchor="t">
            <a:normAutofit/>
          </a:bodyPr>
          <a:lstStyle/>
          <a:p>
            <a:pPr marL="0" indent="0" algn="l">
              <a:lnSpc>
                <a:spcPct val="92160"/>
              </a:lnSpc>
              <a:buNone/>
            </a:pPr>
            <a:r>
              <a:rPr lang="en-US" sz="2325" b="1" dirty="0">
                <a:solidFill>
                  <a:srgbClr val="FFFFFF"/>
                </a:solidFill>
                <a:latin typeface="Oracle Sans Tab" pitchFamily="34" charset="0"/>
                <a:ea typeface="Oracle Sans Tab" pitchFamily="34" charset="-122"/>
                <a:cs typeface="Oracle Sans Tab" pitchFamily="34" charset="-120"/>
              </a:rPr>
              <a:t>RAG Applications</a:t>
            </a:r>
            <a:endParaRPr lang="en-US" sz="2325" dirty="0"/>
          </a:p>
        </p:txBody>
      </p:sp>
      <p:sp>
        <p:nvSpPr>
          <p:cNvPr id="17" name="Shape 14"/>
          <p:cNvSpPr/>
          <p:nvPr/>
        </p:nvSpPr>
        <p:spPr>
          <a:xfrm>
            <a:off x="8298149" y="7173257"/>
            <a:ext cx="1302969" cy="26458"/>
          </a:xfrm>
          <a:prstGeom prst="rect">
            <a:avLst/>
          </a:prstGeom>
          <a:solidFill>
            <a:srgbClr val="FD6953"/>
          </a:solidFill>
          <a:ln/>
        </p:spPr>
        <p:txBody>
          <a:bodyPr/>
          <a:lstStyle/>
          <a:p>
            <a:endParaRPr lang="en-US"/>
          </a:p>
        </p:txBody>
      </p:sp>
      <p:sp>
        <p:nvSpPr>
          <p:cNvPr id="18" name="Shape 15"/>
          <p:cNvSpPr/>
          <p:nvPr/>
        </p:nvSpPr>
        <p:spPr>
          <a:xfrm>
            <a:off x="9601171" y="6679850"/>
            <a:ext cx="7680926" cy="987692"/>
          </a:xfrm>
          <a:prstGeom prst="roundRect">
            <a:avLst>
              <a:gd name="adj" fmla="val 974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9" name="Text 16"/>
          <p:cNvSpPr/>
          <p:nvPr/>
        </p:nvSpPr>
        <p:spPr>
          <a:xfrm>
            <a:off x="10012670" y="6996524"/>
            <a:ext cx="7204982" cy="392394"/>
          </a:xfrm>
          <a:prstGeom prst="rect">
            <a:avLst/>
          </a:prstGeom>
          <a:noFill/>
          <a:ln/>
        </p:spPr>
        <p:txBody>
          <a:bodyPr wrap="square" lIns="25400" tIns="25400" rIns="25400" bIns="25400" rtlCol="0" anchor="t">
            <a:normAutofit/>
          </a:bodyPr>
          <a:lstStyle/>
          <a:p>
            <a:pPr marL="0" indent="0" algn="l">
              <a:lnSpc>
                <a:spcPct val="92160"/>
              </a:lnSpc>
              <a:buNone/>
            </a:pPr>
            <a:r>
              <a:rPr lang="en-US" sz="2325" b="1" dirty="0">
                <a:solidFill>
                  <a:srgbClr val="FFFFFF"/>
                </a:solidFill>
                <a:latin typeface="Oracle Sans Tab" pitchFamily="34" charset="0"/>
                <a:ea typeface="Oracle Sans Tab" pitchFamily="34" charset="-122"/>
                <a:cs typeface="Oracle Sans Tab" pitchFamily="34" charset="-120"/>
              </a:rPr>
              <a:t>LLM-Driven Workflow (Automation)</a:t>
            </a:r>
            <a:endParaRPr lang="en-US" sz="2325" dirty="0"/>
          </a:p>
        </p:txBody>
      </p:sp>
      <p:sp>
        <p:nvSpPr>
          <p:cNvPr id="20" name="Shape 17"/>
          <p:cNvSpPr/>
          <p:nvPr/>
        </p:nvSpPr>
        <p:spPr>
          <a:xfrm>
            <a:off x="8298149" y="8627742"/>
            <a:ext cx="1302969" cy="26458"/>
          </a:xfrm>
          <a:prstGeom prst="rect">
            <a:avLst/>
          </a:prstGeom>
          <a:solidFill>
            <a:srgbClr val="FD6953"/>
          </a:solidFill>
          <a:ln/>
        </p:spPr>
        <p:txBody>
          <a:bodyPr/>
          <a:lstStyle/>
          <a:p>
            <a:endParaRPr lang="en-US"/>
          </a:p>
        </p:txBody>
      </p:sp>
      <p:sp>
        <p:nvSpPr>
          <p:cNvPr id="21" name="Shape 18"/>
          <p:cNvSpPr/>
          <p:nvPr/>
        </p:nvSpPr>
        <p:spPr>
          <a:xfrm>
            <a:off x="9601171" y="8133354"/>
            <a:ext cx="7680926" cy="987692"/>
          </a:xfrm>
          <a:prstGeom prst="roundRect">
            <a:avLst>
              <a:gd name="adj" fmla="val 974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2" name="Text 19"/>
          <p:cNvSpPr/>
          <p:nvPr/>
        </p:nvSpPr>
        <p:spPr>
          <a:xfrm>
            <a:off x="10012670" y="8450027"/>
            <a:ext cx="7204982" cy="392394"/>
          </a:xfrm>
          <a:prstGeom prst="rect">
            <a:avLst/>
          </a:prstGeom>
          <a:noFill/>
          <a:ln/>
        </p:spPr>
        <p:txBody>
          <a:bodyPr wrap="square" lIns="25400" tIns="25400" rIns="25400" bIns="25400" rtlCol="0" anchor="t">
            <a:normAutofit/>
          </a:bodyPr>
          <a:lstStyle/>
          <a:p>
            <a:pPr marL="0" indent="0" algn="l">
              <a:lnSpc>
                <a:spcPct val="92160"/>
              </a:lnSpc>
              <a:buNone/>
            </a:pPr>
            <a:r>
              <a:rPr lang="en-US" sz="2325" b="1" dirty="0">
                <a:solidFill>
                  <a:srgbClr val="FFFFFF"/>
                </a:solidFill>
                <a:latin typeface="Oracle Sans Tab" pitchFamily="34" charset="0"/>
                <a:ea typeface="Oracle Sans Tab" pitchFamily="34" charset="-122"/>
                <a:cs typeface="Oracle Sans Tab" pitchFamily="34" charset="-120"/>
              </a:rPr>
              <a:t>AI Agents (Autonomy)</a:t>
            </a:r>
            <a:endParaRPr lang="en-US" sz="23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FORM FACTOR, EVOLUTION</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WHERE THE FIELD IS TODAY</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Four shapes AI applications </a:t>
            </a:r>
            <a:r>
              <a:rPr lang="en-US" sz="5100" b="1" i="1" dirty="0">
                <a:solidFill>
                  <a:srgbClr val="FD6953"/>
                </a:solidFill>
                <a:latin typeface="Oracle Sans Tab" pitchFamily="34" charset="0"/>
                <a:ea typeface="Oracle Sans Tab" pitchFamily="34" charset="-122"/>
                <a:cs typeface="Oracle Sans Tab" pitchFamily="34" charset="-120"/>
              </a:rPr>
              <a:t>take.</a:t>
            </a:r>
            <a:endParaRPr lang="en-US" sz="1200" dirty="0"/>
          </a:p>
        </p:txBody>
      </p:sp>
      <p:sp>
        <p:nvSpPr>
          <p:cNvPr id="8" name="Text 5"/>
          <p:cNvSpPr/>
          <p:nvPr/>
        </p:nvSpPr>
        <p:spPr>
          <a:xfrm>
            <a:off x="960096" y="5463490"/>
            <a:ext cx="4238231" cy="632482"/>
          </a:xfrm>
          <a:prstGeom prst="rect">
            <a:avLst/>
          </a:prstGeom>
          <a:noFill/>
          <a:ln/>
        </p:spPr>
        <p:txBody>
          <a:bodyPr wrap="square" lIns="25400" tIns="25400" rIns="25400" bIns="25400" rtlCol="0" anchor="t">
            <a:normAutofit/>
          </a:bodyPr>
          <a:lstStyle/>
          <a:p>
            <a:pPr marL="0" indent="0" algn="l">
              <a:lnSpc>
                <a:spcPct val="92160"/>
              </a:lnSpc>
              <a:buNone/>
            </a:pPr>
            <a:r>
              <a:rPr lang="en-US" sz="3900" b="1" dirty="0">
                <a:solidFill>
                  <a:srgbClr val="FFFFFF"/>
                </a:solidFill>
                <a:latin typeface="Oracle Sans Tab" pitchFamily="34" charset="0"/>
                <a:ea typeface="Oracle Sans Tab" pitchFamily="34" charset="-122"/>
                <a:cs typeface="Oracle Sans Tab" pitchFamily="34" charset="-120"/>
              </a:rPr>
              <a:t>AI Application</a:t>
            </a:r>
            <a:endParaRPr lang="en-US" sz="3900" dirty="0"/>
          </a:p>
        </p:txBody>
      </p:sp>
      <p:sp>
        <p:nvSpPr>
          <p:cNvPr id="9" name="Shape 6"/>
          <p:cNvSpPr/>
          <p:nvPr/>
        </p:nvSpPr>
        <p:spPr>
          <a:xfrm rot="5400000">
            <a:off x="6104754" y="6432786"/>
            <a:ext cx="4362450" cy="26458"/>
          </a:xfrm>
          <a:prstGeom prst="rect">
            <a:avLst/>
          </a:prstGeom>
          <a:solidFill>
            <a:srgbClr val="FD6953"/>
          </a:solidFill>
          <a:ln/>
        </p:spPr>
        <p:txBody>
          <a:bodyPr/>
          <a:lstStyle/>
          <a:p>
            <a:endParaRPr lang="en-US"/>
          </a:p>
        </p:txBody>
      </p:sp>
      <p:sp>
        <p:nvSpPr>
          <p:cNvPr id="10" name="Shape 7"/>
          <p:cNvSpPr/>
          <p:nvPr/>
        </p:nvSpPr>
        <p:spPr>
          <a:xfrm>
            <a:off x="4114788" y="5760682"/>
            <a:ext cx="4183362" cy="26458"/>
          </a:xfrm>
          <a:prstGeom prst="rect">
            <a:avLst/>
          </a:prstGeom>
          <a:solidFill>
            <a:srgbClr val="FD6953"/>
          </a:solidFill>
          <a:ln/>
        </p:spPr>
        <p:txBody>
          <a:bodyPr/>
          <a:lstStyle/>
          <a:p>
            <a:endParaRPr lang="en-US"/>
          </a:p>
        </p:txBody>
      </p:sp>
      <p:sp>
        <p:nvSpPr>
          <p:cNvPr id="11" name="Shape 8"/>
          <p:cNvSpPr/>
          <p:nvPr/>
        </p:nvSpPr>
        <p:spPr>
          <a:xfrm>
            <a:off x="8298149" y="4265269"/>
            <a:ext cx="1302969" cy="26458"/>
          </a:xfrm>
          <a:prstGeom prst="rect">
            <a:avLst/>
          </a:prstGeom>
          <a:solidFill>
            <a:srgbClr val="FD6953"/>
          </a:solidFill>
          <a:ln/>
        </p:spPr>
        <p:txBody>
          <a:bodyPr/>
          <a:lstStyle/>
          <a:p>
            <a:endParaRPr lang="en-US"/>
          </a:p>
        </p:txBody>
      </p:sp>
      <p:sp>
        <p:nvSpPr>
          <p:cNvPr id="12" name="Shape 9"/>
          <p:cNvSpPr/>
          <p:nvPr/>
        </p:nvSpPr>
        <p:spPr>
          <a:xfrm>
            <a:off x="9601171" y="3771863"/>
            <a:ext cx="7680926" cy="987692"/>
          </a:xfrm>
          <a:prstGeom prst="roundRect">
            <a:avLst>
              <a:gd name="adj" fmla="val 974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3" name="Text 10"/>
          <p:cNvSpPr/>
          <p:nvPr/>
        </p:nvSpPr>
        <p:spPr>
          <a:xfrm>
            <a:off x="10012670" y="4088536"/>
            <a:ext cx="7204982" cy="392394"/>
          </a:xfrm>
          <a:prstGeom prst="rect">
            <a:avLst/>
          </a:prstGeom>
          <a:noFill/>
          <a:ln/>
        </p:spPr>
        <p:txBody>
          <a:bodyPr wrap="square" lIns="25400" tIns="25400" rIns="25400" bIns="25400" rtlCol="0" anchor="t">
            <a:normAutofit/>
          </a:bodyPr>
          <a:lstStyle/>
          <a:p>
            <a:pPr marL="0" indent="0" algn="l">
              <a:lnSpc>
                <a:spcPct val="92160"/>
              </a:lnSpc>
              <a:buNone/>
            </a:pPr>
            <a:r>
              <a:rPr lang="en-US" sz="2325" b="1" dirty="0">
                <a:solidFill>
                  <a:srgbClr val="FFFFFF"/>
                </a:solidFill>
                <a:latin typeface="Oracle Sans Tab" pitchFamily="34" charset="0"/>
                <a:ea typeface="Oracle Sans Tab" pitchFamily="34" charset="-122"/>
                <a:cs typeface="Oracle Sans Tab" pitchFamily="34" charset="-120"/>
              </a:rPr>
              <a:t>LLM Chatbot</a:t>
            </a:r>
            <a:endParaRPr lang="en-US" sz="2325" dirty="0"/>
          </a:p>
        </p:txBody>
      </p:sp>
      <p:sp>
        <p:nvSpPr>
          <p:cNvPr id="14" name="Shape 11"/>
          <p:cNvSpPr/>
          <p:nvPr/>
        </p:nvSpPr>
        <p:spPr>
          <a:xfrm>
            <a:off x="8298149" y="5719754"/>
            <a:ext cx="1302969" cy="26458"/>
          </a:xfrm>
          <a:prstGeom prst="rect">
            <a:avLst/>
          </a:prstGeom>
          <a:solidFill>
            <a:srgbClr val="FD6953"/>
          </a:solidFill>
          <a:ln/>
        </p:spPr>
        <p:txBody>
          <a:bodyPr/>
          <a:lstStyle/>
          <a:p>
            <a:endParaRPr lang="en-US"/>
          </a:p>
        </p:txBody>
      </p:sp>
      <p:sp>
        <p:nvSpPr>
          <p:cNvPr id="15" name="Shape 12"/>
          <p:cNvSpPr/>
          <p:nvPr/>
        </p:nvSpPr>
        <p:spPr>
          <a:xfrm>
            <a:off x="9601171" y="5225365"/>
            <a:ext cx="7680926" cy="987692"/>
          </a:xfrm>
          <a:prstGeom prst="roundRect">
            <a:avLst>
              <a:gd name="adj" fmla="val 974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6" name="Text 13"/>
          <p:cNvSpPr/>
          <p:nvPr/>
        </p:nvSpPr>
        <p:spPr>
          <a:xfrm>
            <a:off x="10012670" y="5542039"/>
            <a:ext cx="7204982" cy="392394"/>
          </a:xfrm>
          <a:prstGeom prst="rect">
            <a:avLst/>
          </a:prstGeom>
          <a:noFill/>
          <a:ln/>
        </p:spPr>
        <p:txBody>
          <a:bodyPr wrap="square" lIns="25400" tIns="25400" rIns="25400" bIns="25400" rtlCol="0" anchor="t">
            <a:normAutofit/>
          </a:bodyPr>
          <a:lstStyle/>
          <a:p>
            <a:pPr marL="0" indent="0" algn="l">
              <a:lnSpc>
                <a:spcPct val="92160"/>
              </a:lnSpc>
              <a:buNone/>
            </a:pPr>
            <a:r>
              <a:rPr lang="en-US" sz="2325" b="1" dirty="0">
                <a:solidFill>
                  <a:srgbClr val="FFFFFF"/>
                </a:solidFill>
                <a:latin typeface="Oracle Sans Tab" pitchFamily="34" charset="0"/>
                <a:ea typeface="Oracle Sans Tab" pitchFamily="34" charset="-122"/>
                <a:cs typeface="Oracle Sans Tab" pitchFamily="34" charset="-120"/>
              </a:rPr>
              <a:t>RAG Applications</a:t>
            </a:r>
            <a:endParaRPr lang="en-US" sz="2325" dirty="0"/>
          </a:p>
        </p:txBody>
      </p:sp>
      <p:sp>
        <p:nvSpPr>
          <p:cNvPr id="17" name="Shape 14"/>
          <p:cNvSpPr/>
          <p:nvPr/>
        </p:nvSpPr>
        <p:spPr>
          <a:xfrm>
            <a:off x="8298149" y="7173257"/>
            <a:ext cx="1302969" cy="26458"/>
          </a:xfrm>
          <a:prstGeom prst="rect">
            <a:avLst/>
          </a:prstGeom>
          <a:solidFill>
            <a:srgbClr val="FD6953"/>
          </a:solidFill>
          <a:ln/>
        </p:spPr>
        <p:txBody>
          <a:bodyPr/>
          <a:lstStyle/>
          <a:p>
            <a:endParaRPr lang="en-US"/>
          </a:p>
        </p:txBody>
      </p:sp>
      <p:sp>
        <p:nvSpPr>
          <p:cNvPr id="18" name="Shape 15"/>
          <p:cNvSpPr/>
          <p:nvPr/>
        </p:nvSpPr>
        <p:spPr>
          <a:xfrm>
            <a:off x="9601171" y="6679850"/>
            <a:ext cx="7680926" cy="987692"/>
          </a:xfrm>
          <a:prstGeom prst="roundRect">
            <a:avLst>
              <a:gd name="adj" fmla="val 974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9" name="Text 16"/>
          <p:cNvSpPr/>
          <p:nvPr/>
        </p:nvSpPr>
        <p:spPr>
          <a:xfrm>
            <a:off x="10012670" y="6996524"/>
            <a:ext cx="7204982" cy="392394"/>
          </a:xfrm>
          <a:prstGeom prst="rect">
            <a:avLst/>
          </a:prstGeom>
          <a:noFill/>
          <a:ln/>
        </p:spPr>
        <p:txBody>
          <a:bodyPr wrap="square" lIns="25400" tIns="25400" rIns="25400" bIns="25400" rtlCol="0" anchor="t">
            <a:normAutofit/>
          </a:bodyPr>
          <a:lstStyle/>
          <a:p>
            <a:pPr marL="0" indent="0" algn="l">
              <a:lnSpc>
                <a:spcPct val="92160"/>
              </a:lnSpc>
              <a:buNone/>
            </a:pPr>
            <a:r>
              <a:rPr lang="en-US" sz="2325" b="1" dirty="0">
                <a:solidFill>
                  <a:srgbClr val="FD6953"/>
                </a:solidFill>
                <a:latin typeface="Oracle Sans Tab" pitchFamily="34" charset="0"/>
                <a:ea typeface="Oracle Sans Tab" pitchFamily="34" charset="-122"/>
                <a:cs typeface="Oracle Sans Tab" pitchFamily="34" charset="-120"/>
              </a:rPr>
              <a:t>LLM-Driven Workflow (Automation)</a:t>
            </a:r>
            <a:endParaRPr lang="en-US" sz="2325" dirty="0"/>
          </a:p>
        </p:txBody>
      </p:sp>
      <p:sp>
        <p:nvSpPr>
          <p:cNvPr id="20" name="Shape 17"/>
          <p:cNvSpPr/>
          <p:nvPr/>
        </p:nvSpPr>
        <p:spPr>
          <a:xfrm>
            <a:off x="8298149" y="8627742"/>
            <a:ext cx="1302969" cy="26458"/>
          </a:xfrm>
          <a:prstGeom prst="rect">
            <a:avLst/>
          </a:prstGeom>
          <a:solidFill>
            <a:srgbClr val="FD6953"/>
          </a:solidFill>
          <a:ln/>
        </p:spPr>
        <p:txBody>
          <a:bodyPr/>
          <a:lstStyle/>
          <a:p>
            <a:endParaRPr lang="en-US"/>
          </a:p>
        </p:txBody>
      </p:sp>
      <p:sp>
        <p:nvSpPr>
          <p:cNvPr id="21" name="Shape 18"/>
          <p:cNvSpPr/>
          <p:nvPr/>
        </p:nvSpPr>
        <p:spPr>
          <a:xfrm>
            <a:off x="9601171" y="8133354"/>
            <a:ext cx="7680926" cy="987692"/>
          </a:xfrm>
          <a:prstGeom prst="roundRect">
            <a:avLst>
              <a:gd name="adj" fmla="val 974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2" name="Text 19"/>
          <p:cNvSpPr/>
          <p:nvPr/>
        </p:nvSpPr>
        <p:spPr>
          <a:xfrm>
            <a:off x="10012670" y="8450027"/>
            <a:ext cx="7204982" cy="392394"/>
          </a:xfrm>
          <a:prstGeom prst="rect">
            <a:avLst/>
          </a:prstGeom>
          <a:noFill/>
          <a:ln/>
        </p:spPr>
        <p:txBody>
          <a:bodyPr wrap="square" lIns="25400" tIns="25400" rIns="25400" bIns="25400" rtlCol="0" anchor="t">
            <a:normAutofit/>
          </a:bodyPr>
          <a:lstStyle/>
          <a:p>
            <a:pPr marL="0" indent="0" algn="l">
              <a:lnSpc>
                <a:spcPct val="92160"/>
              </a:lnSpc>
              <a:buNone/>
            </a:pPr>
            <a:r>
              <a:rPr lang="en-US" sz="2325" b="1" dirty="0">
                <a:solidFill>
                  <a:srgbClr val="FD6953"/>
                </a:solidFill>
                <a:latin typeface="Oracle Sans Tab" pitchFamily="34" charset="0"/>
                <a:ea typeface="Oracle Sans Tab" pitchFamily="34" charset="-122"/>
                <a:cs typeface="Oracle Sans Tab" pitchFamily="34" charset="-120"/>
              </a:rPr>
              <a:t>AI Agents (Autonomy)</a:t>
            </a:r>
            <a:endParaRPr lang="en-US" sz="23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AUTOMATION + AUTONOMY CONVERGE</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WHERE THE FIELD HEADS</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Automation and autonomy </a:t>
            </a:r>
            <a:r>
              <a:rPr lang="en-US" sz="5100" b="1" i="1" dirty="0">
                <a:solidFill>
                  <a:srgbClr val="FD6953"/>
                </a:solidFill>
                <a:latin typeface="Oracle Sans Tab" pitchFamily="34" charset="0"/>
                <a:ea typeface="Oracle Sans Tab" pitchFamily="34" charset="-122"/>
                <a:cs typeface="Oracle Sans Tab" pitchFamily="34" charset="-120"/>
              </a:rPr>
              <a:t>converge.</a:t>
            </a:r>
            <a:endParaRPr lang="en-US" sz="1200" dirty="0"/>
          </a:p>
        </p:txBody>
      </p:sp>
      <p:sp>
        <p:nvSpPr>
          <p:cNvPr id="8" name="Shape 5"/>
          <p:cNvSpPr/>
          <p:nvPr/>
        </p:nvSpPr>
        <p:spPr>
          <a:xfrm>
            <a:off x="960096" y="4046213"/>
            <a:ext cx="4663436" cy="1714469"/>
          </a:xfrm>
          <a:prstGeom prst="roundRect">
            <a:avLst>
              <a:gd name="adj" fmla="val 5611"/>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 name="Text 6"/>
          <p:cNvSpPr/>
          <p:nvPr/>
        </p:nvSpPr>
        <p:spPr>
          <a:xfrm>
            <a:off x="1371596" y="4413839"/>
            <a:ext cx="3955651"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dirty="0">
                <a:solidFill>
                  <a:srgbClr val="FD6953"/>
                </a:solidFill>
                <a:latin typeface="Oracle Sans Tab" pitchFamily="34" charset="0"/>
                <a:ea typeface="Oracle Sans Tab" pitchFamily="34" charset="-122"/>
                <a:cs typeface="Oracle Sans Tab" pitchFamily="34" charset="-120"/>
              </a:rPr>
              <a:t>AUTOMATION</a:t>
            </a:r>
            <a:endParaRPr lang="en-US" sz="1650" dirty="0"/>
          </a:p>
        </p:txBody>
      </p:sp>
      <p:sp>
        <p:nvSpPr>
          <p:cNvPr id="10" name="Text 7"/>
          <p:cNvSpPr/>
          <p:nvPr/>
        </p:nvSpPr>
        <p:spPr>
          <a:xfrm>
            <a:off x="1371596" y="4954891"/>
            <a:ext cx="4026282" cy="552384"/>
          </a:xfrm>
          <a:prstGeom prst="rect">
            <a:avLst/>
          </a:prstGeom>
          <a:noFill/>
          <a:ln/>
        </p:spPr>
        <p:txBody>
          <a:bodyPr wrap="square" lIns="25400" tIns="25400" rIns="25400" bIns="25400" rtlCol="0" anchor="t">
            <a:normAutofit/>
          </a:bodyPr>
          <a:lstStyle/>
          <a:p>
            <a:pPr marL="0" indent="0" algn="l">
              <a:lnSpc>
                <a:spcPct val="82944"/>
              </a:lnSpc>
              <a:buNone/>
            </a:pPr>
            <a:r>
              <a:rPr lang="en-US" sz="1875" dirty="0">
                <a:solidFill>
                  <a:srgbClr val="C3D7DC"/>
                </a:solidFill>
                <a:latin typeface="Oracle Sans Tab" pitchFamily="34" charset="0"/>
                <a:ea typeface="Oracle Sans Tab" pitchFamily="34" charset="-122"/>
                <a:cs typeface="Oracle Sans Tab" pitchFamily="34" charset="-120"/>
              </a:rPr>
              <a:t>The developer fixes the path. Reliable, repeatable, but rigid.</a:t>
            </a:r>
            <a:endParaRPr lang="en-US" sz="1875" dirty="0"/>
          </a:p>
        </p:txBody>
      </p:sp>
      <p:sp>
        <p:nvSpPr>
          <p:cNvPr id="11" name="Shape 8"/>
          <p:cNvSpPr/>
          <p:nvPr/>
        </p:nvSpPr>
        <p:spPr>
          <a:xfrm>
            <a:off x="960096" y="6240756"/>
            <a:ext cx="4663436" cy="1714469"/>
          </a:xfrm>
          <a:prstGeom prst="roundRect">
            <a:avLst>
              <a:gd name="adj" fmla="val 5611"/>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2" name="Text 9"/>
          <p:cNvSpPr/>
          <p:nvPr/>
        </p:nvSpPr>
        <p:spPr>
          <a:xfrm>
            <a:off x="1371596" y="6608382"/>
            <a:ext cx="3955651"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dirty="0">
                <a:solidFill>
                  <a:srgbClr val="FD6953"/>
                </a:solidFill>
                <a:latin typeface="Oracle Sans Tab" pitchFamily="34" charset="0"/>
                <a:ea typeface="Oracle Sans Tab" pitchFamily="34" charset="-122"/>
                <a:cs typeface="Oracle Sans Tab" pitchFamily="34" charset="-120"/>
              </a:rPr>
              <a:t>AUTONOMY</a:t>
            </a:r>
            <a:endParaRPr lang="en-US" sz="1650" dirty="0"/>
          </a:p>
        </p:txBody>
      </p:sp>
      <p:sp>
        <p:nvSpPr>
          <p:cNvPr id="13" name="Text 10"/>
          <p:cNvSpPr/>
          <p:nvPr/>
        </p:nvSpPr>
        <p:spPr>
          <a:xfrm>
            <a:off x="1371596" y="7149434"/>
            <a:ext cx="4026282" cy="552384"/>
          </a:xfrm>
          <a:prstGeom prst="rect">
            <a:avLst/>
          </a:prstGeom>
          <a:noFill/>
          <a:ln/>
        </p:spPr>
        <p:txBody>
          <a:bodyPr wrap="square" lIns="25400" tIns="25400" rIns="25400" bIns="25400" rtlCol="0" anchor="t">
            <a:normAutofit/>
          </a:bodyPr>
          <a:lstStyle/>
          <a:p>
            <a:pPr marL="0" indent="0" algn="l">
              <a:lnSpc>
                <a:spcPct val="82944"/>
              </a:lnSpc>
              <a:buNone/>
            </a:pPr>
            <a:r>
              <a:rPr lang="en-US" sz="1875" dirty="0">
                <a:solidFill>
                  <a:srgbClr val="C3D7DC"/>
                </a:solidFill>
                <a:latin typeface="Oracle Sans Tab" pitchFamily="34" charset="0"/>
                <a:ea typeface="Oracle Sans Tab" pitchFamily="34" charset="-122"/>
                <a:cs typeface="Oracle Sans Tab" pitchFamily="34" charset="-120"/>
              </a:rPr>
              <a:t>The model chooses the path. Flexible, general, but harder to trust.</a:t>
            </a:r>
            <a:endParaRPr lang="en-US" sz="1875" dirty="0"/>
          </a:p>
        </p:txBody>
      </p:sp>
      <p:sp>
        <p:nvSpPr>
          <p:cNvPr id="14" name="Shape 11"/>
          <p:cNvSpPr/>
          <p:nvPr/>
        </p:nvSpPr>
        <p:spPr>
          <a:xfrm rot="1105800">
            <a:off x="5582639" y="5107472"/>
            <a:ext cx="1514476" cy="26458"/>
          </a:xfrm>
          <a:prstGeom prst="rect">
            <a:avLst/>
          </a:prstGeom>
          <a:solidFill>
            <a:srgbClr val="FD6953"/>
          </a:solidFill>
          <a:ln/>
        </p:spPr>
        <p:txBody>
          <a:bodyPr/>
          <a:lstStyle/>
          <a:p>
            <a:endParaRPr lang="en-US"/>
          </a:p>
        </p:txBody>
      </p:sp>
      <p:sp>
        <p:nvSpPr>
          <p:cNvPr id="15" name="Shape 12"/>
          <p:cNvSpPr/>
          <p:nvPr/>
        </p:nvSpPr>
        <p:spPr>
          <a:xfrm rot="1105800">
            <a:off x="6942127" y="5248647"/>
            <a:ext cx="125677" cy="161925"/>
          </a:xfrm>
          <a:prstGeom prst="rect">
            <a:avLst/>
          </a:prstGeom>
          <a:solidFill>
            <a:srgbClr val="FD6953"/>
          </a:solidFill>
          <a:ln/>
        </p:spPr>
        <p:txBody>
          <a:bodyPr/>
          <a:lstStyle/>
          <a:p>
            <a:endParaRPr lang="en-US"/>
          </a:p>
        </p:txBody>
      </p:sp>
      <p:sp>
        <p:nvSpPr>
          <p:cNvPr id="16" name="Shape 13"/>
          <p:cNvSpPr/>
          <p:nvPr/>
        </p:nvSpPr>
        <p:spPr>
          <a:xfrm rot="9694200">
            <a:off x="5591003" y="6823982"/>
            <a:ext cx="1514476" cy="26458"/>
          </a:xfrm>
          <a:prstGeom prst="rect">
            <a:avLst/>
          </a:prstGeom>
          <a:solidFill>
            <a:srgbClr val="FD6953"/>
          </a:solidFill>
          <a:ln/>
        </p:spPr>
        <p:txBody>
          <a:bodyPr/>
          <a:lstStyle/>
          <a:p>
            <a:endParaRPr lang="en-US"/>
          </a:p>
        </p:txBody>
      </p:sp>
      <p:sp>
        <p:nvSpPr>
          <p:cNvPr id="17" name="Shape 14"/>
          <p:cNvSpPr/>
          <p:nvPr/>
        </p:nvSpPr>
        <p:spPr>
          <a:xfrm rot="9694200">
            <a:off x="6940371" y="6522825"/>
            <a:ext cx="125677" cy="161925"/>
          </a:xfrm>
          <a:prstGeom prst="rect">
            <a:avLst/>
          </a:prstGeom>
          <a:solidFill>
            <a:srgbClr val="FD6953"/>
          </a:solidFill>
          <a:ln/>
        </p:spPr>
        <p:txBody>
          <a:bodyPr/>
          <a:lstStyle/>
          <a:p>
            <a:endParaRPr lang="en-US"/>
          </a:p>
        </p:txBody>
      </p:sp>
      <p:sp>
        <p:nvSpPr>
          <p:cNvPr id="18" name="Shape 15"/>
          <p:cNvSpPr/>
          <p:nvPr/>
        </p:nvSpPr>
        <p:spPr>
          <a:xfrm>
            <a:off x="7063703" y="4800585"/>
            <a:ext cx="4114788" cy="2331692"/>
          </a:xfrm>
          <a:prstGeom prst="roundRect">
            <a:avLst>
              <a:gd name="adj" fmla="val 4126"/>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pic>
        <p:nvPicPr>
          <p:cNvPr id="19" name="Image 1" descr="preencoded.png"/>
          <p:cNvPicPr>
            <a:picLocks noChangeAspect="1"/>
          </p:cNvPicPr>
          <p:nvPr/>
        </p:nvPicPr>
        <p:blipFill>
          <a:blip r:embed="rId4"/>
          <a:srcRect/>
          <a:stretch/>
        </p:blipFill>
        <p:spPr>
          <a:xfrm>
            <a:off x="8791556" y="5102531"/>
            <a:ext cx="658151" cy="658151"/>
          </a:xfrm>
          <a:prstGeom prst="rect">
            <a:avLst/>
          </a:prstGeom>
        </p:spPr>
      </p:pic>
      <p:sp>
        <p:nvSpPr>
          <p:cNvPr id="20" name="Text 16"/>
          <p:cNvSpPr/>
          <p:nvPr/>
        </p:nvSpPr>
        <p:spPr>
          <a:xfrm>
            <a:off x="7001981" y="5927390"/>
            <a:ext cx="4238231" cy="403814"/>
          </a:xfrm>
          <a:prstGeom prst="rect">
            <a:avLst/>
          </a:prstGeom>
          <a:noFill/>
          <a:ln/>
        </p:spPr>
        <p:txBody>
          <a:bodyPr wrap="square" lIns="25400" tIns="25400" rIns="25400" bIns="25400" rtlCol="0" anchor="t">
            <a:normAutofit/>
          </a:bodyPr>
          <a:lstStyle/>
          <a:p>
            <a:pPr marL="0" indent="0" algn="ctr">
              <a:lnSpc>
                <a:spcPct val="92160"/>
              </a:lnSpc>
              <a:buNone/>
            </a:pPr>
            <a:r>
              <a:rPr lang="en-US" sz="2400" b="1" dirty="0">
                <a:solidFill>
                  <a:srgbClr val="FFFFFF"/>
                </a:solidFill>
                <a:latin typeface="Oracle Sans Tab" pitchFamily="34" charset="0"/>
                <a:ea typeface="Oracle Sans Tab" pitchFamily="34" charset="-122"/>
                <a:cs typeface="Oracle Sans Tab" pitchFamily="34" charset="-120"/>
              </a:rPr>
              <a:t>Agentic systems</a:t>
            </a:r>
            <a:endParaRPr lang="en-US" sz="2400" dirty="0"/>
          </a:p>
        </p:txBody>
      </p:sp>
      <p:sp>
        <p:nvSpPr>
          <p:cNvPr id="21" name="Text 17"/>
          <p:cNvSpPr/>
          <p:nvPr/>
        </p:nvSpPr>
        <p:spPr>
          <a:xfrm>
            <a:off x="7284561" y="6456505"/>
            <a:ext cx="3673123" cy="498020"/>
          </a:xfrm>
          <a:prstGeom prst="rect">
            <a:avLst/>
          </a:prstGeom>
          <a:noFill/>
          <a:ln/>
        </p:spPr>
        <p:txBody>
          <a:bodyPr wrap="square" lIns="25400" tIns="25400" rIns="25400" bIns="25400" rtlCol="0" anchor="t">
            <a:normAutofit/>
          </a:bodyPr>
          <a:lstStyle/>
          <a:p>
            <a:pPr marL="0" indent="0" algn="ctr">
              <a:lnSpc>
                <a:spcPct val="80640"/>
              </a:lnSpc>
              <a:buNone/>
            </a:pPr>
            <a:r>
              <a:rPr lang="en-US" sz="1725" dirty="0">
                <a:solidFill>
                  <a:srgbClr val="C3D7DC"/>
                </a:solidFill>
                <a:latin typeface="Oracle Sans Tab" pitchFamily="34" charset="0"/>
                <a:ea typeface="Oracle Sans Tab" pitchFamily="34" charset="-122"/>
                <a:cs typeface="Oracle Sans Tab" pitchFamily="34" charset="-120"/>
              </a:rPr>
              <a:t>automate the routine, decide the rest</a:t>
            </a:r>
            <a:endParaRPr lang="en-US" sz="1725" dirty="0"/>
          </a:p>
        </p:txBody>
      </p:sp>
      <p:sp>
        <p:nvSpPr>
          <p:cNvPr id="22" name="Shape 18"/>
          <p:cNvSpPr/>
          <p:nvPr/>
        </p:nvSpPr>
        <p:spPr>
          <a:xfrm>
            <a:off x="11178491" y="5966457"/>
            <a:ext cx="1165820" cy="26458"/>
          </a:xfrm>
          <a:prstGeom prst="rect">
            <a:avLst/>
          </a:prstGeom>
          <a:solidFill>
            <a:srgbClr val="FFFFFF">
              <a:alpha val="34000"/>
            </a:srgbClr>
          </a:solidFill>
          <a:ln/>
        </p:spPr>
        <p:txBody>
          <a:bodyPr/>
          <a:lstStyle/>
          <a:p>
            <a:endParaRPr lang="en-US"/>
          </a:p>
        </p:txBody>
      </p:sp>
      <p:sp>
        <p:nvSpPr>
          <p:cNvPr id="23" name="Shape 19"/>
          <p:cNvSpPr/>
          <p:nvPr/>
        </p:nvSpPr>
        <p:spPr>
          <a:xfrm>
            <a:off x="12218633" y="5883775"/>
            <a:ext cx="125677" cy="165365"/>
          </a:xfrm>
          <a:prstGeom prst="rect">
            <a:avLst/>
          </a:prstGeom>
          <a:solidFill>
            <a:srgbClr val="FFFFFF">
              <a:alpha val="34000"/>
            </a:srgbClr>
          </a:solidFill>
          <a:ln/>
        </p:spPr>
        <p:txBody>
          <a:bodyPr/>
          <a:lstStyle/>
          <a:p>
            <a:endParaRPr lang="en-US"/>
          </a:p>
        </p:txBody>
      </p:sp>
      <p:sp>
        <p:nvSpPr>
          <p:cNvPr id="24" name="Text 20"/>
          <p:cNvSpPr/>
          <p:nvPr/>
        </p:nvSpPr>
        <p:spPr>
          <a:xfrm>
            <a:off x="12344363" y="3520405"/>
            <a:ext cx="5431508" cy="266665"/>
          </a:xfrm>
          <a:prstGeom prst="rect">
            <a:avLst/>
          </a:prstGeom>
          <a:noFill/>
          <a:ln/>
        </p:spPr>
        <p:txBody>
          <a:bodyPr wrap="square" lIns="25400" tIns="25400" rIns="25400" bIns="25400" rtlCol="0" anchor="t">
            <a:normAutofit/>
          </a:bodyPr>
          <a:lstStyle/>
          <a:p>
            <a:pPr marL="0" indent="0" algn="l">
              <a:lnSpc>
                <a:spcPct val="92160"/>
              </a:lnSpc>
              <a:buNone/>
            </a:pPr>
            <a:r>
              <a:rPr lang="en-US" sz="1500" dirty="0">
                <a:solidFill>
                  <a:srgbClr val="C3D7DC"/>
                </a:solidFill>
                <a:latin typeface="Oracle Sans Tab" pitchFamily="34" charset="0"/>
                <a:ea typeface="Oracle Sans Tab" pitchFamily="34" charset="-122"/>
                <a:cs typeface="Oracle Sans Tab" pitchFamily="34" charset="-120"/>
              </a:rPr>
              <a:t>IN THE WILD</a:t>
            </a:r>
            <a:endParaRPr lang="en-US" sz="1500" dirty="0"/>
          </a:p>
        </p:txBody>
      </p:sp>
      <p:sp>
        <p:nvSpPr>
          <p:cNvPr id="25" name="Shape 21"/>
          <p:cNvSpPr/>
          <p:nvPr/>
        </p:nvSpPr>
        <p:spPr>
          <a:xfrm>
            <a:off x="12344363" y="3868084"/>
            <a:ext cx="4983468" cy="863875"/>
          </a:xfrm>
          <a:prstGeom prst="roundRect">
            <a:avLst>
              <a:gd name="adj" fmla="val 1113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6" name="Text 22"/>
          <p:cNvSpPr/>
          <p:nvPr/>
        </p:nvSpPr>
        <p:spPr>
          <a:xfrm>
            <a:off x="12646307" y="4034792"/>
            <a:ext cx="4623805" cy="335239"/>
          </a:xfrm>
          <a:prstGeom prst="rect">
            <a:avLst/>
          </a:prstGeom>
          <a:noFill/>
          <a:ln/>
        </p:spPr>
        <p:txBody>
          <a:bodyPr wrap="square" lIns="25400" tIns="25400" rIns="25400" bIns="25400" rtlCol="0" anchor="t">
            <a:normAutofit/>
          </a:bodyPr>
          <a:lstStyle/>
          <a:p>
            <a:pPr marL="0" indent="0" algn="l">
              <a:lnSpc>
                <a:spcPct val="92160"/>
              </a:lnSpc>
              <a:buNone/>
            </a:pPr>
            <a:r>
              <a:rPr lang="en-US" sz="1950" b="1" dirty="0">
                <a:solidFill>
                  <a:srgbClr val="FFFFFF"/>
                </a:solidFill>
                <a:latin typeface="Oracle Sans Tab" pitchFamily="34" charset="0"/>
                <a:ea typeface="Oracle Sans Tab" pitchFamily="34" charset="-122"/>
                <a:cs typeface="Oracle Sans Tab" pitchFamily="34" charset="-120"/>
              </a:rPr>
              <a:t>OpenAI Codex</a:t>
            </a:r>
            <a:endParaRPr lang="en-US" sz="1950" dirty="0"/>
          </a:p>
        </p:txBody>
      </p:sp>
      <p:sp>
        <p:nvSpPr>
          <p:cNvPr id="27" name="Text 23"/>
          <p:cNvSpPr/>
          <p:nvPr/>
        </p:nvSpPr>
        <p:spPr>
          <a:xfrm>
            <a:off x="12646307" y="4425311"/>
            <a:ext cx="4938045" cy="266665"/>
          </a:xfrm>
          <a:prstGeom prst="rect">
            <a:avLst/>
          </a:prstGeom>
          <a:noFill/>
          <a:ln/>
        </p:spPr>
        <p:txBody>
          <a:bodyPr wrap="square" lIns="25400" tIns="25400" rIns="25400" bIns="25400" rtlCol="0" anchor="t">
            <a:normAutofit/>
          </a:bodyPr>
          <a:lstStyle/>
          <a:p>
            <a:pPr marL="0" indent="0" algn="l">
              <a:lnSpc>
                <a:spcPct val="92160"/>
              </a:lnSpc>
              <a:buNone/>
            </a:pPr>
            <a:r>
              <a:rPr lang="en-US" sz="1500" dirty="0">
                <a:solidFill>
                  <a:srgbClr val="C3D7DC"/>
                </a:solidFill>
                <a:latin typeface="Oracle Sans Tab" pitchFamily="34" charset="0"/>
                <a:ea typeface="Oracle Sans Tab" pitchFamily="34" charset="-122"/>
                <a:cs typeface="Oracle Sans Tab" pitchFamily="34" charset="-120"/>
              </a:rPr>
              <a:t>delegated coding agent</a:t>
            </a:r>
            <a:endParaRPr lang="en-US" sz="1500" dirty="0"/>
          </a:p>
        </p:txBody>
      </p:sp>
      <p:sp>
        <p:nvSpPr>
          <p:cNvPr id="28" name="Shape 24"/>
          <p:cNvSpPr/>
          <p:nvPr/>
        </p:nvSpPr>
        <p:spPr>
          <a:xfrm>
            <a:off x="12344363" y="4903422"/>
            <a:ext cx="4983468" cy="863875"/>
          </a:xfrm>
          <a:prstGeom prst="roundRect">
            <a:avLst>
              <a:gd name="adj" fmla="val 1113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9" name="Text 25"/>
          <p:cNvSpPr/>
          <p:nvPr/>
        </p:nvSpPr>
        <p:spPr>
          <a:xfrm>
            <a:off x="12646307" y="5070129"/>
            <a:ext cx="4623805" cy="335239"/>
          </a:xfrm>
          <a:prstGeom prst="rect">
            <a:avLst/>
          </a:prstGeom>
          <a:noFill/>
          <a:ln/>
        </p:spPr>
        <p:txBody>
          <a:bodyPr wrap="square" lIns="25400" tIns="25400" rIns="25400" bIns="25400" rtlCol="0" anchor="t">
            <a:normAutofit/>
          </a:bodyPr>
          <a:lstStyle/>
          <a:p>
            <a:pPr marL="0" indent="0" algn="l">
              <a:lnSpc>
                <a:spcPct val="92160"/>
              </a:lnSpc>
              <a:buNone/>
            </a:pPr>
            <a:r>
              <a:rPr lang="en-US" sz="1950" b="1" dirty="0">
                <a:solidFill>
                  <a:srgbClr val="FFFFFF"/>
                </a:solidFill>
                <a:latin typeface="Oracle Sans Tab" pitchFamily="34" charset="0"/>
                <a:ea typeface="Oracle Sans Tab" pitchFamily="34" charset="-122"/>
                <a:cs typeface="Oracle Sans Tab" pitchFamily="34" charset="-120"/>
              </a:rPr>
              <a:t>Claude Cowork</a:t>
            </a:r>
            <a:endParaRPr lang="en-US" sz="1950" dirty="0"/>
          </a:p>
        </p:txBody>
      </p:sp>
      <p:sp>
        <p:nvSpPr>
          <p:cNvPr id="30" name="Text 26"/>
          <p:cNvSpPr/>
          <p:nvPr/>
        </p:nvSpPr>
        <p:spPr>
          <a:xfrm>
            <a:off x="12646307" y="5460649"/>
            <a:ext cx="4938045" cy="266665"/>
          </a:xfrm>
          <a:prstGeom prst="rect">
            <a:avLst/>
          </a:prstGeom>
          <a:noFill/>
          <a:ln/>
        </p:spPr>
        <p:txBody>
          <a:bodyPr wrap="square" lIns="25400" tIns="25400" rIns="25400" bIns="25400" rtlCol="0" anchor="t">
            <a:normAutofit/>
          </a:bodyPr>
          <a:lstStyle/>
          <a:p>
            <a:pPr marL="0" indent="0" algn="l">
              <a:lnSpc>
                <a:spcPct val="92160"/>
              </a:lnSpc>
              <a:buNone/>
            </a:pPr>
            <a:r>
              <a:rPr lang="en-US" sz="1500" dirty="0">
                <a:solidFill>
                  <a:srgbClr val="C3D7DC"/>
                </a:solidFill>
                <a:latin typeface="Oracle Sans Tab" pitchFamily="34" charset="0"/>
                <a:ea typeface="Oracle Sans Tab" pitchFamily="34" charset="-122"/>
                <a:cs typeface="Oracle Sans Tab" pitchFamily="34" charset="-120"/>
              </a:rPr>
              <a:t>agentic knowledge work</a:t>
            </a:r>
            <a:endParaRPr lang="en-US" sz="1500" dirty="0"/>
          </a:p>
        </p:txBody>
      </p:sp>
      <p:sp>
        <p:nvSpPr>
          <p:cNvPr id="31" name="Shape 27"/>
          <p:cNvSpPr/>
          <p:nvPr/>
        </p:nvSpPr>
        <p:spPr>
          <a:xfrm>
            <a:off x="12344363" y="5938810"/>
            <a:ext cx="4983468" cy="863875"/>
          </a:xfrm>
          <a:prstGeom prst="roundRect">
            <a:avLst>
              <a:gd name="adj" fmla="val 1113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32" name="Text 28"/>
          <p:cNvSpPr/>
          <p:nvPr/>
        </p:nvSpPr>
        <p:spPr>
          <a:xfrm>
            <a:off x="12646307" y="6105519"/>
            <a:ext cx="4623805" cy="335239"/>
          </a:xfrm>
          <a:prstGeom prst="rect">
            <a:avLst/>
          </a:prstGeom>
          <a:noFill/>
          <a:ln/>
        </p:spPr>
        <p:txBody>
          <a:bodyPr wrap="square" lIns="25400" tIns="25400" rIns="25400" bIns="25400" rtlCol="0" anchor="t">
            <a:normAutofit/>
          </a:bodyPr>
          <a:lstStyle/>
          <a:p>
            <a:pPr marL="0" indent="0" algn="l">
              <a:lnSpc>
                <a:spcPct val="92160"/>
              </a:lnSpc>
              <a:buNone/>
            </a:pPr>
            <a:r>
              <a:rPr lang="en-US" sz="1950" b="1" dirty="0">
                <a:solidFill>
                  <a:srgbClr val="FFFFFF"/>
                </a:solidFill>
                <a:latin typeface="Oracle Sans Tab" pitchFamily="34" charset="0"/>
                <a:ea typeface="Oracle Sans Tab" pitchFamily="34" charset="-122"/>
                <a:cs typeface="Oracle Sans Tab" pitchFamily="34" charset="-120"/>
              </a:rPr>
              <a:t>Claude Code</a:t>
            </a:r>
            <a:endParaRPr lang="en-US" sz="1950" dirty="0"/>
          </a:p>
        </p:txBody>
      </p:sp>
      <p:sp>
        <p:nvSpPr>
          <p:cNvPr id="33" name="Text 29"/>
          <p:cNvSpPr/>
          <p:nvPr/>
        </p:nvSpPr>
        <p:spPr>
          <a:xfrm>
            <a:off x="12646307" y="6496967"/>
            <a:ext cx="4938045" cy="266665"/>
          </a:xfrm>
          <a:prstGeom prst="rect">
            <a:avLst/>
          </a:prstGeom>
          <a:noFill/>
          <a:ln/>
        </p:spPr>
        <p:txBody>
          <a:bodyPr wrap="square" lIns="25400" tIns="25400" rIns="25400" bIns="25400" rtlCol="0" anchor="t">
            <a:normAutofit/>
          </a:bodyPr>
          <a:lstStyle/>
          <a:p>
            <a:pPr marL="0" indent="0" algn="l">
              <a:lnSpc>
                <a:spcPct val="92160"/>
              </a:lnSpc>
              <a:buNone/>
            </a:pPr>
            <a:r>
              <a:rPr lang="en-US" sz="1500" dirty="0">
                <a:solidFill>
                  <a:srgbClr val="C3D7DC"/>
                </a:solidFill>
                <a:latin typeface="Oracle Sans Tab" pitchFamily="34" charset="0"/>
                <a:ea typeface="Oracle Sans Tab" pitchFamily="34" charset="-122"/>
                <a:cs typeface="Oracle Sans Tab" pitchFamily="34" charset="-120"/>
              </a:rPr>
              <a:t>terminal coding agent</a:t>
            </a:r>
            <a:endParaRPr lang="en-US" sz="1500" dirty="0"/>
          </a:p>
        </p:txBody>
      </p:sp>
      <p:sp>
        <p:nvSpPr>
          <p:cNvPr id="34" name="Shape 30"/>
          <p:cNvSpPr/>
          <p:nvPr/>
        </p:nvSpPr>
        <p:spPr>
          <a:xfrm>
            <a:off x="12344363" y="6974199"/>
            <a:ext cx="4983468" cy="863875"/>
          </a:xfrm>
          <a:prstGeom prst="roundRect">
            <a:avLst>
              <a:gd name="adj" fmla="val 1113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35" name="Text 31"/>
          <p:cNvSpPr/>
          <p:nvPr/>
        </p:nvSpPr>
        <p:spPr>
          <a:xfrm>
            <a:off x="12646307" y="7141838"/>
            <a:ext cx="4623805" cy="335239"/>
          </a:xfrm>
          <a:prstGeom prst="rect">
            <a:avLst/>
          </a:prstGeom>
          <a:noFill/>
          <a:ln/>
        </p:spPr>
        <p:txBody>
          <a:bodyPr wrap="square" lIns="25400" tIns="25400" rIns="25400" bIns="25400" rtlCol="0" anchor="t">
            <a:normAutofit/>
          </a:bodyPr>
          <a:lstStyle/>
          <a:p>
            <a:pPr marL="0" indent="0" algn="l">
              <a:lnSpc>
                <a:spcPct val="92160"/>
              </a:lnSpc>
              <a:buNone/>
            </a:pPr>
            <a:r>
              <a:rPr lang="en-US" sz="1950" b="1" dirty="0">
                <a:solidFill>
                  <a:srgbClr val="FFFFFF"/>
                </a:solidFill>
                <a:latin typeface="Oracle Sans Tab" pitchFamily="34" charset="0"/>
                <a:ea typeface="Oracle Sans Tab" pitchFamily="34" charset="-122"/>
                <a:cs typeface="Oracle Sans Tab" pitchFamily="34" charset="-120"/>
              </a:rPr>
              <a:t>OpenClaw</a:t>
            </a:r>
            <a:endParaRPr lang="en-US" sz="1950" dirty="0"/>
          </a:p>
        </p:txBody>
      </p:sp>
      <p:sp>
        <p:nvSpPr>
          <p:cNvPr id="36" name="Text 32"/>
          <p:cNvSpPr/>
          <p:nvPr/>
        </p:nvSpPr>
        <p:spPr>
          <a:xfrm>
            <a:off x="12646307" y="7532357"/>
            <a:ext cx="4938045" cy="266665"/>
          </a:xfrm>
          <a:prstGeom prst="rect">
            <a:avLst/>
          </a:prstGeom>
          <a:noFill/>
          <a:ln/>
        </p:spPr>
        <p:txBody>
          <a:bodyPr wrap="square" lIns="25400" tIns="25400" rIns="25400" bIns="25400" rtlCol="0" anchor="t">
            <a:normAutofit/>
          </a:bodyPr>
          <a:lstStyle/>
          <a:p>
            <a:pPr marL="0" indent="0" algn="l">
              <a:lnSpc>
                <a:spcPct val="92160"/>
              </a:lnSpc>
              <a:buNone/>
            </a:pPr>
            <a:r>
              <a:rPr lang="en-US" sz="1500" dirty="0">
                <a:solidFill>
                  <a:srgbClr val="C3D7DC"/>
                </a:solidFill>
                <a:latin typeface="Oracle Sans Tab" pitchFamily="34" charset="0"/>
                <a:ea typeface="Oracle Sans Tab" pitchFamily="34" charset="-122"/>
                <a:cs typeface="Oracle Sans Tab" pitchFamily="34" charset="-120"/>
              </a:rPr>
              <a:t>open-source personal agent</a:t>
            </a:r>
            <a:endParaRPr lang="en-US" sz="1500" dirty="0"/>
          </a:p>
        </p:txBody>
      </p:sp>
      <p:sp>
        <p:nvSpPr>
          <p:cNvPr id="37" name="Shape 33"/>
          <p:cNvSpPr/>
          <p:nvPr/>
        </p:nvSpPr>
        <p:spPr>
          <a:xfrm>
            <a:off x="12344363" y="8010519"/>
            <a:ext cx="4983468" cy="863875"/>
          </a:xfrm>
          <a:prstGeom prst="roundRect">
            <a:avLst>
              <a:gd name="adj" fmla="val 1113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38" name="Text 34"/>
          <p:cNvSpPr/>
          <p:nvPr/>
        </p:nvSpPr>
        <p:spPr>
          <a:xfrm>
            <a:off x="12646307" y="8177175"/>
            <a:ext cx="4623805" cy="335239"/>
          </a:xfrm>
          <a:prstGeom prst="rect">
            <a:avLst/>
          </a:prstGeom>
          <a:noFill/>
          <a:ln/>
        </p:spPr>
        <p:txBody>
          <a:bodyPr wrap="square" lIns="25400" tIns="25400" rIns="25400" bIns="25400" rtlCol="0" anchor="t">
            <a:normAutofit/>
          </a:bodyPr>
          <a:lstStyle/>
          <a:p>
            <a:pPr marL="0" indent="0" algn="l">
              <a:lnSpc>
                <a:spcPct val="92160"/>
              </a:lnSpc>
              <a:buNone/>
            </a:pPr>
            <a:r>
              <a:rPr lang="en-US" sz="1950" b="1" dirty="0">
                <a:solidFill>
                  <a:srgbClr val="FFFFFF"/>
                </a:solidFill>
                <a:latin typeface="Oracle Sans Tab" pitchFamily="34" charset="0"/>
                <a:ea typeface="Oracle Sans Tab" pitchFamily="34" charset="-122"/>
                <a:cs typeface="Oracle Sans Tab" pitchFamily="34" charset="-120"/>
              </a:rPr>
              <a:t>Hermes (Nous Research)</a:t>
            </a:r>
            <a:endParaRPr lang="en-US" sz="1950" dirty="0"/>
          </a:p>
        </p:txBody>
      </p:sp>
      <p:sp>
        <p:nvSpPr>
          <p:cNvPr id="39" name="Text 35"/>
          <p:cNvSpPr/>
          <p:nvPr/>
        </p:nvSpPr>
        <p:spPr>
          <a:xfrm>
            <a:off x="12646307" y="8567694"/>
            <a:ext cx="4938045" cy="266665"/>
          </a:xfrm>
          <a:prstGeom prst="rect">
            <a:avLst/>
          </a:prstGeom>
          <a:noFill/>
          <a:ln/>
        </p:spPr>
        <p:txBody>
          <a:bodyPr wrap="square" lIns="25400" tIns="25400" rIns="25400" bIns="25400" rtlCol="0" anchor="t">
            <a:normAutofit/>
          </a:bodyPr>
          <a:lstStyle/>
          <a:p>
            <a:pPr marL="0" indent="0" algn="l">
              <a:lnSpc>
                <a:spcPct val="92160"/>
              </a:lnSpc>
              <a:buNone/>
            </a:pPr>
            <a:r>
              <a:rPr lang="en-US" sz="1500" dirty="0">
                <a:solidFill>
                  <a:srgbClr val="C3D7DC"/>
                </a:solidFill>
                <a:latin typeface="Oracle Sans Tab" pitchFamily="34" charset="0"/>
                <a:ea typeface="Oracle Sans Tab" pitchFamily="34" charset="-122"/>
                <a:cs typeface="Oracle Sans Tab" pitchFamily="34" charset="-120"/>
              </a:rPr>
              <a:t>self-improving skills + memory</a:t>
            </a:r>
            <a:endParaRPr lang="en-US" sz="1500" dirty="0"/>
          </a:p>
        </p:txBody>
      </p:sp>
      <p:sp>
        <p:nvSpPr>
          <p:cNvPr id="40" name="Text 36"/>
          <p:cNvSpPr/>
          <p:nvPr/>
        </p:nvSpPr>
        <p:spPr>
          <a:xfrm>
            <a:off x="960096" y="9181093"/>
            <a:ext cx="11301949" cy="603854"/>
          </a:xfrm>
          <a:prstGeom prst="rect">
            <a:avLst/>
          </a:prstGeom>
          <a:noFill/>
          <a:ln/>
        </p:spPr>
        <p:txBody>
          <a:bodyPr wrap="square" lIns="25400" tIns="25400" rIns="25400" bIns="25400" rtlCol="0" anchor="t">
            <a:normAutofit/>
          </a:bodyPr>
          <a:lstStyle/>
          <a:p>
            <a:pPr marL="0" indent="0" algn="l">
              <a:lnSpc>
                <a:spcPct val="84480"/>
              </a:lnSpc>
              <a:buNone/>
            </a:pPr>
            <a:r>
              <a:rPr lang="en-US" sz="2025" i="1" dirty="0">
                <a:solidFill>
                  <a:srgbClr val="FFFFFF"/>
                </a:solidFill>
                <a:latin typeface="Oracle Sans Tab" pitchFamily="34" charset="0"/>
                <a:ea typeface="Oracle Sans Tab" pitchFamily="34" charset="-122"/>
                <a:cs typeface="Oracle Sans Tab" pitchFamily="34" charset="-120"/>
              </a:rPr>
              <a:t>The frontier products are already here: agents that automate what is routine and decide what is not.</a:t>
            </a:r>
            <a:endParaRPr lang="en-US" sz="20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DEFINITION</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AGENT HARNESS</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AGENT HARNESS</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What is an </a:t>
            </a:r>
            <a:r>
              <a:rPr lang="en-US" sz="5100" b="1" dirty="0">
                <a:solidFill>
                  <a:srgbClr val="FD6953"/>
                </a:solidFill>
                <a:latin typeface="Oracle Sans Tab" pitchFamily="34" charset="0"/>
                <a:ea typeface="Oracle Sans Tab" pitchFamily="34" charset="-122"/>
                <a:cs typeface="Oracle Sans Tab" pitchFamily="34" charset="-120"/>
              </a:rPr>
              <a:t>agent harness</a:t>
            </a:r>
            <a:endParaRPr lang="en-US" sz="1200" dirty="0"/>
          </a:p>
        </p:txBody>
      </p:sp>
      <p:sp>
        <p:nvSpPr>
          <p:cNvPr id="8" name="Shape 5"/>
          <p:cNvSpPr/>
          <p:nvPr/>
        </p:nvSpPr>
        <p:spPr>
          <a:xfrm>
            <a:off x="960096" y="4594810"/>
            <a:ext cx="2057394" cy="2057394"/>
          </a:xfrm>
          <a:prstGeom prst="roundRect">
            <a:avLst>
              <a:gd name="adj" fmla="val 467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rcRect/>
          <a:stretch/>
        </p:blipFill>
        <p:spPr>
          <a:xfrm>
            <a:off x="1536340" y="5019642"/>
            <a:ext cx="904854" cy="904854"/>
          </a:xfrm>
          <a:prstGeom prst="rect">
            <a:avLst/>
          </a:prstGeom>
        </p:spPr>
      </p:pic>
      <p:sp>
        <p:nvSpPr>
          <p:cNvPr id="10" name="Text 6"/>
          <p:cNvSpPr/>
          <p:nvPr/>
        </p:nvSpPr>
        <p:spPr>
          <a:xfrm>
            <a:off x="3497564" y="4320511"/>
            <a:ext cx="14268754" cy="1897418"/>
          </a:xfrm>
          <a:prstGeom prst="rect">
            <a:avLst/>
          </a:prstGeom>
          <a:noFill/>
          <a:ln/>
        </p:spPr>
        <p:txBody>
          <a:bodyPr wrap="square" lIns="25400" tIns="25400" rIns="25400" bIns="25400" rtlCol="0" anchor="t">
            <a:normAutofit/>
          </a:bodyPr>
          <a:lstStyle/>
          <a:p>
            <a:pPr marL="0" indent="0" algn="l">
              <a:lnSpc>
                <a:spcPct val="93696"/>
              </a:lnSpc>
              <a:buNone/>
            </a:pPr>
            <a:r>
              <a:rPr lang="en-US" sz="3000" dirty="0">
                <a:solidFill>
                  <a:srgbClr val="FFFFFF"/>
                </a:solidFill>
                <a:latin typeface="Oracle Sans Tab" pitchFamily="34" charset="0"/>
                <a:ea typeface="Oracle Sans Tab" pitchFamily="34" charset="-122"/>
                <a:cs typeface="Oracle Sans Tab" pitchFamily="34" charset="-120"/>
              </a:rPr>
              <a:t>The </a:t>
            </a:r>
            <a:r>
              <a:rPr lang="en-US" sz="3000" b="1" dirty="0">
                <a:solidFill>
                  <a:srgbClr val="FFFFFF"/>
                </a:solidFill>
                <a:latin typeface="Oracle Sans Tab" pitchFamily="34" charset="0"/>
                <a:ea typeface="Oracle Sans Tab" pitchFamily="34" charset="-122"/>
                <a:cs typeface="Oracle Sans Tab" pitchFamily="34" charset="-120"/>
              </a:rPr>
              <a:t>engineering scaffolding </a:t>
            </a:r>
            <a:r>
              <a:rPr lang="en-US" sz="3000" dirty="0">
                <a:solidFill>
                  <a:srgbClr val="FFFFFF"/>
                </a:solidFill>
                <a:latin typeface="Oracle Sans Tab" pitchFamily="34" charset="0"/>
                <a:ea typeface="Oracle Sans Tab" pitchFamily="34" charset="-122"/>
                <a:cs typeface="Oracle Sans Tab" pitchFamily="34" charset="-120"/>
              </a:rPr>
              <a:t>around a model and its agent loop: the </a:t>
            </a:r>
            <a:r>
              <a:rPr lang="en-US" sz="3000" b="1" dirty="0">
                <a:solidFill>
                  <a:srgbClr val="FFFFFF"/>
                </a:solidFill>
                <a:latin typeface="Oracle Sans Tab" pitchFamily="34" charset="0"/>
                <a:ea typeface="Oracle Sans Tab" pitchFamily="34" charset="-122"/>
                <a:cs typeface="Oracle Sans Tab" pitchFamily="34" charset="-120"/>
              </a:rPr>
              <a:t>memory, retrieval, tools, context and control </a:t>
            </a:r>
            <a:r>
              <a:rPr lang="en-US" sz="3000" dirty="0">
                <a:solidFill>
                  <a:srgbClr val="FFFFFF"/>
                </a:solidFill>
                <a:latin typeface="Oracle Sans Tab" pitchFamily="34" charset="0"/>
                <a:ea typeface="Oracle Sans Tab" pitchFamily="34" charset="-122"/>
                <a:cs typeface="Oracle Sans Tab" pitchFamily="34" charset="-120"/>
              </a:rPr>
              <a:t>layers that turn a capable but stateless LLM into a system which produces </a:t>
            </a:r>
            <a:r>
              <a:rPr lang="en-US" sz="3000" b="1" dirty="0">
                <a:solidFill>
                  <a:srgbClr val="FFFFFF"/>
                </a:solidFill>
                <a:latin typeface="Oracle Sans Tab" pitchFamily="34" charset="0"/>
                <a:ea typeface="Oracle Sans Tab" pitchFamily="34" charset="-122"/>
                <a:cs typeface="Oracle Sans Tab" pitchFamily="34" charset="-120"/>
              </a:rPr>
              <a:t>reliable, repeatable outcomes </a:t>
            </a:r>
            <a:r>
              <a:rPr lang="en-US" sz="3000" dirty="0">
                <a:solidFill>
                  <a:srgbClr val="FFFFFF"/>
                </a:solidFill>
                <a:latin typeface="Oracle Sans Tab" pitchFamily="34" charset="0"/>
                <a:ea typeface="Oracle Sans Tab" pitchFamily="34" charset="-122"/>
                <a:cs typeface="Oracle Sans Tab" pitchFamily="34" charset="-120"/>
              </a:rPr>
              <a:t>, run after run.</a:t>
            </a:r>
            <a:endParaRPr lang="en-US" sz="1200" dirty="0"/>
          </a:p>
        </p:txBody>
      </p:sp>
      <p:sp>
        <p:nvSpPr>
          <p:cNvPr id="11" name="Shape 7"/>
          <p:cNvSpPr/>
          <p:nvPr/>
        </p:nvSpPr>
        <p:spPr>
          <a:xfrm>
            <a:off x="960096" y="7680926"/>
            <a:ext cx="16367735" cy="1302969"/>
          </a:xfrm>
          <a:prstGeom prst="roundRect">
            <a:avLst>
              <a:gd name="adj" fmla="val 7383"/>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12" name="Text 8"/>
          <p:cNvSpPr/>
          <p:nvPr/>
        </p:nvSpPr>
        <p:spPr>
          <a:xfrm>
            <a:off x="1508745" y="7996669"/>
            <a:ext cx="15727592" cy="328108"/>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2175" b="1" dirty="0">
                <a:solidFill>
                  <a:srgbClr val="FD6953"/>
                </a:solidFill>
                <a:latin typeface="Oracle Sans Tab" pitchFamily="34" charset="0"/>
                <a:ea typeface="Oracle Sans Tab" pitchFamily="34" charset="-122"/>
                <a:cs typeface="Oracle Sans Tab" pitchFamily="34" charset="-120"/>
              </a:rPr>
              <a:t>Why it matters </a:t>
            </a:r>
            <a:r>
              <a:rPr lang="en-US" sz="2175" dirty="0">
                <a:solidFill>
                  <a:srgbClr val="FFFFFF"/>
                </a:solidFill>
                <a:latin typeface="Oracle Sans Tab" pitchFamily="34" charset="0"/>
                <a:ea typeface="Oracle Sans Tab" pitchFamily="34" charset="-122"/>
                <a:cs typeface="Oracle Sans Tab" pitchFamily="34" charset="-120"/>
              </a:rPr>
              <a:t>the model supplies raw capability; the harness is what makes that capability dependable.</a:t>
            </a:r>
            <a:endParaRPr lang="en-US" sz="1200" dirty="0"/>
          </a:p>
        </p:txBody>
      </p:sp>
      <p:sp>
        <p:nvSpPr>
          <p:cNvPr id="13" name="Text 9"/>
          <p:cNvSpPr/>
          <p:nvPr/>
        </p:nvSpPr>
        <p:spPr>
          <a:xfrm>
            <a:off x="1508745" y="8378093"/>
            <a:ext cx="15727592" cy="328108"/>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2175" dirty="0">
                <a:solidFill>
                  <a:srgbClr val="FFFFFF"/>
                </a:solidFill>
                <a:latin typeface="Oracle Sans Tab" pitchFamily="34" charset="0"/>
                <a:ea typeface="Oracle Sans Tab" pitchFamily="34" charset="-122"/>
                <a:cs typeface="Oracle Sans Tab" pitchFamily="34" charset="-120"/>
              </a:rPr>
              <a:t>Agent = model + harness.</a:t>
            </a:r>
            <a:endParaRPr lang="en-US" sz="21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THE REFRAMING</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THE REFRAMING</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D6953"/>
                </a:solidFill>
                <a:latin typeface="Oracle Sans Tab" pitchFamily="34" charset="0"/>
                <a:ea typeface="Oracle Sans Tab" pitchFamily="34" charset="-122"/>
                <a:cs typeface="Oracle Sans Tab" pitchFamily="34" charset="-120"/>
              </a:rPr>
              <a:t>Components </a:t>
            </a:r>
            <a:r>
              <a:rPr lang="en-US" sz="5100" b="1" dirty="0">
                <a:solidFill>
                  <a:srgbClr val="FFFFFF"/>
                </a:solidFill>
                <a:latin typeface="Oracle Sans Tab" pitchFamily="34" charset="0"/>
                <a:ea typeface="Oracle Sans Tab" pitchFamily="34" charset="-122"/>
                <a:cs typeface="Oracle Sans Tab" pitchFamily="34" charset="-120"/>
              </a:rPr>
              <a:t>of a Dependable System</a:t>
            </a:r>
            <a:endParaRPr lang="en-US" sz="1200" dirty="0"/>
          </a:p>
        </p:txBody>
      </p:sp>
      <p:sp>
        <p:nvSpPr>
          <p:cNvPr id="8" name="Shape 5"/>
          <p:cNvSpPr/>
          <p:nvPr/>
        </p:nvSpPr>
        <p:spPr>
          <a:xfrm>
            <a:off x="960096" y="3025138"/>
            <a:ext cx="2057394" cy="1262042"/>
          </a:xfrm>
          <a:prstGeom prst="roundRect">
            <a:avLst>
              <a:gd name="adj" fmla="val 762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 name="Text 6"/>
          <p:cNvSpPr/>
          <p:nvPr/>
        </p:nvSpPr>
        <p:spPr>
          <a:xfrm>
            <a:off x="921996" y="3450384"/>
            <a:ext cx="2133594" cy="449599"/>
          </a:xfrm>
          <a:prstGeom prst="rect">
            <a:avLst/>
          </a:prstGeom>
          <a:noFill/>
          <a:ln/>
        </p:spPr>
        <p:txBody>
          <a:bodyPr wrap="square" lIns="25400" tIns="25400" rIns="25400" bIns="25400" rtlCol="0" anchor="t">
            <a:normAutofit/>
          </a:bodyPr>
          <a:lstStyle/>
          <a:p>
            <a:pPr marL="0" indent="0" algn="ctr">
              <a:lnSpc>
                <a:spcPct val="92160"/>
              </a:lnSpc>
              <a:buNone/>
            </a:pPr>
            <a:r>
              <a:rPr lang="en-US" sz="2700" b="1" dirty="0">
                <a:solidFill>
                  <a:srgbClr val="FFFFFF"/>
                </a:solidFill>
                <a:latin typeface="Oracle Sans Tab" pitchFamily="34" charset="0"/>
                <a:ea typeface="Oracle Sans Tab" pitchFamily="34" charset="-122"/>
                <a:cs typeface="Oracle Sans Tab" pitchFamily="34" charset="-120"/>
              </a:rPr>
              <a:t>Agent</a:t>
            </a:r>
            <a:endParaRPr lang="en-US" sz="2700" dirty="0"/>
          </a:p>
        </p:txBody>
      </p:sp>
      <p:sp>
        <p:nvSpPr>
          <p:cNvPr id="10" name="Text 7"/>
          <p:cNvSpPr/>
          <p:nvPr/>
        </p:nvSpPr>
        <p:spPr>
          <a:xfrm>
            <a:off x="3047965" y="3381861"/>
            <a:ext cx="693372" cy="586697"/>
          </a:xfrm>
          <a:prstGeom prst="rect">
            <a:avLst/>
          </a:prstGeom>
          <a:noFill/>
          <a:ln/>
        </p:spPr>
        <p:txBody>
          <a:bodyPr wrap="square" lIns="25400" tIns="25400" rIns="25400" bIns="25400" rtlCol="0" anchor="t">
            <a:normAutofit/>
          </a:bodyPr>
          <a:lstStyle/>
          <a:p>
            <a:pPr marL="0" indent="0" algn="ctr">
              <a:lnSpc>
                <a:spcPct val="92160"/>
              </a:lnSpc>
              <a:buNone/>
            </a:pPr>
            <a:r>
              <a:rPr lang="en-US" sz="3600" b="1" dirty="0">
                <a:solidFill>
                  <a:srgbClr val="FFFFFF"/>
                </a:solidFill>
                <a:latin typeface="Oracle Sans Tab" pitchFamily="34" charset="0"/>
                <a:ea typeface="Oracle Sans Tab" pitchFamily="34" charset="-122"/>
                <a:cs typeface="Oracle Sans Tab" pitchFamily="34" charset="-120"/>
              </a:rPr>
              <a:t>=</a:t>
            </a:r>
            <a:endParaRPr lang="en-US" sz="3600" dirty="0"/>
          </a:p>
        </p:txBody>
      </p:sp>
      <p:sp>
        <p:nvSpPr>
          <p:cNvPr id="11" name="Shape 8"/>
          <p:cNvSpPr/>
          <p:nvPr/>
        </p:nvSpPr>
        <p:spPr>
          <a:xfrm>
            <a:off x="3909012" y="3025138"/>
            <a:ext cx="2605991" cy="1262042"/>
          </a:xfrm>
          <a:prstGeom prst="roundRect">
            <a:avLst>
              <a:gd name="adj" fmla="val 7623"/>
            </a:avLst>
          </a:prstGeom>
          <a:solidFill>
            <a:srgbClr val="04303F"/>
          </a:solidFill>
          <a:ln w="16536">
            <a:solidFill>
              <a:srgbClr val="FFFFFF">
                <a:alpha val="45000"/>
              </a:srgbClr>
            </a:solidFill>
            <a:prstDash val="solid"/>
          </a:ln>
        </p:spPr>
        <p:txBody>
          <a:bodyPr/>
          <a:lstStyle/>
          <a:p>
            <a:endParaRPr lang="en-US"/>
          </a:p>
        </p:txBody>
      </p:sp>
      <p:sp>
        <p:nvSpPr>
          <p:cNvPr id="12" name="Text 9"/>
          <p:cNvSpPr/>
          <p:nvPr/>
        </p:nvSpPr>
        <p:spPr>
          <a:xfrm>
            <a:off x="3869922" y="3450384"/>
            <a:ext cx="2684170" cy="449599"/>
          </a:xfrm>
          <a:prstGeom prst="rect">
            <a:avLst/>
          </a:prstGeom>
          <a:noFill/>
          <a:ln/>
        </p:spPr>
        <p:txBody>
          <a:bodyPr wrap="square" lIns="25400" tIns="25400" rIns="25400" bIns="25400" rtlCol="0" anchor="t">
            <a:normAutofit/>
          </a:bodyPr>
          <a:lstStyle/>
          <a:p>
            <a:pPr marL="0" indent="0" algn="ctr">
              <a:lnSpc>
                <a:spcPct val="92160"/>
              </a:lnSpc>
              <a:buNone/>
            </a:pPr>
            <a:r>
              <a:rPr lang="en-US" sz="2700" b="1" dirty="0">
                <a:solidFill>
                  <a:srgbClr val="FFFFFF"/>
                </a:solidFill>
                <a:latin typeface="Oracle Sans Tab" pitchFamily="34" charset="0"/>
                <a:ea typeface="Oracle Sans Tab" pitchFamily="34" charset="-122"/>
                <a:cs typeface="Oracle Sans Tab" pitchFamily="34" charset="-120"/>
              </a:rPr>
              <a:t>Model</a:t>
            </a:r>
            <a:endParaRPr lang="en-US" sz="2700" dirty="0"/>
          </a:p>
        </p:txBody>
      </p:sp>
      <p:sp>
        <p:nvSpPr>
          <p:cNvPr id="13" name="Text 10"/>
          <p:cNvSpPr/>
          <p:nvPr/>
        </p:nvSpPr>
        <p:spPr>
          <a:xfrm>
            <a:off x="6545529" y="3381861"/>
            <a:ext cx="693372" cy="586697"/>
          </a:xfrm>
          <a:prstGeom prst="rect">
            <a:avLst/>
          </a:prstGeom>
          <a:noFill/>
          <a:ln/>
        </p:spPr>
        <p:txBody>
          <a:bodyPr wrap="square" lIns="25400" tIns="25400" rIns="25400" bIns="25400" rtlCol="0" anchor="t">
            <a:normAutofit/>
          </a:bodyPr>
          <a:lstStyle/>
          <a:p>
            <a:pPr marL="0" indent="0" algn="ctr">
              <a:lnSpc>
                <a:spcPct val="92160"/>
              </a:lnSpc>
              <a:buNone/>
            </a:pPr>
            <a:r>
              <a:rPr lang="en-US" sz="3600" b="1" dirty="0">
                <a:solidFill>
                  <a:srgbClr val="FFFFFF"/>
                </a:solidFill>
                <a:latin typeface="Oracle Sans Tab" pitchFamily="34" charset="0"/>
                <a:ea typeface="Oracle Sans Tab" pitchFamily="34" charset="-122"/>
                <a:cs typeface="Oracle Sans Tab" pitchFamily="34" charset="-120"/>
              </a:rPr>
              <a:t>+</a:t>
            </a:r>
            <a:endParaRPr lang="en-US" sz="3600" dirty="0"/>
          </a:p>
        </p:txBody>
      </p:sp>
      <p:sp>
        <p:nvSpPr>
          <p:cNvPr id="14" name="Shape 11"/>
          <p:cNvSpPr/>
          <p:nvPr/>
        </p:nvSpPr>
        <p:spPr>
          <a:xfrm>
            <a:off x="7406628" y="3025138"/>
            <a:ext cx="9920272" cy="1262042"/>
          </a:xfrm>
          <a:prstGeom prst="roundRect">
            <a:avLst>
              <a:gd name="adj" fmla="val 7623"/>
            </a:avLst>
          </a:prstGeom>
          <a:solidFill>
            <a:srgbClr val="C74634"/>
          </a:solidFill>
          <a:ln w="16536">
            <a:solidFill>
              <a:srgbClr val="FD6953"/>
            </a:solidFill>
            <a:prstDash val="solid"/>
          </a:ln>
        </p:spPr>
        <p:txBody>
          <a:bodyPr/>
          <a:lstStyle/>
          <a:p>
            <a:endParaRPr lang="en-US"/>
          </a:p>
        </p:txBody>
      </p:sp>
      <p:sp>
        <p:nvSpPr>
          <p:cNvPr id="15" name="Text 12"/>
          <p:cNvSpPr/>
          <p:nvPr/>
        </p:nvSpPr>
        <p:spPr>
          <a:xfrm>
            <a:off x="7257823" y="3450384"/>
            <a:ext cx="10217881" cy="449599"/>
          </a:xfrm>
          <a:prstGeom prst="rect">
            <a:avLst/>
          </a:prstGeom>
          <a:noFill/>
          <a:ln/>
        </p:spPr>
        <p:txBody>
          <a:bodyPr wrap="square" lIns="25400" tIns="25400" rIns="25400" bIns="25400" rtlCol="0" anchor="t">
            <a:normAutofit/>
          </a:bodyPr>
          <a:lstStyle/>
          <a:p>
            <a:pPr marL="0" indent="0" algn="ctr">
              <a:lnSpc>
                <a:spcPct val="92160"/>
              </a:lnSpc>
              <a:buNone/>
            </a:pPr>
            <a:r>
              <a:rPr lang="en-US" sz="2700" b="1" dirty="0">
                <a:solidFill>
                  <a:srgbClr val="FFFFFF"/>
                </a:solidFill>
                <a:latin typeface="Oracle Sans Tab" pitchFamily="34" charset="0"/>
                <a:ea typeface="Oracle Sans Tab" pitchFamily="34" charset="-122"/>
                <a:cs typeface="Oracle Sans Tab" pitchFamily="34" charset="-120"/>
              </a:rPr>
              <a:t>Harness</a:t>
            </a:r>
            <a:endParaRPr lang="en-US" sz="2700" dirty="0"/>
          </a:p>
        </p:txBody>
      </p:sp>
      <p:sp>
        <p:nvSpPr>
          <p:cNvPr id="16" name="Shape 13"/>
          <p:cNvSpPr/>
          <p:nvPr/>
        </p:nvSpPr>
        <p:spPr>
          <a:xfrm rot="5400000">
            <a:off x="4702429" y="4808776"/>
            <a:ext cx="1066800" cy="26458"/>
          </a:xfrm>
          <a:prstGeom prst="rect">
            <a:avLst/>
          </a:prstGeom>
          <a:solidFill>
            <a:srgbClr val="FFFFFF">
              <a:alpha val="45000"/>
            </a:srgbClr>
          </a:solidFill>
          <a:ln/>
        </p:spPr>
        <p:txBody>
          <a:bodyPr/>
          <a:lstStyle/>
          <a:p>
            <a:endParaRPr lang="en-US"/>
          </a:p>
        </p:txBody>
      </p:sp>
      <p:sp>
        <p:nvSpPr>
          <p:cNvPr id="17" name="Shape 14"/>
          <p:cNvSpPr/>
          <p:nvPr/>
        </p:nvSpPr>
        <p:spPr>
          <a:xfrm rot="5400000">
            <a:off x="5158703" y="4269982"/>
            <a:ext cx="125677" cy="161925"/>
          </a:xfrm>
          <a:prstGeom prst="rect">
            <a:avLst/>
          </a:prstGeom>
          <a:solidFill>
            <a:srgbClr val="FFFFFF">
              <a:alpha val="45000"/>
            </a:srgbClr>
          </a:solidFill>
          <a:ln/>
        </p:spPr>
        <p:txBody>
          <a:bodyPr/>
          <a:lstStyle/>
          <a:p>
            <a:endParaRPr lang="en-US"/>
          </a:p>
        </p:txBody>
      </p:sp>
      <p:sp>
        <p:nvSpPr>
          <p:cNvPr id="18" name="Shape 15"/>
          <p:cNvSpPr/>
          <p:nvPr/>
        </p:nvSpPr>
        <p:spPr>
          <a:xfrm>
            <a:off x="3909012" y="5192034"/>
            <a:ext cx="2605991" cy="1234395"/>
          </a:xfrm>
          <a:prstGeom prst="roundRect">
            <a:avLst>
              <a:gd name="adj" fmla="val 779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19" name="Image 1" descr="preencoded.png"/>
          <p:cNvPicPr>
            <a:picLocks noChangeAspect="1"/>
          </p:cNvPicPr>
          <p:nvPr/>
        </p:nvPicPr>
        <p:blipFill>
          <a:blip r:embed="rId4"/>
          <a:srcRect/>
          <a:stretch/>
        </p:blipFill>
        <p:spPr>
          <a:xfrm>
            <a:off x="4937735" y="5370163"/>
            <a:ext cx="548597" cy="548597"/>
          </a:xfrm>
          <a:prstGeom prst="rect">
            <a:avLst/>
          </a:prstGeom>
        </p:spPr>
      </p:pic>
      <p:sp>
        <p:nvSpPr>
          <p:cNvPr id="20" name="Text 16"/>
          <p:cNvSpPr/>
          <p:nvPr/>
        </p:nvSpPr>
        <p:spPr>
          <a:xfrm>
            <a:off x="3869922" y="6009245"/>
            <a:ext cx="2684170" cy="323819"/>
          </a:xfrm>
          <a:prstGeom prst="rect">
            <a:avLst/>
          </a:prstGeom>
          <a:noFill/>
          <a:ln/>
        </p:spPr>
        <p:txBody>
          <a:bodyPr wrap="square" lIns="25400" tIns="25400" rIns="25400" bIns="25400" rtlCol="0" anchor="t">
            <a:normAutofit/>
          </a:bodyPr>
          <a:lstStyle/>
          <a:p>
            <a:pPr marL="0" indent="0" algn="ctr">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Reasoning</a:t>
            </a:r>
            <a:endParaRPr lang="en-US" sz="1875" dirty="0"/>
          </a:p>
        </p:txBody>
      </p:sp>
      <p:sp>
        <p:nvSpPr>
          <p:cNvPr id="21" name="Shape 17"/>
          <p:cNvSpPr/>
          <p:nvPr/>
        </p:nvSpPr>
        <p:spPr>
          <a:xfrm rot="5400000">
            <a:off x="8268620" y="4808776"/>
            <a:ext cx="1066800" cy="26458"/>
          </a:xfrm>
          <a:prstGeom prst="rect">
            <a:avLst/>
          </a:prstGeom>
          <a:solidFill>
            <a:srgbClr val="FD6953"/>
          </a:solidFill>
          <a:ln/>
        </p:spPr>
        <p:txBody>
          <a:bodyPr/>
          <a:lstStyle/>
          <a:p>
            <a:endParaRPr lang="en-US"/>
          </a:p>
        </p:txBody>
      </p:sp>
      <p:sp>
        <p:nvSpPr>
          <p:cNvPr id="22" name="Shape 18"/>
          <p:cNvSpPr/>
          <p:nvPr/>
        </p:nvSpPr>
        <p:spPr>
          <a:xfrm rot="5400000">
            <a:off x="8724893" y="4269982"/>
            <a:ext cx="125677" cy="161925"/>
          </a:xfrm>
          <a:prstGeom prst="rect">
            <a:avLst/>
          </a:prstGeom>
          <a:solidFill>
            <a:srgbClr val="FD6953"/>
          </a:solidFill>
          <a:ln/>
        </p:spPr>
        <p:txBody>
          <a:bodyPr/>
          <a:lstStyle/>
          <a:p>
            <a:endParaRPr lang="en-US"/>
          </a:p>
        </p:txBody>
      </p:sp>
      <p:sp>
        <p:nvSpPr>
          <p:cNvPr id="23" name="Shape 19"/>
          <p:cNvSpPr/>
          <p:nvPr/>
        </p:nvSpPr>
        <p:spPr>
          <a:xfrm>
            <a:off x="7406628" y="5192034"/>
            <a:ext cx="2743192" cy="1234395"/>
          </a:xfrm>
          <a:prstGeom prst="roundRect">
            <a:avLst>
              <a:gd name="adj" fmla="val 779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24" name="Image 2" descr="preencoded.png"/>
          <p:cNvPicPr>
            <a:picLocks noChangeAspect="1"/>
          </p:cNvPicPr>
          <p:nvPr/>
        </p:nvPicPr>
        <p:blipFill>
          <a:blip r:embed="rId5"/>
          <a:srcRect/>
          <a:stretch/>
        </p:blipFill>
        <p:spPr>
          <a:xfrm>
            <a:off x="8503873" y="5370163"/>
            <a:ext cx="548597" cy="548597"/>
          </a:xfrm>
          <a:prstGeom prst="rect">
            <a:avLst/>
          </a:prstGeom>
        </p:spPr>
      </p:pic>
      <p:sp>
        <p:nvSpPr>
          <p:cNvPr id="25" name="Text 20"/>
          <p:cNvSpPr/>
          <p:nvPr/>
        </p:nvSpPr>
        <p:spPr>
          <a:xfrm>
            <a:off x="7365480" y="6009245"/>
            <a:ext cx="2825487" cy="323819"/>
          </a:xfrm>
          <a:prstGeom prst="rect">
            <a:avLst/>
          </a:prstGeom>
          <a:noFill/>
          <a:ln/>
        </p:spPr>
        <p:txBody>
          <a:bodyPr wrap="square" lIns="25400" tIns="25400" rIns="25400" bIns="25400" rtlCol="0" anchor="t">
            <a:normAutofit/>
          </a:bodyPr>
          <a:lstStyle/>
          <a:p>
            <a:pPr marL="0" indent="0" algn="ctr">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Memory</a:t>
            </a:r>
            <a:endParaRPr lang="en-US" sz="1875" dirty="0"/>
          </a:p>
        </p:txBody>
      </p:sp>
      <p:sp>
        <p:nvSpPr>
          <p:cNvPr id="26" name="Shape 21"/>
          <p:cNvSpPr/>
          <p:nvPr/>
        </p:nvSpPr>
        <p:spPr>
          <a:xfrm rot="5400000">
            <a:off x="11857651" y="4808776"/>
            <a:ext cx="1066800" cy="26458"/>
          </a:xfrm>
          <a:prstGeom prst="rect">
            <a:avLst/>
          </a:prstGeom>
          <a:solidFill>
            <a:srgbClr val="FD6953"/>
          </a:solidFill>
          <a:ln/>
        </p:spPr>
        <p:txBody>
          <a:bodyPr/>
          <a:lstStyle/>
          <a:p>
            <a:endParaRPr lang="en-US"/>
          </a:p>
        </p:txBody>
      </p:sp>
      <p:sp>
        <p:nvSpPr>
          <p:cNvPr id="27" name="Shape 22"/>
          <p:cNvSpPr/>
          <p:nvPr/>
        </p:nvSpPr>
        <p:spPr>
          <a:xfrm rot="5400000">
            <a:off x="12313925" y="4269982"/>
            <a:ext cx="125677" cy="161925"/>
          </a:xfrm>
          <a:prstGeom prst="rect">
            <a:avLst/>
          </a:prstGeom>
          <a:solidFill>
            <a:srgbClr val="FD6953"/>
          </a:solidFill>
          <a:ln/>
        </p:spPr>
        <p:txBody>
          <a:bodyPr/>
          <a:lstStyle/>
          <a:p>
            <a:endParaRPr lang="en-US"/>
          </a:p>
        </p:txBody>
      </p:sp>
      <p:sp>
        <p:nvSpPr>
          <p:cNvPr id="28" name="Shape 23"/>
          <p:cNvSpPr/>
          <p:nvPr/>
        </p:nvSpPr>
        <p:spPr>
          <a:xfrm>
            <a:off x="10995659" y="5192034"/>
            <a:ext cx="2743192" cy="1234395"/>
          </a:xfrm>
          <a:prstGeom prst="roundRect">
            <a:avLst>
              <a:gd name="adj" fmla="val 779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29" name="Image 3" descr="preencoded.png"/>
          <p:cNvPicPr>
            <a:picLocks noChangeAspect="1"/>
          </p:cNvPicPr>
          <p:nvPr/>
        </p:nvPicPr>
        <p:blipFill>
          <a:blip r:embed="rId6"/>
          <a:srcRect/>
          <a:stretch/>
        </p:blipFill>
        <p:spPr>
          <a:xfrm>
            <a:off x="12092905" y="5370163"/>
            <a:ext cx="548597" cy="548597"/>
          </a:xfrm>
          <a:prstGeom prst="rect">
            <a:avLst/>
          </a:prstGeom>
        </p:spPr>
      </p:pic>
      <p:sp>
        <p:nvSpPr>
          <p:cNvPr id="30" name="Text 24"/>
          <p:cNvSpPr/>
          <p:nvPr/>
        </p:nvSpPr>
        <p:spPr>
          <a:xfrm>
            <a:off x="10954511" y="6009245"/>
            <a:ext cx="2825487" cy="323819"/>
          </a:xfrm>
          <a:prstGeom prst="rect">
            <a:avLst/>
          </a:prstGeom>
          <a:noFill/>
          <a:ln/>
        </p:spPr>
        <p:txBody>
          <a:bodyPr wrap="square" lIns="25400" tIns="25400" rIns="25400" bIns="25400" rtlCol="0" anchor="t">
            <a:normAutofit/>
          </a:bodyPr>
          <a:lstStyle/>
          <a:p>
            <a:pPr marL="0" indent="0" algn="ctr">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Tool use</a:t>
            </a:r>
            <a:endParaRPr lang="en-US" sz="1875" dirty="0"/>
          </a:p>
        </p:txBody>
      </p:sp>
      <p:sp>
        <p:nvSpPr>
          <p:cNvPr id="31" name="Shape 25"/>
          <p:cNvSpPr/>
          <p:nvPr/>
        </p:nvSpPr>
        <p:spPr>
          <a:xfrm rot="5400000">
            <a:off x="15446630" y="4808776"/>
            <a:ext cx="1066800" cy="26458"/>
          </a:xfrm>
          <a:prstGeom prst="rect">
            <a:avLst/>
          </a:prstGeom>
          <a:solidFill>
            <a:srgbClr val="FD6953"/>
          </a:solidFill>
          <a:ln/>
        </p:spPr>
        <p:txBody>
          <a:bodyPr/>
          <a:lstStyle/>
          <a:p>
            <a:endParaRPr lang="en-US"/>
          </a:p>
        </p:txBody>
      </p:sp>
      <p:sp>
        <p:nvSpPr>
          <p:cNvPr id="32" name="Shape 26"/>
          <p:cNvSpPr/>
          <p:nvPr/>
        </p:nvSpPr>
        <p:spPr>
          <a:xfrm rot="5400000">
            <a:off x="15902905" y="4269982"/>
            <a:ext cx="125677" cy="161925"/>
          </a:xfrm>
          <a:prstGeom prst="rect">
            <a:avLst/>
          </a:prstGeom>
          <a:solidFill>
            <a:srgbClr val="FD6953"/>
          </a:solidFill>
          <a:ln/>
        </p:spPr>
        <p:txBody>
          <a:bodyPr/>
          <a:lstStyle/>
          <a:p>
            <a:endParaRPr lang="en-US"/>
          </a:p>
        </p:txBody>
      </p:sp>
      <p:sp>
        <p:nvSpPr>
          <p:cNvPr id="33" name="Shape 27"/>
          <p:cNvSpPr/>
          <p:nvPr/>
        </p:nvSpPr>
        <p:spPr>
          <a:xfrm>
            <a:off x="14584639" y="5192034"/>
            <a:ext cx="2743192" cy="1234395"/>
          </a:xfrm>
          <a:prstGeom prst="roundRect">
            <a:avLst>
              <a:gd name="adj" fmla="val 779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34" name="Image 4" descr="preencoded.png"/>
          <p:cNvPicPr>
            <a:picLocks noChangeAspect="1"/>
          </p:cNvPicPr>
          <p:nvPr/>
        </p:nvPicPr>
        <p:blipFill>
          <a:blip r:embed="rId7"/>
          <a:srcRect/>
          <a:stretch/>
        </p:blipFill>
        <p:spPr>
          <a:xfrm>
            <a:off x="15681936" y="5370163"/>
            <a:ext cx="548597" cy="548597"/>
          </a:xfrm>
          <a:prstGeom prst="rect">
            <a:avLst/>
          </a:prstGeom>
        </p:spPr>
      </p:pic>
      <p:sp>
        <p:nvSpPr>
          <p:cNvPr id="35" name="Text 28"/>
          <p:cNvSpPr/>
          <p:nvPr/>
        </p:nvSpPr>
        <p:spPr>
          <a:xfrm>
            <a:off x="14543491" y="6009245"/>
            <a:ext cx="2825487" cy="323819"/>
          </a:xfrm>
          <a:prstGeom prst="rect">
            <a:avLst/>
          </a:prstGeom>
          <a:noFill/>
          <a:ln/>
        </p:spPr>
        <p:txBody>
          <a:bodyPr wrap="square" lIns="25400" tIns="25400" rIns="25400" bIns="25400" rtlCol="0" anchor="t">
            <a:normAutofit/>
          </a:bodyPr>
          <a:lstStyle/>
          <a:p>
            <a:pPr marL="0" indent="0" algn="ctr">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Perception</a:t>
            </a:r>
            <a:endParaRPr lang="en-US" sz="1875" dirty="0"/>
          </a:p>
        </p:txBody>
      </p:sp>
      <p:sp>
        <p:nvSpPr>
          <p:cNvPr id="36" name="Text 29"/>
          <p:cNvSpPr/>
          <p:nvPr/>
        </p:nvSpPr>
        <p:spPr>
          <a:xfrm>
            <a:off x="3198092" y="6511230"/>
            <a:ext cx="4073617" cy="266665"/>
          </a:xfrm>
          <a:prstGeom prst="rect">
            <a:avLst/>
          </a:prstGeom>
          <a:noFill/>
          <a:ln/>
        </p:spPr>
        <p:txBody>
          <a:bodyPr wrap="square" lIns="25400" tIns="25400" rIns="25400" bIns="25400" rtlCol="0" anchor="t">
            <a:normAutofit/>
          </a:bodyPr>
          <a:lstStyle/>
          <a:p>
            <a:pPr marL="0" indent="0" algn="ctr">
              <a:lnSpc>
                <a:spcPct val="92160"/>
              </a:lnSpc>
              <a:buNone/>
            </a:pPr>
            <a:r>
              <a:rPr lang="en-US" sz="1500" i="1" dirty="0">
                <a:solidFill>
                  <a:srgbClr val="C3D7DC"/>
                </a:solidFill>
                <a:latin typeface="Oracle Sans Tab" pitchFamily="34" charset="0"/>
                <a:ea typeface="Oracle Sans Tab" pitchFamily="34" charset="-122"/>
                <a:cs typeface="Oracle Sans Tab" pitchFamily="34" charset="-120"/>
              </a:rPr>
              <a:t>frontier AI labs · the part you rent</a:t>
            </a:r>
            <a:endParaRPr lang="en-US" sz="1500" dirty="0"/>
          </a:p>
        </p:txBody>
      </p:sp>
      <p:sp>
        <p:nvSpPr>
          <p:cNvPr id="37" name="Text 30"/>
          <p:cNvSpPr/>
          <p:nvPr/>
        </p:nvSpPr>
        <p:spPr>
          <a:xfrm>
            <a:off x="6933455" y="6511230"/>
            <a:ext cx="10912300" cy="266665"/>
          </a:xfrm>
          <a:prstGeom prst="rect">
            <a:avLst/>
          </a:prstGeom>
          <a:noFill/>
          <a:ln/>
        </p:spPr>
        <p:txBody>
          <a:bodyPr wrap="square" lIns="25400" tIns="25400" rIns="25400" bIns="25400" rtlCol="0" anchor="t">
            <a:normAutofit/>
          </a:bodyPr>
          <a:lstStyle/>
          <a:p>
            <a:pPr marL="0" indent="0" algn="ctr">
              <a:lnSpc>
                <a:spcPct val="92160"/>
              </a:lnSpc>
              <a:buNone/>
            </a:pPr>
            <a:r>
              <a:rPr lang="en-US" sz="1500" i="1" dirty="0">
                <a:solidFill>
                  <a:srgbClr val="FD6953"/>
                </a:solidFill>
                <a:latin typeface="Oracle Sans Tab" pitchFamily="34" charset="0"/>
                <a:ea typeface="Oracle Sans Tab" pitchFamily="34" charset="-122"/>
                <a:cs typeface="Oracle Sans Tab" pitchFamily="34" charset="-120"/>
              </a:rPr>
              <a:t>agent engineer / you · the harness you build and own</a:t>
            </a:r>
            <a:endParaRPr lang="en-US" sz="1500" dirty="0"/>
          </a:p>
        </p:txBody>
      </p:sp>
      <p:sp>
        <p:nvSpPr>
          <p:cNvPr id="38" name="Shape 31"/>
          <p:cNvSpPr/>
          <p:nvPr/>
        </p:nvSpPr>
        <p:spPr>
          <a:xfrm>
            <a:off x="1005830" y="6958955"/>
            <a:ext cx="16367735" cy="1302969"/>
          </a:xfrm>
          <a:prstGeom prst="roundRect">
            <a:avLst>
              <a:gd name="adj" fmla="val 7383"/>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39" name="Text 32"/>
          <p:cNvSpPr/>
          <p:nvPr/>
        </p:nvSpPr>
        <p:spPr>
          <a:xfrm>
            <a:off x="1554479" y="7337846"/>
            <a:ext cx="15727592" cy="583286"/>
          </a:xfrm>
          <a:prstGeom prst="rect">
            <a:avLst/>
          </a:prstGeom>
          <a:noFill/>
          <a:ln/>
        </p:spPr>
        <p:txBody>
          <a:bodyPr wrap="square" lIns="25400" tIns="25400" rIns="25400" bIns="25400" rtlCol="0" anchor="t">
            <a:normAutofit/>
          </a:bodyPr>
          <a:lstStyle/>
          <a:p>
            <a:pPr marL="0" indent="0" algn="l">
              <a:lnSpc>
                <a:spcPct val="81408"/>
              </a:lnSpc>
              <a:buNone/>
            </a:pPr>
            <a:r>
              <a:rPr lang="en-US" sz="2025" b="1" dirty="0">
                <a:solidFill>
                  <a:srgbClr val="FD6953"/>
                </a:solidFill>
                <a:latin typeface="Oracle Sans Tab" pitchFamily="34" charset="0"/>
                <a:ea typeface="Oracle Sans Tab" pitchFamily="34" charset="-122"/>
                <a:cs typeface="Oracle Sans Tab" pitchFamily="34" charset="-120"/>
              </a:rPr>
              <a:t>Reasoning is the part you rent. </a:t>
            </a:r>
            <a:r>
              <a:rPr lang="en-US" sz="2025" dirty="0">
                <a:solidFill>
                  <a:srgbClr val="FFFFFF"/>
                </a:solidFill>
                <a:latin typeface="Oracle Sans Tab" pitchFamily="34" charset="0"/>
                <a:ea typeface="Oracle Sans Tab" pitchFamily="34" charset="-122"/>
                <a:cs typeface="Oracle Sans Tab" pitchFamily="34" charset="-120"/>
              </a:rPr>
              <a:t>Memory, tools and perception are the harness you build, along with the other surfaces that support them (prompts, retrieval, sandbox, observability, and more).</a:t>
            </a:r>
            <a:endParaRPr lang="en-US" sz="1200" dirty="0"/>
          </a:p>
        </p:txBody>
      </p:sp>
      <p:sp>
        <p:nvSpPr>
          <p:cNvPr id="40" name="Shape 33"/>
          <p:cNvSpPr/>
          <p:nvPr/>
        </p:nvSpPr>
        <p:spPr>
          <a:xfrm>
            <a:off x="1028671" y="8627742"/>
            <a:ext cx="16367735" cy="1440170"/>
          </a:xfrm>
          <a:prstGeom prst="roundRect">
            <a:avLst>
              <a:gd name="adj" fmla="val 6680"/>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41" name="Text 34"/>
          <p:cNvSpPr/>
          <p:nvPr/>
        </p:nvSpPr>
        <p:spPr>
          <a:xfrm>
            <a:off x="1577320" y="9083786"/>
            <a:ext cx="15727592" cy="634653"/>
          </a:xfrm>
          <a:prstGeom prst="rect">
            <a:avLst/>
          </a:prstGeom>
          <a:noFill/>
          <a:ln/>
        </p:spPr>
        <p:txBody>
          <a:bodyPr wrap="square" lIns="25400" tIns="25400" rIns="25400" bIns="25400" rtlCol="0" anchor="t">
            <a:normAutofit/>
          </a:bodyPr>
          <a:lstStyle/>
          <a:p>
            <a:pPr marL="0" indent="0" algn="l">
              <a:lnSpc>
                <a:spcPct val="82944"/>
              </a:lnSpc>
              <a:buNone/>
            </a:pPr>
            <a:r>
              <a:rPr lang="en-US" sz="2175" b="1" dirty="0">
                <a:solidFill>
                  <a:srgbClr val="FD6953"/>
                </a:solidFill>
                <a:latin typeface="Oracle Sans Tab" pitchFamily="34" charset="0"/>
                <a:ea typeface="Oracle Sans Tab" pitchFamily="34" charset="-122"/>
                <a:cs typeface="Oracle Sans Tab" pitchFamily="34" charset="-120"/>
              </a:rPr>
              <a:t>Guidance. </a:t>
            </a:r>
            <a:r>
              <a:rPr lang="en-US" sz="2175" dirty="0">
                <a:solidFill>
                  <a:srgbClr val="FFFFFF"/>
                </a:solidFill>
                <a:latin typeface="Oracle Sans Tab" pitchFamily="34" charset="0"/>
                <a:ea typeface="Oracle Sans Tab" pitchFamily="34" charset="-122"/>
                <a:cs typeface="Oracle Sans Tab" pitchFamily="34" charset="-120"/>
              </a:rPr>
              <a:t>A good agent harness produces reliable, predictable output regardless of which model you swap in. Memory, tools, and perception are yours to engineer; reasoning is the part you rent.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HARNESS, LAYER BY LAYER</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SEVEN LAYERS, ONE CONTAINER</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INSIDE THE HARNESS</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We'll dissect it </a:t>
            </a:r>
            <a:r>
              <a:rPr lang="en-US" sz="5100" b="1" i="1" dirty="0">
                <a:solidFill>
                  <a:srgbClr val="FD6953"/>
                </a:solidFill>
                <a:latin typeface="Oracle Sans Tab" pitchFamily="34" charset="0"/>
                <a:ea typeface="Oracle Sans Tab" pitchFamily="34" charset="-122"/>
                <a:cs typeface="Oracle Sans Tab" pitchFamily="34" charset="-120"/>
              </a:rPr>
              <a:t>layer by layer.</a:t>
            </a:r>
            <a:endParaRPr lang="en-US" sz="1200" dirty="0"/>
          </a:p>
        </p:txBody>
      </p:sp>
      <p:sp>
        <p:nvSpPr>
          <p:cNvPr id="8" name="Shape 5"/>
          <p:cNvSpPr/>
          <p:nvPr/>
        </p:nvSpPr>
        <p:spPr>
          <a:xfrm>
            <a:off x="960096" y="3497564"/>
            <a:ext cx="16367735" cy="6172181"/>
          </a:xfrm>
          <a:prstGeom prst="roundRect">
            <a:avLst>
              <a:gd name="adj" fmla="val 2222"/>
            </a:avLst>
          </a:prstGeom>
          <a:solidFill>
            <a:srgbClr val="0B5060"/>
          </a:solidFill>
          <a:ln w="26458">
            <a:solidFill>
              <a:srgbClr val="FD6953"/>
            </a:solidFill>
            <a:prstDash val="solid"/>
          </a:ln>
          <a:effectLst>
            <a:outerShdw blurRad="114300" dist="19050" dir="5400000" algn="bl" rotWithShape="0">
              <a:srgbClr val="000000">
                <a:alpha val="18000"/>
              </a:srgbClr>
            </a:outerShdw>
          </a:effectLst>
        </p:spPr>
        <p:txBody>
          <a:bodyPr/>
          <a:lstStyle/>
          <a:p>
            <a:endParaRPr lang="en-US"/>
          </a:p>
        </p:txBody>
      </p:sp>
      <p:sp>
        <p:nvSpPr>
          <p:cNvPr id="9" name="Shape 6"/>
          <p:cNvSpPr/>
          <p:nvPr/>
        </p:nvSpPr>
        <p:spPr>
          <a:xfrm>
            <a:off x="1440170" y="3497564"/>
            <a:ext cx="3703288" cy="630504"/>
          </a:xfrm>
          <a:prstGeom prst="roundRect">
            <a:avLst>
              <a:gd name="adj" fmla="val 12992"/>
            </a:avLst>
          </a:prstGeom>
          <a:solidFill>
            <a:srgbClr val="C74634"/>
          </a:solidFill>
          <a:ln w="16536">
            <a:solidFill>
              <a:srgbClr val="FD6953"/>
            </a:solidFill>
            <a:prstDash val="solid"/>
          </a:ln>
        </p:spPr>
        <p:txBody>
          <a:bodyPr/>
          <a:lstStyle/>
          <a:p>
            <a:endParaRPr lang="en-US"/>
          </a:p>
        </p:txBody>
      </p:sp>
      <p:sp>
        <p:nvSpPr>
          <p:cNvPr id="10" name="Text 7"/>
          <p:cNvSpPr/>
          <p:nvPr/>
        </p:nvSpPr>
        <p:spPr>
          <a:xfrm>
            <a:off x="1384621" y="3687062"/>
            <a:ext cx="3814387"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AGENT HARNESS</a:t>
            </a:r>
            <a:endParaRPr lang="en-US" sz="1650" dirty="0"/>
          </a:p>
        </p:txBody>
      </p:sp>
      <p:sp>
        <p:nvSpPr>
          <p:cNvPr id="11" name="Text 8"/>
          <p:cNvSpPr/>
          <p:nvPr/>
        </p:nvSpPr>
        <p:spPr>
          <a:xfrm>
            <a:off x="5349234" y="3687062"/>
            <a:ext cx="8476462"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i="1" dirty="0">
                <a:solidFill>
                  <a:srgbClr val="C3D7DC"/>
                </a:solidFill>
                <a:latin typeface="Oracle Sans Tab" pitchFamily="34" charset="0"/>
                <a:ea typeface="Oracle Sans Tab" pitchFamily="34" charset="-122"/>
                <a:cs typeface="Oracle Sans Tab" pitchFamily="34" charset="-120"/>
              </a:rPr>
              <a:t>everything inside is what you build and own</a:t>
            </a:r>
            <a:endParaRPr lang="en-US" sz="1650" dirty="0"/>
          </a:p>
        </p:txBody>
      </p:sp>
      <p:sp>
        <p:nvSpPr>
          <p:cNvPr id="12" name="Shape 9"/>
          <p:cNvSpPr/>
          <p:nvPr/>
        </p:nvSpPr>
        <p:spPr>
          <a:xfrm>
            <a:off x="1440170" y="4375754"/>
            <a:ext cx="15407637" cy="699130"/>
          </a:xfrm>
          <a:prstGeom prst="roundRect">
            <a:avLst>
              <a:gd name="adj" fmla="val 9809"/>
            </a:avLst>
          </a:prstGeom>
          <a:solidFill>
            <a:srgbClr val="04303F"/>
          </a:solidFill>
          <a:ln w="16536">
            <a:solidFill>
              <a:srgbClr val="FFFFFF">
                <a:alpha val="45000"/>
              </a:srgbClr>
            </a:solidFill>
            <a:prstDash val="solid"/>
          </a:ln>
        </p:spPr>
        <p:txBody>
          <a:bodyPr/>
          <a:lstStyle/>
          <a:p>
            <a:endParaRPr lang="en-US"/>
          </a:p>
        </p:txBody>
      </p:sp>
      <p:sp>
        <p:nvSpPr>
          <p:cNvPr id="13" name="Text 10"/>
          <p:cNvSpPr/>
          <p:nvPr/>
        </p:nvSpPr>
        <p:spPr>
          <a:xfrm>
            <a:off x="1714469" y="4402418"/>
            <a:ext cx="761998"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dirty="0">
                <a:solidFill>
                  <a:srgbClr val="FFFFFF"/>
                </a:solidFill>
                <a:latin typeface="Oracle Sans Tab" pitchFamily="34" charset="0"/>
                <a:ea typeface="Oracle Sans Tab" pitchFamily="34" charset="-122"/>
                <a:cs typeface="Oracle Sans Tab" pitchFamily="34" charset="-120"/>
              </a:rPr>
              <a:t>1</a:t>
            </a:r>
            <a:endParaRPr lang="en-US" sz="2400" dirty="0"/>
          </a:p>
        </p:txBody>
      </p:sp>
      <p:sp>
        <p:nvSpPr>
          <p:cNvPr id="14" name="Text 11"/>
          <p:cNvSpPr/>
          <p:nvPr/>
        </p:nvSpPr>
        <p:spPr>
          <a:xfrm>
            <a:off x="2537416" y="4430065"/>
            <a:ext cx="4944603" cy="381025"/>
          </a:xfrm>
          <a:prstGeom prst="rect">
            <a:avLst/>
          </a:prstGeom>
          <a:noFill/>
          <a:ln/>
        </p:spPr>
        <p:txBody>
          <a:bodyPr wrap="square" lIns="25400" tIns="25400" rIns="25400" bIns="25400" rtlCol="0" anchor="t">
            <a:normAutofit/>
          </a:bodyPr>
          <a:lstStyle/>
          <a:p>
            <a:pPr marL="0" indent="0" algn="l">
              <a:lnSpc>
                <a:spcPct val="92160"/>
              </a:lnSpc>
              <a:buNone/>
            </a:pPr>
            <a:r>
              <a:rPr lang="en-US" sz="2250" b="1" dirty="0">
                <a:solidFill>
                  <a:srgbClr val="FFFFFF"/>
                </a:solidFill>
                <a:latin typeface="Oracle Sans Tab" pitchFamily="34" charset="0"/>
                <a:ea typeface="Oracle Sans Tab" pitchFamily="34" charset="-122"/>
                <a:cs typeface="Oracle Sans Tab" pitchFamily="34" charset="-120"/>
              </a:rPr>
              <a:t>Model layer</a:t>
            </a:r>
            <a:endParaRPr lang="en-US" sz="2250" dirty="0"/>
          </a:p>
        </p:txBody>
      </p:sp>
      <p:sp>
        <p:nvSpPr>
          <p:cNvPr id="15" name="Text 12"/>
          <p:cNvSpPr/>
          <p:nvPr/>
        </p:nvSpPr>
        <p:spPr>
          <a:xfrm>
            <a:off x="7543777" y="4457660"/>
            <a:ext cx="9229940"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9FBBC3"/>
                </a:solidFill>
                <a:latin typeface="Oracle Sans Tab" pitchFamily="34" charset="0"/>
                <a:ea typeface="Oracle Sans Tab" pitchFamily="34" charset="-122"/>
                <a:cs typeface="Oracle Sans Tab" pitchFamily="34" charset="-120"/>
              </a:rPr>
              <a:t>the frozen reasoning core the harness is built around</a:t>
            </a:r>
            <a:endParaRPr lang="en-US" sz="1875" dirty="0"/>
          </a:p>
        </p:txBody>
      </p:sp>
      <p:sp>
        <p:nvSpPr>
          <p:cNvPr id="16" name="Text 13"/>
          <p:cNvSpPr/>
          <p:nvPr/>
        </p:nvSpPr>
        <p:spPr>
          <a:xfrm>
            <a:off x="1714469" y="5156791"/>
            <a:ext cx="761998"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dirty="0">
                <a:solidFill>
                  <a:srgbClr val="FD6953"/>
                </a:solidFill>
                <a:latin typeface="Oracle Sans Tab" pitchFamily="34" charset="0"/>
                <a:ea typeface="Oracle Sans Tab" pitchFamily="34" charset="-122"/>
                <a:cs typeface="Oracle Sans Tab" pitchFamily="34" charset="-120"/>
              </a:rPr>
              <a:t>2</a:t>
            </a:r>
            <a:endParaRPr lang="en-US" sz="2400" dirty="0"/>
          </a:p>
        </p:txBody>
      </p:sp>
      <p:sp>
        <p:nvSpPr>
          <p:cNvPr id="17" name="Text 14"/>
          <p:cNvSpPr/>
          <p:nvPr/>
        </p:nvSpPr>
        <p:spPr>
          <a:xfrm>
            <a:off x="2537416" y="5184438"/>
            <a:ext cx="4944603" cy="381025"/>
          </a:xfrm>
          <a:prstGeom prst="rect">
            <a:avLst/>
          </a:prstGeom>
          <a:noFill/>
          <a:ln/>
        </p:spPr>
        <p:txBody>
          <a:bodyPr wrap="square" lIns="25400" tIns="25400" rIns="25400" bIns="25400" rtlCol="0" anchor="t">
            <a:normAutofit/>
          </a:bodyPr>
          <a:lstStyle/>
          <a:p>
            <a:pPr marL="0" indent="0" algn="l">
              <a:lnSpc>
                <a:spcPct val="92160"/>
              </a:lnSpc>
              <a:buNone/>
            </a:pPr>
            <a:r>
              <a:rPr lang="en-US" sz="2250" b="1" dirty="0">
                <a:solidFill>
                  <a:srgbClr val="FFFFFF"/>
                </a:solidFill>
                <a:latin typeface="Oracle Sans Tab" pitchFamily="34" charset="0"/>
                <a:ea typeface="Oracle Sans Tab" pitchFamily="34" charset="-122"/>
                <a:cs typeface="Oracle Sans Tab" pitchFamily="34" charset="-120"/>
              </a:rPr>
              <a:t>Storage layer</a:t>
            </a:r>
            <a:endParaRPr lang="en-US" sz="2250" dirty="0"/>
          </a:p>
        </p:txBody>
      </p:sp>
      <p:sp>
        <p:nvSpPr>
          <p:cNvPr id="18" name="Text 15"/>
          <p:cNvSpPr/>
          <p:nvPr/>
        </p:nvSpPr>
        <p:spPr>
          <a:xfrm>
            <a:off x="7543777" y="5212033"/>
            <a:ext cx="9229940"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where memory physically lives: files and the database</a:t>
            </a:r>
            <a:endParaRPr lang="en-US" sz="1875" dirty="0"/>
          </a:p>
        </p:txBody>
      </p:sp>
      <p:sp>
        <p:nvSpPr>
          <p:cNvPr id="19" name="Text 16"/>
          <p:cNvSpPr/>
          <p:nvPr/>
        </p:nvSpPr>
        <p:spPr>
          <a:xfrm>
            <a:off x="1714469" y="5911215"/>
            <a:ext cx="761998"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dirty="0">
                <a:solidFill>
                  <a:srgbClr val="FD6953"/>
                </a:solidFill>
                <a:latin typeface="Oracle Sans Tab" pitchFamily="34" charset="0"/>
                <a:ea typeface="Oracle Sans Tab" pitchFamily="34" charset="-122"/>
                <a:cs typeface="Oracle Sans Tab" pitchFamily="34" charset="-120"/>
              </a:rPr>
              <a:t>3</a:t>
            </a:r>
            <a:endParaRPr lang="en-US" sz="2400" dirty="0"/>
          </a:p>
        </p:txBody>
      </p:sp>
      <p:sp>
        <p:nvSpPr>
          <p:cNvPr id="20" name="Text 17"/>
          <p:cNvSpPr/>
          <p:nvPr/>
        </p:nvSpPr>
        <p:spPr>
          <a:xfrm>
            <a:off x="2537416" y="5938810"/>
            <a:ext cx="4944603" cy="381025"/>
          </a:xfrm>
          <a:prstGeom prst="rect">
            <a:avLst/>
          </a:prstGeom>
          <a:noFill/>
          <a:ln/>
        </p:spPr>
        <p:txBody>
          <a:bodyPr wrap="square" lIns="25400" tIns="25400" rIns="25400" bIns="25400" rtlCol="0" anchor="t">
            <a:normAutofit/>
          </a:bodyPr>
          <a:lstStyle/>
          <a:p>
            <a:pPr marL="0" indent="0" algn="l">
              <a:lnSpc>
                <a:spcPct val="92160"/>
              </a:lnSpc>
              <a:buNone/>
            </a:pPr>
            <a:r>
              <a:rPr lang="en-US" sz="2250" b="1" dirty="0">
                <a:solidFill>
                  <a:srgbClr val="FFFFFF"/>
                </a:solidFill>
                <a:latin typeface="Oracle Sans Tab" pitchFamily="34" charset="0"/>
                <a:ea typeface="Oracle Sans Tab" pitchFamily="34" charset="-122"/>
                <a:cs typeface="Oracle Sans Tab" pitchFamily="34" charset="-120"/>
              </a:rPr>
              <a:t>Encoding &amp; retrieval</a:t>
            </a:r>
            <a:endParaRPr lang="en-US" sz="2250" dirty="0"/>
          </a:p>
        </p:txBody>
      </p:sp>
      <p:sp>
        <p:nvSpPr>
          <p:cNvPr id="21" name="Text 18"/>
          <p:cNvSpPr/>
          <p:nvPr/>
        </p:nvSpPr>
        <p:spPr>
          <a:xfrm>
            <a:off x="7543777" y="5966457"/>
            <a:ext cx="6475084"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turn text into meaning, hand back the slice</a:t>
            </a:r>
            <a:endParaRPr lang="en-US" sz="1875" dirty="0"/>
          </a:p>
        </p:txBody>
      </p:sp>
      <p:sp>
        <p:nvSpPr>
          <p:cNvPr id="22" name="Shape 19"/>
          <p:cNvSpPr/>
          <p:nvPr/>
        </p:nvSpPr>
        <p:spPr>
          <a:xfrm>
            <a:off x="14104617" y="5911215"/>
            <a:ext cx="2674617" cy="493355"/>
          </a:xfrm>
          <a:prstGeom prst="roundRect">
            <a:avLst>
              <a:gd name="adj" fmla="val 13901"/>
            </a:avLst>
          </a:prstGeom>
          <a:solidFill>
            <a:srgbClr val="0B5060"/>
          </a:solidFill>
          <a:ln w="16536">
            <a:solidFill>
              <a:srgbClr val="E0836F"/>
            </a:solidFill>
            <a:prstDash val="solid"/>
          </a:ln>
        </p:spPr>
        <p:txBody>
          <a:bodyPr/>
          <a:lstStyle/>
          <a:p>
            <a:endParaRPr lang="en-US"/>
          </a:p>
        </p:txBody>
      </p:sp>
      <p:sp>
        <p:nvSpPr>
          <p:cNvPr id="23" name="Text 20"/>
          <p:cNvSpPr/>
          <p:nvPr/>
        </p:nvSpPr>
        <p:spPr>
          <a:xfrm>
            <a:off x="13970886" y="6060767"/>
            <a:ext cx="2942079" cy="232352"/>
          </a:xfrm>
          <a:prstGeom prst="rect">
            <a:avLst/>
          </a:prstGeom>
          <a:noFill/>
          <a:ln/>
        </p:spPr>
        <p:txBody>
          <a:bodyPr wrap="square" lIns="25400" tIns="25400" rIns="25400" bIns="25400" rtlCol="0" anchor="t">
            <a:normAutofit/>
          </a:bodyPr>
          <a:lstStyle/>
          <a:p>
            <a:pPr marL="0" indent="0" algn="ctr">
              <a:lnSpc>
                <a:spcPct val="92160"/>
              </a:lnSpc>
              <a:buNone/>
            </a:pPr>
            <a:r>
              <a:rPr lang="en-US" sz="1275" b="1" dirty="0">
                <a:solidFill>
                  <a:srgbClr val="FD6953"/>
                </a:solidFill>
                <a:latin typeface="Oracle Sans Tab" pitchFamily="34" charset="0"/>
                <a:ea typeface="Oracle Sans Tab" pitchFamily="34" charset="-122"/>
                <a:cs typeface="Oracle Sans Tab" pitchFamily="34" charset="-120"/>
              </a:rPr>
              <a:t>memory engineering</a:t>
            </a:r>
            <a:endParaRPr lang="en-US" sz="1275" dirty="0"/>
          </a:p>
        </p:txBody>
      </p:sp>
      <p:sp>
        <p:nvSpPr>
          <p:cNvPr id="24" name="Text 21"/>
          <p:cNvSpPr/>
          <p:nvPr/>
        </p:nvSpPr>
        <p:spPr>
          <a:xfrm>
            <a:off x="1714469" y="6665588"/>
            <a:ext cx="761998"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dirty="0">
                <a:solidFill>
                  <a:srgbClr val="FD6953"/>
                </a:solidFill>
                <a:latin typeface="Oracle Sans Tab" pitchFamily="34" charset="0"/>
                <a:ea typeface="Oracle Sans Tab" pitchFamily="34" charset="-122"/>
                <a:cs typeface="Oracle Sans Tab" pitchFamily="34" charset="-120"/>
              </a:rPr>
              <a:t>4</a:t>
            </a:r>
            <a:endParaRPr lang="en-US" sz="2400" dirty="0"/>
          </a:p>
        </p:txBody>
      </p:sp>
      <p:sp>
        <p:nvSpPr>
          <p:cNvPr id="25" name="Text 22"/>
          <p:cNvSpPr/>
          <p:nvPr/>
        </p:nvSpPr>
        <p:spPr>
          <a:xfrm>
            <a:off x="2537416" y="6693183"/>
            <a:ext cx="4944603" cy="381025"/>
          </a:xfrm>
          <a:prstGeom prst="rect">
            <a:avLst/>
          </a:prstGeom>
          <a:noFill/>
          <a:ln/>
        </p:spPr>
        <p:txBody>
          <a:bodyPr wrap="square" lIns="25400" tIns="25400" rIns="25400" bIns="25400" rtlCol="0" anchor="t">
            <a:normAutofit/>
          </a:bodyPr>
          <a:lstStyle/>
          <a:p>
            <a:pPr marL="0" indent="0" algn="l">
              <a:lnSpc>
                <a:spcPct val="92160"/>
              </a:lnSpc>
              <a:buNone/>
            </a:pPr>
            <a:r>
              <a:rPr lang="en-US" sz="2250" b="1" dirty="0">
                <a:solidFill>
                  <a:srgbClr val="FFFFFF"/>
                </a:solidFill>
                <a:latin typeface="Oracle Sans Tab" pitchFamily="34" charset="0"/>
                <a:ea typeface="Oracle Sans Tab" pitchFamily="34" charset="-122"/>
                <a:cs typeface="Oracle Sans Tab" pitchFamily="34" charset="-120"/>
              </a:rPr>
              <a:t>Memory layer</a:t>
            </a:r>
            <a:endParaRPr lang="en-US" sz="2250" dirty="0"/>
          </a:p>
        </p:txBody>
      </p:sp>
      <p:sp>
        <p:nvSpPr>
          <p:cNvPr id="26" name="Text 23"/>
          <p:cNvSpPr/>
          <p:nvPr/>
        </p:nvSpPr>
        <p:spPr>
          <a:xfrm>
            <a:off x="7543777" y="6720830"/>
            <a:ext cx="6475084"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episodic, semantic, working, procedural</a:t>
            </a:r>
            <a:endParaRPr lang="en-US" sz="1875" dirty="0"/>
          </a:p>
        </p:txBody>
      </p:sp>
      <p:sp>
        <p:nvSpPr>
          <p:cNvPr id="27" name="Shape 24"/>
          <p:cNvSpPr/>
          <p:nvPr/>
        </p:nvSpPr>
        <p:spPr>
          <a:xfrm>
            <a:off x="14104617" y="6665588"/>
            <a:ext cx="2674617" cy="493355"/>
          </a:xfrm>
          <a:prstGeom prst="roundRect">
            <a:avLst>
              <a:gd name="adj" fmla="val 13901"/>
            </a:avLst>
          </a:prstGeom>
          <a:solidFill>
            <a:srgbClr val="0B5060"/>
          </a:solidFill>
          <a:ln w="16536">
            <a:solidFill>
              <a:srgbClr val="E0836F"/>
            </a:solidFill>
            <a:prstDash val="solid"/>
          </a:ln>
        </p:spPr>
        <p:txBody>
          <a:bodyPr/>
          <a:lstStyle/>
          <a:p>
            <a:endParaRPr lang="en-US"/>
          </a:p>
        </p:txBody>
      </p:sp>
      <p:sp>
        <p:nvSpPr>
          <p:cNvPr id="28" name="Text 25"/>
          <p:cNvSpPr/>
          <p:nvPr/>
        </p:nvSpPr>
        <p:spPr>
          <a:xfrm>
            <a:off x="13970886" y="6815139"/>
            <a:ext cx="2942079" cy="232352"/>
          </a:xfrm>
          <a:prstGeom prst="rect">
            <a:avLst/>
          </a:prstGeom>
          <a:noFill/>
          <a:ln/>
        </p:spPr>
        <p:txBody>
          <a:bodyPr wrap="square" lIns="25400" tIns="25400" rIns="25400" bIns="25400" rtlCol="0" anchor="t">
            <a:normAutofit/>
          </a:bodyPr>
          <a:lstStyle/>
          <a:p>
            <a:pPr marL="0" indent="0" algn="ctr">
              <a:lnSpc>
                <a:spcPct val="92160"/>
              </a:lnSpc>
              <a:buNone/>
            </a:pPr>
            <a:r>
              <a:rPr lang="en-US" sz="1275" b="1" dirty="0">
                <a:solidFill>
                  <a:srgbClr val="FD6953"/>
                </a:solidFill>
                <a:latin typeface="Oracle Sans Tab" pitchFamily="34" charset="0"/>
                <a:ea typeface="Oracle Sans Tab" pitchFamily="34" charset="-122"/>
                <a:cs typeface="Oracle Sans Tab" pitchFamily="34" charset="-120"/>
              </a:rPr>
              <a:t>memory engineering</a:t>
            </a:r>
            <a:endParaRPr lang="en-US" sz="1275" dirty="0"/>
          </a:p>
        </p:txBody>
      </p:sp>
      <p:sp>
        <p:nvSpPr>
          <p:cNvPr id="29" name="Text 26"/>
          <p:cNvSpPr/>
          <p:nvPr/>
        </p:nvSpPr>
        <p:spPr>
          <a:xfrm>
            <a:off x="1714469" y="7419960"/>
            <a:ext cx="761998"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dirty="0">
                <a:solidFill>
                  <a:srgbClr val="FD6953"/>
                </a:solidFill>
                <a:latin typeface="Oracle Sans Tab" pitchFamily="34" charset="0"/>
                <a:ea typeface="Oracle Sans Tab" pitchFamily="34" charset="-122"/>
                <a:cs typeface="Oracle Sans Tab" pitchFamily="34" charset="-120"/>
              </a:rPr>
              <a:t>5</a:t>
            </a:r>
            <a:endParaRPr lang="en-US" sz="2400" dirty="0"/>
          </a:p>
        </p:txBody>
      </p:sp>
      <p:sp>
        <p:nvSpPr>
          <p:cNvPr id="30" name="Text 27"/>
          <p:cNvSpPr/>
          <p:nvPr/>
        </p:nvSpPr>
        <p:spPr>
          <a:xfrm>
            <a:off x="2537416" y="7416136"/>
            <a:ext cx="4944603" cy="381025"/>
          </a:xfrm>
          <a:prstGeom prst="rect">
            <a:avLst/>
          </a:prstGeom>
          <a:noFill/>
          <a:ln/>
        </p:spPr>
        <p:txBody>
          <a:bodyPr wrap="square" lIns="25400" tIns="25400" rIns="25400" bIns="25400" rtlCol="0" anchor="t">
            <a:normAutofit/>
          </a:bodyPr>
          <a:lstStyle/>
          <a:p>
            <a:pPr marL="0" indent="0" algn="l">
              <a:lnSpc>
                <a:spcPct val="92160"/>
              </a:lnSpc>
              <a:buNone/>
            </a:pPr>
            <a:r>
              <a:rPr lang="en-US" sz="2250" b="1" dirty="0">
                <a:solidFill>
                  <a:srgbClr val="FFFFFF"/>
                </a:solidFill>
                <a:latin typeface="Oracle Sans Tab" pitchFamily="34" charset="0"/>
                <a:ea typeface="Oracle Sans Tab" pitchFamily="34" charset="-122"/>
                <a:cs typeface="Oracle Sans Tab" pitchFamily="34" charset="-120"/>
              </a:rPr>
              <a:t>Semantic layer</a:t>
            </a:r>
            <a:endParaRPr lang="en-US" sz="2250" dirty="0"/>
          </a:p>
        </p:txBody>
      </p:sp>
      <p:sp>
        <p:nvSpPr>
          <p:cNvPr id="31" name="Text 28"/>
          <p:cNvSpPr/>
          <p:nvPr/>
        </p:nvSpPr>
        <p:spPr>
          <a:xfrm>
            <a:off x="7543777" y="7475202"/>
            <a:ext cx="6475084"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teach the agent what your schema means</a:t>
            </a:r>
            <a:endParaRPr lang="en-US" sz="1875" dirty="0"/>
          </a:p>
        </p:txBody>
      </p:sp>
      <p:sp>
        <p:nvSpPr>
          <p:cNvPr id="32" name="Shape 29"/>
          <p:cNvSpPr/>
          <p:nvPr/>
        </p:nvSpPr>
        <p:spPr>
          <a:xfrm>
            <a:off x="14104617" y="7419960"/>
            <a:ext cx="2674617" cy="493355"/>
          </a:xfrm>
          <a:prstGeom prst="roundRect">
            <a:avLst>
              <a:gd name="adj" fmla="val 13901"/>
            </a:avLst>
          </a:prstGeom>
          <a:solidFill>
            <a:srgbClr val="0B5060"/>
          </a:solidFill>
          <a:ln w="16536">
            <a:solidFill>
              <a:srgbClr val="E0836F"/>
            </a:solidFill>
            <a:prstDash val="solid"/>
          </a:ln>
        </p:spPr>
        <p:txBody>
          <a:bodyPr/>
          <a:lstStyle/>
          <a:p>
            <a:endParaRPr lang="en-US"/>
          </a:p>
        </p:txBody>
      </p:sp>
      <p:sp>
        <p:nvSpPr>
          <p:cNvPr id="33" name="Text 30"/>
          <p:cNvSpPr/>
          <p:nvPr/>
        </p:nvSpPr>
        <p:spPr>
          <a:xfrm>
            <a:off x="13970886" y="7569512"/>
            <a:ext cx="2942079" cy="232352"/>
          </a:xfrm>
          <a:prstGeom prst="rect">
            <a:avLst/>
          </a:prstGeom>
          <a:noFill/>
          <a:ln/>
        </p:spPr>
        <p:txBody>
          <a:bodyPr wrap="square" lIns="25400" tIns="25400" rIns="25400" bIns="25400" rtlCol="0" anchor="t">
            <a:normAutofit/>
          </a:bodyPr>
          <a:lstStyle/>
          <a:p>
            <a:pPr marL="0" indent="0" algn="ctr">
              <a:lnSpc>
                <a:spcPct val="92160"/>
              </a:lnSpc>
              <a:buNone/>
            </a:pPr>
            <a:r>
              <a:rPr lang="en-US" sz="1275" b="1" dirty="0">
                <a:solidFill>
                  <a:srgbClr val="FD6953"/>
                </a:solidFill>
                <a:latin typeface="Oracle Sans Tab" pitchFamily="34" charset="0"/>
                <a:ea typeface="Oracle Sans Tab" pitchFamily="34" charset="-122"/>
                <a:cs typeface="Oracle Sans Tab" pitchFamily="34" charset="-120"/>
              </a:rPr>
              <a:t>memory engineering</a:t>
            </a:r>
            <a:endParaRPr lang="en-US" sz="1275" dirty="0"/>
          </a:p>
        </p:txBody>
      </p:sp>
      <p:sp>
        <p:nvSpPr>
          <p:cNvPr id="34" name="Text 31"/>
          <p:cNvSpPr/>
          <p:nvPr/>
        </p:nvSpPr>
        <p:spPr>
          <a:xfrm>
            <a:off x="1714469" y="8174333"/>
            <a:ext cx="761998"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dirty="0">
                <a:solidFill>
                  <a:srgbClr val="FD6953"/>
                </a:solidFill>
                <a:latin typeface="Oracle Sans Tab" pitchFamily="34" charset="0"/>
                <a:ea typeface="Oracle Sans Tab" pitchFamily="34" charset="-122"/>
                <a:cs typeface="Oracle Sans Tab" pitchFamily="34" charset="-120"/>
              </a:rPr>
              <a:t>6</a:t>
            </a:r>
            <a:endParaRPr lang="en-US" sz="2400" dirty="0"/>
          </a:p>
        </p:txBody>
      </p:sp>
      <p:sp>
        <p:nvSpPr>
          <p:cNvPr id="35" name="Text 32"/>
          <p:cNvSpPr/>
          <p:nvPr/>
        </p:nvSpPr>
        <p:spPr>
          <a:xfrm>
            <a:off x="2537416" y="8201928"/>
            <a:ext cx="4944603" cy="381025"/>
          </a:xfrm>
          <a:prstGeom prst="rect">
            <a:avLst/>
          </a:prstGeom>
          <a:noFill/>
          <a:ln/>
        </p:spPr>
        <p:txBody>
          <a:bodyPr wrap="square" lIns="25400" tIns="25400" rIns="25400" bIns="25400" rtlCol="0" anchor="t">
            <a:normAutofit/>
          </a:bodyPr>
          <a:lstStyle/>
          <a:p>
            <a:pPr marL="0" indent="0" algn="l">
              <a:lnSpc>
                <a:spcPct val="92160"/>
              </a:lnSpc>
              <a:buNone/>
            </a:pPr>
            <a:r>
              <a:rPr lang="en-US" sz="2250" b="1" dirty="0">
                <a:solidFill>
                  <a:srgbClr val="FFFFFF"/>
                </a:solidFill>
                <a:latin typeface="Oracle Sans Tab" pitchFamily="34" charset="0"/>
                <a:ea typeface="Oracle Sans Tab" pitchFamily="34" charset="-122"/>
                <a:cs typeface="Oracle Sans Tab" pitchFamily="34" charset="-120"/>
              </a:rPr>
              <a:t>Agent loop</a:t>
            </a:r>
            <a:endParaRPr lang="en-US" sz="2250" dirty="0"/>
          </a:p>
        </p:txBody>
      </p:sp>
      <p:sp>
        <p:nvSpPr>
          <p:cNvPr id="36" name="Text 33"/>
          <p:cNvSpPr/>
          <p:nvPr/>
        </p:nvSpPr>
        <p:spPr>
          <a:xfrm>
            <a:off x="7543777" y="8229575"/>
            <a:ext cx="9229940"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the typed graph that drives every layer above</a:t>
            </a:r>
            <a:endParaRPr lang="en-US" sz="1875" dirty="0"/>
          </a:p>
        </p:txBody>
      </p:sp>
      <p:sp>
        <p:nvSpPr>
          <p:cNvPr id="37" name="Text 34"/>
          <p:cNvSpPr/>
          <p:nvPr/>
        </p:nvSpPr>
        <p:spPr>
          <a:xfrm>
            <a:off x="1714469" y="8928706"/>
            <a:ext cx="761998"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dirty="0">
                <a:solidFill>
                  <a:srgbClr val="FD6953"/>
                </a:solidFill>
                <a:latin typeface="Oracle Sans Tab" pitchFamily="34" charset="0"/>
                <a:ea typeface="Oracle Sans Tab" pitchFamily="34" charset="-122"/>
                <a:cs typeface="Oracle Sans Tab" pitchFamily="34" charset="-120"/>
              </a:rPr>
              <a:t>7</a:t>
            </a:r>
            <a:endParaRPr lang="en-US" sz="2400" dirty="0"/>
          </a:p>
        </p:txBody>
      </p:sp>
      <p:sp>
        <p:nvSpPr>
          <p:cNvPr id="38" name="Text 35"/>
          <p:cNvSpPr/>
          <p:nvPr/>
        </p:nvSpPr>
        <p:spPr>
          <a:xfrm>
            <a:off x="2537416" y="8956352"/>
            <a:ext cx="4944603" cy="381025"/>
          </a:xfrm>
          <a:prstGeom prst="rect">
            <a:avLst/>
          </a:prstGeom>
          <a:noFill/>
          <a:ln/>
        </p:spPr>
        <p:txBody>
          <a:bodyPr wrap="square" lIns="25400" tIns="25400" rIns="25400" bIns="25400" rtlCol="0" anchor="t">
            <a:normAutofit/>
          </a:bodyPr>
          <a:lstStyle/>
          <a:p>
            <a:pPr marL="0" indent="0" algn="l">
              <a:lnSpc>
                <a:spcPct val="92160"/>
              </a:lnSpc>
              <a:buNone/>
            </a:pPr>
            <a:r>
              <a:rPr lang="en-US" sz="2250" b="1" dirty="0">
                <a:solidFill>
                  <a:srgbClr val="FFFFFF"/>
                </a:solidFill>
                <a:latin typeface="Oracle Sans Tab" pitchFamily="34" charset="0"/>
                <a:ea typeface="Oracle Sans Tab" pitchFamily="34" charset="-122"/>
                <a:cs typeface="Oracle Sans Tab" pitchFamily="34" charset="-120"/>
              </a:rPr>
              <a:t>Context engineering</a:t>
            </a:r>
            <a:endParaRPr lang="en-US" sz="2250" dirty="0"/>
          </a:p>
        </p:txBody>
      </p:sp>
      <p:sp>
        <p:nvSpPr>
          <p:cNvPr id="39" name="Text 36"/>
          <p:cNvSpPr/>
          <p:nvPr/>
        </p:nvSpPr>
        <p:spPr>
          <a:xfrm>
            <a:off x="7543777" y="8983948"/>
            <a:ext cx="9229940"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C3D7DC"/>
                </a:solidFill>
                <a:latin typeface="Oracle Sans Tab" pitchFamily="34" charset="0"/>
                <a:ea typeface="Oracle Sans Tab" pitchFamily="34" charset="-122"/>
                <a:cs typeface="Oracle Sans Tab" pitchFamily="34" charset="-120"/>
              </a:rPr>
              <a:t>keep the window dense as the session grows</a:t>
            </a:r>
            <a:endParaRPr lang="en-US" sz="18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LAYER 1, MODEL</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THE REASONING CORE</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MODEL LAYER</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The frozen </a:t>
            </a:r>
            <a:r>
              <a:rPr lang="en-US" sz="5100" b="1" i="1" dirty="0">
                <a:solidFill>
                  <a:srgbClr val="FD6953"/>
                </a:solidFill>
                <a:latin typeface="Oracle Sans Tab" pitchFamily="34" charset="0"/>
                <a:ea typeface="Oracle Sans Tab" pitchFamily="34" charset="-122"/>
                <a:cs typeface="Oracle Sans Tab" pitchFamily="34" charset="-120"/>
              </a:rPr>
              <a:t>reasoning </a:t>
            </a:r>
            <a:r>
              <a:rPr lang="en-US" sz="5100" b="1" dirty="0">
                <a:solidFill>
                  <a:srgbClr val="FFFFFF"/>
                </a:solidFill>
                <a:latin typeface="Oracle Sans Tab" pitchFamily="34" charset="0"/>
                <a:ea typeface="Oracle Sans Tab" pitchFamily="34" charset="-122"/>
                <a:cs typeface="Oracle Sans Tab" pitchFamily="34" charset="-120"/>
              </a:rPr>
              <a:t>core.</a:t>
            </a:r>
            <a:endParaRPr lang="en-US" sz="1200" dirty="0"/>
          </a:p>
        </p:txBody>
      </p:sp>
      <p:sp>
        <p:nvSpPr>
          <p:cNvPr id="8" name="Text 5"/>
          <p:cNvSpPr/>
          <p:nvPr/>
        </p:nvSpPr>
        <p:spPr>
          <a:xfrm>
            <a:off x="960096" y="3771863"/>
            <a:ext cx="8476462" cy="1955554"/>
          </a:xfrm>
          <a:prstGeom prst="rect">
            <a:avLst/>
          </a:prstGeom>
          <a:noFill/>
          <a:ln/>
        </p:spPr>
        <p:txBody>
          <a:bodyPr wrap="square" lIns="25400" tIns="25400" rIns="25400" bIns="25400" rtlCol="0" anchor="t">
            <a:normAutofit/>
          </a:bodyPr>
          <a:lstStyle/>
          <a:p>
            <a:pPr marL="0" indent="0" algn="l">
              <a:lnSpc>
                <a:spcPct val="93696"/>
              </a:lnSpc>
              <a:buNone/>
            </a:pPr>
            <a:r>
              <a:rPr lang="en-US" sz="2475" dirty="0">
                <a:solidFill>
                  <a:srgbClr val="FFFFFF"/>
                </a:solidFill>
                <a:latin typeface="Oracle Sans Tab" pitchFamily="34" charset="0"/>
                <a:ea typeface="Oracle Sans Tab" pitchFamily="34" charset="-122"/>
                <a:cs typeface="Oracle Sans Tab" pitchFamily="34" charset="-120"/>
              </a:rPr>
              <a:t>The frontier LLM is the reasoning engine, and the one part of the system we do not build. </a:t>
            </a:r>
            <a:r>
              <a:rPr lang="en-US" sz="2475" b="1" dirty="0">
                <a:solidFill>
                  <a:srgbClr val="FFFFFF"/>
                </a:solidFill>
                <a:latin typeface="Oracle Sans Tab" pitchFamily="34" charset="0"/>
                <a:ea typeface="Oracle Sans Tab" pitchFamily="34" charset="-122"/>
                <a:cs typeface="Oracle Sans Tab" pitchFamily="34" charset="-120"/>
              </a:rPr>
              <a:t>It is a frozen utility: identical from one turn to the next. </a:t>
            </a:r>
            <a:r>
              <a:rPr lang="en-US" sz="2475" dirty="0">
                <a:solidFill>
                  <a:srgbClr val="FFFFFF"/>
                </a:solidFill>
                <a:latin typeface="Oracle Sans Tab" pitchFamily="34" charset="0"/>
                <a:ea typeface="Oracle Sans Tab" pitchFamily="34" charset="-122"/>
                <a:cs typeface="Oracle Sans Tab" pitchFamily="34" charset="-120"/>
              </a:rPr>
              <a:t>Everything the harness does is built around it, and everything that makes the agent improve is the harness, not the model.</a:t>
            </a:r>
            <a:endParaRPr lang="en-US" sz="1200" dirty="0"/>
          </a:p>
        </p:txBody>
      </p:sp>
      <p:sp>
        <p:nvSpPr>
          <p:cNvPr id="9" name="Shape 6"/>
          <p:cNvSpPr/>
          <p:nvPr/>
        </p:nvSpPr>
        <p:spPr>
          <a:xfrm>
            <a:off x="9806894" y="3703288"/>
            <a:ext cx="7475202" cy="1371596"/>
          </a:xfrm>
          <a:prstGeom prst="roundRect">
            <a:avLst>
              <a:gd name="adj" fmla="val 7014"/>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0" name="Text 7"/>
          <p:cNvSpPr/>
          <p:nvPr/>
        </p:nvSpPr>
        <p:spPr>
          <a:xfrm>
            <a:off x="10218394" y="3996603"/>
            <a:ext cx="6851823" cy="369553"/>
          </a:xfrm>
          <a:prstGeom prst="rect">
            <a:avLst/>
          </a:prstGeom>
          <a:noFill/>
          <a:ln/>
        </p:spPr>
        <p:txBody>
          <a:bodyPr wrap="square" lIns="25400" tIns="25400" rIns="25400" bIns="25400" rtlCol="0" anchor="t">
            <a:normAutofit/>
          </a:bodyPr>
          <a:lstStyle/>
          <a:p>
            <a:pPr marL="0" indent="0" algn="l">
              <a:lnSpc>
                <a:spcPct val="92160"/>
              </a:lnSpc>
              <a:buNone/>
            </a:pPr>
            <a:r>
              <a:rPr lang="en-US" sz="2175" b="1" dirty="0">
                <a:solidFill>
                  <a:srgbClr val="FFFFFF"/>
                </a:solidFill>
                <a:latin typeface="Oracle Sans Tab" pitchFamily="34" charset="0"/>
                <a:ea typeface="Oracle Sans Tab" pitchFamily="34" charset="-122"/>
                <a:cs typeface="Oracle Sans Tab" pitchFamily="34" charset="-120"/>
              </a:rPr>
              <a:t>Reasoning, out over the network</a:t>
            </a:r>
            <a:endParaRPr lang="en-US" sz="2175" dirty="0"/>
          </a:p>
        </p:txBody>
      </p:sp>
      <p:sp>
        <p:nvSpPr>
          <p:cNvPr id="11" name="Text 8"/>
          <p:cNvSpPr/>
          <p:nvPr/>
        </p:nvSpPr>
        <p:spPr>
          <a:xfrm>
            <a:off x="10218394" y="4454818"/>
            <a:ext cx="6851823" cy="538121"/>
          </a:xfrm>
          <a:prstGeom prst="rect">
            <a:avLst/>
          </a:prstGeom>
          <a:noFill/>
          <a:ln/>
        </p:spPr>
        <p:txBody>
          <a:bodyPr wrap="square" lIns="25400" tIns="25400" rIns="25400" bIns="25400" rtlCol="0" anchor="t">
            <a:normAutofit/>
          </a:bodyPr>
          <a:lstStyle/>
          <a:p>
            <a:pPr marL="0" indent="0" algn="l">
              <a:lnSpc>
                <a:spcPct val="80640"/>
              </a:lnSpc>
              <a:buNone/>
            </a:pPr>
            <a:r>
              <a:rPr lang="en-US" sz="1875" dirty="0">
                <a:solidFill>
                  <a:srgbClr val="C3D7DC"/>
                </a:solidFill>
                <a:latin typeface="Oracle Sans Tab" pitchFamily="34" charset="0"/>
                <a:ea typeface="Oracle Sans Tab" pitchFamily="34" charset="-122"/>
                <a:cs typeface="Oracle Sans Tab" pitchFamily="34" charset="-120"/>
              </a:rPr>
              <a:t>One chat LLM, provider-toggleable, the only outbound call at runtime.</a:t>
            </a:r>
            <a:endParaRPr lang="en-US" sz="1875" dirty="0"/>
          </a:p>
        </p:txBody>
      </p:sp>
      <p:sp>
        <p:nvSpPr>
          <p:cNvPr id="12" name="Shape 9"/>
          <p:cNvSpPr/>
          <p:nvPr/>
        </p:nvSpPr>
        <p:spPr>
          <a:xfrm>
            <a:off x="9806894" y="5458737"/>
            <a:ext cx="7475202" cy="1371596"/>
          </a:xfrm>
          <a:prstGeom prst="roundRect">
            <a:avLst>
              <a:gd name="adj" fmla="val 7014"/>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3" name="Text 10"/>
          <p:cNvSpPr/>
          <p:nvPr/>
        </p:nvSpPr>
        <p:spPr>
          <a:xfrm>
            <a:off x="10218394" y="5753034"/>
            <a:ext cx="6851823" cy="369553"/>
          </a:xfrm>
          <a:prstGeom prst="rect">
            <a:avLst/>
          </a:prstGeom>
          <a:noFill/>
          <a:ln/>
        </p:spPr>
        <p:txBody>
          <a:bodyPr wrap="square" lIns="25400" tIns="25400" rIns="25400" bIns="25400" rtlCol="0" anchor="t">
            <a:normAutofit/>
          </a:bodyPr>
          <a:lstStyle/>
          <a:p>
            <a:pPr marL="0" indent="0" algn="l">
              <a:lnSpc>
                <a:spcPct val="92160"/>
              </a:lnSpc>
              <a:buNone/>
            </a:pPr>
            <a:r>
              <a:rPr lang="en-US" sz="2175" b="1" dirty="0">
                <a:solidFill>
                  <a:srgbClr val="FFFFFF"/>
                </a:solidFill>
                <a:latin typeface="Oracle Sans Tab" pitchFamily="34" charset="0"/>
                <a:ea typeface="Oracle Sans Tab" pitchFamily="34" charset="-122"/>
                <a:cs typeface="Oracle Sans Tab" pitchFamily="34" charset="-120"/>
              </a:rPr>
              <a:t>Two models, in the database</a:t>
            </a:r>
            <a:endParaRPr lang="en-US" sz="2175" dirty="0"/>
          </a:p>
        </p:txBody>
      </p:sp>
      <p:sp>
        <p:nvSpPr>
          <p:cNvPr id="14" name="Text 11"/>
          <p:cNvSpPr/>
          <p:nvPr/>
        </p:nvSpPr>
        <p:spPr>
          <a:xfrm>
            <a:off x="10218394" y="6210267"/>
            <a:ext cx="6851823" cy="538121"/>
          </a:xfrm>
          <a:prstGeom prst="rect">
            <a:avLst/>
          </a:prstGeom>
          <a:noFill/>
          <a:ln/>
        </p:spPr>
        <p:txBody>
          <a:bodyPr wrap="square" lIns="25400" tIns="25400" rIns="25400" bIns="25400" rtlCol="0" anchor="t">
            <a:normAutofit/>
          </a:bodyPr>
          <a:lstStyle/>
          <a:p>
            <a:pPr marL="0" indent="0" algn="l">
              <a:lnSpc>
                <a:spcPct val="80640"/>
              </a:lnSpc>
              <a:buNone/>
            </a:pPr>
            <a:r>
              <a:rPr lang="en-US" sz="1875" dirty="0">
                <a:solidFill>
                  <a:srgbClr val="C3D7DC"/>
                </a:solidFill>
                <a:latin typeface="Oracle Sans Tab" pitchFamily="34" charset="0"/>
                <a:ea typeface="Oracle Sans Tab" pitchFamily="34" charset="-122"/>
                <a:cs typeface="Oracle Sans Tab" pitchFamily="34" charset="-120"/>
              </a:rPr>
              <a:t>An embedder and a cross-encoder reranker run inside the engine (ONNX).</a:t>
            </a:r>
            <a:endParaRPr lang="en-US" sz="1875" dirty="0"/>
          </a:p>
        </p:txBody>
      </p:sp>
      <p:sp>
        <p:nvSpPr>
          <p:cNvPr id="15" name="Shape 12"/>
          <p:cNvSpPr/>
          <p:nvPr/>
        </p:nvSpPr>
        <p:spPr>
          <a:xfrm>
            <a:off x="9806894" y="7214185"/>
            <a:ext cx="7475202" cy="1371596"/>
          </a:xfrm>
          <a:prstGeom prst="roundRect">
            <a:avLst>
              <a:gd name="adj" fmla="val 7014"/>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6" name="Text 13"/>
          <p:cNvSpPr/>
          <p:nvPr/>
        </p:nvSpPr>
        <p:spPr>
          <a:xfrm>
            <a:off x="10218394" y="7508482"/>
            <a:ext cx="6851823" cy="369553"/>
          </a:xfrm>
          <a:prstGeom prst="rect">
            <a:avLst/>
          </a:prstGeom>
          <a:noFill/>
          <a:ln/>
        </p:spPr>
        <p:txBody>
          <a:bodyPr wrap="square" lIns="25400" tIns="25400" rIns="25400" bIns="25400" rtlCol="0" anchor="t">
            <a:normAutofit/>
          </a:bodyPr>
          <a:lstStyle/>
          <a:p>
            <a:pPr marL="0" indent="0" algn="l">
              <a:lnSpc>
                <a:spcPct val="92160"/>
              </a:lnSpc>
              <a:buNone/>
            </a:pPr>
            <a:r>
              <a:rPr lang="en-US" sz="2175" b="1" dirty="0">
                <a:solidFill>
                  <a:srgbClr val="FFFFFF"/>
                </a:solidFill>
                <a:latin typeface="Oracle Sans Tab" pitchFamily="34" charset="0"/>
                <a:ea typeface="Oracle Sans Tab" pitchFamily="34" charset="-122"/>
                <a:cs typeface="Oracle Sans Tab" pitchFamily="34" charset="-120"/>
              </a:rPr>
              <a:t>Frozen, by design</a:t>
            </a:r>
            <a:endParaRPr lang="en-US" sz="2175" dirty="0"/>
          </a:p>
        </p:txBody>
      </p:sp>
      <p:sp>
        <p:nvSpPr>
          <p:cNvPr id="17" name="Text 14"/>
          <p:cNvSpPr/>
          <p:nvPr/>
        </p:nvSpPr>
        <p:spPr>
          <a:xfrm>
            <a:off x="10218394" y="8090720"/>
            <a:ext cx="6851823" cy="288111"/>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875" dirty="0">
                <a:solidFill>
                  <a:srgbClr val="C3D7DC"/>
                </a:solidFill>
                <a:latin typeface="Oracle Sans Tab" pitchFamily="34" charset="0"/>
                <a:ea typeface="Oracle Sans Tab" pitchFamily="34" charset="-122"/>
                <a:cs typeface="Oracle Sans Tab" pitchFamily="34" charset="-120"/>
              </a:rPr>
              <a:t>Weights never change at runtime; the harness is what learns.</a:t>
            </a:r>
            <a:endParaRPr lang="en-US" sz="1875" dirty="0"/>
          </a:p>
        </p:txBody>
      </p:sp>
      <p:sp>
        <p:nvSpPr>
          <p:cNvPr id="18" name="Text 15"/>
          <p:cNvSpPr/>
          <p:nvPr/>
        </p:nvSpPr>
        <p:spPr>
          <a:xfrm>
            <a:off x="960096" y="8898216"/>
            <a:ext cx="16858767"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D6953"/>
                </a:solidFill>
                <a:latin typeface="Oracle Sans Tab" pitchFamily="34" charset="0"/>
                <a:ea typeface="Oracle Sans Tab" pitchFamily="34" charset="-122"/>
                <a:cs typeface="Oracle Sans Tab" pitchFamily="34" charset="-120"/>
              </a:rPr>
              <a:t>On Oracle </a:t>
            </a:r>
            <a:r>
              <a:rPr lang="en-US" sz="2025" dirty="0">
                <a:solidFill>
                  <a:srgbClr val="FFFFFF"/>
                </a:solidFill>
                <a:latin typeface="Oracle Sans Tab" pitchFamily="34" charset="0"/>
                <a:ea typeface="Oracle Sans Tab" pitchFamily="34" charset="-122"/>
                <a:cs typeface="Oracle Sans Tab" pitchFamily="34" charset="-120"/>
              </a:rPr>
              <a:t>reasoning is hosted on OCI Generative AI; embeddings and reranking run in-database.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22">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LAYER 2, STORAGE</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FILESYSTEM VS DATABASE</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STORAGE LAYER</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Where does </a:t>
            </a:r>
            <a:r>
              <a:rPr lang="en-US" sz="5100" b="1" i="1" dirty="0">
                <a:solidFill>
                  <a:srgbClr val="FD6953"/>
                </a:solidFill>
                <a:latin typeface="Oracle Sans Tab" pitchFamily="34" charset="0"/>
                <a:ea typeface="Oracle Sans Tab" pitchFamily="34" charset="-122"/>
                <a:cs typeface="Oracle Sans Tab" pitchFamily="34" charset="-120"/>
              </a:rPr>
              <a:t>memory </a:t>
            </a:r>
            <a:r>
              <a:rPr lang="en-US" sz="5100" b="1" i="1" dirty="0">
                <a:solidFill>
                  <a:srgbClr val="FFFFFF"/>
                </a:solidFill>
                <a:latin typeface="Oracle Sans Tab" pitchFamily="34" charset="0"/>
                <a:ea typeface="Oracle Sans Tab" pitchFamily="34" charset="-122"/>
                <a:cs typeface="Oracle Sans Tab" pitchFamily="34" charset="-120"/>
              </a:rPr>
              <a:t>live?</a:t>
            </a:r>
            <a:endParaRPr lang="en-US" sz="1200" dirty="0"/>
          </a:p>
        </p:txBody>
      </p:sp>
      <p:sp>
        <p:nvSpPr>
          <p:cNvPr id="8" name="Shape 5"/>
          <p:cNvSpPr/>
          <p:nvPr/>
        </p:nvSpPr>
        <p:spPr>
          <a:xfrm>
            <a:off x="960096" y="3771863"/>
            <a:ext cx="7886650" cy="3771863"/>
          </a:xfrm>
          <a:prstGeom prst="roundRect">
            <a:avLst>
              <a:gd name="adj" fmla="val 2551"/>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 name="Text 6"/>
          <p:cNvSpPr/>
          <p:nvPr/>
        </p:nvSpPr>
        <p:spPr>
          <a:xfrm>
            <a:off x="1440170" y="4208115"/>
            <a:ext cx="7134351"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dirty="0">
                <a:solidFill>
                  <a:srgbClr val="FD6953"/>
                </a:solidFill>
                <a:latin typeface="Oracle Sans Tab" pitchFamily="34" charset="0"/>
                <a:ea typeface="Oracle Sans Tab" pitchFamily="34" charset="-122"/>
                <a:cs typeface="Oracle Sans Tab" pitchFamily="34" charset="-120"/>
              </a:rPr>
              <a:t>THE FILESYSTEM CAMP</a:t>
            </a:r>
            <a:endParaRPr lang="en-US" sz="1650" dirty="0"/>
          </a:p>
        </p:txBody>
      </p:sp>
      <p:sp>
        <p:nvSpPr>
          <p:cNvPr id="10" name="Text 7"/>
          <p:cNvSpPr/>
          <p:nvPr/>
        </p:nvSpPr>
        <p:spPr>
          <a:xfrm>
            <a:off x="1440170" y="4797226"/>
            <a:ext cx="7134351"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Matches what the model already knows</a:t>
            </a:r>
            <a:endParaRPr lang="en-US" sz="2025" dirty="0"/>
          </a:p>
        </p:txBody>
      </p:sp>
      <p:sp>
        <p:nvSpPr>
          <p:cNvPr id="11" name="Text 8"/>
          <p:cNvSpPr/>
          <p:nvPr/>
        </p:nvSpPr>
        <p:spPr>
          <a:xfrm>
            <a:off x="1440170" y="5231567"/>
            <a:ext cx="7134351"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read, write, grep are everywhere in training data</a:t>
            </a:r>
            <a:endParaRPr lang="en-US" sz="1725" dirty="0"/>
          </a:p>
        </p:txBody>
      </p:sp>
      <p:sp>
        <p:nvSpPr>
          <p:cNvPr id="12" name="Text 9"/>
          <p:cNvSpPr/>
          <p:nvPr/>
        </p:nvSpPr>
        <p:spPr>
          <a:xfrm>
            <a:off x="1440170" y="5688748"/>
            <a:ext cx="7134351"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One interface over many stores</a:t>
            </a:r>
            <a:endParaRPr lang="en-US" sz="2025" dirty="0"/>
          </a:p>
        </p:txBody>
      </p:sp>
      <p:sp>
        <p:nvSpPr>
          <p:cNvPr id="13" name="Text 10"/>
          <p:cNvSpPr/>
          <p:nvPr/>
        </p:nvSpPr>
        <p:spPr>
          <a:xfrm>
            <a:off x="1440170" y="6123140"/>
            <a:ext cx="7134351"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notes, transcripts, tool output, all read the same way</a:t>
            </a:r>
            <a:endParaRPr lang="en-US" sz="1725" dirty="0"/>
          </a:p>
        </p:txBody>
      </p:sp>
      <p:sp>
        <p:nvSpPr>
          <p:cNvPr id="14" name="Text 11"/>
          <p:cNvSpPr/>
          <p:nvPr/>
        </p:nvSpPr>
        <p:spPr>
          <a:xfrm>
            <a:off x="1440170" y="6580270"/>
            <a:ext cx="7134351"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Externalises state cheaply</a:t>
            </a:r>
            <a:endParaRPr lang="en-US" sz="2025" dirty="0"/>
          </a:p>
        </p:txBody>
      </p:sp>
      <p:sp>
        <p:nvSpPr>
          <p:cNvPr id="15" name="Text 12"/>
          <p:cNvSpPr/>
          <p:nvPr/>
        </p:nvSpPr>
        <p:spPr>
          <a:xfrm>
            <a:off x="1440170" y="7014662"/>
            <a:ext cx="7134351"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write the result, keep a short pointer in context</a:t>
            </a:r>
            <a:endParaRPr lang="en-US" sz="1725" dirty="0"/>
          </a:p>
        </p:txBody>
      </p:sp>
      <p:sp>
        <p:nvSpPr>
          <p:cNvPr id="16" name="Shape 13"/>
          <p:cNvSpPr/>
          <p:nvPr/>
        </p:nvSpPr>
        <p:spPr>
          <a:xfrm>
            <a:off x="9669745" y="3771863"/>
            <a:ext cx="7886650" cy="3771863"/>
          </a:xfrm>
          <a:prstGeom prst="roundRect">
            <a:avLst>
              <a:gd name="adj" fmla="val 2551"/>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7" name="Text 14"/>
          <p:cNvSpPr/>
          <p:nvPr/>
        </p:nvSpPr>
        <p:spPr>
          <a:xfrm>
            <a:off x="10149819" y="4208115"/>
            <a:ext cx="7134351"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dirty="0">
                <a:solidFill>
                  <a:srgbClr val="FD6953"/>
                </a:solidFill>
                <a:latin typeface="Oracle Sans Tab" pitchFamily="34" charset="0"/>
                <a:ea typeface="Oracle Sans Tab" pitchFamily="34" charset="-122"/>
                <a:cs typeface="Oracle Sans Tab" pitchFamily="34" charset="-120"/>
              </a:rPr>
              <a:t>THE DATABASE CAMP</a:t>
            </a:r>
            <a:endParaRPr lang="en-US" sz="1650" dirty="0"/>
          </a:p>
        </p:txBody>
      </p:sp>
      <p:sp>
        <p:nvSpPr>
          <p:cNvPr id="18" name="Text 15"/>
          <p:cNvSpPr/>
          <p:nvPr/>
        </p:nvSpPr>
        <p:spPr>
          <a:xfrm>
            <a:off x="10149819" y="4797226"/>
            <a:ext cx="7134351"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ACID by default</a:t>
            </a:r>
            <a:endParaRPr lang="en-US" sz="2025" dirty="0"/>
          </a:p>
        </p:txBody>
      </p:sp>
      <p:sp>
        <p:nvSpPr>
          <p:cNvPr id="19" name="Text 16"/>
          <p:cNvSpPr/>
          <p:nvPr/>
        </p:nvSpPr>
        <p:spPr>
          <a:xfrm>
            <a:off x="10149819" y="5231567"/>
            <a:ext cx="7134351"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concurrent writes cannot silently corrupt each other</a:t>
            </a:r>
            <a:endParaRPr lang="en-US" sz="1725" dirty="0"/>
          </a:p>
        </p:txBody>
      </p:sp>
      <p:sp>
        <p:nvSpPr>
          <p:cNvPr id="20" name="Text 17"/>
          <p:cNvSpPr/>
          <p:nvPr/>
        </p:nvSpPr>
        <p:spPr>
          <a:xfrm>
            <a:off x="10149819" y="5688748"/>
            <a:ext cx="7134351"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Search beyond grep</a:t>
            </a:r>
            <a:endParaRPr lang="en-US" sz="2025" dirty="0"/>
          </a:p>
        </p:txBody>
      </p:sp>
      <p:sp>
        <p:nvSpPr>
          <p:cNvPr id="21" name="Text 18"/>
          <p:cNvSpPr/>
          <p:nvPr/>
        </p:nvSpPr>
        <p:spPr>
          <a:xfrm>
            <a:off x="10149819" y="6123140"/>
            <a:ext cx="7134351"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vector, lexical and hybrid retrieval over the same data</a:t>
            </a:r>
            <a:endParaRPr lang="en-US" sz="1725" dirty="0"/>
          </a:p>
        </p:txBody>
      </p:sp>
      <p:sp>
        <p:nvSpPr>
          <p:cNvPr id="22" name="Text 19"/>
          <p:cNvSpPr/>
          <p:nvPr/>
        </p:nvSpPr>
        <p:spPr>
          <a:xfrm>
            <a:off x="10149819" y="6580270"/>
            <a:ext cx="7134351"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Inside backups, security, audit</a:t>
            </a:r>
            <a:endParaRPr lang="en-US" sz="2025" dirty="0"/>
          </a:p>
        </p:txBody>
      </p:sp>
      <p:sp>
        <p:nvSpPr>
          <p:cNvPr id="23" name="Text 20"/>
          <p:cNvSpPr/>
          <p:nvPr/>
        </p:nvSpPr>
        <p:spPr>
          <a:xfrm>
            <a:off x="10149819" y="7014662"/>
            <a:ext cx="7134351"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one boundary for everything that persists</a:t>
            </a:r>
            <a:endParaRPr lang="en-US" sz="1725" dirty="0"/>
          </a:p>
        </p:txBody>
      </p:sp>
      <p:sp>
        <p:nvSpPr>
          <p:cNvPr id="24" name="Text 21"/>
          <p:cNvSpPr/>
          <p:nvPr/>
        </p:nvSpPr>
        <p:spPr>
          <a:xfrm>
            <a:off x="714580" y="8252468"/>
            <a:ext cx="16858767" cy="403814"/>
          </a:xfrm>
          <a:prstGeom prst="rect">
            <a:avLst/>
          </a:prstGeom>
          <a:noFill/>
          <a:ln/>
        </p:spPr>
        <p:txBody>
          <a:bodyPr wrap="square" lIns="25400" tIns="25400" rIns="25400" bIns="25400" rtlCol="0" anchor="t">
            <a:normAutofit/>
          </a:bodyPr>
          <a:lstStyle/>
          <a:p>
            <a:pPr marL="0" indent="0" algn="ctr">
              <a:lnSpc>
                <a:spcPct val="92160"/>
              </a:lnSpc>
              <a:buNone/>
            </a:pPr>
            <a:r>
              <a:rPr lang="en-US" sz="2400" b="1" dirty="0">
                <a:solidFill>
                  <a:srgbClr val="FFFFFF"/>
                </a:solidFill>
                <a:latin typeface="Oracle Sans Tab" pitchFamily="34" charset="0"/>
                <a:ea typeface="Oracle Sans Tab" pitchFamily="34" charset="-122"/>
                <a:cs typeface="Oracle Sans Tab" pitchFamily="34" charset="-120"/>
              </a:rPr>
              <a:t>It is not files </a:t>
            </a:r>
            <a:r>
              <a:rPr lang="en-US" sz="2400" b="1" i="1" dirty="0">
                <a:solidFill>
                  <a:srgbClr val="FFFFFF"/>
                </a:solidFill>
                <a:latin typeface="Oracle Sans Tab" pitchFamily="34" charset="0"/>
                <a:ea typeface="Oracle Sans Tab" pitchFamily="34" charset="-122"/>
                <a:cs typeface="Oracle Sans Tab" pitchFamily="34" charset="-120"/>
              </a:rPr>
              <a:t>versus </a:t>
            </a:r>
            <a:r>
              <a:rPr lang="en-US" sz="2400" b="1" dirty="0">
                <a:solidFill>
                  <a:srgbClr val="FFFFFF"/>
                </a:solidFill>
                <a:latin typeface="Oracle Sans Tab" pitchFamily="34" charset="0"/>
                <a:ea typeface="Oracle Sans Tab" pitchFamily="34" charset="-122"/>
                <a:cs typeface="Oracle Sans Tab" pitchFamily="34" charset="-120"/>
              </a:rPr>
              <a:t>database. It is files for what the agent </a:t>
            </a:r>
            <a:r>
              <a:rPr lang="en-US" sz="2400" b="1" i="1" dirty="0">
                <a:solidFill>
                  <a:srgbClr val="FFFFFF"/>
                </a:solidFill>
                <a:latin typeface="Oracle Sans Tab" pitchFamily="34" charset="0"/>
                <a:ea typeface="Oracle Sans Tab" pitchFamily="34" charset="-122"/>
                <a:cs typeface="Oracle Sans Tab" pitchFamily="34" charset="-120"/>
              </a:rPr>
              <a:t>sees</a:t>
            </a:r>
            <a:r>
              <a:rPr lang="en-US" sz="2400" b="1" dirty="0">
                <a:solidFill>
                  <a:srgbClr val="FFFFFF"/>
                </a:solidFill>
                <a:latin typeface="Oracle Sans Tab" pitchFamily="34" charset="0"/>
                <a:ea typeface="Oracle Sans Tab" pitchFamily="34" charset="-122"/>
                <a:cs typeface="Oracle Sans Tab" pitchFamily="34" charset="-120"/>
              </a:rPr>
              <a:t>, and the database for what </a:t>
            </a:r>
            <a:r>
              <a:rPr lang="en-US" sz="2400" b="1" i="1" dirty="0">
                <a:solidFill>
                  <a:srgbClr val="FD6953"/>
                </a:solidFill>
                <a:latin typeface="Oracle Sans Tab" pitchFamily="34" charset="0"/>
                <a:ea typeface="Oracle Sans Tab" pitchFamily="34" charset="-122"/>
                <a:cs typeface="Oracle Sans Tab" pitchFamily="34" charset="-120"/>
              </a:rPr>
              <a:t>persists.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name="Slide 23">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LAYER 2, STORAGE</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WHY AGENTS REACH FOR FILES</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THE FILESYSTEM CAMP</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Why so many agents reach for </a:t>
            </a:r>
            <a:r>
              <a:rPr lang="en-US" sz="5100" b="1" i="1" dirty="0">
                <a:solidFill>
                  <a:srgbClr val="FD6953"/>
                </a:solidFill>
                <a:latin typeface="Oracle Sans Tab" pitchFamily="34" charset="0"/>
                <a:ea typeface="Oracle Sans Tab" pitchFamily="34" charset="-122"/>
                <a:cs typeface="Oracle Sans Tab" pitchFamily="34" charset="-120"/>
              </a:rPr>
              <a:t>files.</a:t>
            </a:r>
            <a:endParaRPr lang="en-US" sz="1200" dirty="0"/>
          </a:p>
        </p:txBody>
      </p:sp>
      <p:sp>
        <p:nvSpPr>
          <p:cNvPr id="8" name="Shape 5"/>
          <p:cNvSpPr/>
          <p:nvPr/>
        </p:nvSpPr>
        <p:spPr>
          <a:xfrm>
            <a:off x="960096" y="3771863"/>
            <a:ext cx="6446480" cy="4800585"/>
          </a:xfrm>
          <a:prstGeom prst="roundRect">
            <a:avLst>
              <a:gd name="adj" fmla="val 2004"/>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 name="Text 6"/>
          <p:cNvSpPr/>
          <p:nvPr/>
        </p:nvSpPr>
        <p:spPr>
          <a:xfrm>
            <a:off x="1440170" y="4241395"/>
            <a:ext cx="6035021"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C3D7DC"/>
                </a:solidFill>
                <a:latin typeface="Oracle Sans Tab" pitchFamily="34" charset="0"/>
                <a:ea typeface="Oracle Sans Tab" pitchFamily="34" charset="-122"/>
                <a:cs typeface="Oracle Sans Tab" pitchFamily="34" charset="-120"/>
              </a:rPr>
              <a:t>FILESYSTEM ONLY</a:t>
            </a:r>
            <a:endParaRPr lang="en-US" sz="1575" dirty="0"/>
          </a:p>
        </p:txBody>
      </p:sp>
      <p:sp>
        <p:nvSpPr>
          <p:cNvPr id="10" name="Text 7"/>
          <p:cNvSpPr/>
          <p:nvPr/>
        </p:nvSpPr>
        <p:spPr>
          <a:xfrm>
            <a:off x="1440170" y="4674805"/>
            <a:ext cx="5650975" cy="426707"/>
          </a:xfrm>
          <a:prstGeom prst="rect">
            <a:avLst/>
          </a:prstGeom>
          <a:noFill/>
          <a:ln/>
        </p:spPr>
        <p:txBody>
          <a:bodyPr wrap="square" lIns="25400" tIns="25400" rIns="25400" bIns="25400" rtlCol="0" anchor="t">
            <a:normAutofit/>
          </a:bodyPr>
          <a:lstStyle/>
          <a:p>
            <a:pPr marL="0" indent="0" algn="l">
              <a:lnSpc>
                <a:spcPct val="92160"/>
              </a:lnSpc>
              <a:buNone/>
            </a:pPr>
            <a:r>
              <a:rPr lang="en-US" sz="2550" b="1" dirty="0">
                <a:solidFill>
                  <a:srgbClr val="FFFFFF"/>
                </a:solidFill>
                <a:latin typeface="Oracle Sans Tab" pitchFamily="34" charset="0"/>
                <a:ea typeface="Oracle Sans Tab" pitchFamily="34" charset="-122"/>
                <a:cs typeface="Oracle Sans Tab" pitchFamily="34" charset="-120"/>
              </a:rPr>
              <a:t>Blobs, files, scratchpads</a:t>
            </a:r>
            <a:endParaRPr lang="en-US" sz="2550" dirty="0"/>
          </a:p>
        </p:txBody>
      </p:sp>
      <p:sp>
        <p:nvSpPr>
          <p:cNvPr id="11" name="Text 8"/>
          <p:cNvSpPr/>
          <p:nvPr/>
        </p:nvSpPr>
        <p:spPr>
          <a:xfrm>
            <a:off x="1440170" y="5432588"/>
            <a:ext cx="5650975" cy="1585809"/>
          </a:xfrm>
          <a:prstGeom prst="rect">
            <a:avLst/>
          </a:prstGeom>
          <a:noFill/>
          <a:ln/>
        </p:spPr>
        <p:txBody>
          <a:bodyPr wrap="square" lIns="25400" tIns="25400" rIns="25400" bIns="25400" rtlCol="0" anchor="t">
            <a:normAutofit/>
          </a:bodyPr>
          <a:lstStyle/>
          <a:p>
            <a:pPr marL="0" indent="0" algn="l">
              <a:lnSpc>
                <a:spcPct val="96000"/>
              </a:lnSpc>
              <a:buNone/>
            </a:pPr>
            <a:r>
              <a:rPr lang="en-US" sz="1950" b="1" dirty="0">
                <a:solidFill>
                  <a:srgbClr val="86B596"/>
                </a:solidFill>
                <a:latin typeface="Oracle Sans Tab" pitchFamily="34" charset="0"/>
                <a:ea typeface="Oracle Sans Tab" pitchFamily="34" charset="-122"/>
                <a:cs typeface="Oracle Sans Tab" pitchFamily="34" charset="-120"/>
              </a:rPr>
              <a:t>+ POSIX semantics + Append-friendly + Cheap to start and scale + On-distribution verbs (the model already knows them)</a:t>
            </a:r>
            <a:endParaRPr lang="en-US" sz="1950" dirty="0"/>
          </a:p>
        </p:txBody>
      </p:sp>
      <p:sp>
        <p:nvSpPr>
          <p:cNvPr id="12" name="Shape 9"/>
          <p:cNvSpPr/>
          <p:nvPr/>
        </p:nvSpPr>
        <p:spPr>
          <a:xfrm>
            <a:off x="1440170" y="7269478"/>
            <a:ext cx="5486383" cy="13229"/>
          </a:xfrm>
          <a:prstGeom prst="rect">
            <a:avLst/>
          </a:prstGeom>
          <a:solidFill>
            <a:srgbClr val="FFFFFF">
              <a:alpha val="40000"/>
            </a:srgbClr>
          </a:solidFill>
          <a:ln/>
        </p:spPr>
        <p:txBody>
          <a:bodyPr/>
          <a:lstStyle/>
          <a:p>
            <a:endParaRPr lang="en-US"/>
          </a:p>
        </p:txBody>
      </p:sp>
      <p:sp>
        <p:nvSpPr>
          <p:cNvPr id="13" name="Text 10"/>
          <p:cNvSpPr/>
          <p:nvPr/>
        </p:nvSpPr>
        <p:spPr>
          <a:xfrm>
            <a:off x="1440170" y="7543828"/>
            <a:ext cx="5650975" cy="929518"/>
          </a:xfrm>
          <a:prstGeom prst="rect">
            <a:avLst/>
          </a:prstGeom>
          <a:noFill/>
          <a:ln/>
        </p:spPr>
        <p:txBody>
          <a:bodyPr wrap="square" lIns="25400" tIns="25400" rIns="25400" bIns="25400" rtlCol="0" anchor="t">
            <a:normAutofit/>
          </a:bodyPr>
          <a:lstStyle/>
          <a:p>
            <a:pPr marL="0" indent="0" algn="l">
              <a:lnSpc>
                <a:spcPct val="92160"/>
              </a:lnSpc>
              <a:buNone/>
            </a:pPr>
            <a:r>
              <a:rPr lang="en-US" sz="1950" b="1" dirty="0">
                <a:solidFill>
                  <a:srgbClr val="FD6953"/>
                </a:solidFill>
                <a:latin typeface="Oracle Sans Tab" pitchFamily="34" charset="0"/>
                <a:ea typeface="Oracle Sans Tab" pitchFamily="34" charset="-122"/>
                <a:cs typeface="Oracle Sans Tab" pitchFamily="34" charset="-120"/>
              </a:rPr>
              <a:t>− No ACID − No queries, no indexes − Outside backups &amp; access control</a:t>
            </a:r>
            <a:endParaRPr lang="en-US" sz="1950" dirty="0"/>
          </a:p>
        </p:txBody>
      </p:sp>
      <p:sp>
        <p:nvSpPr>
          <p:cNvPr id="14" name="Text 11"/>
          <p:cNvSpPr/>
          <p:nvPr/>
        </p:nvSpPr>
        <p:spPr>
          <a:xfrm>
            <a:off x="8161000" y="3835683"/>
            <a:ext cx="9957774" cy="266665"/>
          </a:xfrm>
          <a:prstGeom prst="rect">
            <a:avLst/>
          </a:prstGeom>
          <a:noFill/>
          <a:ln/>
        </p:spPr>
        <p:txBody>
          <a:bodyPr wrap="square" lIns="25400" tIns="25400" rIns="25400" bIns="25400" rtlCol="0" anchor="t">
            <a:normAutofit/>
          </a:bodyPr>
          <a:lstStyle/>
          <a:p>
            <a:pPr marL="0" indent="0" algn="l">
              <a:lnSpc>
                <a:spcPct val="92160"/>
              </a:lnSpc>
              <a:buNone/>
            </a:pPr>
            <a:r>
              <a:rPr lang="en-US" sz="1500" dirty="0">
                <a:solidFill>
                  <a:srgbClr val="C3D7DC"/>
                </a:solidFill>
                <a:latin typeface="Menlo" pitchFamily="34" charset="0"/>
                <a:ea typeface="Menlo" pitchFamily="34" charset="-122"/>
                <a:cs typeface="Menlo" pitchFamily="34" charset="-120"/>
              </a:rPr>
              <a:t>LLMS ALREADY KNOW (OPEN / READ / WRITE / GREP)</a:t>
            </a:r>
            <a:endParaRPr lang="en-US" sz="1500" dirty="0"/>
          </a:p>
        </p:txBody>
      </p:sp>
      <p:sp>
        <p:nvSpPr>
          <p:cNvPr id="15" name="Shape 12"/>
          <p:cNvSpPr/>
          <p:nvPr/>
        </p:nvSpPr>
        <p:spPr>
          <a:xfrm>
            <a:off x="8161000" y="4526235"/>
            <a:ext cx="2057394" cy="822947"/>
          </a:xfrm>
          <a:prstGeom prst="roundRect">
            <a:avLst>
              <a:gd name="adj" fmla="val 11690"/>
            </a:avLst>
          </a:prstGeom>
          <a:solidFill>
            <a:srgbClr val="0B5060"/>
          </a:solidFill>
          <a:ln w="16536">
            <a:solidFill>
              <a:srgbClr val="FFFFFF">
                <a:alpha val="20000"/>
              </a:srgbClr>
            </a:solidFill>
            <a:prstDash val="solid"/>
          </a:ln>
        </p:spPr>
        <p:txBody>
          <a:bodyPr/>
          <a:lstStyle/>
          <a:p>
            <a:endParaRPr lang="en-US"/>
          </a:p>
        </p:txBody>
      </p:sp>
      <p:sp>
        <p:nvSpPr>
          <p:cNvPr id="16" name="Text 13"/>
          <p:cNvSpPr/>
          <p:nvPr/>
        </p:nvSpPr>
        <p:spPr>
          <a:xfrm>
            <a:off x="8122900" y="4789113"/>
            <a:ext cx="2133594" cy="335239"/>
          </a:xfrm>
          <a:prstGeom prst="rect">
            <a:avLst/>
          </a:prstGeom>
          <a:noFill/>
          <a:ln/>
        </p:spPr>
        <p:txBody>
          <a:bodyPr wrap="square" lIns="25400" tIns="25400" rIns="25400" bIns="25400" rtlCol="0" anchor="t">
            <a:normAutofit/>
          </a:bodyPr>
          <a:lstStyle/>
          <a:p>
            <a:pPr marL="0" indent="0" algn="ctr">
              <a:lnSpc>
                <a:spcPct val="92160"/>
              </a:lnSpc>
              <a:buNone/>
            </a:pPr>
            <a:r>
              <a:rPr lang="en-US" sz="1950" dirty="0">
                <a:solidFill>
                  <a:srgbClr val="FFFFFF"/>
                </a:solidFill>
                <a:latin typeface="Oracle Sans Tab" pitchFamily="34" charset="0"/>
                <a:ea typeface="Oracle Sans Tab" pitchFamily="34" charset="-122"/>
                <a:cs typeface="Oracle Sans Tab" pitchFamily="34" charset="-120"/>
              </a:rPr>
              <a:t>Agent</a:t>
            </a:r>
            <a:endParaRPr lang="en-US" sz="1950" dirty="0"/>
          </a:p>
        </p:txBody>
      </p:sp>
      <p:sp>
        <p:nvSpPr>
          <p:cNvPr id="17" name="Shape 14"/>
          <p:cNvSpPr/>
          <p:nvPr/>
        </p:nvSpPr>
        <p:spPr>
          <a:xfrm rot="2863800">
            <a:off x="9879858" y="5688690"/>
            <a:ext cx="2038349" cy="16536"/>
          </a:xfrm>
          <a:prstGeom prst="rect">
            <a:avLst/>
          </a:prstGeom>
          <a:solidFill>
            <a:srgbClr val="FFFFFF">
              <a:alpha val="34000"/>
            </a:srgbClr>
          </a:solidFill>
          <a:ln/>
        </p:spPr>
        <p:txBody>
          <a:bodyPr/>
          <a:lstStyle/>
          <a:p>
            <a:endParaRPr lang="en-US"/>
          </a:p>
        </p:txBody>
      </p:sp>
      <p:sp>
        <p:nvSpPr>
          <p:cNvPr id="18" name="Shape 15"/>
          <p:cNvSpPr/>
          <p:nvPr/>
        </p:nvSpPr>
        <p:spPr>
          <a:xfrm>
            <a:off x="8161000" y="5760682"/>
            <a:ext cx="2057394" cy="822947"/>
          </a:xfrm>
          <a:prstGeom prst="roundRect">
            <a:avLst>
              <a:gd name="adj" fmla="val 11690"/>
            </a:avLst>
          </a:prstGeom>
          <a:solidFill>
            <a:srgbClr val="0B5060"/>
          </a:solidFill>
          <a:ln w="16536">
            <a:solidFill>
              <a:srgbClr val="FFFFFF">
                <a:alpha val="20000"/>
              </a:srgbClr>
            </a:solidFill>
            <a:prstDash val="solid"/>
          </a:ln>
        </p:spPr>
        <p:txBody>
          <a:bodyPr/>
          <a:lstStyle/>
          <a:p>
            <a:endParaRPr lang="en-US"/>
          </a:p>
        </p:txBody>
      </p:sp>
      <p:sp>
        <p:nvSpPr>
          <p:cNvPr id="19" name="Text 16"/>
          <p:cNvSpPr/>
          <p:nvPr/>
        </p:nvSpPr>
        <p:spPr>
          <a:xfrm>
            <a:off x="8122900" y="6023560"/>
            <a:ext cx="2133594" cy="335239"/>
          </a:xfrm>
          <a:prstGeom prst="rect">
            <a:avLst/>
          </a:prstGeom>
          <a:noFill/>
          <a:ln/>
        </p:spPr>
        <p:txBody>
          <a:bodyPr wrap="square" lIns="25400" tIns="25400" rIns="25400" bIns="25400" rtlCol="0" anchor="t">
            <a:normAutofit/>
          </a:bodyPr>
          <a:lstStyle/>
          <a:p>
            <a:pPr marL="0" indent="0" algn="ctr">
              <a:lnSpc>
                <a:spcPct val="92160"/>
              </a:lnSpc>
              <a:buNone/>
            </a:pPr>
            <a:r>
              <a:rPr lang="en-US" sz="1950" dirty="0">
                <a:solidFill>
                  <a:srgbClr val="FFFFFF"/>
                </a:solidFill>
                <a:latin typeface="Oracle Sans Tab" pitchFamily="34" charset="0"/>
                <a:ea typeface="Oracle Sans Tab" pitchFamily="34" charset="-122"/>
                <a:cs typeface="Oracle Sans Tab" pitchFamily="34" charset="-120"/>
              </a:rPr>
              <a:t>Agent</a:t>
            </a:r>
            <a:endParaRPr lang="en-US" sz="1950" dirty="0"/>
          </a:p>
        </p:txBody>
      </p:sp>
      <p:sp>
        <p:nvSpPr>
          <p:cNvPr id="20" name="Shape 17"/>
          <p:cNvSpPr/>
          <p:nvPr/>
        </p:nvSpPr>
        <p:spPr>
          <a:xfrm rot="678599">
            <a:off x="10202941" y="6307991"/>
            <a:ext cx="1400174" cy="16536"/>
          </a:xfrm>
          <a:prstGeom prst="rect">
            <a:avLst/>
          </a:prstGeom>
          <a:solidFill>
            <a:srgbClr val="FFFFFF">
              <a:alpha val="34000"/>
            </a:srgbClr>
          </a:solidFill>
          <a:ln/>
        </p:spPr>
        <p:txBody>
          <a:bodyPr/>
          <a:lstStyle/>
          <a:p>
            <a:endParaRPr lang="en-US"/>
          </a:p>
        </p:txBody>
      </p:sp>
      <p:sp>
        <p:nvSpPr>
          <p:cNvPr id="21" name="Shape 18"/>
          <p:cNvSpPr/>
          <p:nvPr/>
        </p:nvSpPr>
        <p:spPr>
          <a:xfrm>
            <a:off x="8161000" y="6995128"/>
            <a:ext cx="2057394" cy="822947"/>
          </a:xfrm>
          <a:prstGeom prst="roundRect">
            <a:avLst>
              <a:gd name="adj" fmla="val 11690"/>
            </a:avLst>
          </a:prstGeom>
          <a:solidFill>
            <a:srgbClr val="0B5060"/>
          </a:solidFill>
          <a:ln w="16536">
            <a:solidFill>
              <a:srgbClr val="FFFFFF">
                <a:alpha val="20000"/>
              </a:srgbClr>
            </a:solidFill>
            <a:prstDash val="solid"/>
          </a:ln>
        </p:spPr>
        <p:txBody>
          <a:bodyPr/>
          <a:lstStyle/>
          <a:p>
            <a:endParaRPr lang="en-US"/>
          </a:p>
        </p:txBody>
      </p:sp>
      <p:sp>
        <p:nvSpPr>
          <p:cNvPr id="22" name="Text 19"/>
          <p:cNvSpPr/>
          <p:nvPr/>
        </p:nvSpPr>
        <p:spPr>
          <a:xfrm>
            <a:off x="8122900" y="7258006"/>
            <a:ext cx="2133594" cy="335239"/>
          </a:xfrm>
          <a:prstGeom prst="rect">
            <a:avLst/>
          </a:prstGeom>
          <a:noFill/>
          <a:ln/>
        </p:spPr>
        <p:txBody>
          <a:bodyPr wrap="square" lIns="25400" tIns="25400" rIns="25400" bIns="25400" rtlCol="0" anchor="t">
            <a:normAutofit/>
          </a:bodyPr>
          <a:lstStyle/>
          <a:p>
            <a:pPr marL="0" indent="0" algn="ctr">
              <a:lnSpc>
                <a:spcPct val="92160"/>
              </a:lnSpc>
              <a:buNone/>
            </a:pPr>
            <a:r>
              <a:rPr lang="en-US" sz="1950" dirty="0">
                <a:solidFill>
                  <a:srgbClr val="FFFFFF"/>
                </a:solidFill>
                <a:latin typeface="Oracle Sans Tab" pitchFamily="34" charset="0"/>
                <a:ea typeface="Oracle Sans Tab" pitchFamily="34" charset="-122"/>
                <a:cs typeface="Oracle Sans Tab" pitchFamily="34" charset="-120"/>
              </a:rPr>
              <a:t>Agent</a:t>
            </a:r>
            <a:endParaRPr lang="en-US" sz="1950" dirty="0"/>
          </a:p>
        </p:txBody>
      </p:sp>
      <p:sp>
        <p:nvSpPr>
          <p:cNvPr id="23" name="Shape 20"/>
          <p:cNvSpPr/>
          <p:nvPr/>
        </p:nvSpPr>
        <p:spPr>
          <a:xfrm rot="8700601">
            <a:off x="10071563" y="6926012"/>
            <a:ext cx="1676399" cy="16536"/>
          </a:xfrm>
          <a:prstGeom prst="rect">
            <a:avLst/>
          </a:prstGeom>
          <a:solidFill>
            <a:srgbClr val="FFFFFF">
              <a:alpha val="34000"/>
            </a:srgbClr>
          </a:solidFill>
          <a:ln/>
        </p:spPr>
        <p:txBody>
          <a:bodyPr/>
          <a:lstStyle/>
          <a:p>
            <a:endParaRPr lang="en-US"/>
          </a:p>
        </p:txBody>
      </p:sp>
      <p:sp>
        <p:nvSpPr>
          <p:cNvPr id="24" name="Shape 21"/>
          <p:cNvSpPr/>
          <p:nvPr/>
        </p:nvSpPr>
        <p:spPr>
          <a:xfrm>
            <a:off x="11589990" y="5143459"/>
            <a:ext cx="2674617" cy="2605991"/>
          </a:xfrm>
          <a:prstGeom prst="roundRect">
            <a:avLst>
              <a:gd name="adj" fmla="val 3692"/>
            </a:avLst>
          </a:prstGeom>
          <a:solidFill>
            <a:srgbClr val="0B5060"/>
          </a:solidFill>
          <a:ln w="16536">
            <a:solidFill>
              <a:srgbClr val="E0836F"/>
            </a:solidFill>
            <a:prstDash val="solid"/>
          </a:ln>
        </p:spPr>
        <p:txBody>
          <a:bodyPr/>
          <a:lstStyle/>
          <a:p>
            <a:endParaRPr lang="en-US"/>
          </a:p>
        </p:txBody>
      </p:sp>
      <p:sp>
        <p:nvSpPr>
          <p:cNvPr id="25" name="Text 22"/>
          <p:cNvSpPr/>
          <p:nvPr/>
        </p:nvSpPr>
        <p:spPr>
          <a:xfrm>
            <a:off x="11549871" y="5486331"/>
            <a:ext cx="2754855" cy="381025"/>
          </a:xfrm>
          <a:prstGeom prst="rect">
            <a:avLst/>
          </a:prstGeom>
          <a:noFill/>
          <a:ln/>
        </p:spPr>
        <p:txBody>
          <a:bodyPr wrap="square" lIns="25400" tIns="25400" rIns="25400" bIns="25400" rtlCol="0" anchor="t">
            <a:normAutofit/>
          </a:bodyPr>
          <a:lstStyle/>
          <a:p>
            <a:pPr marL="0" indent="0" algn="ctr">
              <a:lnSpc>
                <a:spcPct val="92160"/>
              </a:lnSpc>
              <a:buNone/>
            </a:pPr>
            <a:r>
              <a:rPr lang="en-US" sz="2250" b="1" dirty="0">
                <a:solidFill>
                  <a:srgbClr val="FFFFFF"/>
                </a:solidFill>
                <a:latin typeface="Oracle Sans Tab" pitchFamily="34" charset="0"/>
                <a:ea typeface="Oracle Sans Tab" pitchFamily="34" charset="-122"/>
                <a:cs typeface="Oracle Sans Tab" pitchFamily="34" charset="-120"/>
              </a:rPr>
              <a:t>File</a:t>
            </a:r>
            <a:endParaRPr lang="en-US" sz="2250" dirty="0"/>
          </a:p>
        </p:txBody>
      </p:sp>
      <p:sp>
        <p:nvSpPr>
          <p:cNvPr id="26" name="Text 23"/>
          <p:cNvSpPr/>
          <p:nvPr/>
        </p:nvSpPr>
        <p:spPr>
          <a:xfrm>
            <a:off x="11456259" y="5977826"/>
            <a:ext cx="2942079" cy="220931"/>
          </a:xfrm>
          <a:prstGeom prst="rect">
            <a:avLst/>
          </a:prstGeom>
          <a:noFill/>
          <a:ln/>
        </p:spPr>
        <p:txBody>
          <a:bodyPr wrap="square" lIns="25400" tIns="25400" rIns="25400" bIns="25400" rtlCol="0" anchor="t">
            <a:normAutofit lnSpcReduction="10000"/>
          </a:bodyPr>
          <a:lstStyle/>
          <a:p>
            <a:pPr marL="0" indent="0" algn="ctr">
              <a:lnSpc>
                <a:spcPct val="92160"/>
              </a:lnSpc>
              <a:buNone/>
            </a:pPr>
            <a:r>
              <a:rPr lang="en-US" sz="1200" dirty="0">
                <a:solidFill>
                  <a:srgbClr val="C3D7DC"/>
                </a:solidFill>
                <a:latin typeface="Oracle Sans Tab" pitchFamily="34" charset="0"/>
                <a:ea typeface="Oracle Sans Tab" pitchFamily="34" charset="-122"/>
                <a:cs typeface="Oracle Sans Tab" pitchFamily="34" charset="-120"/>
              </a:rPr>
              <a:t>MEMORY SUBSTRATE</a:t>
            </a:r>
            <a:endParaRPr lang="en-US" sz="1200" dirty="0"/>
          </a:p>
        </p:txBody>
      </p:sp>
      <p:sp>
        <p:nvSpPr>
          <p:cNvPr id="27" name="Shape 24"/>
          <p:cNvSpPr/>
          <p:nvPr/>
        </p:nvSpPr>
        <p:spPr>
          <a:xfrm>
            <a:off x="12070063" y="6583629"/>
            <a:ext cx="1714469" cy="16536"/>
          </a:xfrm>
          <a:prstGeom prst="rect">
            <a:avLst/>
          </a:prstGeom>
          <a:solidFill>
            <a:srgbClr val="E0836F"/>
          </a:solidFill>
          <a:ln/>
        </p:spPr>
        <p:txBody>
          <a:bodyPr/>
          <a:lstStyle/>
          <a:p>
            <a:endParaRPr lang="en-US"/>
          </a:p>
        </p:txBody>
      </p:sp>
      <p:sp>
        <p:nvSpPr>
          <p:cNvPr id="28" name="Shape 25"/>
          <p:cNvSpPr/>
          <p:nvPr/>
        </p:nvSpPr>
        <p:spPr>
          <a:xfrm>
            <a:off x="12070063" y="6913221"/>
            <a:ext cx="1714469" cy="16536"/>
          </a:xfrm>
          <a:prstGeom prst="rect">
            <a:avLst/>
          </a:prstGeom>
          <a:solidFill>
            <a:srgbClr val="E0836F"/>
          </a:solidFill>
          <a:ln/>
        </p:spPr>
        <p:txBody>
          <a:bodyPr/>
          <a:lstStyle/>
          <a:p>
            <a:endParaRPr lang="en-US"/>
          </a:p>
        </p:txBody>
      </p:sp>
      <p:sp>
        <p:nvSpPr>
          <p:cNvPr id="29" name="Shape 26"/>
          <p:cNvSpPr/>
          <p:nvPr/>
        </p:nvSpPr>
        <p:spPr>
          <a:xfrm>
            <a:off x="12070063" y="7241832"/>
            <a:ext cx="1714469" cy="16536"/>
          </a:xfrm>
          <a:prstGeom prst="rect">
            <a:avLst/>
          </a:prstGeom>
          <a:solidFill>
            <a:srgbClr val="E0836F"/>
          </a:solidFill>
          <a:ln/>
        </p:spPr>
        <p:txBody>
          <a:bodyPr/>
          <a:lstStyle/>
          <a:p>
            <a:endParaRPr lang="en-US"/>
          </a:p>
        </p:txBody>
      </p:sp>
      <p:sp>
        <p:nvSpPr>
          <p:cNvPr id="30" name="Shape 27"/>
          <p:cNvSpPr/>
          <p:nvPr/>
        </p:nvSpPr>
        <p:spPr>
          <a:xfrm>
            <a:off x="14264607" y="6446480"/>
            <a:ext cx="685798" cy="16536"/>
          </a:xfrm>
          <a:prstGeom prst="rect">
            <a:avLst/>
          </a:prstGeom>
          <a:solidFill>
            <a:srgbClr val="FFFFFF">
              <a:alpha val="34000"/>
            </a:srgbClr>
          </a:solidFill>
          <a:ln/>
        </p:spPr>
        <p:txBody>
          <a:bodyPr/>
          <a:lstStyle/>
          <a:p>
            <a:endParaRPr lang="en-US"/>
          </a:p>
        </p:txBody>
      </p:sp>
      <p:sp>
        <p:nvSpPr>
          <p:cNvPr id="31" name="Shape 28"/>
          <p:cNvSpPr/>
          <p:nvPr/>
        </p:nvSpPr>
        <p:spPr>
          <a:xfrm>
            <a:off x="14950405" y="6007385"/>
            <a:ext cx="2377426" cy="878189"/>
          </a:xfrm>
          <a:prstGeom prst="roundRect">
            <a:avLst>
              <a:gd name="adj" fmla="val 10955"/>
            </a:avLst>
          </a:prstGeom>
          <a:solidFill>
            <a:srgbClr val="0B5060"/>
          </a:solidFill>
          <a:ln w="16536">
            <a:solidFill>
              <a:srgbClr val="E0836F"/>
            </a:solidFill>
            <a:prstDash val="solid"/>
          </a:ln>
        </p:spPr>
        <p:txBody>
          <a:bodyPr/>
          <a:lstStyle/>
          <a:p>
            <a:endParaRPr lang="en-US"/>
          </a:p>
        </p:txBody>
      </p:sp>
      <p:sp>
        <p:nvSpPr>
          <p:cNvPr id="32" name="Text 29"/>
          <p:cNvSpPr/>
          <p:nvPr/>
        </p:nvSpPr>
        <p:spPr>
          <a:xfrm>
            <a:off x="14912305" y="6303594"/>
            <a:ext cx="2453626" cy="323819"/>
          </a:xfrm>
          <a:prstGeom prst="rect">
            <a:avLst/>
          </a:prstGeom>
          <a:noFill/>
          <a:ln/>
        </p:spPr>
        <p:txBody>
          <a:bodyPr wrap="square" lIns="25400" tIns="25400" rIns="25400" bIns="25400" rtlCol="0" anchor="t">
            <a:normAutofit/>
          </a:bodyPr>
          <a:lstStyle/>
          <a:p>
            <a:pPr marL="0" indent="0" algn="ctr">
              <a:lnSpc>
                <a:spcPct val="92160"/>
              </a:lnSpc>
              <a:buNone/>
            </a:pPr>
            <a:r>
              <a:rPr lang="en-US" sz="1875" b="1" dirty="0">
                <a:solidFill>
                  <a:srgbClr val="FD6953"/>
                </a:solidFill>
                <a:latin typeface="Oracle Sans Tab" pitchFamily="34" charset="0"/>
                <a:ea typeface="Oracle Sans Tab" pitchFamily="34" charset="-122"/>
                <a:cs typeface="Oracle Sans Tab" pitchFamily="34" charset="-120"/>
              </a:rPr>
              <a:t>No ACID</a:t>
            </a:r>
            <a:endParaRPr lang="en-US" sz="18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name="Slide 24">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LAYER 2, STORAGE</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WHAT THE DATABASE ADDS</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THE DATABASE CAMP</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What the database </a:t>
            </a:r>
            <a:r>
              <a:rPr lang="en-US" sz="5100" b="1" i="1" dirty="0">
                <a:solidFill>
                  <a:srgbClr val="FD6953"/>
                </a:solidFill>
                <a:latin typeface="Oracle Sans Tab" pitchFamily="34" charset="0"/>
                <a:ea typeface="Oracle Sans Tab" pitchFamily="34" charset="-122"/>
                <a:cs typeface="Oracle Sans Tab" pitchFamily="34" charset="-120"/>
              </a:rPr>
              <a:t>adds.</a:t>
            </a:r>
            <a:endParaRPr lang="en-US" sz="1200" dirty="0"/>
          </a:p>
        </p:txBody>
      </p:sp>
      <p:sp>
        <p:nvSpPr>
          <p:cNvPr id="8" name="Shape 5"/>
          <p:cNvSpPr/>
          <p:nvPr/>
        </p:nvSpPr>
        <p:spPr>
          <a:xfrm>
            <a:off x="960096" y="3840437"/>
            <a:ext cx="7886650" cy="1302969"/>
          </a:xfrm>
          <a:prstGeom prst="roundRect">
            <a:avLst>
              <a:gd name="adj" fmla="val 738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 name="Text 6"/>
          <p:cNvSpPr/>
          <p:nvPr/>
        </p:nvSpPr>
        <p:spPr>
          <a:xfrm>
            <a:off x="1440170" y="4309039"/>
            <a:ext cx="7275614"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b="1" dirty="0">
                <a:solidFill>
                  <a:srgbClr val="FFFFFF"/>
                </a:solidFill>
                <a:latin typeface="Oracle Sans Tab" pitchFamily="34" charset="0"/>
                <a:ea typeface="Oracle Sans Tab" pitchFamily="34" charset="-122"/>
                <a:cs typeface="Oracle Sans Tab" pitchFamily="34" charset="-120"/>
              </a:rPr>
              <a:t>ACID + HA (Data Guard)</a:t>
            </a:r>
            <a:endParaRPr lang="en-US" sz="2400" dirty="0"/>
          </a:p>
        </p:txBody>
      </p:sp>
      <p:sp>
        <p:nvSpPr>
          <p:cNvPr id="10" name="Shape 7"/>
          <p:cNvSpPr/>
          <p:nvPr/>
        </p:nvSpPr>
        <p:spPr>
          <a:xfrm>
            <a:off x="9669745" y="3840437"/>
            <a:ext cx="7886650" cy="1302969"/>
          </a:xfrm>
          <a:prstGeom prst="roundRect">
            <a:avLst>
              <a:gd name="adj" fmla="val 738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1" name="Text 8"/>
          <p:cNvSpPr/>
          <p:nvPr/>
        </p:nvSpPr>
        <p:spPr>
          <a:xfrm>
            <a:off x="10149819" y="4309039"/>
            <a:ext cx="7275614"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b="1" dirty="0">
                <a:solidFill>
                  <a:srgbClr val="FFFFFF"/>
                </a:solidFill>
                <a:latin typeface="Oracle Sans Tab" pitchFamily="34" charset="0"/>
                <a:ea typeface="Oracle Sans Tab" pitchFamily="34" charset="-122"/>
                <a:cs typeface="Oracle Sans Tab" pitchFamily="34" charset="-120"/>
              </a:rPr>
              <a:t>AI Vector Search</a:t>
            </a:r>
            <a:endParaRPr lang="en-US" sz="2400" dirty="0"/>
          </a:p>
        </p:txBody>
      </p:sp>
      <p:sp>
        <p:nvSpPr>
          <p:cNvPr id="12" name="Shape 9"/>
          <p:cNvSpPr/>
          <p:nvPr/>
        </p:nvSpPr>
        <p:spPr>
          <a:xfrm>
            <a:off x="960096" y="5554958"/>
            <a:ext cx="7886650" cy="1302969"/>
          </a:xfrm>
          <a:prstGeom prst="roundRect">
            <a:avLst>
              <a:gd name="adj" fmla="val 738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3" name="Text 10"/>
          <p:cNvSpPr/>
          <p:nvPr/>
        </p:nvSpPr>
        <p:spPr>
          <a:xfrm>
            <a:off x="1440170" y="6023560"/>
            <a:ext cx="7275614"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b="1" dirty="0">
                <a:solidFill>
                  <a:srgbClr val="FFFFFF"/>
                </a:solidFill>
                <a:latin typeface="Oracle Sans Tab" pitchFamily="34" charset="0"/>
                <a:ea typeface="Oracle Sans Tab" pitchFamily="34" charset="-122"/>
                <a:cs typeface="Oracle Sans Tab" pitchFamily="34" charset="-120"/>
              </a:rPr>
              <a:t>Relations + ranking</a:t>
            </a:r>
            <a:endParaRPr lang="en-US" sz="2400" dirty="0"/>
          </a:p>
        </p:txBody>
      </p:sp>
      <p:sp>
        <p:nvSpPr>
          <p:cNvPr id="14" name="Shape 11"/>
          <p:cNvSpPr/>
          <p:nvPr/>
        </p:nvSpPr>
        <p:spPr>
          <a:xfrm>
            <a:off x="9669745" y="5554958"/>
            <a:ext cx="7886650" cy="1302969"/>
          </a:xfrm>
          <a:prstGeom prst="roundRect">
            <a:avLst>
              <a:gd name="adj" fmla="val 738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5" name="Text 12"/>
          <p:cNvSpPr/>
          <p:nvPr/>
        </p:nvSpPr>
        <p:spPr>
          <a:xfrm>
            <a:off x="10149819" y="6023560"/>
            <a:ext cx="7275614"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b="1" dirty="0">
                <a:solidFill>
                  <a:srgbClr val="FFFFFF"/>
                </a:solidFill>
                <a:latin typeface="Oracle Sans Tab" pitchFamily="34" charset="0"/>
                <a:ea typeface="Oracle Sans Tab" pitchFamily="34" charset="-122"/>
                <a:cs typeface="Oracle Sans Tab" pitchFamily="34" charset="-120"/>
              </a:rPr>
              <a:t>Scale, security, backup</a:t>
            </a:r>
            <a:endParaRPr lang="en-US" sz="2400" dirty="0"/>
          </a:p>
        </p:txBody>
      </p:sp>
      <p:sp>
        <p:nvSpPr>
          <p:cNvPr id="16" name="Shape 13"/>
          <p:cNvSpPr/>
          <p:nvPr/>
        </p:nvSpPr>
        <p:spPr>
          <a:xfrm>
            <a:off x="960096" y="7132277"/>
            <a:ext cx="16367735" cy="1920193"/>
          </a:xfrm>
          <a:prstGeom prst="roundRect">
            <a:avLst>
              <a:gd name="adj" fmla="val 5010"/>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17" name="Text 14"/>
          <p:cNvSpPr/>
          <p:nvPr/>
        </p:nvSpPr>
        <p:spPr>
          <a:xfrm>
            <a:off x="1508745" y="7547549"/>
            <a:ext cx="9052533"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ACID, DEMONSTRATED</a:t>
            </a:r>
            <a:endParaRPr lang="en-US" sz="1575" dirty="0"/>
          </a:p>
        </p:txBody>
      </p:sp>
      <p:sp>
        <p:nvSpPr>
          <p:cNvPr id="18" name="Text 15"/>
          <p:cNvSpPr/>
          <p:nvPr/>
        </p:nvSpPr>
        <p:spPr>
          <a:xfrm>
            <a:off x="1508745" y="8118832"/>
            <a:ext cx="15728550" cy="602407"/>
          </a:xfrm>
          <a:prstGeom prst="rect">
            <a:avLst/>
          </a:prstGeom>
          <a:noFill/>
          <a:ln/>
        </p:spPr>
        <p:txBody>
          <a:bodyPr wrap="square" lIns="25400" tIns="25400" rIns="25400" bIns="25400" rtlCol="0" anchor="t">
            <a:normAutofit/>
          </a:bodyPr>
          <a:lstStyle/>
          <a:p>
            <a:pPr marL="0" indent="0" algn="l">
              <a:lnSpc>
                <a:spcPct val="82944"/>
              </a:lnSpc>
              <a:buNone/>
            </a:pPr>
            <a:r>
              <a:rPr lang="en-US" sz="2025" b="1" dirty="0">
                <a:solidFill>
                  <a:srgbClr val="FFFFFF"/>
                </a:solidFill>
                <a:latin typeface="Oracle Sans Tab" pitchFamily="34" charset="0"/>
                <a:ea typeface="Oracle Sans Tab" pitchFamily="34" charset="-122"/>
                <a:cs typeface="Oracle Sans Tab" pitchFamily="34" charset="-120"/>
              </a:rPr>
              <a:t>Two workers, 500 increments each. </a:t>
            </a:r>
            <a:r>
              <a:rPr lang="en-US" sz="2025" dirty="0">
                <a:solidFill>
                  <a:srgbClr val="FFFFFF"/>
                </a:solidFill>
                <a:latin typeface="Oracle Sans Tab" pitchFamily="34" charset="0"/>
                <a:ea typeface="Oracle Sans Tab" pitchFamily="34" charset="-122"/>
                <a:cs typeface="Oracle Sans Tab" pitchFamily="34" charset="-120"/>
              </a:rPr>
              <a:t>Against a plain file the read-modify-write steps interleave and updates vanish; against the database a single atomic </a:t>
            </a:r>
            <a:r>
              <a:rPr lang="en-US" sz="1800" dirty="0">
                <a:solidFill>
                  <a:srgbClr val="FD6953"/>
                </a:solidFill>
                <a:latin typeface="Menlo" pitchFamily="34" charset="0"/>
                <a:ea typeface="Menlo" pitchFamily="34" charset="-122"/>
                <a:cs typeface="Menlo" pitchFamily="34" charset="-120"/>
              </a:rPr>
              <a:t>UPDATE ... SET n = n + 1 </a:t>
            </a:r>
            <a:r>
              <a:rPr lang="en-US" sz="2025" dirty="0">
                <a:solidFill>
                  <a:srgbClr val="FFFFFF"/>
                </a:solidFill>
                <a:latin typeface="Oracle Sans Tab" pitchFamily="34" charset="0"/>
                <a:ea typeface="Oracle Sans Tab" pitchFamily="34" charset="-122"/>
                <a:cs typeface="Oracle Sans Tab" pitchFamily="34" charset="-120"/>
              </a:rPr>
              <a:t>takes a row lock and every increment counts. The database is safe by default.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LAYER 2, STORAGE</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MEMORY, THE SUBSTRATE</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THE RESOLUTION</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Oracle Database File System: </a:t>
            </a:r>
            <a:r>
              <a:rPr lang="en-US" sz="4500" b="1" i="1" dirty="0">
                <a:solidFill>
                  <a:srgbClr val="FD6953"/>
                </a:solidFill>
                <a:latin typeface="Oracle Sans Tab" pitchFamily="34" charset="0"/>
                <a:ea typeface="Oracle Sans Tab" pitchFamily="34" charset="-122"/>
                <a:cs typeface="Oracle Sans Tab" pitchFamily="34" charset="-120"/>
              </a:rPr>
              <a:t>the best of both worlds.</a:t>
            </a:r>
            <a:endParaRPr lang="en-US" sz="1200" dirty="0"/>
          </a:p>
        </p:txBody>
      </p:sp>
      <p:sp>
        <p:nvSpPr>
          <p:cNvPr id="8" name="Text 5"/>
          <p:cNvSpPr/>
          <p:nvPr/>
        </p:nvSpPr>
        <p:spPr>
          <a:xfrm>
            <a:off x="960096" y="3060847"/>
            <a:ext cx="16246553" cy="335239"/>
          </a:xfrm>
          <a:prstGeom prst="rect">
            <a:avLst/>
          </a:prstGeom>
          <a:noFill/>
          <a:ln/>
        </p:spPr>
        <p:txBody>
          <a:bodyPr wrap="square" lIns="25400" tIns="25400" rIns="25400" bIns="25400" rtlCol="0" anchor="t">
            <a:normAutofit/>
          </a:bodyPr>
          <a:lstStyle/>
          <a:p>
            <a:pPr marL="0" indent="0" algn="l">
              <a:lnSpc>
                <a:spcPct val="92160"/>
              </a:lnSpc>
              <a:buNone/>
            </a:pPr>
            <a:r>
              <a:rPr lang="en-US" sz="1950" i="1" dirty="0">
                <a:solidFill>
                  <a:srgbClr val="C3D7DC"/>
                </a:solidFill>
                <a:latin typeface="Oracle Sans Tab" pitchFamily="34" charset="0"/>
                <a:ea typeface="Oracle Sans Tab" pitchFamily="34" charset="-122"/>
                <a:cs typeface="Oracle Sans Tab" pitchFamily="34" charset="-120"/>
              </a:rPr>
              <a:t>A filesystem interface agents already speak, backed by Oracle AI Database 26ai.</a:t>
            </a:r>
            <a:endParaRPr lang="en-US" sz="1950" dirty="0"/>
          </a:p>
        </p:txBody>
      </p:sp>
      <p:sp>
        <p:nvSpPr>
          <p:cNvPr id="9" name="Text 6"/>
          <p:cNvSpPr/>
          <p:nvPr/>
        </p:nvSpPr>
        <p:spPr>
          <a:xfrm>
            <a:off x="960096" y="3863278"/>
            <a:ext cx="5129780" cy="266665"/>
          </a:xfrm>
          <a:prstGeom prst="rect">
            <a:avLst/>
          </a:prstGeom>
          <a:noFill/>
          <a:ln/>
        </p:spPr>
        <p:txBody>
          <a:bodyPr wrap="square" lIns="25400" tIns="25400" rIns="25400" bIns="25400" rtlCol="0" anchor="t">
            <a:normAutofit/>
          </a:bodyPr>
          <a:lstStyle/>
          <a:p>
            <a:pPr marL="0" indent="0" algn="l">
              <a:lnSpc>
                <a:spcPct val="92160"/>
              </a:lnSpc>
              <a:buNone/>
            </a:pPr>
            <a:r>
              <a:rPr lang="en-US" sz="1500" dirty="0">
                <a:solidFill>
                  <a:srgbClr val="C3D7DC"/>
                </a:solidFill>
                <a:latin typeface="Oracle Sans Tab" pitchFamily="34" charset="0"/>
                <a:ea typeface="Oracle Sans Tab" pitchFamily="34" charset="-122"/>
                <a:cs typeface="Oracle Sans Tab" pitchFamily="34" charset="-120"/>
              </a:rPr>
              <a:t>WHAT FILES GIVE YOU</a:t>
            </a:r>
            <a:endParaRPr lang="en-US" sz="1500" dirty="0"/>
          </a:p>
        </p:txBody>
      </p:sp>
      <p:sp>
        <p:nvSpPr>
          <p:cNvPr id="10" name="Shape 7"/>
          <p:cNvSpPr/>
          <p:nvPr/>
        </p:nvSpPr>
        <p:spPr>
          <a:xfrm>
            <a:off x="960096" y="4320511"/>
            <a:ext cx="4663436" cy="685798"/>
          </a:xfrm>
          <a:prstGeom prst="roundRect">
            <a:avLst>
              <a:gd name="adj" fmla="val 14028"/>
            </a:avLst>
          </a:prstGeom>
          <a:solidFill>
            <a:srgbClr val="0B5060"/>
          </a:solidFill>
          <a:ln w="16536">
            <a:solidFill>
              <a:srgbClr val="FFFFFF">
                <a:alpha val="20000"/>
              </a:srgbClr>
            </a:solidFill>
            <a:prstDash val="solid"/>
          </a:ln>
        </p:spPr>
        <p:txBody>
          <a:bodyPr/>
          <a:lstStyle/>
          <a:p>
            <a:endParaRPr lang="en-US"/>
          </a:p>
        </p:txBody>
      </p:sp>
      <p:sp>
        <p:nvSpPr>
          <p:cNvPr id="11" name="Text 8"/>
          <p:cNvSpPr/>
          <p:nvPr/>
        </p:nvSpPr>
        <p:spPr>
          <a:xfrm>
            <a:off x="1302969" y="4520551"/>
            <a:ext cx="4238231"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FFFFFF"/>
                </a:solidFill>
                <a:latin typeface="Oracle Sans Tab" pitchFamily="34" charset="0"/>
                <a:ea typeface="Oracle Sans Tab" pitchFamily="34" charset="-122"/>
                <a:cs typeface="Oracle Sans Tab" pitchFamily="34" charset="-120"/>
              </a:rPr>
              <a:t>On-distribution verbs</a:t>
            </a:r>
            <a:endParaRPr lang="en-US" sz="1875" dirty="0"/>
          </a:p>
        </p:txBody>
      </p:sp>
      <p:sp>
        <p:nvSpPr>
          <p:cNvPr id="12" name="Shape 9"/>
          <p:cNvSpPr/>
          <p:nvPr/>
        </p:nvSpPr>
        <p:spPr>
          <a:xfrm>
            <a:off x="960096" y="5171105"/>
            <a:ext cx="4663436" cy="685798"/>
          </a:xfrm>
          <a:prstGeom prst="roundRect">
            <a:avLst>
              <a:gd name="adj" fmla="val 14028"/>
            </a:avLst>
          </a:prstGeom>
          <a:solidFill>
            <a:srgbClr val="0B5060"/>
          </a:solidFill>
          <a:ln w="16536">
            <a:solidFill>
              <a:srgbClr val="FFFFFF">
                <a:alpha val="20000"/>
              </a:srgbClr>
            </a:solidFill>
            <a:prstDash val="solid"/>
          </a:ln>
        </p:spPr>
        <p:txBody>
          <a:bodyPr/>
          <a:lstStyle/>
          <a:p>
            <a:endParaRPr lang="en-US"/>
          </a:p>
        </p:txBody>
      </p:sp>
      <p:sp>
        <p:nvSpPr>
          <p:cNvPr id="13" name="Text 10"/>
          <p:cNvSpPr/>
          <p:nvPr/>
        </p:nvSpPr>
        <p:spPr>
          <a:xfrm>
            <a:off x="1302969" y="5371145"/>
            <a:ext cx="4238231"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FFFFFF"/>
                </a:solidFill>
                <a:latin typeface="Oracle Sans Tab" pitchFamily="34" charset="0"/>
                <a:ea typeface="Oracle Sans Tab" pitchFamily="34" charset="-122"/>
                <a:cs typeface="Oracle Sans Tab" pitchFamily="34" charset="-120"/>
              </a:rPr>
              <a:t>Legible &amp; versionable</a:t>
            </a:r>
            <a:endParaRPr lang="en-US" sz="1875" dirty="0"/>
          </a:p>
        </p:txBody>
      </p:sp>
      <p:sp>
        <p:nvSpPr>
          <p:cNvPr id="14" name="Shape 11"/>
          <p:cNvSpPr/>
          <p:nvPr/>
        </p:nvSpPr>
        <p:spPr>
          <a:xfrm>
            <a:off x="960096" y="6021699"/>
            <a:ext cx="4663436" cy="685798"/>
          </a:xfrm>
          <a:prstGeom prst="roundRect">
            <a:avLst>
              <a:gd name="adj" fmla="val 14028"/>
            </a:avLst>
          </a:prstGeom>
          <a:solidFill>
            <a:srgbClr val="0B5060"/>
          </a:solidFill>
          <a:ln w="16536">
            <a:solidFill>
              <a:srgbClr val="FFFFFF">
                <a:alpha val="20000"/>
              </a:srgbClr>
            </a:solidFill>
            <a:prstDash val="solid"/>
          </a:ln>
        </p:spPr>
        <p:txBody>
          <a:bodyPr/>
          <a:lstStyle/>
          <a:p>
            <a:endParaRPr lang="en-US"/>
          </a:p>
        </p:txBody>
      </p:sp>
      <p:sp>
        <p:nvSpPr>
          <p:cNvPr id="15" name="Text 12"/>
          <p:cNvSpPr/>
          <p:nvPr/>
        </p:nvSpPr>
        <p:spPr>
          <a:xfrm>
            <a:off x="1302969" y="6221739"/>
            <a:ext cx="4238231"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FFFFFF"/>
                </a:solidFill>
                <a:latin typeface="Oracle Sans Tab" pitchFamily="34" charset="0"/>
                <a:ea typeface="Oracle Sans Tab" pitchFamily="34" charset="-122"/>
                <a:cs typeface="Oracle Sans Tab" pitchFamily="34" charset="-120"/>
              </a:rPr>
              <a:t>Agent-controlled I/O</a:t>
            </a:r>
            <a:endParaRPr lang="en-US" sz="1875" dirty="0"/>
          </a:p>
        </p:txBody>
      </p:sp>
      <p:sp>
        <p:nvSpPr>
          <p:cNvPr id="16" name="Shape 13"/>
          <p:cNvSpPr/>
          <p:nvPr/>
        </p:nvSpPr>
        <p:spPr>
          <a:xfrm>
            <a:off x="960096" y="6871311"/>
            <a:ext cx="4663436" cy="685798"/>
          </a:xfrm>
          <a:prstGeom prst="roundRect">
            <a:avLst>
              <a:gd name="adj" fmla="val 14028"/>
            </a:avLst>
          </a:prstGeom>
          <a:solidFill>
            <a:srgbClr val="0B5060"/>
          </a:solidFill>
          <a:ln w="16536">
            <a:solidFill>
              <a:srgbClr val="FFFFFF">
                <a:alpha val="20000"/>
              </a:srgbClr>
            </a:solidFill>
            <a:prstDash val="solid"/>
          </a:ln>
        </p:spPr>
        <p:txBody>
          <a:bodyPr/>
          <a:lstStyle/>
          <a:p>
            <a:endParaRPr lang="en-US"/>
          </a:p>
        </p:txBody>
      </p:sp>
      <p:sp>
        <p:nvSpPr>
          <p:cNvPr id="17" name="Text 14"/>
          <p:cNvSpPr/>
          <p:nvPr/>
        </p:nvSpPr>
        <p:spPr>
          <a:xfrm>
            <a:off x="1302969" y="7071351"/>
            <a:ext cx="4238231"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FFFFFF"/>
                </a:solidFill>
                <a:latin typeface="Oracle Sans Tab" pitchFamily="34" charset="0"/>
                <a:ea typeface="Oracle Sans Tab" pitchFamily="34" charset="-122"/>
                <a:cs typeface="Oracle Sans Tab" pitchFamily="34" charset="-120"/>
              </a:rPr>
              <a:t>Hierarchical paths</a:t>
            </a:r>
            <a:endParaRPr lang="en-US" sz="1875" dirty="0"/>
          </a:p>
        </p:txBody>
      </p:sp>
      <p:sp>
        <p:nvSpPr>
          <p:cNvPr id="18" name="Shape 15"/>
          <p:cNvSpPr/>
          <p:nvPr/>
        </p:nvSpPr>
        <p:spPr>
          <a:xfrm>
            <a:off x="6377905" y="4114788"/>
            <a:ext cx="5486383" cy="1508745"/>
          </a:xfrm>
          <a:prstGeom prst="roundRect">
            <a:avLst>
              <a:gd name="adj" fmla="val 637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9" name="Text 16"/>
          <p:cNvSpPr/>
          <p:nvPr/>
        </p:nvSpPr>
        <p:spPr>
          <a:xfrm>
            <a:off x="6295609" y="4338598"/>
            <a:ext cx="5650975" cy="358132"/>
          </a:xfrm>
          <a:prstGeom prst="rect">
            <a:avLst/>
          </a:prstGeom>
          <a:noFill/>
          <a:ln/>
        </p:spPr>
        <p:txBody>
          <a:bodyPr wrap="square" lIns="25400" tIns="25400" rIns="25400" bIns="25400" rtlCol="0" anchor="t">
            <a:normAutofit/>
          </a:bodyPr>
          <a:lstStyle/>
          <a:p>
            <a:pPr marL="0" indent="0" algn="ctr">
              <a:lnSpc>
                <a:spcPct val="92160"/>
              </a:lnSpc>
              <a:buNone/>
            </a:pPr>
            <a:r>
              <a:rPr lang="en-US" sz="2100" b="1" dirty="0">
                <a:solidFill>
                  <a:srgbClr val="FFFFFF"/>
                </a:solidFill>
                <a:latin typeface="Oracle Sans Tab" pitchFamily="34" charset="0"/>
                <a:ea typeface="Oracle Sans Tab" pitchFamily="34" charset="-122"/>
                <a:cs typeface="Oracle Sans Tab" pitchFamily="34" charset="-120"/>
              </a:rPr>
              <a:t>File interface</a:t>
            </a:r>
            <a:endParaRPr lang="en-US" sz="2100" dirty="0"/>
          </a:p>
        </p:txBody>
      </p:sp>
      <p:sp>
        <p:nvSpPr>
          <p:cNvPr id="20" name="Text 17"/>
          <p:cNvSpPr/>
          <p:nvPr/>
        </p:nvSpPr>
        <p:spPr>
          <a:xfrm>
            <a:off x="6103586" y="4778675"/>
            <a:ext cx="6035021" cy="232352"/>
          </a:xfrm>
          <a:prstGeom prst="rect">
            <a:avLst/>
          </a:prstGeom>
          <a:noFill/>
          <a:ln/>
        </p:spPr>
        <p:txBody>
          <a:bodyPr wrap="square" lIns="25400" tIns="25400" rIns="25400" bIns="25400" rtlCol="0" anchor="t">
            <a:normAutofit/>
          </a:bodyPr>
          <a:lstStyle/>
          <a:p>
            <a:pPr marL="0" indent="0" algn="ctr">
              <a:lnSpc>
                <a:spcPct val="92160"/>
              </a:lnSpc>
              <a:buNone/>
            </a:pPr>
            <a:r>
              <a:rPr lang="en-US" sz="1275" dirty="0">
                <a:solidFill>
                  <a:srgbClr val="C3D7DC"/>
                </a:solidFill>
                <a:latin typeface="Oracle Sans Tab" pitchFamily="34" charset="0"/>
                <a:ea typeface="Oracle Sans Tab" pitchFamily="34" charset="-122"/>
                <a:cs typeface="Oracle Sans Tab" pitchFamily="34" charset="-120"/>
              </a:rPr>
              <a:t>DBFS, POSIX, FUSE MOUNT</a:t>
            </a:r>
            <a:endParaRPr lang="en-US" sz="1275" dirty="0"/>
          </a:p>
        </p:txBody>
      </p:sp>
      <p:sp>
        <p:nvSpPr>
          <p:cNvPr id="21" name="Shape 18"/>
          <p:cNvSpPr/>
          <p:nvPr/>
        </p:nvSpPr>
        <p:spPr>
          <a:xfrm>
            <a:off x="6857979" y="5115863"/>
            <a:ext cx="1069650" cy="411448"/>
          </a:xfrm>
          <a:prstGeom prst="roundRect">
            <a:avLst>
              <a:gd name="adj" fmla="val 23381"/>
            </a:avLst>
          </a:prstGeom>
          <a:solidFill>
            <a:srgbClr val="0B5060"/>
          </a:solidFill>
          <a:ln w="16536">
            <a:solidFill>
              <a:srgbClr val="E0836F"/>
            </a:solidFill>
            <a:prstDash val="solid"/>
          </a:ln>
        </p:spPr>
        <p:txBody>
          <a:bodyPr/>
          <a:lstStyle/>
          <a:p>
            <a:endParaRPr lang="en-US"/>
          </a:p>
        </p:txBody>
      </p:sp>
      <p:sp>
        <p:nvSpPr>
          <p:cNvPr id="22" name="Text 19"/>
          <p:cNvSpPr/>
          <p:nvPr/>
        </p:nvSpPr>
        <p:spPr>
          <a:xfrm>
            <a:off x="6819879" y="5213015"/>
            <a:ext cx="1145850" cy="255244"/>
          </a:xfrm>
          <a:prstGeom prst="rect">
            <a:avLst/>
          </a:prstGeom>
          <a:noFill/>
          <a:ln/>
        </p:spPr>
        <p:txBody>
          <a:bodyPr wrap="square" lIns="25400" tIns="25400" rIns="25400" bIns="25400" rtlCol="0" anchor="t">
            <a:normAutofit/>
          </a:bodyPr>
          <a:lstStyle/>
          <a:p>
            <a:pPr marL="0" indent="0" algn="ctr">
              <a:lnSpc>
                <a:spcPct val="92160"/>
              </a:lnSpc>
              <a:buNone/>
            </a:pPr>
            <a:r>
              <a:rPr lang="en-US" sz="1425" dirty="0">
                <a:solidFill>
                  <a:srgbClr val="FD6953"/>
                </a:solidFill>
                <a:latin typeface="Oracle Sans Tab" pitchFamily="34" charset="0"/>
                <a:ea typeface="Oracle Sans Tab" pitchFamily="34" charset="-122"/>
                <a:cs typeface="Oracle Sans Tab" pitchFamily="34" charset="-120"/>
              </a:rPr>
              <a:t>read</a:t>
            </a:r>
            <a:endParaRPr lang="en-US" sz="1425" dirty="0"/>
          </a:p>
        </p:txBody>
      </p:sp>
      <p:sp>
        <p:nvSpPr>
          <p:cNvPr id="23" name="Shape 20"/>
          <p:cNvSpPr/>
          <p:nvPr/>
        </p:nvSpPr>
        <p:spPr>
          <a:xfrm>
            <a:off x="8092426" y="5115863"/>
            <a:ext cx="1069650" cy="411448"/>
          </a:xfrm>
          <a:prstGeom prst="roundRect">
            <a:avLst>
              <a:gd name="adj" fmla="val 23381"/>
            </a:avLst>
          </a:prstGeom>
          <a:solidFill>
            <a:srgbClr val="0B5060"/>
          </a:solidFill>
          <a:ln w="16536">
            <a:solidFill>
              <a:srgbClr val="E0836F"/>
            </a:solidFill>
            <a:prstDash val="solid"/>
          </a:ln>
        </p:spPr>
        <p:txBody>
          <a:bodyPr/>
          <a:lstStyle/>
          <a:p>
            <a:endParaRPr lang="en-US"/>
          </a:p>
        </p:txBody>
      </p:sp>
      <p:sp>
        <p:nvSpPr>
          <p:cNvPr id="24" name="Text 21"/>
          <p:cNvSpPr/>
          <p:nvPr/>
        </p:nvSpPr>
        <p:spPr>
          <a:xfrm>
            <a:off x="8054326" y="5213015"/>
            <a:ext cx="1145850" cy="255244"/>
          </a:xfrm>
          <a:prstGeom prst="rect">
            <a:avLst/>
          </a:prstGeom>
          <a:noFill/>
          <a:ln/>
        </p:spPr>
        <p:txBody>
          <a:bodyPr wrap="square" lIns="25400" tIns="25400" rIns="25400" bIns="25400" rtlCol="0" anchor="t">
            <a:normAutofit/>
          </a:bodyPr>
          <a:lstStyle/>
          <a:p>
            <a:pPr marL="0" indent="0" algn="ctr">
              <a:lnSpc>
                <a:spcPct val="92160"/>
              </a:lnSpc>
              <a:buNone/>
            </a:pPr>
            <a:r>
              <a:rPr lang="en-US" sz="1425" dirty="0">
                <a:solidFill>
                  <a:srgbClr val="FD6953"/>
                </a:solidFill>
                <a:latin typeface="Oracle Sans Tab" pitchFamily="34" charset="0"/>
                <a:ea typeface="Oracle Sans Tab" pitchFamily="34" charset="-122"/>
                <a:cs typeface="Oracle Sans Tab" pitchFamily="34" charset="-120"/>
              </a:rPr>
              <a:t>write</a:t>
            </a:r>
            <a:endParaRPr lang="en-US" sz="1425" dirty="0"/>
          </a:p>
        </p:txBody>
      </p:sp>
      <p:sp>
        <p:nvSpPr>
          <p:cNvPr id="25" name="Shape 22"/>
          <p:cNvSpPr/>
          <p:nvPr/>
        </p:nvSpPr>
        <p:spPr>
          <a:xfrm>
            <a:off x="9326872" y="5115863"/>
            <a:ext cx="1069650" cy="411448"/>
          </a:xfrm>
          <a:prstGeom prst="roundRect">
            <a:avLst>
              <a:gd name="adj" fmla="val 23381"/>
            </a:avLst>
          </a:prstGeom>
          <a:solidFill>
            <a:srgbClr val="0B5060"/>
          </a:solidFill>
          <a:ln w="16536">
            <a:solidFill>
              <a:srgbClr val="E0836F"/>
            </a:solidFill>
            <a:prstDash val="solid"/>
          </a:ln>
        </p:spPr>
        <p:txBody>
          <a:bodyPr/>
          <a:lstStyle/>
          <a:p>
            <a:endParaRPr lang="en-US"/>
          </a:p>
        </p:txBody>
      </p:sp>
      <p:sp>
        <p:nvSpPr>
          <p:cNvPr id="26" name="Text 23"/>
          <p:cNvSpPr/>
          <p:nvPr/>
        </p:nvSpPr>
        <p:spPr>
          <a:xfrm>
            <a:off x="9288772" y="5213015"/>
            <a:ext cx="1145850" cy="255244"/>
          </a:xfrm>
          <a:prstGeom prst="rect">
            <a:avLst/>
          </a:prstGeom>
          <a:noFill/>
          <a:ln/>
        </p:spPr>
        <p:txBody>
          <a:bodyPr wrap="square" lIns="25400" tIns="25400" rIns="25400" bIns="25400" rtlCol="0" anchor="t">
            <a:normAutofit/>
          </a:bodyPr>
          <a:lstStyle/>
          <a:p>
            <a:pPr marL="0" indent="0" algn="ctr">
              <a:lnSpc>
                <a:spcPct val="92160"/>
              </a:lnSpc>
              <a:buNone/>
            </a:pPr>
            <a:r>
              <a:rPr lang="en-US" sz="1425" dirty="0">
                <a:solidFill>
                  <a:srgbClr val="FD6953"/>
                </a:solidFill>
                <a:latin typeface="Oracle Sans Tab" pitchFamily="34" charset="0"/>
                <a:ea typeface="Oracle Sans Tab" pitchFamily="34" charset="-122"/>
                <a:cs typeface="Oracle Sans Tab" pitchFamily="34" charset="-120"/>
              </a:rPr>
              <a:t>ls</a:t>
            </a:r>
            <a:endParaRPr lang="en-US" sz="1425" dirty="0"/>
          </a:p>
        </p:txBody>
      </p:sp>
      <p:sp>
        <p:nvSpPr>
          <p:cNvPr id="27" name="Shape 24"/>
          <p:cNvSpPr/>
          <p:nvPr/>
        </p:nvSpPr>
        <p:spPr>
          <a:xfrm>
            <a:off x="10561319" y="5115863"/>
            <a:ext cx="1069650" cy="411448"/>
          </a:xfrm>
          <a:prstGeom prst="roundRect">
            <a:avLst>
              <a:gd name="adj" fmla="val 23381"/>
            </a:avLst>
          </a:prstGeom>
          <a:solidFill>
            <a:srgbClr val="0B5060"/>
          </a:solidFill>
          <a:ln w="16536">
            <a:solidFill>
              <a:srgbClr val="E0836F"/>
            </a:solidFill>
            <a:prstDash val="solid"/>
          </a:ln>
        </p:spPr>
        <p:txBody>
          <a:bodyPr/>
          <a:lstStyle/>
          <a:p>
            <a:endParaRPr lang="en-US"/>
          </a:p>
        </p:txBody>
      </p:sp>
      <p:sp>
        <p:nvSpPr>
          <p:cNvPr id="28" name="Text 25"/>
          <p:cNvSpPr/>
          <p:nvPr/>
        </p:nvSpPr>
        <p:spPr>
          <a:xfrm>
            <a:off x="10523219" y="5213015"/>
            <a:ext cx="1145850" cy="255244"/>
          </a:xfrm>
          <a:prstGeom prst="rect">
            <a:avLst/>
          </a:prstGeom>
          <a:noFill/>
          <a:ln/>
        </p:spPr>
        <p:txBody>
          <a:bodyPr wrap="square" lIns="25400" tIns="25400" rIns="25400" bIns="25400" rtlCol="0" anchor="t">
            <a:normAutofit/>
          </a:bodyPr>
          <a:lstStyle/>
          <a:p>
            <a:pPr marL="0" indent="0" algn="ctr">
              <a:lnSpc>
                <a:spcPct val="92160"/>
              </a:lnSpc>
              <a:buNone/>
            </a:pPr>
            <a:r>
              <a:rPr lang="en-US" sz="1425" dirty="0">
                <a:solidFill>
                  <a:srgbClr val="FD6953"/>
                </a:solidFill>
                <a:latin typeface="Oracle Sans Tab" pitchFamily="34" charset="0"/>
                <a:ea typeface="Oracle Sans Tab" pitchFamily="34" charset="-122"/>
                <a:cs typeface="Oracle Sans Tab" pitchFamily="34" charset="-120"/>
              </a:rPr>
              <a:t>grep</a:t>
            </a:r>
            <a:endParaRPr lang="en-US" sz="1425" dirty="0"/>
          </a:p>
        </p:txBody>
      </p:sp>
      <p:sp>
        <p:nvSpPr>
          <p:cNvPr id="29" name="Shape 26"/>
          <p:cNvSpPr/>
          <p:nvPr/>
        </p:nvSpPr>
        <p:spPr>
          <a:xfrm>
            <a:off x="6995128" y="6172181"/>
            <a:ext cx="4251937" cy="2057394"/>
          </a:xfrm>
          <a:prstGeom prst="roundRect">
            <a:avLst>
              <a:gd name="adj" fmla="val 11991"/>
            </a:avLst>
          </a:prstGeom>
          <a:solidFill>
            <a:srgbClr val="0B5060"/>
          </a:solidFill>
          <a:ln w="19844">
            <a:solidFill>
              <a:srgbClr val="E0836F"/>
            </a:solidFill>
            <a:prstDash val="solid"/>
          </a:ln>
        </p:spPr>
        <p:txBody>
          <a:bodyPr/>
          <a:lstStyle/>
          <a:p>
            <a:endParaRPr lang="en-US"/>
          </a:p>
        </p:txBody>
      </p:sp>
      <p:sp>
        <p:nvSpPr>
          <p:cNvPr id="30" name="Text 27"/>
          <p:cNvSpPr/>
          <p:nvPr/>
        </p:nvSpPr>
        <p:spPr>
          <a:xfrm>
            <a:off x="6931349" y="6805579"/>
            <a:ext cx="4379495" cy="335239"/>
          </a:xfrm>
          <a:prstGeom prst="rect">
            <a:avLst/>
          </a:prstGeom>
          <a:noFill/>
          <a:ln/>
        </p:spPr>
        <p:txBody>
          <a:bodyPr wrap="square" lIns="25400" tIns="25400" rIns="25400" bIns="25400" rtlCol="0" anchor="t">
            <a:normAutofit/>
          </a:bodyPr>
          <a:lstStyle/>
          <a:p>
            <a:pPr marL="0" indent="0" algn="ctr">
              <a:lnSpc>
                <a:spcPct val="92160"/>
              </a:lnSpc>
              <a:buNone/>
            </a:pPr>
            <a:r>
              <a:rPr lang="en-US" sz="1950" b="1" dirty="0">
                <a:solidFill>
                  <a:srgbClr val="FFFFFF"/>
                </a:solidFill>
                <a:latin typeface="Oracle Sans Tab" pitchFamily="34" charset="0"/>
                <a:ea typeface="Oracle Sans Tab" pitchFamily="34" charset="-122"/>
                <a:cs typeface="Oracle Sans Tab" pitchFamily="34" charset="-120"/>
              </a:rPr>
              <a:t>Oracle AI Database 26ai</a:t>
            </a:r>
            <a:endParaRPr lang="en-US" sz="1950" dirty="0"/>
          </a:p>
        </p:txBody>
      </p:sp>
      <p:sp>
        <p:nvSpPr>
          <p:cNvPr id="31" name="Text 28"/>
          <p:cNvSpPr/>
          <p:nvPr/>
        </p:nvSpPr>
        <p:spPr>
          <a:xfrm>
            <a:off x="6782531" y="7261831"/>
            <a:ext cx="4677130" cy="232352"/>
          </a:xfrm>
          <a:prstGeom prst="rect">
            <a:avLst/>
          </a:prstGeom>
          <a:noFill/>
          <a:ln/>
        </p:spPr>
        <p:txBody>
          <a:bodyPr wrap="square" lIns="25400" tIns="25400" rIns="25400" bIns="25400" rtlCol="0" anchor="t">
            <a:normAutofit/>
          </a:bodyPr>
          <a:lstStyle/>
          <a:p>
            <a:pPr marL="0" indent="0" algn="ctr">
              <a:lnSpc>
                <a:spcPct val="92160"/>
              </a:lnSpc>
              <a:buNone/>
            </a:pPr>
            <a:r>
              <a:rPr lang="en-US" sz="1275" dirty="0">
                <a:solidFill>
                  <a:srgbClr val="C3D7DC"/>
                </a:solidFill>
                <a:latin typeface="Oracle Sans Tab" pitchFamily="34" charset="0"/>
                <a:ea typeface="Oracle Sans Tab" pitchFamily="34" charset="-122"/>
                <a:cs typeface="Oracle Sans Tab" pitchFamily="34" charset="-120"/>
              </a:rPr>
              <a:t>SECUREFILES LOBS</a:t>
            </a:r>
            <a:endParaRPr lang="en-US" sz="1275" dirty="0"/>
          </a:p>
        </p:txBody>
      </p:sp>
      <p:sp>
        <p:nvSpPr>
          <p:cNvPr id="32" name="Shape 29"/>
          <p:cNvSpPr/>
          <p:nvPr/>
        </p:nvSpPr>
        <p:spPr>
          <a:xfrm rot="5400000">
            <a:off x="8834553" y="5887909"/>
            <a:ext cx="552450" cy="19844"/>
          </a:xfrm>
          <a:prstGeom prst="rect">
            <a:avLst/>
          </a:prstGeom>
          <a:solidFill>
            <a:srgbClr val="FFFFFF">
              <a:alpha val="34000"/>
            </a:srgbClr>
          </a:solidFill>
          <a:ln/>
        </p:spPr>
        <p:txBody>
          <a:bodyPr/>
          <a:lstStyle/>
          <a:p>
            <a:endParaRPr lang="en-US"/>
          </a:p>
        </p:txBody>
      </p:sp>
      <p:sp>
        <p:nvSpPr>
          <p:cNvPr id="33" name="Shape 30"/>
          <p:cNvSpPr/>
          <p:nvPr/>
        </p:nvSpPr>
        <p:spPr>
          <a:xfrm>
            <a:off x="5623532" y="4526235"/>
            <a:ext cx="754373" cy="19844"/>
          </a:xfrm>
          <a:prstGeom prst="rect">
            <a:avLst/>
          </a:prstGeom>
          <a:solidFill>
            <a:srgbClr val="FFFFFF">
              <a:alpha val="34000"/>
            </a:srgbClr>
          </a:solidFill>
          <a:ln/>
        </p:spPr>
        <p:txBody>
          <a:bodyPr/>
          <a:lstStyle/>
          <a:p>
            <a:endParaRPr lang="en-US"/>
          </a:p>
        </p:txBody>
      </p:sp>
      <p:sp>
        <p:nvSpPr>
          <p:cNvPr id="34" name="Shape 31"/>
          <p:cNvSpPr/>
          <p:nvPr/>
        </p:nvSpPr>
        <p:spPr>
          <a:xfrm>
            <a:off x="11864340" y="7200852"/>
            <a:ext cx="411448" cy="19844"/>
          </a:xfrm>
          <a:prstGeom prst="rect">
            <a:avLst/>
          </a:prstGeom>
          <a:solidFill>
            <a:srgbClr val="FFFFFF">
              <a:alpha val="34000"/>
            </a:srgbClr>
          </a:solidFill>
          <a:ln/>
        </p:spPr>
        <p:txBody>
          <a:bodyPr/>
          <a:lstStyle/>
          <a:p>
            <a:endParaRPr lang="en-US"/>
          </a:p>
        </p:txBody>
      </p:sp>
      <p:sp>
        <p:nvSpPr>
          <p:cNvPr id="35" name="Text 32"/>
          <p:cNvSpPr/>
          <p:nvPr/>
        </p:nvSpPr>
        <p:spPr>
          <a:xfrm>
            <a:off x="12275788" y="3863278"/>
            <a:ext cx="5431508" cy="266665"/>
          </a:xfrm>
          <a:prstGeom prst="rect">
            <a:avLst/>
          </a:prstGeom>
          <a:noFill/>
          <a:ln/>
        </p:spPr>
        <p:txBody>
          <a:bodyPr wrap="square" lIns="25400" tIns="25400" rIns="25400" bIns="25400" rtlCol="0" anchor="t">
            <a:normAutofit/>
          </a:bodyPr>
          <a:lstStyle/>
          <a:p>
            <a:pPr marL="0" indent="0" algn="l">
              <a:lnSpc>
                <a:spcPct val="92160"/>
              </a:lnSpc>
              <a:buNone/>
            </a:pPr>
            <a:r>
              <a:rPr lang="en-US" sz="1500" dirty="0">
                <a:solidFill>
                  <a:srgbClr val="C3D7DC"/>
                </a:solidFill>
                <a:latin typeface="Oracle Sans Tab" pitchFamily="34" charset="0"/>
                <a:ea typeface="Oracle Sans Tab" pitchFamily="34" charset="-122"/>
                <a:cs typeface="Oracle Sans Tab" pitchFamily="34" charset="-120"/>
              </a:rPr>
              <a:t>WHAT THE DATABASE ADDS</a:t>
            </a:r>
            <a:endParaRPr lang="en-US" sz="1500" dirty="0"/>
          </a:p>
        </p:txBody>
      </p:sp>
      <p:sp>
        <p:nvSpPr>
          <p:cNvPr id="36" name="Shape 33"/>
          <p:cNvSpPr/>
          <p:nvPr/>
        </p:nvSpPr>
        <p:spPr>
          <a:xfrm>
            <a:off x="12275788" y="4320511"/>
            <a:ext cx="5052043" cy="685798"/>
          </a:xfrm>
          <a:prstGeom prst="roundRect">
            <a:avLst>
              <a:gd name="adj" fmla="val 14028"/>
            </a:avLst>
          </a:prstGeom>
          <a:solidFill>
            <a:srgbClr val="0B5060"/>
          </a:solidFill>
          <a:ln w="16536">
            <a:solidFill>
              <a:srgbClr val="E0836F"/>
            </a:solidFill>
            <a:prstDash val="solid"/>
          </a:ln>
        </p:spPr>
        <p:txBody>
          <a:bodyPr/>
          <a:lstStyle/>
          <a:p>
            <a:endParaRPr lang="en-US"/>
          </a:p>
        </p:txBody>
      </p:sp>
      <p:sp>
        <p:nvSpPr>
          <p:cNvPr id="37" name="Text 34"/>
          <p:cNvSpPr/>
          <p:nvPr/>
        </p:nvSpPr>
        <p:spPr>
          <a:xfrm>
            <a:off x="12618712" y="4520551"/>
            <a:ext cx="4638496"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FFFFFF"/>
                </a:solidFill>
                <a:latin typeface="Oracle Sans Tab" pitchFamily="34" charset="0"/>
                <a:ea typeface="Oracle Sans Tab" pitchFamily="34" charset="-122"/>
                <a:cs typeface="Oracle Sans Tab" pitchFamily="34" charset="-120"/>
              </a:rPr>
              <a:t>ACID + HA (Data Guard)</a:t>
            </a:r>
            <a:endParaRPr lang="en-US" sz="1875" dirty="0"/>
          </a:p>
        </p:txBody>
      </p:sp>
      <p:sp>
        <p:nvSpPr>
          <p:cNvPr id="38" name="Shape 35"/>
          <p:cNvSpPr/>
          <p:nvPr/>
        </p:nvSpPr>
        <p:spPr>
          <a:xfrm>
            <a:off x="12275788" y="5171105"/>
            <a:ext cx="5052043" cy="685798"/>
          </a:xfrm>
          <a:prstGeom prst="roundRect">
            <a:avLst>
              <a:gd name="adj" fmla="val 14028"/>
            </a:avLst>
          </a:prstGeom>
          <a:solidFill>
            <a:srgbClr val="0B5060"/>
          </a:solidFill>
          <a:ln w="16536">
            <a:solidFill>
              <a:srgbClr val="E0836F"/>
            </a:solidFill>
            <a:prstDash val="solid"/>
          </a:ln>
        </p:spPr>
        <p:txBody>
          <a:bodyPr/>
          <a:lstStyle/>
          <a:p>
            <a:endParaRPr lang="en-US"/>
          </a:p>
        </p:txBody>
      </p:sp>
      <p:sp>
        <p:nvSpPr>
          <p:cNvPr id="39" name="Text 36"/>
          <p:cNvSpPr/>
          <p:nvPr/>
        </p:nvSpPr>
        <p:spPr>
          <a:xfrm>
            <a:off x="12618712" y="5371145"/>
            <a:ext cx="4638496"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FFFFFF"/>
                </a:solidFill>
                <a:latin typeface="Oracle Sans Tab" pitchFamily="34" charset="0"/>
                <a:ea typeface="Oracle Sans Tab" pitchFamily="34" charset="-122"/>
                <a:cs typeface="Oracle Sans Tab" pitchFamily="34" charset="-120"/>
              </a:rPr>
              <a:t>AI Vector Search</a:t>
            </a:r>
            <a:endParaRPr lang="en-US" sz="1875" dirty="0"/>
          </a:p>
        </p:txBody>
      </p:sp>
      <p:sp>
        <p:nvSpPr>
          <p:cNvPr id="40" name="Shape 37"/>
          <p:cNvSpPr/>
          <p:nvPr/>
        </p:nvSpPr>
        <p:spPr>
          <a:xfrm>
            <a:off x="12275788" y="6021699"/>
            <a:ext cx="5052043" cy="685798"/>
          </a:xfrm>
          <a:prstGeom prst="roundRect">
            <a:avLst>
              <a:gd name="adj" fmla="val 14028"/>
            </a:avLst>
          </a:prstGeom>
          <a:solidFill>
            <a:srgbClr val="0B5060"/>
          </a:solidFill>
          <a:ln w="16536">
            <a:solidFill>
              <a:srgbClr val="E0836F"/>
            </a:solidFill>
            <a:prstDash val="solid"/>
          </a:ln>
        </p:spPr>
        <p:txBody>
          <a:bodyPr/>
          <a:lstStyle/>
          <a:p>
            <a:endParaRPr lang="en-US"/>
          </a:p>
        </p:txBody>
      </p:sp>
      <p:sp>
        <p:nvSpPr>
          <p:cNvPr id="41" name="Text 38"/>
          <p:cNvSpPr/>
          <p:nvPr/>
        </p:nvSpPr>
        <p:spPr>
          <a:xfrm>
            <a:off x="12618712" y="6221739"/>
            <a:ext cx="4638496"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FFFFFF"/>
                </a:solidFill>
                <a:latin typeface="Oracle Sans Tab" pitchFamily="34" charset="0"/>
                <a:ea typeface="Oracle Sans Tab" pitchFamily="34" charset="-122"/>
                <a:cs typeface="Oracle Sans Tab" pitchFamily="34" charset="-120"/>
              </a:rPr>
              <a:t>Relations + ranking</a:t>
            </a:r>
            <a:endParaRPr lang="en-US" sz="1875" dirty="0"/>
          </a:p>
        </p:txBody>
      </p:sp>
      <p:sp>
        <p:nvSpPr>
          <p:cNvPr id="42" name="Shape 39"/>
          <p:cNvSpPr/>
          <p:nvPr/>
        </p:nvSpPr>
        <p:spPr>
          <a:xfrm>
            <a:off x="12275788" y="6871311"/>
            <a:ext cx="5052043" cy="685798"/>
          </a:xfrm>
          <a:prstGeom prst="roundRect">
            <a:avLst>
              <a:gd name="adj" fmla="val 14028"/>
            </a:avLst>
          </a:prstGeom>
          <a:solidFill>
            <a:srgbClr val="0B5060"/>
          </a:solidFill>
          <a:ln w="16536">
            <a:solidFill>
              <a:srgbClr val="E0836F"/>
            </a:solidFill>
            <a:prstDash val="solid"/>
          </a:ln>
        </p:spPr>
        <p:txBody>
          <a:bodyPr/>
          <a:lstStyle/>
          <a:p>
            <a:endParaRPr lang="en-US"/>
          </a:p>
        </p:txBody>
      </p:sp>
      <p:sp>
        <p:nvSpPr>
          <p:cNvPr id="43" name="Text 40"/>
          <p:cNvSpPr/>
          <p:nvPr/>
        </p:nvSpPr>
        <p:spPr>
          <a:xfrm>
            <a:off x="12618712" y="7071351"/>
            <a:ext cx="4638496"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dirty="0">
                <a:solidFill>
                  <a:srgbClr val="FFFFFF"/>
                </a:solidFill>
                <a:latin typeface="Oracle Sans Tab" pitchFamily="34" charset="0"/>
                <a:ea typeface="Oracle Sans Tab" pitchFamily="34" charset="-122"/>
                <a:cs typeface="Oracle Sans Tab" pitchFamily="34" charset="-120"/>
              </a:rPr>
              <a:t>Scale, security, backup</a:t>
            </a:r>
            <a:endParaRPr lang="en-US" sz="1875" dirty="0"/>
          </a:p>
        </p:txBody>
      </p:sp>
      <p:sp>
        <p:nvSpPr>
          <p:cNvPr id="44" name="Text 41"/>
          <p:cNvSpPr/>
          <p:nvPr/>
        </p:nvSpPr>
        <p:spPr>
          <a:xfrm>
            <a:off x="960096" y="8709649"/>
            <a:ext cx="16858767" cy="578119"/>
          </a:xfrm>
          <a:prstGeom prst="rect">
            <a:avLst/>
          </a:prstGeom>
          <a:noFill/>
          <a:ln/>
        </p:spPr>
        <p:txBody>
          <a:bodyPr wrap="square" lIns="25400" tIns="25400" rIns="25400" bIns="25400" rtlCol="0" anchor="t">
            <a:normAutofit/>
          </a:bodyPr>
          <a:lstStyle/>
          <a:p>
            <a:pPr marL="0" indent="0" algn="l">
              <a:lnSpc>
                <a:spcPct val="80640"/>
              </a:lnSpc>
              <a:buNone/>
            </a:pPr>
            <a:r>
              <a:rPr lang="en-US" sz="2025" b="1" dirty="0">
                <a:solidFill>
                  <a:srgbClr val="FD6953"/>
                </a:solidFill>
                <a:latin typeface="Oracle Sans Tab" pitchFamily="34" charset="0"/>
                <a:ea typeface="Oracle Sans Tab" pitchFamily="34" charset="-122"/>
                <a:cs typeface="Oracle Sans Tab" pitchFamily="34" charset="-120"/>
              </a:rPr>
              <a:t>Hybrid in practice: </a:t>
            </a:r>
            <a:r>
              <a:rPr lang="en-US" sz="2025" dirty="0">
                <a:solidFill>
                  <a:srgbClr val="FFFFFF"/>
                </a:solidFill>
                <a:latin typeface="Oracle Sans Tab" pitchFamily="34" charset="0"/>
                <a:ea typeface="Oracle Sans Tab" pitchFamily="34" charset="-122"/>
                <a:cs typeface="Oracle Sans Tab" pitchFamily="34" charset="-120"/>
              </a:rPr>
              <a:t>a scratchpad on the filesystem holds short-term working memory; a scheduled pipeline </a:t>
            </a:r>
            <a:r>
              <a:rPr lang="en-US" sz="2025" b="1" dirty="0">
                <a:solidFill>
                  <a:srgbClr val="FFFFFF"/>
                </a:solidFill>
                <a:latin typeface="Oracle Sans Tab" pitchFamily="34" charset="0"/>
                <a:ea typeface="Oracle Sans Tab" pitchFamily="34" charset="-122"/>
                <a:cs typeface="Oracle Sans Tab" pitchFamily="34" charset="-120"/>
              </a:rPr>
              <a:t>promotes </a:t>
            </a:r>
            <a:r>
              <a:rPr lang="en-US" sz="2025" dirty="0">
                <a:solidFill>
                  <a:srgbClr val="FFFFFF"/>
                </a:solidFill>
                <a:latin typeface="Oracle Sans Tab" pitchFamily="34" charset="0"/>
                <a:ea typeface="Oracle Sans Tab" pitchFamily="34" charset="-122"/>
                <a:cs typeface="Oracle Sans Tab" pitchFamily="34" charset="-120"/>
              </a:rPr>
              <a:t>what is worth keeping into long-term memory in tables. One pipeline, one ACID boundary.</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99982"/>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Menlo" pitchFamily="34" charset="0"/>
                <a:ea typeface="Menlo" pitchFamily="34" charset="-122"/>
                <a:cs typeface="Menlo" pitchFamily="34" charset="-120"/>
              </a:rPr>
              <a:t>LAYER 3, ENCODING &amp; RETRIEVAL</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WRITE PATH, READ PATH</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ENCODING &amp; RETRIEVAL</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Turn text into meaning, hand back the right </a:t>
            </a:r>
            <a:r>
              <a:rPr lang="en-US" sz="4500" b="1" i="1" dirty="0">
                <a:solidFill>
                  <a:srgbClr val="FD6953"/>
                </a:solidFill>
                <a:latin typeface="Oracle Sans Tab" pitchFamily="34" charset="0"/>
                <a:ea typeface="Oracle Sans Tab" pitchFamily="34" charset="-122"/>
                <a:cs typeface="Oracle Sans Tab" pitchFamily="34" charset="-120"/>
              </a:rPr>
              <a:t>slice.</a:t>
            </a:r>
            <a:endParaRPr lang="en-US" sz="1200" dirty="0"/>
          </a:p>
        </p:txBody>
      </p:sp>
      <p:sp>
        <p:nvSpPr>
          <p:cNvPr id="8" name="Shape 5"/>
          <p:cNvSpPr/>
          <p:nvPr/>
        </p:nvSpPr>
        <p:spPr>
          <a:xfrm>
            <a:off x="960096" y="3771863"/>
            <a:ext cx="7886650" cy="4869160"/>
          </a:xfrm>
          <a:prstGeom prst="roundRect">
            <a:avLst>
              <a:gd name="adj" fmla="val 197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 name="Text 6"/>
          <p:cNvSpPr/>
          <p:nvPr/>
        </p:nvSpPr>
        <p:spPr>
          <a:xfrm>
            <a:off x="1440170" y="4208115"/>
            <a:ext cx="7134351"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dirty="0">
                <a:solidFill>
                  <a:srgbClr val="FD6953"/>
                </a:solidFill>
                <a:latin typeface="Oracle Sans Tab" pitchFamily="34" charset="0"/>
                <a:ea typeface="Oracle Sans Tab" pitchFamily="34" charset="-122"/>
                <a:cs typeface="Oracle Sans Tab" pitchFamily="34" charset="-120"/>
              </a:rPr>
              <a:t>WRITE PATH, ENCODING</a:t>
            </a:r>
            <a:endParaRPr lang="en-US" sz="1650" dirty="0"/>
          </a:p>
        </p:txBody>
      </p:sp>
      <p:sp>
        <p:nvSpPr>
          <p:cNvPr id="10" name="Text 7"/>
          <p:cNvSpPr/>
          <p:nvPr/>
        </p:nvSpPr>
        <p:spPr>
          <a:xfrm>
            <a:off x="1440170" y="4928743"/>
            <a:ext cx="7134351" cy="673307"/>
          </a:xfrm>
          <a:prstGeom prst="rect">
            <a:avLst/>
          </a:prstGeom>
          <a:noFill/>
          <a:ln/>
        </p:spPr>
        <p:txBody>
          <a:bodyPr wrap="square" lIns="25400" tIns="25400" rIns="25400" bIns="25400" rtlCol="0" anchor="t">
            <a:normAutofit/>
          </a:bodyPr>
          <a:lstStyle/>
          <a:p>
            <a:pPr marL="0" indent="0" algn="l">
              <a:lnSpc>
                <a:spcPct val="88320"/>
              </a:lnSpc>
              <a:buNone/>
            </a:pPr>
            <a:r>
              <a:rPr lang="en-US" sz="2175" dirty="0">
                <a:solidFill>
                  <a:srgbClr val="FFFFFF"/>
                </a:solidFill>
                <a:latin typeface="Oracle Sans Tab" pitchFamily="34" charset="0"/>
                <a:ea typeface="Oracle Sans Tab" pitchFamily="34" charset="-122"/>
                <a:cs typeface="Oracle Sans Tab" pitchFamily="34" charset="-120"/>
              </a:rPr>
              <a:t>Embeddings are produced </a:t>
            </a:r>
            <a:r>
              <a:rPr lang="en-US" sz="2175" b="1" dirty="0">
                <a:solidFill>
                  <a:srgbClr val="FFFFFF"/>
                </a:solidFill>
                <a:latin typeface="Oracle Sans Tab" pitchFamily="34" charset="0"/>
                <a:ea typeface="Oracle Sans Tab" pitchFamily="34" charset="-122"/>
                <a:cs typeface="Oracle Sans Tab" pitchFamily="34" charset="-120"/>
              </a:rPr>
              <a:t>inside the database </a:t>
            </a:r>
            <a:r>
              <a:rPr lang="en-US" sz="2175" dirty="0">
                <a:solidFill>
                  <a:srgbClr val="FFFFFF"/>
                </a:solidFill>
                <a:latin typeface="Oracle Sans Tab" pitchFamily="34" charset="0"/>
                <a:ea typeface="Oracle Sans Tab" pitchFamily="34" charset="-122"/>
                <a:cs typeface="Oracle Sans Tab" pitchFamily="34" charset="-120"/>
              </a:rPr>
              <a:t>by a loaded ONNX model, reached through </a:t>
            </a:r>
            <a:r>
              <a:rPr lang="en-US" sz="1950" b="1" dirty="0">
                <a:solidFill>
                  <a:srgbClr val="FFFFFF"/>
                </a:solidFill>
                <a:latin typeface="Oracle Sans Tab" pitchFamily="34" charset="0"/>
                <a:ea typeface="Oracle Sans Tab" pitchFamily="34" charset="-122"/>
                <a:cs typeface="Oracle Sans Tab" pitchFamily="34" charset="-120"/>
              </a:rPr>
              <a:t>OracleVS</a:t>
            </a:r>
            <a:r>
              <a:rPr lang="en-US" sz="2175" dirty="0">
                <a:solidFill>
                  <a:srgbClr val="FFFFFF"/>
                </a:solidFill>
                <a:latin typeface="Oracle Sans Tab" pitchFamily="34" charset="0"/>
                <a:ea typeface="Oracle Sans Tab" pitchFamily="34" charset="-122"/>
                <a:cs typeface="Oracle Sans Tab" pitchFamily="34" charset="-120"/>
              </a:rPr>
              <a:t>.</a:t>
            </a:r>
            <a:endParaRPr lang="en-US" sz="1200" dirty="0"/>
          </a:p>
        </p:txBody>
      </p:sp>
      <p:sp>
        <p:nvSpPr>
          <p:cNvPr id="11" name="Shape 8"/>
          <p:cNvSpPr/>
          <p:nvPr/>
        </p:nvSpPr>
        <p:spPr>
          <a:xfrm>
            <a:off x="1440170" y="6172181"/>
            <a:ext cx="2125968" cy="754373"/>
          </a:xfrm>
          <a:prstGeom prst="roundRect">
            <a:avLst>
              <a:gd name="adj" fmla="val 12753"/>
            </a:avLst>
          </a:prstGeom>
          <a:solidFill>
            <a:srgbClr val="0B5060"/>
          </a:solidFill>
          <a:ln w="16536">
            <a:solidFill>
              <a:srgbClr val="FFFFFF">
                <a:alpha val="20000"/>
              </a:srgbClr>
            </a:solidFill>
            <a:prstDash val="solid"/>
          </a:ln>
        </p:spPr>
        <p:txBody>
          <a:bodyPr/>
          <a:lstStyle/>
          <a:p>
            <a:endParaRPr lang="en-US"/>
          </a:p>
        </p:txBody>
      </p:sp>
      <p:sp>
        <p:nvSpPr>
          <p:cNvPr id="12" name="Text 9"/>
          <p:cNvSpPr/>
          <p:nvPr/>
        </p:nvSpPr>
        <p:spPr>
          <a:xfrm>
            <a:off x="1402070" y="6417954"/>
            <a:ext cx="2202168" cy="300926"/>
          </a:xfrm>
          <a:prstGeom prst="rect">
            <a:avLst/>
          </a:prstGeom>
          <a:noFill/>
          <a:ln/>
        </p:spPr>
        <p:txBody>
          <a:bodyPr wrap="square" lIns="25400" tIns="25400" rIns="25400" bIns="25400" rtlCol="0" anchor="t">
            <a:normAutofit/>
          </a:bodyPr>
          <a:lstStyle/>
          <a:p>
            <a:pPr marL="0" indent="0" algn="ctr">
              <a:lnSpc>
                <a:spcPct val="92160"/>
              </a:lnSpc>
              <a:buNone/>
            </a:pPr>
            <a:r>
              <a:rPr lang="en-US" sz="1725" dirty="0">
                <a:solidFill>
                  <a:srgbClr val="FFFFFF"/>
                </a:solidFill>
                <a:latin typeface="Oracle Sans Tab" pitchFamily="34" charset="0"/>
                <a:ea typeface="Oracle Sans Tab" pitchFamily="34" charset="-122"/>
                <a:cs typeface="Oracle Sans Tab" pitchFamily="34" charset="-120"/>
              </a:rPr>
              <a:t>text</a:t>
            </a:r>
            <a:endParaRPr lang="en-US" sz="1725" dirty="0"/>
          </a:p>
        </p:txBody>
      </p:sp>
      <p:sp>
        <p:nvSpPr>
          <p:cNvPr id="13" name="Shape 10"/>
          <p:cNvSpPr/>
          <p:nvPr/>
        </p:nvSpPr>
        <p:spPr>
          <a:xfrm>
            <a:off x="3566139" y="6549368"/>
            <a:ext cx="342873" cy="26458"/>
          </a:xfrm>
          <a:prstGeom prst="rect">
            <a:avLst/>
          </a:prstGeom>
          <a:solidFill>
            <a:srgbClr val="FFFFFF">
              <a:alpha val="34000"/>
            </a:srgbClr>
          </a:solidFill>
          <a:ln/>
        </p:spPr>
        <p:txBody>
          <a:bodyPr/>
          <a:lstStyle/>
          <a:p>
            <a:endParaRPr lang="en-US"/>
          </a:p>
        </p:txBody>
      </p:sp>
      <p:sp>
        <p:nvSpPr>
          <p:cNvPr id="14" name="Shape 11"/>
          <p:cNvSpPr/>
          <p:nvPr/>
        </p:nvSpPr>
        <p:spPr>
          <a:xfrm>
            <a:off x="3783335" y="6466685"/>
            <a:ext cx="125677" cy="165365"/>
          </a:xfrm>
          <a:prstGeom prst="rect">
            <a:avLst/>
          </a:prstGeom>
          <a:solidFill>
            <a:srgbClr val="FFFFFF">
              <a:alpha val="34000"/>
            </a:srgbClr>
          </a:solidFill>
          <a:ln/>
        </p:spPr>
        <p:txBody>
          <a:bodyPr/>
          <a:lstStyle/>
          <a:p>
            <a:endParaRPr lang="en-US"/>
          </a:p>
        </p:txBody>
      </p:sp>
      <p:sp>
        <p:nvSpPr>
          <p:cNvPr id="15" name="Shape 12"/>
          <p:cNvSpPr/>
          <p:nvPr/>
        </p:nvSpPr>
        <p:spPr>
          <a:xfrm>
            <a:off x="3909012" y="6172181"/>
            <a:ext cx="2125968" cy="754373"/>
          </a:xfrm>
          <a:prstGeom prst="roundRect">
            <a:avLst>
              <a:gd name="adj" fmla="val 12753"/>
            </a:avLst>
          </a:prstGeom>
          <a:solidFill>
            <a:srgbClr val="0B5060"/>
          </a:solidFill>
          <a:ln w="16536">
            <a:solidFill>
              <a:srgbClr val="E0836F"/>
            </a:solidFill>
            <a:prstDash val="solid"/>
          </a:ln>
        </p:spPr>
        <p:txBody>
          <a:bodyPr/>
          <a:lstStyle/>
          <a:p>
            <a:endParaRPr lang="en-US"/>
          </a:p>
        </p:txBody>
      </p:sp>
      <p:sp>
        <p:nvSpPr>
          <p:cNvPr id="16" name="Text 13"/>
          <p:cNvSpPr/>
          <p:nvPr/>
        </p:nvSpPr>
        <p:spPr>
          <a:xfrm>
            <a:off x="3870912" y="6417954"/>
            <a:ext cx="2202168" cy="300926"/>
          </a:xfrm>
          <a:prstGeom prst="rect">
            <a:avLst/>
          </a:prstGeom>
          <a:noFill/>
          <a:ln/>
        </p:spPr>
        <p:txBody>
          <a:bodyPr wrap="square" lIns="25400" tIns="25400" rIns="25400" bIns="25400" rtlCol="0" anchor="t">
            <a:normAutofit/>
          </a:bodyPr>
          <a:lstStyle/>
          <a:p>
            <a:pPr marL="0" indent="0" algn="ctr">
              <a:lnSpc>
                <a:spcPct val="92160"/>
              </a:lnSpc>
              <a:buNone/>
            </a:pPr>
            <a:r>
              <a:rPr lang="en-US" sz="1725" b="1" dirty="0">
                <a:solidFill>
                  <a:srgbClr val="FD6953"/>
                </a:solidFill>
                <a:latin typeface="Oracle Sans Tab" pitchFamily="34" charset="0"/>
                <a:ea typeface="Oracle Sans Tab" pitchFamily="34" charset="-122"/>
                <a:cs typeface="Oracle Sans Tab" pitchFamily="34" charset="-120"/>
              </a:rPr>
              <a:t>in-DB embed</a:t>
            </a:r>
            <a:endParaRPr lang="en-US" sz="1725" dirty="0"/>
          </a:p>
        </p:txBody>
      </p:sp>
      <p:sp>
        <p:nvSpPr>
          <p:cNvPr id="17" name="Shape 14"/>
          <p:cNvSpPr/>
          <p:nvPr/>
        </p:nvSpPr>
        <p:spPr>
          <a:xfrm>
            <a:off x="6035032" y="6549368"/>
            <a:ext cx="342873" cy="26458"/>
          </a:xfrm>
          <a:prstGeom prst="rect">
            <a:avLst/>
          </a:prstGeom>
          <a:solidFill>
            <a:srgbClr val="FFFFFF">
              <a:alpha val="34000"/>
            </a:srgbClr>
          </a:solidFill>
          <a:ln/>
        </p:spPr>
        <p:txBody>
          <a:bodyPr/>
          <a:lstStyle/>
          <a:p>
            <a:endParaRPr lang="en-US"/>
          </a:p>
        </p:txBody>
      </p:sp>
      <p:sp>
        <p:nvSpPr>
          <p:cNvPr id="18" name="Shape 15"/>
          <p:cNvSpPr/>
          <p:nvPr/>
        </p:nvSpPr>
        <p:spPr>
          <a:xfrm>
            <a:off x="6252228" y="6466685"/>
            <a:ext cx="125677" cy="165365"/>
          </a:xfrm>
          <a:prstGeom prst="rect">
            <a:avLst/>
          </a:prstGeom>
          <a:solidFill>
            <a:srgbClr val="FFFFFF">
              <a:alpha val="34000"/>
            </a:srgbClr>
          </a:solidFill>
          <a:ln/>
        </p:spPr>
        <p:txBody>
          <a:bodyPr/>
          <a:lstStyle/>
          <a:p>
            <a:endParaRPr lang="en-US"/>
          </a:p>
        </p:txBody>
      </p:sp>
      <p:sp>
        <p:nvSpPr>
          <p:cNvPr id="19" name="Shape 16"/>
          <p:cNvSpPr/>
          <p:nvPr/>
        </p:nvSpPr>
        <p:spPr>
          <a:xfrm>
            <a:off x="6377905" y="6172181"/>
            <a:ext cx="2125968" cy="754373"/>
          </a:xfrm>
          <a:prstGeom prst="roundRect">
            <a:avLst>
              <a:gd name="adj" fmla="val 12753"/>
            </a:avLst>
          </a:prstGeom>
          <a:solidFill>
            <a:srgbClr val="0B5060"/>
          </a:solidFill>
          <a:ln w="16536">
            <a:solidFill>
              <a:srgbClr val="FFFFFF">
                <a:alpha val="20000"/>
              </a:srgbClr>
            </a:solidFill>
            <a:prstDash val="solid"/>
          </a:ln>
        </p:spPr>
        <p:txBody>
          <a:bodyPr/>
          <a:lstStyle/>
          <a:p>
            <a:endParaRPr lang="en-US"/>
          </a:p>
        </p:txBody>
      </p:sp>
      <p:sp>
        <p:nvSpPr>
          <p:cNvPr id="20" name="Text 17"/>
          <p:cNvSpPr/>
          <p:nvPr/>
        </p:nvSpPr>
        <p:spPr>
          <a:xfrm>
            <a:off x="6339805" y="6417954"/>
            <a:ext cx="2202168" cy="300926"/>
          </a:xfrm>
          <a:prstGeom prst="rect">
            <a:avLst/>
          </a:prstGeom>
          <a:noFill/>
          <a:ln/>
        </p:spPr>
        <p:txBody>
          <a:bodyPr wrap="square" lIns="25400" tIns="25400" rIns="25400" bIns="25400" rtlCol="0" anchor="t">
            <a:normAutofit/>
          </a:bodyPr>
          <a:lstStyle/>
          <a:p>
            <a:pPr marL="0" indent="0" algn="ctr">
              <a:lnSpc>
                <a:spcPct val="92160"/>
              </a:lnSpc>
              <a:buNone/>
            </a:pPr>
            <a:r>
              <a:rPr lang="en-US" sz="1725" dirty="0">
                <a:solidFill>
                  <a:srgbClr val="FFFFFF"/>
                </a:solidFill>
                <a:latin typeface="Oracle Sans Tab" pitchFamily="34" charset="0"/>
                <a:ea typeface="Oracle Sans Tab" pitchFamily="34" charset="-122"/>
                <a:cs typeface="Oracle Sans Tab" pitchFamily="34" charset="-120"/>
              </a:rPr>
              <a:t>vector table</a:t>
            </a:r>
            <a:endParaRPr lang="en-US" sz="1725" dirty="0"/>
          </a:p>
        </p:txBody>
      </p:sp>
      <p:sp>
        <p:nvSpPr>
          <p:cNvPr id="21" name="Text 18"/>
          <p:cNvSpPr/>
          <p:nvPr/>
        </p:nvSpPr>
        <p:spPr>
          <a:xfrm>
            <a:off x="1440170" y="7556179"/>
            <a:ext cx="7134351" cy="561892"/>
          </a:xfrm>
          <a:prstGeom prst="rect">
            <a:avLst/>
          </a:prstGeom>
          <a:noFill/>
          <a:ln/>
        </p:spPr>
        <p:txBody>
          <a:bodyPr wrap="square" lIns="25400" tIns="25400" rIns="25400" bIns="25400" rtlCol="0" anchor="t">
            <a:normAutofit/>
          </a:bodyPr>
          <a:lstStyle/>
          <a:p>
            <a:pPr marL="0" indent="0" algn="l">
              <a:lnSpc>
                <a:spcPct val="84480"/>
              </a:lnSpc>
              <a:buNone/>
            </a:pPr>
            <a:r>
              <a:rPr lang="en-US" sz="1875" i="1" dirty="0">
                <a:solidFill>
                  <a:srgbClr val="C3D7DC"/>
                </a:solidFill>
                <a:latin typeface="Oracle Sans Tab" pitchFamily="34" charset="0"/>
                <a:ea typeface="Oracle Sans Tab" pitchFamily="34" charset="-122"/>
                <a:cs typeface="Oracle Sans Tab" pitchFamily="34" charset="-120"/>
              </a:rPr>
              <a:t>One model, one vector space. Nothing leaves the engine to be vectorised.</a:t>
            </a:r>
            <a:endParaRPr lang="en-US" sz="1875" dirty="0"/>
          </a:p>
        </p:txBody>
      </p:sp>
      <p:sp>
        <p:nvSpPr>
          <p:cNvPr id="22" name="Shape 19"/>
          <p:cNvSpPr/>
          <p:nvPr/>
        </p:nvSpPr>
        <p:spPr>
          <a:xfrm>
            <a:off x="9669745" y="3771863"/>
            <a:ext cx="7658085" cy="4869160"/>
          </a:xfrm>
          <a:prstGeom prst="roundRect">
            <a:avLst>
              <a:gd name="adj" fmla="val 197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3" name="Text 20"/>
          <p:cNvSpPr/>
          <p:nvPr/>
        </p:nvSpPr>
        <p:spPr>
          <a:xfrm>
            <a:off x="10149819" y="4208115"/>
            <a:ext cx="7063718"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dirty="0">
                <a:solidFill>
                  <a:srgbClr val="FD6953"/>
                </a:solidFill>
                <a:latin typeface="Oracle Sans Tab" pitchFamily="34" charset="0"/>
                <a:ea typeface="Oracle Sans Tab" pitchFamily="34" charset="-122"/>
                <a:cs typeface="Oracle Sans Tab" pitchFamily="34" charset="-120"/>
              </a:rPr>
              <a:t>READ PATH, THE RETRIEVAL LADDER</a:t>
            </a:r>
            <a:endParaRPr lang="en-US" sz="1650" dirty="0"/>
          </a:p>
        </p:txBody>
      </p:sp>
      <p:sp>
        <p:nvSpPr>
          <p:cNvPr id="24" name="Text 21"/>
          <p:cNvSpPr/>
          <p:nvPr/>
        </p:nvSpPr>
        <p:spPr>
          <a:xfrm>
            <a:off x="10149819" y="4862442"/>
            <a:ext cx="624797" cy="381025"/>
          </a:xfrm>
          <a:prstGeom prst="rect">
            <a:avLst/>
          </a:prstGeom>
          <a:noFill/>
          <a:ln/>
        </p:spPr>
        <p:txBody>
          <a:bodyPr wrap="square" lIns="25400" tIns="25400" rIns="25400" bIns="25400" rtlCol="0" anchor="t">
            <a:normAutofit/>
          </a:bodyPr>
          <a:lstStyle/>
          <a:p>
            <a:pPr marL="0" indent="0" algn="l">
              <a:lnSpc>
                <a:spcPct val="92160"/>
              </a:lnSpc>
              <a:buNone/>
            </a:pPr>
            <a:r>
              <a:rPr lang="en-US" sz="2250" dirty="0">
                <a:solidFill>
                  <a:srgbClr val="FD6953"/>
                </a:solidFill>
                <a:latin typeface="Oracle Sans Tab" pitchFamily="34" charset="0"/>
                <a:ea typeface="Oracle Sans Tab" pitchFamily="34" charset="-122"/>
                <a:cs typeface="Oracle Sans Tab" pitchFamily="34" charset="-120"/>
              </a:rPr>
              <a:t>1</a:t>
            </a:r>
            <a:endParaRPr lang="en-US" sz="2250" dirty="0"/>
          </a:p>
        </p:txBody>
      </p:sp>
      <p:sp>
        <p:nvSpPr>
          <p:cNvPr id="25" name="Text 22"/>
          <p:cNvSpPr/>
          <p:nvPr/>
        </p:nvSpPr>
        <p:spPr>
          <a:xfrm>
            <a:off x="10767043" y="4845285"/>
            <a:ext cx="2407892"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Keyword</a:t>
            </a:r>
            <a:endParaRPr lang="en-US" sz="2025" dirty="0"/>
          </a:p>
        </p:txBody>
      </p:sp>
      <p:sp>
        <p:nvSpPr>
          <p:cNvPr id="26" name="Text 23"/>
          <p:cNvSpPr/>
          <p:nvPr/>
        </p:nvSpPr>
        <p:spPr>
          <a:xfrm>
            <a:off x="12961586" y="4798725"/>
            <a:ext cx="4073388" cy="563753"/>
          </a:xfrm>
          <a:prstGeom prst="rect">
            <a:avLst/>
          </a:prstGeom>
          <a:noFill/>
          <a:ln/>
        </p:spPr>
        <p:txBody>
          <a:bodyPr wrap="square" lIns="25400" tIns="25400" rIns="25400" bIns="25400" rtlCol="0" anchor="t">
            <a:normAutofit/>
          </a:bodyPr>
          <a:lstStyle/>
          <a:p>
            <a:pPr marL="0" indent="0" algn="l">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Oracle Text CONTAINS, exact terms &amp; identifiers</a:t>
            </a:r>
            <a:endParaRPr lang="en-US" sz="1725" dirty="0"/>
          </a:p>
        </p:txBody>
      </p:sp>
      <p:sp>
        <p:nvSpPr>
          <p:cNvPr id="27" name="Text 24"/>
          <p:cNvSpPr/>
          <p:nvPr/>
        </p:nvSpPr>
        <p:spPr>
          <a:xfrm>
            <a:off x="10149819" y="5767348"/>
            <a:ext cx="624797" cy="381025"/>
          </a:xfrm>
          <a:prstGeom prst="rect">
            <a:avLst/>
          </a:prstGeom>
          <a:noFill/>
          <a:ln/>
        </p:spPr>
        <p:txBody>
          <a:bodyPr wrap="square" lIns="25400" tIns="25400" rIns="25400" bIns="25400" rtlCol="0" anchor="t">
            <a:normAutofit/>
          </a:bodyPr>
          <a:lstStyle/>
          <a:p>
            <a:pPr marL="0" indent="0" algn="l">
              <a:lnSpc>
                <a:spcPct val="92160"/>
              </a:lnSpc>
              <a:buNone/>
            </a:pPr>
            <a:r>
              <a:rPr lang="en-US" sz="2250" dirty="0">
                <a:solidFill>
                  <a:srgbClr val="FD6953"/>
                </a:solidFill>
                <a:latin typeface="Oracle Sans Tab" pitchFamily="34" charset="0"/>
                <a:ea typeface="Oracle Sans Tab" pitchFamily="34" charset="-122"/>
                <a:cs typeface="Oracle Sans Tab" pitchFamily="34" charset="-120"/>
              </a:rPr>
              <a:t>2</a:t>
            </a:r>
            <a:endParaRPr lang="en-US" sz="2250" dirty="0"/>
          </a:p>
        </p:txBody>
      </p:sp>
      <p:sp>
        <p:nvSpPr>
          <p:cNvPr id="28" name="Text 25"/>
          <p:cNvSpPr/>
          <p:nvPr/>
        </p:nvSpPr>
        <p:spPr>
          <a:xfrm>
            <a:off x="10767043" y="5750191"/>
            <a:ext cx="2407892"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Vector</a:t>
            </a:r>
            <a:endParaRPr lang="en-US" sz="2025" dirty="0"/>
          </a:p>
        </p:txBody>
      </p:sp>
      <p:sp>
        <p:nvSpPr>
          <p:cNvPr id="29" name="Text 26"/>
          <p:cNvSpPr/>
          <p:nvPr/>
        </p:nvSpPr>
        <p:spPr>
          <a:xfrm>
            <a:off x="12961586" y="5703579"/>
            <a:ext cx="4073388" cy="563753"/>
          </a:xfrm>
          <a:prstGeom prst="rect">
            <a:avLst/>
          </a:prstGeom>
          <a:noFill/>
          <a:ln/>
        </p:spPr>
        <p:txBody>
          <a:bodyPr wrap="square" lIns="25400" tIns="25400" rIns="25400" bIns="25400" rtlCol="0" anchor="t">
            <a:normAutofit/>
          </a:bodyPr>
          <a:lstStyle/>
          <a:p>
            <a:pPr marL="0" indent="0" algn="l">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cosine over HNSW; query embedded in the same space</a:t>
            </a:r>
            <a:endParaRPr lang="en-US" sz="1725" dirty="0"/>
          </a:p>
        </p:txBody>
      </p:sp>
      <p:sp>
        <p:nvSpPr>
          <p:cNvPr id="30" name="Text 27"/>
          <p:cNvSpPr/>
          <p:nvPr/>
        </p:nvSpPr>
        <p:spPr>
          <a:xfrm>
            <a:off x="10149819" y="6673132"/>
            <a:ext cx="624797" cy="381025"/>
          </a:xfrm>
          <a:prstGeom prst="rect">
            <a:avLst/>
          </a:prstGeom>
          <a:noFill/>
          <a:ln/>
        </p:spPr>
        <p:txBody>
          <a:bodyPr wrap="square" lIns="25400" tIns="25400" rIns="25400" bIns="25400" rtlCol="0" anchor="t">
            <a:normAutofit/>
          </a:bodyPr>
          <a:lstStyle/>
          <a:p>
            <a:pPr marL="0" indent="0" algn="l">
              <a:lnSpc>
                <a:spcPct val="92160"/>
              </a:lnSpc>
              <a:buNone/>
            </a:pPr>
            <a:r>
              <a:rPr lang="en-US" sz="2250" dirty="0">
                <a:solidFill>
                  <a:srgbClr val="FD6953"/>
                </a:solidFill>
                <a:latin typeface="Oracle Sans Tab" pitchFamily="34" charset="0"/>
                <a:ea typeface="Oracle Sans Tab" pitchFamily="34" charset="-122"/>
                <a:cs typeface="Oracle Sans Tab" pitchFamily="34" charset="-120"/>
              </a:rPr>
              <a:t>3</a:t>
            </a:r>
            <a:endParaRPr lang="en-US" sz="2250" dirty="0"/>
          </a:p>
        </p:txBody>
      </p:sp>
      <p:sp>
        <p:nvSpPr>
          <p:cNvPr id="31" name="Text 28"/>
          <p:cNvSpPr/>
          <p:nvPr/>
        </p:nvSpPr>
        <p:spPr>
          <a:xfrm>
            <a:off x="10767043" y="6655976"/>
            <a:ext cx="2407892"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Hybrid (RRF)</a:t>
            </a:r>
            <a:endParaRPr lang="en-US" sz="2025" dirty="0"/>
          </a:p>
        </p:txBody>
      </p:sp>
      <p:sp>
        <p:nvSpPr>
          <p:cNvPr id="32" name="Text 29"/>
          <p:cNvSpPr/>
          <p:nvPr/>
        </p:nvSpPr>
        <p:spPr>
          <a:xfrm>
            <a:off x="12961586" y="6739898"/>
            <a:ext cx="4073388"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fuse keyword + vector; no weight tuning</a:t>
            </a:r>
            <a:endParaRPr lang="en-US" sz="1725" dirty="0"/>
          </a:p>
        </p:txBody>
      </p:sp>
      <p:sp>
        <p:nvSpPr>
          <p:cNvPr id="33" name="Text 30"/>
          <p:cNvSpPr/>
          <p:nvPr/>
        </p:nvSpPr>
        <p:spPr>
          <a:xfrm>
            <a:off x="10149819" y="7578039"/>
            <a:ext cx="624797" cy="381025"/>
          </a:xfrm>
          <a:prstGeom prst="rect">
            <a:avLst/>
          </a:prstGeom>
          <a:noFill/>
          <a:ln/>
        </p:spPr>
        <p:txBody>
          <a:bodyPr wrap="square" lIns="25400" tIns="25400" rIns="25400" bIns="25400" rtlCol="0" anchor="t">
            <a:normAutofit/>
          </a:bodyPr>
          <a:lstStyle/>
          <a:p>
            <a:pPr marL="0" indent="0" algn="l">
              <a:lnSpc>
                <a:spcPct val="92160"/>
              </a:lnSpc>
              <a:buNone/>
            </a:pPr>
            <a:r>
              <a:rPr lang="en-US" sz="2250" dirty="0">
                <a:solidFill>
                  <a:srgbClr val="FD6953"/>
                </a:solidFill>
                <a:latin typeface="Oracle Sans Tab" pitchFamily="34" charset="0"/>
                <a:ea typeface="Oracle Sans Tab" pitchFamily="34" charset="-122"/>
                <a:cs typeface="Oracle Sans Tab" pitchFamily="34" charset="-120"/>
              </a:rPr>
              <a:t>4</a:t>
            </a:r>
            <a:endParaRPr lang="en-US" sz="2250" dirty="0"/>
          </a:p>
        </p:txBody>
      </p:sp>
      <p:sp>
        <p:nvSpPr>
          <p:cNvPr id="34" name="Text 31"/>
          <p:cNvSpPr/>
          <p:nvPr/>
        </p:nvSpPr>
        <p:spPr>
          <a:xfrm>
            <a:off x="10767043" y="7560882"/>
            <a:ext cx="2407892"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Rerank</a:t>
            </a:r>
            <a:endParaRPr lang="en-US" sz="2025" dirty="0"/>
          </a:p>
        </p:txBody>
      </p:sp>
      <p:sp>
        <p:nvSpPr>
          <p:cNvPr id="35" name="Text 32"/>
          <p:cNvSpPr/>
          <p:nvPr/>
        </p:nvSpPr>
        <p:spPr>
          <a:xfrm>
            <a:off x="12961586" y="7514270"/>
            <a:ext cx="4073388" cy="563753"/>
          </a:xfrm>
          <a:prstGeom prst="rect">
            <a:avLst/>
          </a:prstGeom>
          <a:noFill/>
          <a:ln/>
        </p:spPr>
        <p:txBody>
          <a:bodyPr wrap="square" lIns="25400" tIns="25400" rIns="25400" bIns="25400" rtlCol="0" anchor="t">
            <a:normAutofit/>
          </a:bodyPr>
          <a:lstStyle/>
          <a:p>
            <a:pPr marL="0" indent="0" algn="l">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cross-encoder reads query &amp; document together</a:t>
            </a:r>
            <a:endParaRPr lang="en-US" sz="1725" dirty="0"/>
          </a:p>
        </p:txBody>
      </p:sp>
      <p:sp>
        <p:nvSpPr>
          <p:cNvPr id="36" name="Text 33"/>
          <p:cNvSpPr/>
          <p:nvPr/>
        </p:nvSpPr>
        <p:spPr>
          <a:xfrm>
            <a:off x="714580" y="9029681"/>
            <a:ext cx="16858767" cy="358132"/>
          </a:xfrm>
          <a:prstGeom prst="rect">
            <a:avLst/>
          </a:prstGeom>
          <a:noFill/>
          <a:ln/>
        </p:spPr>
        <p:txBody>
          <a:bodyPr wrap="square" lIns="25400" tIns="25400" rIns="25400" bIns="25400" rtlCol="0" anchor="t">
            <a:normAutofit/>
          </a:bodyPr>
          <a:lstStyle/>
          <a:p>
            <a:pPr marL="0" indent="0" algn="ctr">
              <a:lnSpc>
                <a:spcPct val="92160"/>
              </a:lnSpc>
              <a:buNone/>
            </a:pPr>
            <a:r>
              <a:rPr lang="en-US" sz="2100" i="1" dirty="0">
                <a:solidFill>
                  <a:srgbClr val="FFFFFF"/>
                </a:solidFill>
                <a:latin typeface="Oracle Sans Tab" pitchFamily="34" charset="0"/>
                <a:ea typeface="Oracle Sans Tab" pitchFamily="34" charset="-122"/>
                <a:cs typeface="Oracle Sans Tab" pitchFamily="34" charset="-120"/>
              </a:rPr>
              <a:t>Retrieval is </a:t>
            </a:r>
            <a:r>
              <a:rPr lang="en-US" sz="2100" b="1" i="1" dirty="0">
                <a:solidFill>
                  <a:srgbClr val="FD6953"/>
                </a:solidFill>
                <a:latin typeface="Oracle Sans Tab" pitchFamily="34" charset="0"/>
                <a:ea typeface="Oracle Sans Tab" pitchFamily="34" charset="-122"/>
                <a:cs typeface="Oracle Sans Tab" pitchFamily="34" charset="-120"/>
              </a:rPr>
              <a:t>progressive disclosure for tables</a:t>
            </a:r>
            <a:r>
              <a:rPr lang="en-US" sz="2100" i="1" dirty="0">
                <a:solidFill>
                  <a:srgbClr val="FFFFFF"/>
                </a:solidFill>
                <a:latin typeface="Oracle Sans Tab" pitchFamily="34" charset="0"/>
                <a:ea typeface="Oracle Sans Tab" pitchFamily="34" charset="-122"/>
                <a:cs typeface="Oracle Sans Tab" pitchFamily="34" charset="-120"/>
              </a:rPr>
              <a:t>: hand the model the few rows it needs, nothing more.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27">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Menlo" pitchFamily="34" charset="0"/>
                <a:ea typeface="Menlo" pitchFamily="34" charset="-122"/>
                <a:cs typeface="Menlo" pitchFamily="34" charset="-120"/>
              </a:rPr>
              <a:t>LAYER 3, ENCODING &amp; RETRIEVAL</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EMBEDDER + RERANKER, TWO JOBS</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EMBEDDER + RERANKER</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Retrieve cheaply, then </a:t>
            </a:r>
            <a:r>
              <a:rPr lang="en-US" sz="4500" b="1" dirty="0" err="1">
                <a:solidFill>
                  <a:srgbClr val="FFFFFF"/>
                </a:solidFill>
                <a:latin typeface="Oracle Sans Tab" pitchFamily="34" charset="0"/>
                <a:ea typeface="Oracle Sans Tab" pitchFamily="34" charset="-122"/>
                <a:cs typeface="Oracle Sans Tab" pitchFamily="34" charset="-120"/>
              </a:rPr>
              <a:t>rerank</a:t>
            </a:r>
            <a:r>
              <a:rPr lang="en-US" sz="4500" b="1" dirty="0">
                <a:solidFill>
                  <a:srgbClr val="FFFFFF"/>
                </a:solidFill>
                <a:latin typeface="Oracle Sans Tab" pitchFamily="34" charset="0"/>
                <a:ea typeface="Oracle Sans Tab" pitchFamily="34" charset="-122"/>
                <a:cs typeface="Oracle Sans Tab" pitchFamily="34" charset="-120"/>
              </a:rPr>
              <a:t> </a:t>
            </a:r>
            <a:r>
              <a:rPr lang="en-US" sz="4500" b="1" i="1" dirty="0">
                <a:solidFill>
                  <a:srgbClr val="FD6953"/>
                </a:solidFill>
                <a:latin typeface="Oracle Sans Tab" pitchFamily="34" charset="0"/>
                <a:ea typeface="Oracle Sans Tab" pitchFamily="34" charset="-122"/>
                <a:cs typeface="Oracle Sans Tab" pitchFamily="34" charset="-120"/>
              </a:rPr>
              <a:t>precisely.</a:t>
            </a:r>
            <a:endParaRPr lang="en-US" sz="1200" dirty="0"/>
          </a:p>
        </p:txBody>
      </p:sp>
      <p:sp>
        <p:nvSpPr>
          <p:cNvPr id="8" name="Shape 5"/>
          <p:cNvSpPr/>
          <p:nvPr/>
        </p:nvSpPr>
        <p:spPr>
          <a:xfrm>
            <a:off x="754373" y="3730935"/>
            <a:ext cx="16573458" cy="2125968"/>
          </a:xfrm>
          <a:prstGeom prst="roundRect">
            <a:avLst>
              <a:gd name="adj" fmla="val 5152"/>
            </a:avLst>
          </a:prstGeom>
          <a:solidFill>
            <a:srgbClr val="0B5060"/>
          </a:solidFill>
          <a:ln w="16536">
            <a:solidFill>
              <a:srgbClr val="FFFFFF">
                <a:alpha val="20000"/>
              </a:srgbClr>
            </a:solidFill>
            <a:prstDash val="solid"/>
          </a:ln>
        </p:spPr>
        <p:txBody>
          <a:bodyPr/>
          <a:lstStyle/>
          <a:p>
            <a:endParaRPr lang="en-US"/>
          </a:p>
        </p:txBody>
      </p:sp>
      <p:sp>
        <p:nvSpPr>
          <p:cNvPr id="9" name="Text 6"/>
          <p:cNvSpPr/>
          <p:nvPr/>
        </p:nvSpPr>
        <p:spPr>
          <a:xfrm>
            <a:off x="1097246" y="3936659"/>
            <a:ext cx="10561288" cy="243824"/>
          </a:xfrm>
          <a:prstGeom prst="rect">
            <a:avLst/>
          </a:prstGeom>
          <a:noFill/>
          <a:ln/>
        </p:spPr>
        <p:txBody>
          <a:bodyPr wrap="square" lIns="25400" tIns="25400" rIns="25400" bIns="25400" rtlCol="0" anchor="t">
            <a:normAutofit/>
          </a:bodyPr>
          <a:lstStyle/>
          <a:p>
            <a:pPr marL="0" indent="0" algn="l">
              <a:lnSpc>
                <a:spcPct val="92160"/>
              </a:lnSpc>
              <a:buNone/>
            </a:pPr>
            <a:r>
              <a:rPr lang="en-US" sz="1350" dirty="0">
                <a:solidFill>
                  <a:srgbClr val="FD6953"/>
                </a:solidFill>
                <a:latin typeface="Menlo" pitchFamily="34" charset="0"/>
                <a:ea typeface="Menlo" pitchFamily="34" charset="-122"/>
                <a:cs typeface="Menlo" pitchFamily="34" charset="-120"/>
              </a:rPr>
              <a:t>INDEXING TIME · ONCE PER DOCUMENT</a:t>
            </a:r>
            <a:endParaRPr lang="en-US" sz="1350" dirty="0"/>
          </a:p>
        </p:txBody>
      </p:sp>
      <p:sp>
        <p:nvSpPr>
          <p:cNvPr id="10" name="Shape 7"/>
          <p:cNvSpPr/>
          <p:nvPr/>
        </p:nvSpPr>
        <p:spPr>
          <a:xfrm>
            <a:off x="1234395" y="4279532"/>
            <a:ext cx="2743192" cy="1440170"/>
          </a:xfrm>
          <a:prstGeom prst="roundRect">
            <a:avLst>
              <a:gd name="adj" fmla="val 668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11" name="Image 1" descr="preencoded.png"/>
          <p:cNvPicPr>
            <a:picLocks noChangeAspect="1"/>
          </p:cNvPicPr>
          <p:nvPr/>
        </p:nvPicPr>
        <p:blipFill>
          <a:blip r:embed="rId4"/>
          <a:srcRect/>
          <a:stretch/>
        </p:blipFill>
        <p:spPr>
          <a:xfrm>
            <a:off x="2318360" y="4457660"/>
            <a:ext cx="576244" cy="576244"/>
          </a:xfrm>
          <a:prstGeom prst="rect">
            <a:avLst/>
          </a:prstGeom>
        </p:spPr>
      </p:pic>
      <p:sp>
        <p:nvSpPr>
          <p:cNvPr id="12" name="Text 8"/>
          <p:cNvSpPr/>
          <p:nvPr/>
        </p:nvSpPr>
        <p:spPr>
          <a:xfrm>
            <a:off x="1193247" y="5121548"/>
            <a:ext cx="2825487" cy="300926"/>
          </a:xfrm>
          <a:prstGeom prst="rect">
            <a:avLst/>
          </a:prstGeom>
          <a:noFill/>
          <a:ln/>
        </p:spPr>
        <p:txBody>
          <a:bodyPr wrap="square" lIns="25400" tIns="25400" rIns="25400" bIns="25400" rtlCol="0" anchor="t">
            <a:normAutofit/>
          </a:bodyPr>
          <a:lstStyle/>
          <a:p>
            <a:pPr marL="0" indent="0" algn="ctr">
              <a:lnSpc>
                <a:spcPct val="92160"/>
              </a:lnSpc>
              <a:buNone/>
            </a:pPr>
            <a:r>
              <a:rPr lang="en-US" sz="1725" b="1" dirty="0">
                <a:solidFill>
                  <a:srgbClr val="FFFFFF"/>
                </a:solidFill>
                <a:latin typeface="Oracle Sans Tab" pitchFamily="34" charset="0"/>
                <a:ea typeface="Oracle Sans Tab" pitchFamily="34" charset="-122"/>
                <a:cs typeface="Oracle Sans Tab" pitchFamily="34" charset="-120"/>
              </a:rPr>
              <a:t>Documents</a:t>
            </a:r>
            <a:endParaRPr lang="en-US" sz="1725" dirty="0"/>
          </a:p>
        </p:txBody>
      </p:sp>
      <p:sp>
        <p:nvSpPr>
          <p:cNvPr id="13" name="Text 9"/>
          <p:cNvSpPr/>
          <p:nvPr/>
        </p:nvSpPr>
        <p:spPr>
          <a:xfrm>
            <a:off x="1217745" y="5471604"/>
            <a:ext cx="2776492"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i="1" dirty="0">
                <a:solidFill>
                  <a:srgbClr val="C3D7DC"/>
                </a:solidFill>
                <a:latin typeface="Oracle Sans Tab" pitchFamily="34" charset="0"/>
                <a:ea typeface="Oracle Sans Tab" pitchFamily="34" charset="-122"/>
                <a:cs typeface="Oracle Sans Tab" pitchFamily="34" charset="-120"/>
              </a:rPr>
              <a:t>facts to index</a:t>
            </a:r>
            <a:endParaRPr lang="en-US" sz="1200" dirty="0"/>
          </a:p>
        </p:txBody>
      </p:sp>
      <p:sp>
        <p:nvSpPr>
          <p:cNvPr id="14" name="Shape 10"/>
          <p:cNvSpPr/>
          <p:nvPr/>
        </p:nvSpPr>
        <p:spPr>
          <a:xfrm>
            <a:off x="3977638" y="4999643"/>
            <a:ext cx="480022" cy="26458"/>
          </a:xfrm>
          <a:prstGeom prst="rect">
            <a:avLst/>
          </a:prstGeom>
          <a:solidFill>
            <a:srgbClr val="FFFFFF">
              <a:alpha val="34000"/>
            </a:srgbClr>
          </a:solidFill>
          <a:ln/>
        </p:spPr>
        <p:txBody>
          <a:bodyPr/>
          <a:lstStyle/>
          <a:p>
            <a:endParaRPr lang="en-US"/>
          </a:p>
        </p:txBody>
      </p:sp>
      <p:sp>
        <p:nvSpPr>
          <p:cNvPr id="15" name="Shape 11"/>
          <p:cNvSpPr/>
          <p:nvPr/>
        </p:nvSpPr>
        <p:spPr>
          <a:xfrm>
            <a:off x="4331984" y="4916961"/>
            <a:ext cx="125677" cy="165365"/>
          </a:xfrm>
          <a:prstGeom prst="rect">
            <a:avLst/>
          </a:prstGeom>
          <a:solidFill>
            <a:srgbClr val="FFFFFF">
              <a:alpha val="34000"/>
            </a:srgbClr>
          </a:solidFill>
          <a:ln/>
        </p:spPr>
        <p:txBody>
          <a:bodyPr/>
          <a:lstStyle/>
          <a:p>
            <a:endParaRPr lang="en-US"/>
          </a:p>
        </p:txBody>
      </p:sp>
      <p:sp>
        <p:nvSpPr>
          <p:cNvPr id="16" name="Shape 12"/>
          <p:cNvSpPr/>
          <p:nvPr/>
        </p:nvSpPr>
        <p:spPr>
          <a:xfrm>
            <a:off x="4526235" y="4279532"/>
            <a:ext cx="3428990" cy="1440170"/>
          </a:xfrm>
          <a:prstGeom prst="roundRect">
            <a:avLst>
              <a:gd name="adj" fmla="val 6680"/>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pic>
        <p:nvPicPr>
          <p:cNvPr id="17" name="Image 2" descr="preencoded.png"/>
          <p:cNvPicPr>
            <a:picLocks noChangeAspect="1"/>
          </p:cNvPicPr>
          <p:nvPr/>
        </p:nvPicPr>
        <p:blipFill>
          <a:blip r:embed="rId5"/>
          <a:srcRect/>
          <a:stretch/>
        </p:blipFill>
        <p:spPr>
          <a:xfrm>
            <a:off x="5953125" y="4457660"/>
            <a:ext cx="576244" cy="576244"/>
          </a:xfrm>
          <a:prstGeom prst="rect">
            <a:avLst/>
          </a:prstGeom>
        </p:spPr>
      </p:pic>
      <p:sp>
        <p:nvSpPr>
          <p:cNvPr id="18" name="Text 13"/>
          <p:cNvSpPr/>
          <p:nvPr/>
        </p:nvSpPr>
        <p:spPr>
          <a:xfrm>
            <a:off x="4474800" y="5121548"/>
            <a:ext cx="3531859" cy="300926"/>
          </a:xfrm>
          <a:prstGeom prst="rect">
            <a:avLst/>
          </a:prstGeom>
          <a:noFill/>
          <a:ln/>
        </p:spPr>
        <p:txBody>
          <a:bodyPr wrap="square" lIns="25400" tIns="25400" rIns="25400" bIns="25400" rtlCol="0" anchor="t">
            <a:normAutofit/>
          </a:bodyPr>
          <a:lstStyle/>
          <a:p>
            <a:pPr marL="0" indent="0" algn="ctr">
              <a:lnSpc>
                <a:spcPct val="92160"/>
              </a:lnSpc>
              <a:buNone/>
            </a:pPr>
            <a:r>
              <a:rPr lang="en-US" sz="1725" b="1" dirty="0">
                <a:solidFill>
                  <a:srgbClr val="FFFFFF"/>
                </a:solidFill>
                <a:latin typeface="Oracle Sans Tab" pitchFamily="34" charset="0"/>
                <a:ea typeface="Oracle Sans Tab" pitchFamily="34" charset="-122"/>
                <a:cs typeface="Oracle Sans Tab" pitchFamily="34" charset="-120"/>
              </a:rPr>
              <a:t>Bi-encoder</a:t>
            </a:r>
            <a:endParaRPr lang="en-US" sz="1725" dirty="0"/>
          </a:p>
        </p:txBody>
      </p:sp>
      <p:sp>
        <p:nvSpPr>
          <p:cNvPr id="19" name="Text 14"/>
          <p:cNvSpPr/>
          <p:nvPr/>
        </p:nvSpPr>
        <p:spPr>
          <a:xfrm>
            <a:off x="4475295" y="5471604"/>
            <a:ext cx="3530870"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i="1" dirty="0">
                <a:solidFill>
                  <a:srgbClr val="C3D7DC"/>
                </a:solidFill>
                <a:latin typeface="Oracle Sans Tab" pitchFamily="34" charset="0"/>
                <a:ea typeface="Oracle Sans Tab" pitchFamily="34" charset="-122"/>
                <a:cs typeface="Oracle Sans Tab" pitchFamily="34" charset="-120"/>
              </a:rPr>
              <a:t>encodes each doc ALONE</a:t>
            </a:r>
            <a:endParaRPr lang="en-US" sz="1200" dirty="0"/>
          </a:p>
        </p:txBody>
      </p:sp>
      <p:sp>
        <p:nvSpPr>
          <p:cNvPr id="20" name="Shape 15"/>
          <p:cNvSpPr/>
          <p:nvPr/>
        </p:nvSpPr>
        <p:spPr>
          <a:xfrm>
            <a:off x="7955277" y="4999643"/>
            <a:ext cx="754373" cy="26458"/>
          </a:xfrm>
          <a:prstGeom prst="rect">
            <a:avLst/>
          </a:prstGeom>
          <a:solidFill>
            <a:srgbClr val="FFFFFF">
              <a:alpha val="34000"/>
            </a:srgbClr>
          </a:solidFill>
          <a:ln/>
        </p:spPr>
        <p:txBody>
          <a:bodyPr/>
          <a:lstStyle/>
          <a:p>
            <a:endParaRPr lang="en-US"/>
          </a:p>
        </p:txBody>
      </p:sp>
      <p:sp>
        <p:nvSpPr>
          <p:cNvPr id="21" name="Shape 16"/>
          <p:cNvSpPr/>
          <p:nvPr/>
        </p:nvSpPr>
        <p:spPr>
          <a:xfrm>
            <a:off x="8583972" y="4916961"/>
            <a:ext cx="125677" cy="165365"/>
          </a:xfrm>
          <a:prstGeom prst="rect">
            <a:avLst/>
          </a:prstGeom>
          <a:solidFill>
            <a:srgbClr val="FFFFFF">
              <a:alpha val="34000"/>
            </a:srgbClr>
          </a:solidFill>
          <a:ln/>
        </p:spPr>
        <p:txBody>
          <a:bodyPr/>
          <a:lstStyle/>
          <a:p>
            <a:endParaRPr lang="en-US"/>
          </a:p>
        </p:txBody>
      </p:sp>
      <p:sp>
        <p:nvSpPr>
          <p:cNvPr id="22" name="Shape 17"/>
          <p:cNvSpPr/>
          <p:nvPr/>
        </p:nvSpPr>
        <p:spPr>
          <a:xfrm>
            <a:off x="8778223" y="4279532"/>
            <a:ext cx="3154639" cy="1440170"/>
          </a:xfrm>
          <a:prstGeom prst="roundRect">
            <a:avLst>
              <a:gd name="adj" fmla="val 668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23" name="Image 3" descr="preencoded.png"/>
          <p:cNvPicPr>
            <a:picLocks noChangeAspect="1"/>
          </p:cNvPicPr>
          <p:nvPr/>
        </p:nvPicPr>
        <p:blipFill>
          <a:blip r:embed="rId6"/>
          <a:srcRect/>
          <a:stretch/>
        </p:blipFill>
        <p:spPr>
          <a:xfrm>
            <a:off x="10067912" y="4457660"/>
            <a:ext cx="576244" cy="576244"/>
          </a:xfrm>
          <a:prstGeom prst="rect">
            <a:avLst/>
          </a:prstGeom>
        </p:spPr>
      </p:pic>
      <p:sp>
        <p:nvSpPr>
          <p:cNvPr id="24" name="Text 18"/>
          <p:cNvSpPr/>
          <p:nvPr/>
        </p:nvSpPr>
        <p:spPr>
          <a:xfrm>
            <a:off x="8730904" y="5121548"/>
            <a:ext cx="3249279" cy="300926"/>
          </a:xfrm>
          <a:prstGeom prst="rect">
            <a:avLst/>
          </a:prstGeom>
          <a:noFill/>
          <a:ln/>
        </p:spPr>
        <p:txBody>
          <a:bodyPr wrap="square" lIns="25400" tIns="25400" rIns="25400" bIns="25400" rtlCol="0" anchor="t">
            <a:normAutofit/>
          </a:bodyPr>
          <a:lstStyle/>
          <a:p>
            <a:pPr marL="0" indent="0" algn="ctr">
              <a:lnSpc>
                <a:spcPct val="92160"/>
              </a:lnSpc>
              <a:buNone/>
            </a:pPr>
            <a:r>
              <a:rPr lang="en-US" sz="1725" b="1" dirty="0">
                <a:solidFill>
                  <a:srgbClr val="FFFFFF"/>
                </a:solidFill>
                <a:latin typeface="Oracle Sans Tab" pitchFamily="34" charset="0"/>
                <a:ea typeface="Oracle Sans Tab" pitchFamily="34" charset="-122"/>
                <a:cs typeface="Oracle Sans Tab" pitchFamily="34" charset="-120"/>
              </a:rPr>
              <a:t>Vector index</a:t>
            </a:r>
            <a:endParaRPr lang="en-US" sz="1725" dirty="0"/>
          </a:p>
        </p:txBody>
      </p:sp>
      <p:sp>
        <p:nvSpPr>
          <p:cNvPr id="25" name="Text 19"/>
          <p:cNvSpPr/>
          <p:nvPr/>
        </p:nvSpPr>
        <p:spPr>
          <a:xfrm>
            <a:off x="8740999" y="5471604"/>
            <a:ext cx="3229141"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i="1" dirty="0">
                <a:solidFill>
                  <a:srgbClr val="C3D7DC"/>
                </a:solidFill>
                <a:latin typeface="Oracle Sans Tab" pitchFamily="34" charset="0"/>
                <a:ea typeface="Oracle Sans Tab" pitchFamily="34" charset="-122"/>
                <a:cs typeface="Oracle Sans Tab" pitchFamily="34" charset="-120"/>
              </a:rPr>
              <a:t>HNSW, in Oracle</a:t>
            </a:r>
            <a:endParaRPr lang="en-US" sz="1200" dirty="0"/>
          </a:p>
        </p:txBody>
      </p:sp>
      <p:sp>
        <p:nvSpPr>
          <p:cNvPr id="26" name="Text 20"/>
          <p:cNvSpPr/>
          <p:nvPr/>
        </p:nvSpPr>
        <p:spPr>
          <a:xfrm>
            <a:off x="12138638" y="4892001"/>
            <a:ext cx="5582372" cy="266665"/>
          </a:xfrm>
          <a:prstGeom prst="rect">
            <a:avLst/>
          </a:prstGeom>
          <a:noFill/>
          <a:ln/>
        </p:spPr>
        <p:txBody>
          <a:bodyPr wrap="square" lIns="25400" tIns="25400" rIns="25400" bIns="25400" rtlCol="0" anchor="t">
            <a:normAutofit/>
          </a:bodyPr>
          <a:lstStyle/>
          <a:p>
            <a:pPr marL="0" indent="0" algn="l">
              <a:lnSpc>
                <a:spcPct val="92160"/>
              </a:lnSpc>
              <a:buNone/>
            </a:pPr>
            <a:r>
              <a:rPr lang="en-US" sz="1500" i="1" dirty="0">
                <a:solidFill>
                  <a:srgbClr val="C3D7DC"/>
                </a:solidFill>
                <a:latin typeface="Oracle Sans Tab" pitchFamily="34" charset="0"/>
                <a:ea typeface="Oracle Sans Tab" pitchFamily="34" charset="-122"/>
                <a:cs typeface="Oracle Sans Tab" pitchFamily="34" charset="-120"/>
              </a:rPr>
              <a:t>→ one fixed vector per document</a:t>
            </a:r>
            <a:endParaRPr lang="en-US" sz="1500" dirty="0"/>
          </a:p>
        </p:txBody>
      </p:sp>
      <p:sp>
        <p:nvSpPr>
          <p:cNvPr id="27" name="Shape 21"/>
          <p:cNvSpPr/>
          <p:nvPr/>
        </p:nvSpPr>
        <p:spPr>
          <a:xfrm>
            <a:off x="754373" y="6103607"/>
            <a:ext cx="16573458" cy="2331692"/>
          </a:xfrm>
          <a:prstGeom prst="roundRect">
            <a:avLst>
              <a:gd name="adj" fmla="val 4698"/>
            </a:avLst>
          </a:prstGeom>
          <a:solidFill>
            <a:srgbClr val="0B5060"/>
          </a:solidFill>
          <a:ln w="16536">
            <a:solidFill>
              <a:srgbClr val="FFFFFF">
                <a:alpha val="20000"/>
              </a:srgbClr>
            </a:solidFill>
            <a:prstDash val="solid"/>
          </a:ln>
        </p:spPr>
        <p:txBody>
          <a:bodyPr/>
          <a:lstStyle/>
          <a:p>
            <a:endParaRPr lang="en-US"/>
          </a:p>
        </p:txBody>
      </p:sp>
      <p:sp>
        <p:nvSpPr>
          <p:cNvPr id="28" name="Text 22"/>
          <p:cNvSpPr/>
          <p:nvPr/>
        </p:nvSpPr>
        <p:spPr>
          <a:xfrm>
            <a:off x="1097246" y="6309331"/>
            <a:ext cx="10561288" cy="243824"/>
          </a:xfrm>
          <a:prstGeom prst="rect">
            <a:avLst/>
          </a:prstGeom>
          <a:noFill/>
          <a:ln/>
        </p:spPr>
        <p:txBody>
          <a:bodyPr wrap="square" lIns="25400" tIns="25400" rIns="25400" bIns="25400" rtlCol="0" anchor="t">
            <a:normAutofit/>
          </a:bodyPr>
          <a:lstStyle/>
          <a:p>
            <a:pPr marL="0" indent="0" algn="l">
              <a:lnSpc>
                <a:spcPct val="92160"/>
              </a:lnSpc>
              <a:buNone/>
            </a:pPr>
            <a:r>
              <a:rPr lang="en-US" sz="1350" dirty="0">
                <a:solidFill>
                  <a:srgbClr val="FD6953"/>
                </a:solidFill>
                <a:latin typeface="Menlo" pitchFamily="34" charset="0"/>
                <a:ea typeface="Menlo" pitchFamily="34" charset="-122"/>
                <a:cs typeface="Menlo" pitchFamily="34" charset="-120"/>
              </a:rPr>
              <a:t>QUERY TIME · PER QUESTION</a:t>
            </a:r>
            <a:endParaRPr lang="en-US" sz="1350" dirty="0"/>
          </a:p>
        </p:txBody>
      </p:sp>
      <p:sp>
        <p:nvSpPr>
          <p:cNvPr id="29" name="Shape 23"/>
          <p:cNvSpPr/>
          <p:nvPr/>
        </p:nvSpPr>
        <p:spPr>
          <a:xfrm>
            <a:off x="1234395" y="6720830"/>
            <a:ext cx="2743192" cy="1440170"/>
          </a:xfrm>
          <a:prstGeom prst="roundRect">
            <a:avLst>
              <a:gd name="adj" fmla="val 668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30" name="Image 4" descr="preencoded.png"/>
          <p:cNvPicPr>
            <a:picLocks noChangeAspect="1"/>
          </p:cNvPicPr>
          <p:nvPr/>
        </p:nvPicPr>
        <p:blipFill>
          <a:blip r:embed="rId7"/>
          <a:srcRect/>
          <a:stretch/>
        </p:blipFill>
        <p:spPr>
          <a:xfrm>
            <a:off x="2318360" y="6898907"/>
            <a:ext cx="576244" cy="576244"/>
          </a:xfrm>
          <a:prstGeom prst="rect">
            <a:avLst/>
          </a:prstGeom>
        </p:spPr>
      </p:pic>
      <p:sp>
        <p:nvSpPr>
          <p:cNvPr id="31" name="Text 24"/>
          <p:cNvSpPr/>
          <p:nvPr/>
        </p:nvSpPr>
        <p:spPr>
          <a:xfrm>
            <a:off x="1193247" y="7562794"/>
            <a:ext cx="2825487" cy="300926"/>
          </a:xfrm>
          <a:prstGeom prst="rect">
            <a:avLst/>
          </a:prstGeom>
          <a:noFill/>
          <a:ln/>
        </p:spPr>
        <p:txBody>
          <a:bodyPr wrap="square" lIns="25400" tIns="25400" rIns="25400" bIns="25400" rtlCol="0" anchor="t">
            <a:normAutofit/>
          </a:bodyPr>
          <a:lstStyle/>
          <a:p>
            <a:pPr marL="0" indent="0" algn="ctr">
              <a:lnSpc>
                <a:spcPct val="92160"/>
              </a:lnSpc>
              <a:buNone/>
            </a:pPr>
            <a:r>
              <a:rPr lang="en-US" sz="1725" b="1" dirty="0">
                <a:solidFill>
                  <a:srgbClr val="FFFFFF"/>
                </a:solidFill>
                <a:latin typeface="Oracle Sans Tab" pitchFamily="34" charset="0"/>
                <a:ea typeface="Oracle Sans Tab" pitchFamily="34" charset="-122"/>
                <a:cs typeface="Oracle Sans Tab" pitchFamily="34" charset="-120"/>
              </a:rPr>
              <a:t>User query</a:t>
            </a:r>
            <a:endParaRPr lang="en-US" sz="1725" dirty="0"/>
          </a:p>
        </p:txBody>
      </p:sp>
      <p:sp>
        <p:nvSpPr>
          <p:cNvPr id="32" name="Text 25"/>
          <p:cNvSpPr/>
          <p:nvPr/>
        </p:nvSpPr>
        <p:spPr>
          <a:xfrm>
            <a:off x="1217745" y="7913780"/>
            <a:ext cx="2776492"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i="1" dirty="0">
                <a:solidFill>
                  <a:srgbClr val="C3D7DC"/>
                </a:solidFill>
                <a:latin typeface="Oracle Sans Tab" pitchFamily="34" charset="0"/>
                <a:ea typeface="Oracle Sans Tab" pitchFamily="34" charset="-122"/>
                <a:cs typeface="Oracle Sans Tab" pitchFamily="34" charset="-120"/>
              </a:rPr>
              <a:t>the question</a:t>
            </a:r>
            <a:endParaRPr lang="en-US" sz="1200" dirty="0"/>
          </a:p>
        </p:txBody>
      </p:sp>
      <p:sp>
        <p:nvSpPr>
          <p:cNvPr id="33" name="Shape 26"/>
          <p:cNvSpPr/>
          <p:nvPr/>
        </p:nvSpPr>
        <p:spPr>
          <a:xfrm>
            <a:off x="3977638" y="7440889"/>
            <a:ext cx="480022" cy="26458"/>
          </a:xfrm>
          <a:prstGeom prst="rect">
            <a:avLst/>
          </a:prstGeom>
          <a:solidFill>
            <a:srgbClr val="FFFFFF">
              <a:alpha val="34000"/>
            </a:srgbClr>
          </a:solidFill>
          <a:ln/>
        </p:spPr>
        <p:txBody>
          <a:bodyPr/>
          <a:lstStyle/>
          <a:p>
            <a:endParaRPr lang="en-US"/>
          </a:p>
        </p:txBody>
      </p:sp>
      <p:sp>
        <p:nvSpPr>
          <p:cNvPr id="34" name="Shape 27"/>
          <p:cNvSpPr/>
          <p:nvPr/>
        </p:nvSpPr>
        <p:spPr>
          <a:xfrm>
            <a:off x="4331984" y="7358207"/>
            <a:ext cx="125677" cy="165365"/>
          </a:xfrm>
          <a:prstGeom prst="rect">
            <a:avLst/>
          </a:prstGeom>
          <a:solidFill>
            <a:srgbClr val="FFFFFF">
              <a:alpha val="34000"/>
            </a:srgbClr>
          </a:solidFill>
          <a:ln/>
        </p:spPr>
        <p:txBody>
          <a:bodyPr/>
          <a:lstStyle/>
          <a:p>
            <a:endParaRPr lang="en-US"/>
          </a:p>
        </p:txBody>
      </p:sp>
      <p:sp>
        <p:nvSpPr>
          <p:cNvPr id="35" name="Shape 28"/>
          <p:cNvSpPr/>
          <p:nvPr/>
        </p:nvSpPr>
        <p:spPr>
          <a:xfrm>
            <a:off x="4526235" y="6720830"/>
            <a:ext cx="3428990" cy="1440170"/>
          </a:xfrm>
          <a:prstGeom prst="roundRect">
            <a:avLst>
              <a:gd name="adj" fmla="val 6680"/>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pic>
        <p:nvPicPr>
          <p:cNvPr id="36" name="Image 5" descr="preencoded.png"/>
          <p:cNvPicPr>
            <a:picLocks noChangeAspect="1"/>
          </p:cNvPicPr>
          <p:nvPr/>
        </p:nvPicPr>
        <p:blipFill>
          <a:blip r:embed="rId5"/>
          <a:srcRect/>
          <a:stretch/>
        </p:blipFill>
        <p:spPr>
          <a:xfrm>
            <a:off x="5953125" y="6898907"/>
            <a:ext cx="576244" cy="576244"/>
          </a:xfrm>
          <a:prstGeom prst="rect">
            <a:avLst/>
          </a:prstGeom>
        </p:spPr>
      </p:pic>
      <p:sp>
        <p:nvSpPr>
          <p:cNvPr id="37" name="Text 29"/>
          <p:cNvSpPr/>
          <p:nvPr/>
        </p:nvSpPr>
        <p:spPr>
          <a:xfrm>
            <a:off x="4474800" y="7562794"/>
            <a:ext cx="3531859" cy="300926"/>
          </a:xfrm>
          <a:prstGeom prst="rect">
            <a:avLst/>
          </a:prstGeom>
          <a:noFill/>
          <a:ln/>
        </p:spPr>
        <p:txBody>
          <a:bodyPr wrap="square" lIns="25400" tIns="25400" rIns="25400" bIns="25400" rtlCol="0" anchor="t">
            <a:normAutofit/>
          </a:bodyPr>
          <a:lstStyle/>
          <a:p>
            <a:pPr marL="0" indent="0" algn="ctr">
              <a:lnSpc>
                <a:spcPct val="92160"/>
              </a:lnSpc>
              <a:buNone/>
            </a:pPr>
            <a:r>
              <a:rPr lang="en-US" sz="1725" b="1" dirty="0">
                <a:solidFill>
                  <a:srgbClr val="FFFFFF"/>
                </a:solidFill>
                <a:latin typeface="Oracle Sans Tab" pitchFamily="34" charset="0"/>
                <a:ea typeface="Oracle Sans Tab" pitchFamily="34" charset="-122"/>
                <a:cs typeface="Oracle Sans Tab" pitchFamily="34" charset="-120"/>
              </a:rPr>
              <a:t>Bi-encoder</a:t>
            </a:r>
            <a:endParaRPr lang="en-US" sz="1725" dirty="0"/>
          </a:p>
        </p:txBody>
      </p:sp>
      <p:sp>
        <p:nvSpPr>
          <p:cNvPr id="38" name="Text 30"/>
          <p:cNvSpPr/>
          <p:nvPr/>
        </p:nvSpPr>
        <p:spPr>
          <a:xfrm>
            <a:off x="4475295" y="7913780"/>
            <a:ext cx="3530870"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i="1" dirty="0">
                <a:solidFill>
                  <a:srgbClr val="C3D7DC"/>
                </a:solidFill>
                <a:latin typeface="Oracle Sans Tab" pitchFamily="34" charset="0"/>
                <a:ea typeface="Oracle Sans Tab" pitchFamily="34" charset="-122"/>
                <a:cs typeface="Oracle Sans Tab" pitchFamily="34" charset="-120"/>
              </a:rPr>
              <a:t>encodes query ALONE</a:t>
            </a:r>
            <a:endParaRPr lang="en-US" sz="1200" dirty="0"/>
          </a:p>
        </p:txBody>
      </p:sp>
      <p:sp>
        <p:nvSpPr>
          <p:cNvPr id="39" name="Shape 31"/>
          <p:cNvSpPr/>
          <p:nvPr/>
        </p:nvSpPr>
        <p:spPr>
          <a:xfrm>
            <a:off x="12070063" y="6720830"/>
            <a:ext cx="3428990" cy="1440170"/>
          </a:xfrm>
          <a:prstGeom prst="roundRect">
            <a:avLst>
              <a:gd name="adj" fmla="val 6680"/>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pic>
        <p:nvPicPr>
          <p:cNvPr id="40" name="Image 6" descr="preencoded.png"/>
          <p:cNvPicPr>
            <a:picLocks noChangeAspect="1"/>
          </p:cNvPicPr>
          <p:nvPr/>
        </p:nvPicPr>
        <p:blipFill>
          <a:blip r:embed="rId8"/>
          <a:srcRect/>
          <a:stretch/>
        </p:blipFill>
        <p:spPr>
          <a:xfrm>
            <a:off x="13496902" y="6898907"/>
            <a:ext cx="576244" cy="576244"/>
          </a:xfrm>
          <a:prstGeom prst="rect">
            <a:avLst/>
          </a:prstGeom>
        </p:spPr>
      </p:pic>
      <p:sp>
        <p:nvSpPr>
          <p:cNvPr id="41" name="Text 32"/>
          <p:cNvSpPr/>
          <p:nvPr/>
        </p:nvSpPr>
        <p:spPr>
          <a:xfrm>
            <a:off x="12018628" y="7562794"/>
            <a:ext cx="3531859" cy="300926"/>
          </a:xfrm>
          <a:prstGeom prst="rect">
            <a:avLst/>
          </a:prstGeom>
          <a:noFill/>
          <a:ln/>
        </p:spPr>
        <p:txBody>
          <a:bodyPr wrap="square" lIns="25400" tIns="25400" rIns="25400" bIns="25400" rtlCol="0" anchor="t">
            <a:normAutofit/>
          </a:bodyPr>
          <a:lstStyle/>
          <a:p>
            <a:pPr marL="0" indent="0" algn="ctr">
              <a:lnSpc>
                <a:spcPct val="92160"/>
              </a:lnSpc>
              <a:buNone/>
            </a:pPr>
            <a:r>
              <a:rPr lang="en-US" sz="1725" b="1" dirty="0">
                <a:solidFill>
                  <a:srgbClr val="FFFFFF"/>
                </a:solidFill>
                <a:latin typeface="Oracle Sans Tab" pitchFamily="34" charset="0"/>
                <a:ea typeface="Oracle Sans Tab" pitchFamily="34" charset="-122"/>
                <a:cs typeface="Oracle Sans Tab" pitchFamily="34" charset="-120"/>
              </a:rPr>
              <a:t>Cross-encoder</a:t>
            </a:r>
            <a:endParaRPr lang="en-US" sz="1725" dirty="0"/>
          </a:p>
        </p:txBody>
      </p:sp>
      <p:sp>
        <p:nvSpPr>
          <p:cNvPr id="42" name="Text 33"/>
          <p:cNvSpPr/>
          <p:nvPr/>
        </p:nvSpPr>
        <p:spPr>
          <a:xfrm>
            <a:off x="12019124" y="7913780"/>
            <a:ext cx="3530870"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i="1" dirty="0">
                <a:solidFill>
                  <a:srgbClr val="C3D7DC"/>
                </a:solidFill>
                <a:latin typeface="Oracle Sans Tab" pitchFamily="34" charset="0"/>
                <a:ea typeface="Oracle Sans Tab" pitchFamily="34" charset="-122"/>
                <a:cs typeface="Oracle Sans Tab" pitchFamily="34" charset="-120"/>
              </a:rPr>
              <a:t>reads query + doc TOGETHER</a:t>
            </a:r>
            <a:endParaRPr lang="en-US" sz="1200" dirty="0"/>
          </a:p>
        </p:txBody>
      </p:sp>
      <p:sp>
        <p:nvSpPr>
          <p:cNvPr id="43" name="Shape 34"/>
          <p:cNvSpPr/>
          <p:nvPr/>
        </p:nvSpPr>
        <p:spPr>
          <a:xfrm>
            <a:off x="15773352" y="6720830"/>
            <a:ext cx="1549673" cy="1440170"/>
          </a:xfrm>
          <a:prstGeom prst="roundRect">
            <a:avLst>
              <a:gd name="adj" fmla="val 668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44" name="Image 7" descr="preencoded.png"/>
          <p:cNvPicPr>
            <a:picLocks noChangeAspect="1"/>
          </p:cNvPicPr>
          <p:nvPr/>
        </p:nvPicPr>
        <p:blipFill>
          <a:blip r:embed="rId9"/>
          <a:srcRect/>
          <a:stretch/>
        </p:blipFill>
        <p:spPr>
          <a:xfrm>
            <a:off x="16260092" y="6898907"/>
            <a:ext cx="576244" cy="576244"/>
          </a:xfrm>
          <a:prstGeom prst="rect">
            <a:avLst/>
          </a:prstGeom>
        </p:spPr>
      </p:pic>
      <p:sp>
        <p:nvSpPr>
          <p:cNvPr id="45" name="Text 35"/>
          <p:cNvSpPr/>
          <p:nvPr/>
        </p:nvSpPr>
        <p:spPr>
          <a:xfrm>
            <a:off x="15735252" y="7562794"/>
            <a:ext cx="1625873" cy="300926"/>
          </a:xfrm>
          <a:prstGeom prst="rect">
            <a:avLst/>
          </a:prstGeom>
          <a:noFill/>
          <a:ln/>
        </p:spPr>
        <p:txBody>
          <a:bodyPr wrap="square" lIns="25400" tIns="25400" rIns="25400" bIns="25400" rtlCol="0" anchor="t">
            <a:normAutofit/>
          </a:bodyPr>
          <a:lstStyle/>
          <a:p>
            <a:pPr marL="0" indent="0" algn="ctr">
              <a:lnSpc>
                <a:spcPct val="92160"/>
              </a:lnSpc>
              <a:buNone/>
            </a:pPr>
            <a:r>
              <a:rPr lang="en-US" sz="1725" b="1" dirty="0">
                <a:solidFill>
                  <a:srgbClr val="FFFFFF"/>
                </a:solidFill>
                <a:latin typeface="Oracle Sans Tab" pitchFamily="34" charset="0"/>
                <a:ea typeface="Oracle Sans Tab" pitchFamily="34" charset="-122"/>
                <a:cs typeface="Oracle Sans Tab" pitchFamily="34" charset="-120"/>
              </a:rPr>
              <a:t>Answer</a:t>
            </a:r>
            <a:endParaRPr lang="en-US" sz="1725" dirty="0"/>
          </a:p>
        </p:txBody>
      </p:sp>
      <p:sp>
        <p:nvSpPr>
          <p:cNvPr id="46" name="Text 36"/>
          <p:cNvSpPr/>
          <p:nvPr/>
        </p:nvSpPr>
        <p:spPr>
          <a:xfrm>
            <a:off x="15816375" y="7913780"/>
            <a:ext cx="1463678"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i="1" dirty="0">
                <a:solidFill>
                  <a:srgbClr val="C3D7DC"/>
                </a:solidFill>
                <a:latin typeface="Oracle Sans Tab" pitchFamily="34" charset="0"/>
                <a:ea typeface="Oracle Sans Tab" pitchFamily="34" charset="-122"/>
                <a:cs typeface="Oracle Sans Tab" pitchFamily="34" charset="-120"/>
              </a:rPr>
              <a:t>context</a:t>
            </a:r>
            <a:endParaRPr lang="en-US" sz="1200" dirty="0"/>
          </a:p>
        </p:txBody>
      </p:sp>
      <p:sp>
        <p:nvSpPr>
          <p:cNvPr id="47" name="Shape 37"/>
          <p:cNvSpPr/>
          <p:nvPr/>
        </p:nvSpPr>
        <p:spPr>
          <a:xfrm rot="8424598">
            <a:off x="7880382" y="6361921"/>
            <a:ext cx="1333500" cy="26458"/>
          </a:xfrm>
          <a:prstGeom prst="rect">
            <a:avLst/>
          </a:prstGeom>
          <a:solidFill>
            <a:srgbClr val="FD6953"/>
          </a:solidFill>
          <a:ln/>
        </p:spPr>
        <p:txBody>
          <a:bodyPr/>
          <a:lstStyle/>
          <a:p>
            <a:endParaRPr lang="en-US"/>
          </a:p>
        </p:txBody>
      </p:sp>
      <p:sp>
        <p:nvSpPr>
          <p:cNvPr id="48" name="Shape 38"/>
          <p:cNvSpPr/>
          <p:nvPr/>
        </p:nvSpPr>
        <p:spPr>
          <a:xfrm rot="8424598">
            <a:off x="8940545" y="5898484"/>
            <a:ext cx="125677" cy="161925"/>
          </a:xfrm>
          <a:prstGeom prst="rect">
            <a:avLst/>
          </a:prstGeom>
          <a:solidFill>
            <a:srgbClr val="FD6953"/>
          </a:solidFill>
          <a:ln/>
        </p:spPr>
        <p:txBody>
          <a:bodyPr/>
          <a:lstStyle/>
          <a:p>
            <a:endParaRPr lang="en-US"/>
          </a:p>
        </p:txBody>
      </p:sp>
      <p:sp>
        <p:nvSpPr>
          <p:cNvPr id="49" name="Text 39"/>
          <p:cNvSpPr/>
          <p:nvPr/>
        </p:nvSpPr>
        <p:spPr>
          <a:xfrm>
            <a:off x="7427192" y="6286490"/>
            <a:ext cx="2564861" cy="220931"/>
          </a:xfrm>
          <a:prstGeom prst="rect">
            <a:avLst/>
          </a:prstGeom>
          <a:noFill/>
          <a:ln/>
        </p:spPr>
        <p:txBody>
          <a:bodyPr wrap="square" lIns="25400" tIns="25400" rIns="25400" bIns="25400" rtlCol="0" anchor="t">
            <a:normAutofit lnSpcReduction="10000"/>
          </a:bodyPr>
          <a:lstStyle/>
          <a:p>
            <a:pPr marL="0" indent="0" algn="ctr">
              <a:lnSpc>
                <a:spcPct val="92160"/>
              </a:lnSpc>
              <a:buNone/>
            </a:pPr>
            <a:r>
              <a:rPr lang="en-US" sz="1200" i="1" dirty="0">
                <a:solidFill>
                  <a:srgbClr val="FD6953"/>
                </a:solidFill>
                <a:latin typeface="Oracle Sans Tab" pitchFamily="34" charset="0"/>
                <a:ea typeface="Oracle Sans Tab" pitchFamily="34" charset="-122"/>
                <a:cs typeface="Oracle Sans Tab" pitchFamily="34" charset="-120"/>
              </a:rPr>
              <a:t>cosine NN</a:t>
            </a:r>
            <a:endParaRPr lang="en-US" sz="1200" dirty="0"/>
          </a:p>
        </p:txBody>
      </p:sp>
      <p:sp>
        <p:nvSpPr>
          <p:cNvPr id="50" name="Text 40"/>
          <p:cNvSpPr/>
          <p:nvPr/>
        </p:nvSpPr>
        <p:spPr>
          <a:xfrm>
            <a:off x="7276328" y="6506011"/>
            <a:ext cx="2866590" cy="220931"/>
          </a:xfrm>
          <a:prstGeom prst="rect">
            <a:avLst/>
          </a:prstGeom>
          <a:noFill/>
          <a:ln/>
        </p:spPr>
        <p:txBody>
          <a:bodyPr wrap="square" lIns="25400" tIns="25400" rIns="25400" bIns="25400" rtlCol="0" anchor="t">
            <a:normAutofit/>
          </a:bodyPr>
          <a:lstStyle/>
          <a:p>
            <a:pPr marL="0" indent="0" algn="ctr">
              <a:lnSpc>
                <a:spcPct val="92160"/>
              </a:lnSpc>
              <a:buNone/>
            </a:pPr>
            <a:r>
              <a:rPr lang="en-US" sz="1050" i="1" dirty="0">
                <a:solidFill>
                  <a:srgbClr val="9FBBC3"/>
                </a:solidFill>
                <a:latin typeface="Oracle Sans Tab" pitchFamily="34" charset="0"/>
                <a:ea typeface="Oracle Sans Tab" pitchFamily="34" charset="-122"/>
                <a:cs typeface="Oracle Sans Tab" pitchFamily="34" charset="-120"/>
              </a:rPr>
              <a:t>cheap, approximate</a:t>
            </a:r>
            <a:endParaRPr lang="en-US" sz="1050" dirty="0"/>
          </a:p>
        </p:txBody>
      </p:sp>
      <p:sp>
        <p:nvSpPr>
          <p:cNvPr id="51" name="Shape 41"/>
          <p:cNvSpPr/>
          <p:nvPr/>
        </p:nvSpPr>
        <p:spPr>
          <a:xfrm rot="2700000">
            <a:off x="11549012" y="6345691"/>
            <a:ext cx="1162050" cy="26458"/>
          </a:xfrm>
          <a:prstGeom prst="rect">
            <a:avLst/>
          </a:prstGeom>
          <a:solidFill>
            <a:srgbClr val="FD6953"/>
          </a:solidFill>
          <a:ln/>
        </p:spPr>
        <p:txBody>
          <a:bodyPr/>
          <a:lstStyle/>
          <a:p>
            <a:endParaRPr lang="en-US"/>
          </a:p>
        </p:txBody>
      </p:sp>
      <p:sp>
        <p:nvSpPr>
          <p:cNvPr id="52" name="Shape 42"/>
          <p:cNvSpPr/>
          <p:nvPr/>
        </p:nvSpPr>
        <p:spPr>
          <a:xfrm rot="2700000">
            <a:off x="12443469" y="6637016"/>
            <a:ext cx="125677" cy="161925"/>
          </a:xfrm>
          <a:prstGeom prst="rect">
            <a:avLst/>
          </a:prstGeom>
          <a:solidFill>
            <a:srgbClr val="FD6953"/>
          </a:solidFill>
          <a:ln/>
        </p:spPr>
        <p:txBody>
          <a:bodyPr/>
          <a:lstStyle/>
          <a:p>
            <a:endParaRPr lang="en-US"/>
          </a:p>
        </p:txBody>
      </p:sp>
      <p:sp>
        <p:nvSpPr>
          <p:cNvPr id="53" name="Text 43"/>
          <p:cNvSpPr/>
          <p:nvPr/>
        </p:nvSpPr>
        <p:spPr>
          <a:xfrm>
            <a:off x="11151107" y="6286490"/>
            <a:ext cx="2112212" cy="220931"/>
          </a:xfrm>
          <a:prstGeom prst="rect">
            <a:avLst/>
          </a:prstGeom>
          <a:noFill/>
          <a:ln/>
        </p:spPr>
        <p:txBody>
          <a:bodyPr wrap="square" lIns="25400" tIns="25400" rIns="25400" bIns="25400" rtlCol="0" anchor="t">
            <a:normAutofit lnSpcReduction="10000"/>
          </a:bodyPr>
          <a:lstStyle/>
          <a:p>
            <a:pPr marL="0" indent="0" algn="ctr">
              <a:lnSpc>
                <a:spcPct val="92160"/>
              </a:lnSpc>
              <a:buNone/>
            </a:pPr>
            <a:r>
              <a:rPr lang="en-US" sz="1200" i="1" dirty="0">
                <a:solidFill>
                  <a:srgbClr val="FD6953"/>
                </a:solidFill>
                <a:latin typeface="Oracle Sans Tab" pitchFamily="34" charset="0"/>
                <a:ea typeface="Oracle Sans Tab" pitchFamily="34" charset="-122"/>
                <a:cs typeface="Oracle Sans Tab" pitchFamily="34" charset="-120"/>
              </a:rPr>
              <a:t>top-N</a:t>
            </a:r>
            <a:endParaRPr lang="en-US" sz="1200" dirty="0"/>
          </a:p>
        </p:txBody>
      </p:sp>
      <p:sp>
        <p:nvSpPr>
          <p:cNvPr id="54" name="Shape 44"/>
          <p:cNvSpPr/>
          <p:nvPr/>
        </p:nvSpPr>
        <p:spPr>
          <a:xfrm>
            <a:off x="15499053" y="7440889"/>
            <a:ext cx="274299" cy="26458"/>
          </a:xfrm>
          <a:prstGeom prst="rect">
            <a:avLst/>
          </a:prstGeom>
          <a:solidFill>
            <a:srgbClr val="FD6953"/>
          </a:solidFill>
          <a:ln/>
        </p:spPr>
        <p:txBody>
          <a:bodyPr/>
          <a:lstStyle/>
          <a:p>
            <a:endParaRPr lang="en-US"/>
          </a:p>
        </p:txBody>
      </p:sp>
      <p:sp>
        <p:nvSpPr>
          <p:cNvPr id="55" name="Shape 45"/>
          <p:cNvSpPr/>
          <p:nvPr/>
        </p:nvSpPr>
        <p:spPr>
          <a:xfrm>
            <a:off x="15647675" y="7358207"/>
            <a:ext cx="125677" cy="165365"/>
          </a:xfrm>
          <a:prstGeom prst="rect">
            <a:avLst/>
          </a:prstGeom>
          <a:solidFill>
            <a:srgbClr val="FD6953"/>
          </a:solidFill>
          <a:ln/>
        </p:spPr>
        <p:txBody>
          <a:bodyPr/>
          <a:lstStyle/>
          <a:p>
            <a:endParaRPr lang="en-US"/>
          </a:p>
        </p:txBody>
      </p:sp>
      <p:sp>
        <p:nvSpPr>
          <p:cNvPr id="56" name="Text 46"/>
          <p:cNvSpPr/>
          <p:nvPr/>
        </p:nvSpPr>
        <p:spPr>
          <a:xfrm>
            <a:off x="15460953" y="6889863"/>
            <a:ext cx="624797" cy="220931"/>
          </a:xfrm>
          <a:prstGeom prst="rect">
            <a:avLst/>
          </a:prstGeom>
          <a:noFill/>
          <a:ln/>
        </p:spPr>
        <p:txBody>
          <a:bodyPr wrap="square" lIns="25400" tIns="25400" rIns="25400" bIns="25400" rtlCol="0" anchor="t">
            <a:normAutofit/>
          </a:bodyPr>
          <a:lstStyle/>
          <a:p>
            <a:pPr marL="0" indent="0" algn="ctr">
              <a:lnSpc>
                <a:spcPct val="92160"/>
              </a:lnSpc>
              <a:buNone/>
            </a:pPr>
            <a:r>
              <a:rPr lang="en-US" sz="975" i="1" dirty="0">
                <a:solidFill>
                  <a:srgbClr val="FD6953"/>
                </a:solidFill>
                <a:latin typeface="Oracle Sans Tab" pitchFamily="34" charset="0"/>
                <a:ea typeface="Oracle Sans Tab" pitchFamily="34" charset="-122"/>
                <a:cs typeface="Oracle Sans Tab" pitchFamily="34" charset="-120"/>
              </a:rPr>
              <a:t>top-k</a:t>
            </a:r>
            <a:endParaRPr lang="en-US" sz="975" dirty="0"/>
          </a:p>
        </p:txBody>
      </p:sp>
      <p:sp>
        <p:nvSpPr>
          <p:cNvPr id="57" name="Shape 47"/>
          <p:cNvSpPr/>
          <p:nvPr/>
        </p:nvSpPr>
        <p:spPr>
          <a:xfrm>
            <a:off x="960096" y="8709649"/>
            <a:ext cx="7978117" cy="1028671"/>
          </a:xfrm>
          <a:prstGeom prst="roundRect">
            <a:avLst>
              <a:gd name="adj" fmla="val 9352"/>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58" name="Text 48"/>
          <p:cNvSpPr/>
          <p:nvPr/>
        </p:nvSpPr>
        <p:spPr>
          <a:xfrm>
            <a:off x="1302969" y="9013971"/>
            <a:ext cx="7511089" cy="458126"/>
          </a:xfrm>
          <a:prstGeom prst="rect">
            <a:avLst/>
          </a:prstGeom>
          <a:noFill/>
          <a:ln/>
        </p:spPr>
        <p:txBody>
          <a:bodyPr wrap="square" lIns="25400" tIns="25400" rIns="25400" bIns="25400" rtlCol="0" anchor="t">
            <a:normAutofit/>
          </a:bodyPr>
          <a:lstStyle/>
          <a:p>
            <a:pPr marL="0" indent="0" algn="l">
              <a:lnSpc>
                <a:spcPct val="80640"/>
              </a:lnSpc>
              <a:buNone/>
            </a:pPr>
            <a:r>
              <a:rPr lang="en-US" sz="1575" b="1" dirty="0">
                <a:solidFill>
                  <a:srgbClr val="FD6953"/>
                </a:solidFill>
                <a:latin typeface="Oracle Sans Tab" pitchFamily="34" charset="0"/>
                <a:ea typeface="Oracle Sans Tab" pitchFamily="34" charset="-122"/>
                <a:cs typeface="Oracle Sans Tab" pitchFamily="34" charset="-120"/>
              </a:rPr>
              <a:t>Bi-encoder </a:t>
            </a:r>
            <a:r>
              <a:rPr lang="en-US" sz="1575" dirty="0">
                <a:solidFill>
                  <a:srgbClr val="FFFFFF"/>
                </a:solidFill>
                <a:latin typeface="Oracle Sans Tab" pitchFamily="34" charset="0"/>
                <a:ea typeface="Oracle Sans Tab" pitchFamily="34" charset="-122"/>
                <a:cs typeface="Oracle Sans Tab" pitchFamily="34" charset="-120"/>
              </a:rPr>
              <a:t>separate + precomputed: fast nearest-neighbour over millions, but never compares query and document directly.</a:t>
            </a:r>
            <a:endParaRPr lang="en-US" sz="1200" dirty="0"/>
          </a:p>
        </p:txBody>
      </p:sp>
      <p:sp>
        <p:nvSpPr>
          <p:cNvPr id="59" name="Shape 49"/>
          <p:cNvSpPr/>
          <p:nvPr/>
        </p:nvSpPr>
        <p:spPr>
          <a:xfrm>
            <a:off x="9349713" y="8709649"/>
            <a:ext cx="7978117" cy="1028671"/>
          </a:xfrm>
          <a:prstGeom prst="roundRect">
            <a:avLst>
              <a:gd name="adj" fmla="val 9352"/>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60" name="Text 50"/>
          <p:cNvSpPr/>
          <p:nvPr/>
        </p:nvSpPr>
        <p:spPr>
          <a:xfrm>
            <a:off x="9692638" y="9013971"/>
            <a:ext cx="7511089" cy="458126"/>
          </a:xfrm>
          <a:prstGeom prst="rect">
            <a:avLst/>
          </a:prstGeom>
          <a:noFill/>
          <a:ln/>
        </p:spPr>
        <p:txBody>
          <a:bodyPr wrap="square" lIns="25400" tIns="25400" rIns="25400" bIns="25400" rtlCol="0" anchor="t">
            <a:normAutofit/>
          </a:bodyPr>
          <a:lstStyle/>
          <a:p>
            <a:pPr marL="0" indent="0" algn="l">
              <a:lnSpc>
                <a:spcPct val="80640"/>
              </a:lnSpc>
              <a:buNone/>
            </a:pPr>
            <a:r>
              <a:rPr lang="en-US" sz="1575" b="1" dirty="0">
                <a:solidFill>
                  <a:srgbClr val="FD6953"/>
                </a:solidFill>
                <a:latin typeface="Oracle Sans Tab" pitchFamily="34" charset="0"/>
                <a:ea typeface="Oracle Sans Tab" pitchFamily="34" charset="-122"/>
                <a:cs typeface="Oracle Sans Tab" pitchFamily="34" charset="-120"/>
              </a:rPr>
              <a:t>Cross-encoder </a:t>
            </a:r>
            <a:r>
              <a:rPr lang="en-US" sz="1575" dirty="0">
                <a:solidFill>
                  <a:srgbClr val="FFFFFF"/>
                </a:solidFill>
                <a:latin typeface="Oracle Sans Tab" pitchFamily="34" charset="0"/>
                <a:ea typeface="Oracle Sans Tab" pitchFamily="34" charset="-122"/>
                <a:cs typeface="Oracle Sans Tab" pitchFamily="34" charset="-120"/>
              </a:rPr>
              <a:t>joint, word-level: far more accurate, but runs once per candidate, so only on the shortlist.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101672"/>
            <a:ext cx="18287979" cy="10286969"/>
          </a:xfrm>
          <a:prstGeom prst="rect">
            <a:avLst/>
          </a:prstGeom>
        </p:spPr>
      </p:pic>
      <p:sp>
        <p:nvSpPr>
          <p:cNvPr id="3" name="Shape 0"/>
          <p:cNvSpPr/>
          <p:nvPr/>
        </p:nvSpPr>
        <p:spPr>
          <a:xfrm>
            <a:off x="14284606" y="4895825"/>
            <a:ext cx="802948" cy="26458"/>
          </a:xfrm>
          <a:prstGeom prst="rect">
            <a:avLst/>
          </a:prstGeom>
          <a:solidFill>
            <a:srgbClr val="F0CC71"/>
          </a:solidFill>
          <a:ln/>
        </p:spPr>
        <p:txBody>
          <a:bodyPr/>
          <a:lstStyle/>
          <a:p>
            <a:endParaRPr lang="en-US"/>
          </a:p>
        </p:txBody>
      </p:sp>
      <p:sp>
        <p:nvSpPr>
          <p:cNvPr id="4" name="Shape 1"/>
          <p:cNvSpPr/>
          <p:nvPr/>
        </p:nvSpPr>
        <p:spPr>
          <a:xfrm rot="5400000">
            <a:off x="14913458" y="5044033"/>
            <a:ext cx="323850" cy="26458"/>
          </a:xfrm>
          <a:prstGeom prst="rect">
            <a:avLst/>
          </a:prstGeom>
          <a:solidFill>
            <a:srgbClr val="F0CC71"/>
          </a:solidFill>
          <a:ln/>
        </p:spPr>
        <p:txBody>
          <a:bodyPr/>
          <a:lstStyle/>
          <a:p>
            <a:endParaRPr lang="en-US"/>
          </a:p>
        </p:txBody>
      </p:sp>
      <p:sp>
        <p:nvSpPr>
          <p:cNvPr id="5" name="Shape 2"/>
          <p:cNvSpPr/>
          <p:nvPr/>
        </p:nvSpPr>
        <p:spPr>
          <a:xfrm>
            <a:off x="15087553" y="5218699"/>
            <a:ext cx="802948" cy="26458"/>
          </a:xfrm>
          <a:prstGeom prst="rect">
            <a:avLst/>
          </a:prstGeom>
          <a:solidFill>
            <a:srgbClr val="F0CC71"/>
          </a:solidFill>
          <a:ln/>
        </p:spPr>
        <p:txBody>
          <a:bodyPr/>
          <a:lstStyle/>
          <a:p>
            <a:endParaRPr lang="en-US"/>
          </a:p>
        </p:txBody>
      </p:sp>
      <p:sp>
        <p:nvSpPr>
          <p:cNvPr id="6" name="Shape 3"/>
          <p:cNvSpPr/>
          <p:nvPr/>
        </p:nvSpPr>
        <p:spPr>
          <a:xfrm>
            <a:off x="15753921" y="5129403"/>
            <a:ext cx="135599" cy="178594"/>
          </a:xfrm>
          <a:prstGeom prst="rect">
            <a:avLst/>
          </a:prstGeom>
          <a:solidFill>
            <a:srgbClr val="F0CC71"/>
          </a:solidFill>
          <a:ln/>
        </p:spPr>
        <p:txBody>
          <a:bodyPr/>
          <a:lstStyle/>
          <a:p>
            <a:endParaRPr lang="en-US"/>
          </a:p>
        </p:txBody>
      </p:sp>
      <p:pic>
        <p:nvPicPr>
          <p:cNvPr id="7" name="Image 1" descr="preencoded.png"/>
          <p:cNvPicPr>
            <a:picLocks noChangeAspect="1"/>
          </p:cNvPicPr>
          <p:nvPr/>
        </p:nvPicPr>
        <p:blipFill>
          <a:blip r:embed="rId4"/>
          <a:srcRect t="-31" b="-31"/>
          <a:stretch/>
        </p:blipFill>
        <p:spPr>
          <a:xfrm>
            <a:off x="919117" y="2900340"/>
            <a:ext cx="1613493" cy="2533644"/>
          </a:xfrm>
          <a:prstGeom prst="rect">
            <a:avLst/>
          </a:prstGeom>
        </p:spPr>
      </p:pic>
      <p:pic>
        <p:nvPicPr>
          <p:cNvPr id="8" name="Image 2" descr="preencoded.png"/>
          <p:cNvPicPr>
            <a:picLocks noChangeAspect="1"/>
          </p:cNvPicPr>
          <p:nvPr/>
        </p:nvPicPr>
        <p:blipFill>
          <a:blip r:embed="rId5"/>
          <a:srcRect t="-58" b="-58"/>
          <a:stretch/>
        </p:blipFill>
        <p:spPr>
          <a:xfrm>
            <a:off x="4111893" y="2666969"/>
            <a:ext cx="1123911" cy="834368"/>
          </a:xfrm>
          <a:prstGeom prst="rect">
            <a:avLst/>
          </a:prstGeom>
        </p:spPr>
      </p:pic>
      <p:sp>
        <p:nvSpPr>
          <p:cNvPr id="9" name="Shape 4"/>
          <p:cNvSpPr/>
          <p:nvPr/>
        </p:nvSpPr>
        <p:spPr>
          <a:xfrm>
            <a:off x="3393746" y="3975726"/>
            <a:ext cx="2561239" cy="434289"/>
          </a:xfrm>
          <a:prstGeom prst="roundRect">
            <a:avLst>
              <a:gd name="adj" fmla="val 16669"/>
            </a:avLst>
          </a:prstGeom>
          <a:solidFill>
            <a:srgbClr val="89B2B0"/>
          </a:solidFill>
          <a:ln w="16536">
            <a:solidFill>
              <a:srgbClr val="FFFFFF">
                <a:alpha val="45000"/>
              </a:srgbClr>
            </a:solidFill>
            <a:prstDash val="solid"/>
          </a:ln>
        </p:spPr>
        <p:txBody>
          <a:bodyPr/>
          <a:lstStyle/>
          <a:p>
            <a:endParaRPr lang="en-US"/>
          </a:p>
        </p:txBody>
      </p:sp>
      <p:sp>
        <p:nvSpPr>
          <p:cNvPr id="10" name="Text 5"/>
          <p:cNvSpPr/>
          <p:nvPr/>
        </p:nvSpPr>
        <p:spPr>
          <a:xfrm>
            <a:off x="3509332" y="4040477"/>
            <a:ext cx="2330068" cy="342888"/>
          </a:xfrm>
          <a:prstGeom prst="rect">
            <a:avLst/>
          </a:prstGeom>
          <a:noFill/>
          <a:ln/>
        </p:spPr>
        <p:txBody>
          <a:bodyPr wrap="square" lIns="25400" tIns="25400" rIns="25400" bIns="25400" rtlCol="0" anchor="t">
            <a:normAutofit/>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Data ingested into a Data Processing pipeline</a:t>
            </a:r>
            <a:endParaRPr lang="en-US" sz="1200" dirty="0"/>
          </a:p>
        </p:txBody>
      </p:sp>
      <p:pic>
        <p:nvPicPr>
          <p:cNvPr id="11" name="Image 3" descr="preencoded.png"/>
          <p:cNvPicPr>
            <a:picLocks noChangeAspect="1"/>
          </p:cNvPicPr>
          <p:nvPr/>
        </p:nvPicPr>
        <p:blipFill>
          <a:blip r:embed="rId6"/>
          <a:srcRect l="-15" r="-15"/>
          <a:stretch/>
        </p:blipFill>
        <p:spPr>
          <a:xfrm>
            <a:off x="7957137" y="2983229"/>
            <a:ext cx="1055336" cy="898188"/>
          </a:xfrm>
          <a:prstGeom prst="rect">
            <a:avLst/>
          </a:prstGeom>
        </p:spPr>
      </p:pic>
      <p:sp>
        <p:nvSpPr>
          <p:cNvPr id="12" name="Shape 6"/>
          <p:cNvSpPr/>
          <p:nvPr/>
        </p:nvSpPr>
        <p:spPr>
          <a:xfrm rot="102600">
            <a:off x="2533998" y="4177989"/>
            <a:ext cx="857250" cy="26458"/>
          </a:xfrm>
          <a:prstGeom prst="rect">
            <a:avLst/>
          </a:prstGeom>
          <a:solidFill>
            <a:srgbClr val="F0CC71"/>
          </a:solidFill>
          <a:ln/>
        </p:spPr>
        <p:txBody>
          <a:bodyPr/>
          <a:lstStyle/>
          <a:p>
            <a:endParaRPr lang="en-US"/>
          </a:p>
        </p:txBody>
      </p:sp>
      <p:sp>
        <p:nvSpPr>
          <p:cNvPr id="13" name="Shape 7"/>
          <p:cNvSpPr/>
          <p:nvPr/>
        </p:nvSpPr>
        <p:spPr>
          <a:xfrm rot="102600">
            <a:off x="3259250" y="4099412"/>
            <a:ext cx="135599" cy="180975"/>
          </a:xfrm>
          <a:prstGeom prst="rect">
            <a:avLst/>
          </a:prstGeom>
          <a:solidFill>
            <a:srgbClr val="F0CC71"/>
          </a:solidFill>
          <a:ln/>
        </p:spPr>
        <p:txBody>
          <a:bodyPr/>
          <a:lstStyle/>
          <a:p>
            <a:endParaRPr lang="en-US"/>
          </a:p>
        </p:txBody>
      </p:sp>
      <p:sp>
        <p:nvSpPr>
          <p:cNvPr id="14" name="Shape 8"/>
          <p:cNvSpPr/>
          <p:nvPr/>
        </p:nvSpPr>
        <p:spPr>
          <a:xfrm rot="10800000">
            <a:off x="5359673" y="3707060"/>
            <a:ext cx="1298215" cy="36380"/>
          </a:xfrm>
          <a:prstGeom prst="rect">
            <a:avLst/>
          </a:prstGeom>
          <a:solidFill>
            <a:srgbClr val="F0CC71"/>
          </a:solidFill>
          <a:ln/>
        </p:spPr>
        <p:txBody>
          <a:bodyPr/>
          <a:lstStyle/>
          <a:p>
            <a:endParaRPr lang="en-US"/>
          </a:p>
        </p:txBody>
      </p:sp>
      <p:sp>
        <p:nvSpPr>
          <p:cNvPr id="15" name="Shape 9"/>
          <p:cNvSpPr/>
          <p:nvPr/>
        </p:nvSpPr>
        <p:spPr>
          <a:xfrm rot="5400000">
            <a:off x="6539859" y="3551256"/>
            <a:ext cx="276225" cy="36380"/>
          </a:xfrm>
          <a:prstGeom prst="rect">
            <a:avLst/>
          </a:prstGeom>
          <a:solidFill>
            <a:srgbClr val="F0CC71"/>
          </a:solidFill>
          <a:ln/>
        </p:spPr>
        <p:txBody>
          <a:bodyPr/>
          <a:lstStyle/>
          <a:p>
            <a:endParaRPr lang="en-US"/>
          </a:p>
        </p:txBody>
      </p:sp>
      <p:sp>
        <p:nvSpPr>
          <p:cNvPr id="16" name="Shape 10"/>
          <p:cNvSpPr/>
          <p:nvPr/>
        </p:nvSpPr>
        <p:spPr>
          <a:xfrm rot="10800000">
            <a:off x="6658921" y="3431832"/>
            <a:ext cx="1298215" cy="36380"/>
          </a:xfrm>
          <a:prstGeom prst="rect">
            <a:avLst/>
          </a:prstGeom>
          <a:solidFill>
            <a:srgbClr val="F0CC71"/>
          </a:solidFill>
          <a:ln/>
        </p:spPr>
        <p:txBody>
          <a:bodyPr/>
          <a:lstStyle/>
          <a:p>
            <a:endParaRPr lang="en-US"/>
          </a:p>
        </p:txBody>
      </p:sp>
      <p:sp>
        <p:nvSpPr>
          <p:cNvPr id="17" name="Shape 11"/>
          <p:cNvSpPr/>
          <p:nvPr/>
        </p:nvSpPr>
        <p:spPr>
          <a:xfrm rot="10800000">
            <a:off x="7775236" y="3312769"/>
            <a:ext cx="181901" cy="238125"/>
          </a:xfrm>
          <a:prstGeom prst="rect">
            <a:avLst/>
          </a:prstGeom>
          <a:solidFill>
            <a:srgbClr val="F0CC71"/>
          </a:solidFill>
          <a:ln/>
        </p:spPr>
        <p:txBody>
          <a:bodyPr/>
          <a:lstStyle/>
          <a:p>
            <a:endParaRPr lang="en-US"/>
          </a:p>
        </p:txBody>
      </p:sp>
      <p:pic>
        <p:nvPicPr>
          <p:cNvPr id="18" name="Image 4" descr="preencoded.png"/>
          <p:cNvPicPr>
            <a:picLocks noChangeAspect="1"/>
          </p:cNvPicPr>
          <p:nvPr/>
        </p:nvPicPr>
        <p:blipFill>
          <a:blip r:embed="rId7"/>
          <a:srcRect l="-175" r="-175"/>
          <a:stretch/>
        </p:blipFill>
        <p:spPr>
          <a:xfrm>
            <a:off x="8152422" y="5667354"/>
            <a:ext cx="741970" cy="594331"/>
          </a:xfrm>
          <a:prstGeom prst="rect">
            <a:avLst/>
          </a:prstGeom>
        </p:spPr>
      </p:pic>
      <p:sp>
        <p:nvSpPr>
          <p:cNvPr id="19" name="Shape 12"/>
          <p:cNvSpPr/>
          <p:nvPr/>
        </p:nvSpPr>
        <p:spPr>
          <a:xfrm rot="5325000">
            <a:off x="7596819" y="4761209"/>
            <a:ext cx="1790700" cy="26458"/>
          </a:xfrm>
          <a:prstGeom prst="rect">
            <a:avLst/>
          </a:prstGeom>
          <a:solidFill>
            <a:srgbClr val="F0CC71"/>
          </a:solidFill>
          <a:ln/>
        </p:spPr>
        <p:txBody>
          <a:bodyPr/>
          <a:lstStyle/>
          <a:p>
            <a:endParaRPr lang="en-US"/>
          </a:p>
        </p:txBody>
      </p:sp>
      <p:sp>
        <p:nvSpPr>
          <p:cNvPr id="20" name="Shape 13"/>
          <p:cNvSpPr/>
          <p:nvPr/>
        </p:nvSpPr>
        <p:spPr>
          <a:xfrm rot="5325000">
            <a:off x="8454619" y="5510207"/>
            <a:ext cx="135599" cy="180975"/>
          </a:xfrm>
          <a:prstGeom prst="rect">
            <a:avLst/>
          </a:prstGeom>
          <a:solidFill>
            <a:srgbClr val="F0CC71"/>
          </a:solidFill>
          <a:ln/>
        </p:spPr>
        <p:txBody>
          <a:bodyPr/>
          <a:lstStyle/>
          <a:p>
            <a:endParaRPr lang="en-US"/>
          </a:p>
        </p:txBody>
      </p:sp>
      <p:sp>
        <p:nvSpPr>
          <p:cNvPr id="21" name="Shape 14"/>
          <p:cNvSpPr/>
          <p:nvPr/>
        </p:nvSpPr>
        <p:spPr>
          <a:xfrm>
            <a:off x="6525253" y="2481993"/>
            <a:ext cx="3994330" cy="430258"/>
          </a:xfrm>
          <a:prstGeom prst="roundRect">
            <a:avLst>
              <a:gd name="adj" fmla="val 26565"/>
            </a:avLst>
          </a:prstGeom>
          <a:solidFill>
            <a:srgbClr val="0B5060"/>
          </a:solidFill>
          <a:ln w="13229">
            <a:solidFill>
              <a:srgbClr val="FFFFFF">
                <a:alpha val="55000"/>
              </a:srgbClr>
            </a:solidFill>
            <a:prstDash val="solid"/>
          </a:ln>
          <a:effectLst>
            <a:outerShdw blurRad="133350" dist="28575" dir="5400000" algn="bl" rotWithShape="0">
              <a:srgbClr val="000000">
                <a:alpha val="30000"/>
              </a:srgbClr>
            </a:outerShdw>
          </a:effectLst>
        </p:spPr>
        <p:txBody>
          <a:bodyPr/>
          <a:lstStyle/>
          <a:p>
            <a:endParaRPr lang="en-US"/>
          </a:p>
        </p:txBody>
      </p:sp>
      <p:sp>
        <p:nvSpPr>
          <p:cNvPr id="22" name="Text 15"/>
          <p:cNvSpPr/>
          <p:nvPr/>
        </p:nvSpPr>
        <p:spPr>
          <a:xfrm>
            <a:off x="6568348" y="2593460"/>
            <a:ext cx="3694520"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Data objects are broken into chunks</a:t>
            </a:r>
            <a:endParaRPr lang="en-US" sz="1650" dirty="0"/>
          </a:p>
        </p:txBody>
      </p:sp>
      <p:sp>
        <p:nvSpPr>
          <p:cNvPr id="23" name="Shape 16"/>
          <p:cNvSpPr/>
          <p:nvPr/>
        </p:nvSpPr>
        <p:spPr>
          <a:xfrm>
            <a:off x="7637105" y="6295998"/>
            <a:ext cx="1772553" cy="282877"/>
          </a:xfrm>
          <a:prstGeom prst="roundRect">
            <a:avLst>
              <a:gd name="adj" fmla="val 16836"/>
            </a:avLst>
          </a:prstGeom>
          <a:solidFill>
            <a:srgbClr val="0B5060"/>
          </a:solidFill>
          <a:ln w="13229">
            <a:solidFill>
              <a:srgbClr val="F0CC71"/>
            </a:solidFill>
            <a:prstDash val="solid"/>
          </a:ln>
        </p:spPr>
        <p:txBody>
          <a:bodyPr/>
          <a:lstStyle/>
          <a:p>
            <a:endParaRPr lang="en-US"/>
          </a:p>
        </p:txBody>
      </p:sp>
      <p:sp>
        <p:nvSpPr>
          <p:cNvPr id="24" name="Text 17"/>
          <p:cNvSpPr/>
          <p:nvPr/>
        </p:nvSpPr>
        <p:spPr>
          <a:xfrm>
            <a:off x="7713893" y="6361265"/>
            <a:ext cx="1618976"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FFFFFF"/>
                </a:solidFill>
                <a:latin typeface="Oracle Sans Tab" pitchFamily="34" charset="0"/>
                <a:ea typeface="Oracle Sans Tab" pitchFamily="34" charset="-122"/>
                <a:cs typeface="Oracle Sans Tab" pitchFamily="34" charset="-120"/>
              </a:rPr>
              <a:t>Embedding Model</a:t>
            </a:r>
            <a:endParaRPr lang="en-US" sz="1200" dirty="0"/>
          </a:p>
        </p:txBody>
      </p:sp>
      <p:pic>
        <p:nvPicPr>
          <p:cNvPr id="25" name="Image 5" descr="preencoded.png"/>
          <p:cNvPicPr>
            <a:picLocks noChangeAspect="1"/>
          </p:cNvPicPr>
          <p:nvPr/>
        </p:nvPicPr>
        <p:blipFill>
          <a:blip r:embed="rId8"/>
          <a:srcRect t="-101" b="-101"/>
          <a:stretch/>
        </p:blipFill>
        <p:spPr>
          <a:xfrm>
            <a:off x="11703368" y="5606376"/>
            <a:ext cx="2517417" cy="762951"/>
          </a:xfrm>
          <a:prstGeom prst="rect">
            <a:avLst/>
          </a:prstGeom>
        </p:spPr>
      </p:pic>
      <p:sp>
        <p:nvSpPr>
          <p:cNvPr id="26" name="Shape 18"/>
          <p:cNvSpPr/>
          <p:nvPr/>
        </p:nvSpPr>
        <p:spPr>
          <a:xfrm>
            <a:off x="11613813" y="2891761"/>
            <a:ext cx="2696476" cy="1246797"/>
          </a:xfrm>
          <a:prstGeom prst="rect">
            <a:avLst/>
          </a:prstGeom>
          <a:ln w="16536">
            <a:solidFill>
              <a:srgbClr val="FFFFFF">
                <a:alpha val="45000"/>
              </a:srgbClr>
            </a:solidFill>
            <a:prstDash val="dash"/>
          </a:ln>
        </p:spPr>
        <p:txBody>
          <a:bodyPr/>
          <a:lstStyle/>
          <a:p>
            <a:endParaRPr lang="en-US"/>
          </a:p>
        </p:txBody>
      </p:sp>
      <p:sp>
        <p:nvSpPr>
          <p:cNvPr id="27" name="Text 19"/>
          <p:cNvSpPr/>
          <p:nvPr/>
        </p:nvSpPr>
        <p:spPr>
          <a:xfrm>
            <a:off x="11767498" y="2976872"/>
            <a:ext cx="2465305" cy="952256"/>
          </a:xfrm>
          <a:prstGeom prst="rect">
            <a:avLst/>
          </a:prstGeom>
          <a:noFill/>
          <a:ln/>
        </p:spPr>
        <p:txBody>
          <a:bodyPr wrap="square" lIns="25400" tIns="25400" rIns="25400" bIns="25400" rtlCol="0" anchor="t">
            <a:normAutofit/>
          </a:bodyPr>
          <a:lstStyle/>
          <a:p>
            <a:pPr marL="0" indent="0" algn="l">
              <a:lnSpc>
                <a:spcPct val="92160"/>
              </a:lnSpc>
              <a:buNone/>
            </a:pPr>
            <a:r>
              <a:rPr lang="en-US" sz="1200" i="1" dirty="0">
                <a:solidFill>
                  <a:srgbClr val="FFFFFF"/>
                </a:solidFill>
                <a:latin typeface="Oracle Sans Tab" pitchFamily="34" charset="0"/>
                <a:ea typeface="Oracle Sans Tab" pitchFamily="34" charset="-122"/>
                <a:cs typeface="Oracle Sans Tab" pitchFamily="34" charset="-120"/>
              </a:rPr>
              <a:t>"We find that retrieval-augmented generation significantly reduces hallucin…all Questions benchmark when using contriver-based retrieval."</a:t>
            </a:r>
            <a:endParaRPr lang="en-US" sz="1200" dirty="0"/>
          </a:p>
        </p:txBody>
      </p:sp>
      <p:sp>
        <p:nvSpPr>
          <p:cNvPr id="28" name="Shape 20"/>
          <p:cNvSpPr/>
          <p:nvPr/>
        </p:nvSpPr>
        <p:spPr>
          <a:xfrm>
            <a:off x="11687141" y="4341492"/>
            <a:ext cx="2597464" cy="1108666"/>
          </a:xfrm>
          <a:prstGeom prst="rect">
            <a:avLst/>
          </a:prstGeom>
          <a:ln w="13229">
            <a:solidFill>
              <a:srgbClr val="FFFFFF">
                <a:alpha val="45000"/>
              </a:srgbClr>
            </a:solidFill>
            <a:prstDash val="dash"/>
          </a:ln>
        </p:spPr>
        <p:txBody>
          <a:bodyPr/>
          <a:lstStyle/>
          <a:p>
            <a:endParaRPr lang="en-US"/>
          </a:p>
        </p:txBody>
      </p:sp>
      <p:sp>
        <p:nvSpPr>
          <p:cNvPr id="29" name="Text 21"/>
          <p:cNvSpPr/>
          <p:nvPr/>
        </p:nvSpPr>
        <p:spPr>
          <a:xfrm>
            <a:off x="11837520" y="4423296"/>
            <a:ext cx="2372907" cy="1135087"/>
          </a:xfrm>
          <a:prstGeom prst="rect">
            <a:avLst/>
          </a:prstGeom>
          <a:noFill/>
          <a:ln/>
        </p:spPr>
        <p:txBody>
          <a:bodyPr wrap="square" lIns="25400" tIns="25400" rIns="25400" bIns="25400" rtlCol="0" anchor="t">
            <a:normAutofit/>
          </a:bodyPr>
          <a:lstStyle/>
          <a:p>
            <a:pPr marL="0" indent="0" algn="l">
              <a:lnSpc>
                <a:spcPct val="92160"/>
              </a:lnSpc>
              <a:buNone/>
            </a:pP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paper_id</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86B596"/>
                </a:solidFill>
                <a:latin typeface="Oracle Sans Tab" pitchFamily="34" charset="0"/>
                <a:ea typeface="Oracle Sans Tab" pitchFamily="34" charset="-122"/>
                <a:cs typeface="Oracle Sans Tab" pitchFamily="34" charset="-120"/>
              </a:rPr>
              <a:t>2312.10997</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title </a:t>
            </a:r>
            <a:r>
              <a:rPr lang="en-US" sz="1050" i="1" dirty="0">
                <a:solidFill>
                  <a:srgbClr val="FFFFFF"/>
                </a:solidFill>
                <a:latin typeface="Oracle Sans Tab" pitchFamily="34" charset="0"/>
                <a:ea typeface="Oracle Sans Tab" pitchFamily="34" charset="-122"/>
                <a:cs typeface="Oracle Sans Tab" pitchFamily="34" charset="-120"/>
              </a:rPr>
              <a:t>": " </a:t>
            </a:r>
            <a:r>
              <a:rPr lang="en-US" sz="1050" i="1" dirty="0">
                <a:solidFill>
                  <a:srgbClr val="86B596"/>
                </a:solidFill>
                <a:latin typeface="Oracle Sans Tab" pitchFamily="34" charset="0"/>
                <a:ea typeface="Oracle Sans Tab" pitchFamily="34" charset="-122"/>
                <a:cs typeface="Oracle Sans Tab" pitchFamily="34" charset="-120"/>
              </a:rPr>
              <a:t>Benchmarking RAG for Factual Consistency </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authors</a:t>
            </a:r>
            <a:r>
              <a:rPr lang="en-US" sz="1050" i="1" dirty="0">
                <a:solidFill>
                  <a:srgbClr val="FFFFFF"/>
                </a:solidFill>
                <a:latin typeface="Oracle Sans Tab" pitchFamily="34" charset="0"/>
                <a:ea typeface="Oracle Sans Tab" pitchFamily="34" charset="-122"/>
                <a:cs typeface="Oracle Sans Tab" pitchFamily="34" charset="-120"/>
              </a:rPr>
              <a:t>": [" </a:t>
            </a:r>
            <a:r>
              <a:rPr lang="en-US" sz="1050" i="1" dirty="0">
                <a:solidFill>
                  <a:srgbClr val="86B596"/>
                </a:solidFill>
                <a:latin typeface="Oracle Sans Tab" pitchFamily="34" charset="0"/>
                <a:ea typeface="Oracle Sans Tab" pitchFamily="34" charset="-122"/>
                <a:cs typeface="Oracle Sans Tab" pitchFamily="34" charset="-120"/>
              </a:rPr>
              <a:t>Chen, Wei", "Patel, Anika", "Yamamoto, Kenji" </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section </a:t>
            </a:r>
            <a:r>
              <a:rPr lang="en-US" sz="1050" i="1" dirty="0">
                <a:solidFill>
                  <a:srgbClr val="FFFFFF"/>
                </a:solidFill>
                <a:latin typeface="Oracle Sans Tab" pitchFamily="34" charset="0"/>
                <a:ea typeface="Oracle Sans Tab" pitchFamily="34" charset="-122"/>
                <a:cs typeface="Oracle Sans Tab" pitchFamily="34" charset="-120"/>
              </a:rPr>
              <a:t>": " </a:t>
            </a:r>
            <a:r>
              <a:rPr lang="en-US" sz="1050" i="1" dirty="0">
                <a:solidFill>
                  <a:srgbClr val="86B596"/>
                </a:solidFill>
                <a:latin typeface="Oracle Sans Tab" pitchFamily="34" charset="0"/>
                <a:ea typeface="Oracle Sans Tab" pitchFamily="34" charset="-122"/>
                <a:cs typeface="Oracle Sans Tab" pitchFamily="34" charset="-120"/>
              </a:rPr>
              <a:t>Results</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page</a:t>
            </a:r>
            <a:r>
              <a:rPr lang="en-US" sz="1050" i="1" dirty="0">
                <a:solidFill>
                  <a:srgbClr val="FFFFFF"/>
                </a:solidFill>
                <a:latin typeface="Oracle Sans Tab" pitchFamily="34" charset="0"/>
                <a:ea typeface="Oracle Sans Tab" pitchFamily="34" charset="-122"/>
                <a:cs typeface="Oracle Sans Tab" pitchFamily="34" charset="-120"/>
              </a:rPr>
              <a:t>":</a:t>
            </a:r>
            <a:r>
              <a:rPr lang="en-US" sz="1050" i="1" dirty="0">
                <a:solidFill>
                  <a:srgbClr val="86B596"/>
                </a:solidFill>
                <a:latin typeface="Oracle Sans Tab" pitchFamily="34" charset="0"/>
                <a:ea typeface="Oracle Sans Tab" pitchFamily="34" charset="-122"/>
                <a:cs typeface="Oracle Sans Tab" pitchFamily="34" charset="-120"/>
              </a:rPr>
              <a:t>7</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chunk_index</a:t>
            </a:r>
            <a:r>
              <a:rPr lang="en-US" sz="1050" i="1" dirty="0">
                <a:solidFill>
                  <a:srgbClr val="FFFFFF"/>
                </a:solidFill>
                <a:latin typeface="Oracle Sans Tab" pitchFamily="34" charset="0"/>
                <a:ea typeface="Oracle Sans Tab" pitchFamily="34" charset="-122"/>
                <a:cs typeface="Oracle Sans Tab" pitchFamily="34" charset="-120"/>
              </a:rPr>
              <a:t>":</a:t>
            </a:r>
            <a:r>
              <a:rPr lang="en-US" sz="1050" i="1" dirty="0">
                <a:solidFill>
                  <a:srgbClr val="86B596"/>
                </a:solidFill>
                <a:latin typeface="Oracle Sans Tab" pitchFamily="34" charset="0"/>
                <a:ea typeface="Oracle Sans Tab" pitchFamily="34" charset="-122"/>
                <a:cs typeface="Oracle Sans Tab" pitchFamily="34" charset="-120"/>
              </a:rPr>
              <a:t>42</a:t>
            </a:r>
            <a:r>
              <a:rPr lang="en-US" sz="1050" i="1" dirty="0">
                <a:solidFill>
                  <a:srgbClr val="FFFFFF"/>
                </a:solidFill>
                <a:latin typeface="Oracle Sans Tab" pitchFamily="34" charset="0"/>
                <a:ea typeface="Oracle Sans Tab" pitchFamily="34" charset="-122"/>
                <a:cs typeface="Oracle Sans Tab" pitchFamily="34" charset="-120"/>
              </a:rPr>
              <a:t>}</a:t>
            </a:r>
            <a:endParaRPr lang="en-US" sz="1200" dirty="0"/>
          </a:p>
        </p:txBody>
      </p:sp>
      <p:sp>
        <p:nvSpPr>
          <p:cNvPr id="30" name="Shape 22"/>
          <p:cNvSpPr/>
          <p:nvPr/>
        </p:nvSpPr>
        <p:spPr>
          <a:xfrm>
            <a:off x="8894444" y="5964545"/>
            <a:ext cx="1403945" cy="36380"/>
          </a:xfrm>
          <a:prstGeom prst="rect">
            <a:avLst/>
          </a:prstGeom>
          <a:solidFill>
            <a:srgbClr val="F0CC71"/>
          </a:solidFill>
          <a:ln/>
        </p:spPr>
        <p:txBody>
          <a:bodyPr/>
          <a:lstStyle/>
          <a:p>
            <a:endParaRPr lang="en-US"/>
          </a:p>
        </p:txBody>
      </p:sp>
      <p:sp>
        <p:nvSpPr>
          <p:cNvPr id="31" name="Shape 23"/>
          <p:cNvSpPr/>
          <p:nvPr/>
        </p:nvSpPr>
        <p:spPr>
          <a:xfrm rot="5400000">
            <a:off x="10266771" y="5958732"/>
            <a:ext cx="28575" cy="36380"/>
          </a:xfrm>
          <a:prstGeom prst="rect">
            <a:avLst/>
          </a:prstGeom>
          <a:solidFill>
            <a:srgbClr val="F0CC71"/>
          </a:solidFill>
          <a:ln/>
        </p:spPr>
        <p:txBody>
          <a:bodyPr/>
          <a:lstStyle/>
          <a:p>
            <a:endParaRPr lang="en-US"/>
          </a:p>
        </p:txBody>
      </p:sp>
      <p:sp>
        <p:nvSpPr>
          <p:cNvPr id="32" name="Shape 24"/>
          <p:cNvSpPr/>
          <p:nvPr/>
        </p:nvSpPr>
        <p:spPr>
          <a:xfrm>
            <a:off x="10298389" y="5989298"/>
            <a:ext cx="1403945" cy="36380"/>
          </a:xfrm>
          <a:prstGeom prst="rect">
            <a:avLst/>
          </a:prstGeom>
          <a:solidFill>
            <a:srgbClr val="F0CC71"/>
          </a:solidFill>
          <a:ln/>
        </p:spPr>
        <p:txBody>
          <a:bodyPr/>
          <a:lstStyle/>
          <a:p>
            <a:endParaRPr lang="en-US"/>
          </a:p>
        </p:txBody>
      </p:sp>
      <p:sp>
        <p:nvSpPr>
          <p:cNvPr id="33" name="Shape 25"/>
          <p:cNvSpPr/>
          <p:nvPr/>
        </p:nvSpPr>
        <p:spPr>
          <a:xfrm>
            <a:off x="11521415" y="5870236"/>
            <a:ext cx="181901" cy="238125"/>
          </a:xfrm>
          <a:prstGeom prst="rect">
            <a:avLst/>
          </a:prstGeom>
          <a:solidFill>
            <a:srgbClr val="F0CC71"/>
          </a:solidFill>
          <a:ln/>
        </p:spPr>
        <p:txBody>
          <a:bodyPr/>
          <a:lstStyle/>
          <a:p>
            <a:endParaRPr lang="en-US"/>
          </a:p>
        </p:txBody>
      </p:sp>
      <p:sp>
        <p:nvSpPr>
          <p:cNvPr id="34" name="Shape 26"/>
          <p:cNvSpPr/>
          <p:nvPr/>
        </p:nvSpPr>
        <p:spPr>
          <a:xfrm>
            <a:off x="9012524" y="3431832"/>
            <a:ext cx="1301109" cy="36380"/>
          </a:xfrm>
          <a:prstGeom prst="rect">
            <a:avLst/>
          </a:prstGeom>
          <a:solidFill>
            <a:srgbClr val="F0CC71"/>
          </a:solidFill>
          <a:ln/>
        </p:spPr>
        <p:txBody>
          <a:bodyPr/>
          <a:lstStyle/>
          <a:p>
            <a:endParaRPr lang="en-US"/>
          </a:p>
        </p:txBody>
      </p:sp>
      <p:sp>
        <p:nvSpPr>
          <p:cNvPr id="35" name="Shape 27"/>
          <p:cNvSpPr/>
          <p:nvPr/>
        </p:nvSpPr>
        <p:spPr>
          <a:xfrm rot="5400000">
            <a:off x="10253440" y="3455060"/>
            <a:ext cx="85725" cy="36380"/>
          </a:xfrm>
          <a:prstGeom prst="rect">
            <a:avLst/>
          </a:prstGeom>
          <a:solidFill>
            <a:srgbClr val="F0CC71"/>
          </a:solidFill>
          <a:ln/>
        </p:spPr>
        <p:txBody>
          <a:bodyPr/>
          <a:lstStyle/>
          <a:p>
            <a:endParaRPr lang="en-US"/>
          </a:p>
        </p:txBody>
      </p:sp>
      <p:sp>
        <p:nvSpPr>
          <p:cNvPr id="36" name="Shape 28"/>
          <p:cNvSpPr/>
          <p:nvPr/>
        </p:nvSpPr>
        <p:spPr>
          <a:xfrm>
            <a:off x="10313633" y="3514669"/>
            <a:ext cx="1301109" cy="36380"/>
          </a:xfrm>
          <a:prstGeom prst="rect">
            <a:avLst/>
          </a:prstGeom>
          <a:solidFill>
            <a:srgbClr val="F0CC71"/>
          </a:solidFill>
          <a:ln/>
        </p:spPr>
        <p:txBody>
          <a:bodyPr/>
          <a:lstStyle/>
          <a:p>
            <a:endParaRPr lang="en-US"/>
          </a:p>
        </p:txBody>
      </p:sp>
      <p:sp>
        <p:nvSpPr>
          <p:cNvPr id="37" name="Shape 29"/>
          <p:cNvSpPr/>
          <p:nvPr/>
        </p:nvSpPr>
        <p:spPr>
          <a:xfrm>
            <a:off x="11431860" y="3395607"/>
            <a:ext cx="181901" cy="238125"/>
          </a:xfrm>
          <a:prstGeom prst="rect">
            <a:avLst/>
          </a:prstGeom>
          <a:solidFill>
            <a:srgbClr val="F0CC71"/>
          </a:solidFill>
          <a:ln/>
        </p:spPr>
        <p:txBody>
          <a:bodyPr/>
          <a:lstStyle/>
          <a:p>
            <a:endParaRPr lang="en-US"/>
          </a:p>
        </p:txBody>
      </p:sp>
      <p:sp>
        <p:nvSpPr>
          <p:cNvPr id="38" name="Shape 30"/>
          <p:cNvSpPr/>
          <p:nvPr/>
        </p:nvSpPr>
        <p:spPr>
          <a:xfrm>
            <a:off x="9012524" y="3431832"/>
            <a:ext cx="1337283" cy="36380"/>
          </a:xfrm>
          <a:prstGeom prst="rect">
            <a:avLst/>
          </a:prstGeom>
          <a:solidFill>
            <a:srgbClr val="F0CC71"/>
          </a:solidFill>
          <a:ln/>
        </p:spPr>
        <p:txBody>
          <a:bodyPr/>
          <a:lstStyle/>
          <a:p>
            <a:endParaRPr lang="en-US"/>
          </a:p>
        </p:txBody>
      </p:sp>
      <p:sp>
        <p:nvSpPr>
          <p:cNvPr id="39" name="Shape 31"/>
          <p:cNvSpPr/>
          <p:nvPr/>
        </p:nvSpPr>
        <p:spPr>
          <a:xfrm rot="5400000">
            <a:off x="9599052" y="4145613"/>
            <a:ext cx="1466850" cy="36380"/>
          </a:xfrm>
          <a:prstGeom prst="rect">
            <a:avLst/>
          </a:prstGeom>
          <a:solidFill>
            <a:srgbClr val="F0CC71"/>
          </a:solidFill>
          <a:ln/>
        </p:spPr>
        <p:txBody>
          <a:bodyPr/>
          <a:lstStyle/>
          <a:p>
            <a:endParaRPr lang="en-US"/>
          </a:p>
        </p:txBody>
      </p:sp>
      <p:sp>
        <p:nvSpPr>
          <p:cNvPr id="40" name="Shape 32"/>
          <p:cNvSpPr/>
          <p:nvPr/>
        </p:nvSpPr>
        <p:spPr>
          <a:xfrm>
            <a:off x="10349807" y="4895773"/>
            <a:ext cx="1337283" cy="36380"/>
          </a:xfrm>
          <a:prstGeom prst="rect">
            <a:avLst/>
          </a:prstGeom>
          <a:solidFill>
            <a:srgbClr val="F0CC71"/>
          </a:solidFill>
          <a:ln/>
        </p:spPr>
        <p:txBody>
          <a:bodyPr/>
          <a:lstStyle/>
          <a:p>
            <a:endParaRPr lang="en-US"/>
          </a:p>
        </p:txBody>
      </p:sp>
      <p:sp>
        <p:nvSpPr>
          <p:cNvPr id="41" name="Shape 33"/>
          <p:cNvSpPr/>
          <p:nvPr/>
        </p:nvSpPr>
        <p:spPr>
          <a:xfrm>
            <a:off x="11505241" y="4776711"/>
            <a:ext cx="181901" cy="238125"/>
          </a:xfrm>
          <a:prstGeom prst="rect">
            <a:avLst/>
          </a:prstGeom>
          <a:solidFill>
            <a:srgbClr val="F0CC71"/>
          </a:solidFill>
          <a:ln/>
        </p:spPr>
        <p:txBody>
          <a:bodyPr/>
          <a:lstStyle/>
          <a:p>
            <a:endParaRPr lang="en-US"/>
          </a:p>
        </p:txBody>
      </p:sp>
      <p:sp>
        <p:nvSpPr>
          <p:cNvPr id="42" name="Shape 34"/>
          <p:cNvSpPr/>
          <p:nvPr/>
        </p:nvSpPr>
        <p:spPr>
          <a:xfrm rot="10800000">
            <a:off x="14284606" y="4895825"/>
            <a:ext cx="802948" cy="26458"/>
          </a:xfrm>
          <a:prstGeom prst="rect">
            <a:avLst/>
          </a:prstGeom>
          <a:solidFill>
            <a:srgbClr val="F0CC71"/>
          </a:solidFill>
          <a:ln/>
        </p:spPr>
        <p:txBody>
          <a:bodyPr/>
          <a:lstStyle/>
          <a:p>
            <a:endParaRPr lang="en-US"/>
          </a:p>
        </p:txBody>
      </p:sp>
      <p:sp>
        <p:nvSpPr>
          <p:cNvPr id="43" name="Shape 35"/>
          <p:cNvSpPr/>
          <p:nvPr/>
        </p:nvSpPr>
        <p:spPr>
          <a:xfrm rot="5400000">
            <a:off x="14762722" y="4543986"/>
            <a:ext cx="676275" cy="26458"/>
          </a:xfrm>
          <a:prstGeom prst="rect">
            <a:avLst/>
          </a:prstGeom>
          <a:solidFill>
            <a:srgbClr val="F0CC71"/>
          </a:solidFill>
          <a:ln/>
        </p:spPr>
        <p:txBody>
          <a:bodyPr/>
          <a:lstStyle/>
          <a:p>
            <a:endParaRPr lang="en-US"/>
          </a:p>
        </p:txBody>
      </p:sp>
      <p:sp>
        <p:nvSpPr>
          <p:cNvPr id="44" name="Shape 36"/>
          <p:cNvSpPr/>
          <p:nvPr/>
        </p:nvSpPr>
        <p:spPr>
          <a:xfrm rot="10800000">
            <a:off x="15086572" y="4218605"/>
            <a:ext cx="802948" cy="26458"/>
          </a:xfrm>
          <a:prstGeom prst="rect">
            <a:avLst/>
          </a:prstGeom>
          <a:solidFill>
            <a:srgbClr val="F0CC71"/>
          </a:solidFill>
          <a:ln/>
        </p:spPr>
        <p:txBody>
          <a:bodyPr/>
          <a:lstStyle/>
          <a:p>
            <a:endParaRPr lang="en-US"/>
          </a:p>
        </p:txBody>
      </p:sp>
      <p:sp>
        <p:nvSpPr>
          <p:cNvPr id="45" name="Shape 37"/>
          <p:cNvSpPr/>
          <p:nvPr/>
        </p:nvSpPr>
        <p:spPr>
          <a:xfrm rot="10800000">
            <a:off x="15753921" y="4129308"/>
            <a:ext cx="135599" cy="178594"/>
          </a:xfrm>
          <a:prstGeom prst="rect">
            <a:avLst/>
          </a:prstGeom>
          <a:solidFill>
            <a:srgbClr val="F0CC71"/>
          </a:solidFill>
          <a:ln/>
        </p:spPr>
        <p:txBody>
          <a:bodyPr/>
          <a:lstStyle/>
          <a:p>
            <a:endParaRPr lang="en-US"/>
          </a:p>
        </p:txBody>
      </p:sp>
      <p:sp>
        <p:nvSpPr>
          <p:cNvPr id="46" name="Shape 38"/>
          <p:cNvSpPr/>
          <p:nvPr/>
        </p:nvSpPr>
        <p:spPr>
          <a:xfrm rot="10800000">
            <a:off x="14310340" y="3515599"/>
            <a:ext cx="795300" cy="26458"/>
          </a:xfrm>
          <a:prstGeom prst="rect">
            <a:avLst/>
          </a:prstGeom>
          <a:solidFill>
            <a:srgbClr val="F0CC71"/>
          </a:solidFill>
          <a:ln/>
        </p:spPr>
        <p:txBody>
          <a:bodyPr/>
          <a:lstStyle/>
          <a:p>
            <a:endParaRPr lang="en-US"/>
          </a:p>
        </p:txBody>
      </p:sp>
      <p:sp>
        <p:nvSpPr>
          <p:cNvPr id="47" name="Shape 39"/>
          <p:cNvSpPr/>
          <p:nvPr/>
        </p:nvSpPr>
        <p:spPr>
          <a:xfrm rot="5400000">
            <a:off x="14999987" y="3384754"/>
            <a:ext cx="238125" cy="26458"/>
          </a:xfrm>
          <a:prstGeom prst="rect">
            <a:avLst/>
          </a:prstGeom>
          <a:solidFill>
            <a:srgbClr val="F0CC71"/>
          </a:solidFill>
          <a:ln/>
        </p:spPr>
        <p:txBody>
          <a:bodyPr/>
          <a:lstStyle/>
          <a:p>
            <a:endParaRPr lang="en-US"/>
          </a:p>
        </p:txBody>
      </p:sp>
      <p:sp>
        <p:nvSpPr>
          <p:cNvPr id="48" name="Shape 40"/>
          <p:cNvSpPr/>
          <p:nvPr/>
        </p:nvSpPr>
        <p:spPr>
          <a:xfrm rot="10800000">
            <a:off x="15104762" y="3280368"/>
            <a:ext cx="795300" cy="26458"/>
          </a:xfrm>
          <a:prstGeom prst="rect">
            <a:avLst/>
          </a:prstGeom>
          <a:solidFill>
            <a:srgbClr val="F0CC71"/>
          </a:solidFill>
          <a:ln/>
        </p:spPr>
        <p:txBody>
          <a:bodyPr/>
          <a:lstStyle/>
          <a:p>
            <a:endParaRPr lang="en-US"/>
          </a:p>
        </p:txBody>
      </p:sp>
      <p:sp>
        <p:nvSpPr>
          <p:cNvPr id="49" name="Shape 41"/>
          <p:cNvSpPr/>
          <p:nvPr/>
        </p:nvSpPr>
        <p:spPr>
          <a:xfrm rot="10800000">
            <a:off x="15764463" y="3191071"/>
            <a:ext cx="135599" cy="178594"/>
          </a:xfrm>
          <a:prstGeom prst="rect">
            <a:avLst/>
          </a:prstGeom>
          <a:solidFill>
            <a:srgbClr val="F0CC71"/>
          </a:solidFill>
          <a:ln/>
        </p:spPr>
        <p:txBody>
          <a:bodyPr/>
          <a:lstStyle/>
          <a:p>
            <a:endParaRPr lang="en-US"/>
          </a:p>
        </p:txBody>
      </p:sp>
      <p:sp>
        <p:nvSpPr>
          <p:cNvPr id="50" name="Shape 42"/>
          <p:cNvSpPr/>
          <p:nvPr/>
        </p:nvSpPr>
        <p:spPr>
          <a:xfrm>
            <a:off x="14220785" y="5988316"/>
            <a:ext cx="845788" cy="26458"/>
          </a:xfrm>
          <a:prstGeom prst="rect">
            <a:avLst/>
          </a:prstGeom>
          <a:solidFill>
            <a:srgbClr val="F0CC71"/>
          </a:solidFill>
          <a:ln/>
        </p:spPr>
        <p:txBody>
          <a:bodyPr/>
          <a:lstStyle/>
          <a:p>
            <a:endParaRPr lang="en-US"/>
          </a:p>
        </p:txBody>
      </p:sp>
      <p:sp>
        <p:nvSpPr>
          <p:cNvPr id="51" name="Shape 43"/>
          <p:cNvSpPr/>
          <p:nvPr/>
        </p:nvSpPr>
        <p:spPr>
          <a:xfrm rot="5400000">
            <a:off x="14968677" y="6060328"/>
            <a:ext cx="171450" cy="26458"/>
          </a:xfrm>
          <a:prstGeom prst="rect">
            <a:avLst/>
          </a:prstGeom>
          <a:solidFill>
            <a:srgbClr val="F0CC71"/>
          </a:solidFill>
          <a:ln/>
        </p:spPr>
        <p:txBody>
          <a:bodyPr/>
          <a:lstStyle/>
          <a:p>
            <a:endParaRPr lang="en-US"/>
          </a:p>
        </p:txBody>
      </p:sp>
      <p:sp>
        <p:nvSpPr>
          <p:cNvPr id="52" name="Shape 44"/>
          <p:cNvSpPr/>
          <p:nvPr/>
        </p:nvSpPr>
        <p:spPr>
          <a:xfrm>
            <a:off x="15066573" y="6158797"/>
            <a:ext cx="845788" cy="26458"/>
          </a:xfrm>
          <a:prstGeom prst="rect">
            <a:avLst/>
          </a:prstGeom>
          <a:solidFill>
            <a:srgbClr val="F0CC71"/>
          </a:solidFill>
          <a:ln/>
        </p:spPr>
        <p:txBody>
          <a:bodyPr/>
          <a:lstStyle/>
          <a:p>
            <a:endParaRPr lang="en-US"/>
          </a:p>
        </p:txBody>
      </p:sp>
      <p:sp>
        <p:nvSpPr>
          <p:cNvPr id="53" name="Shape 45"/>
          <p:cNvSpPr/>
          <p:nvPr/>
        </p:nvSpPr>
        <p:spPr>
          <a:xfrm>
            <a:off x="15777744" y="6069500"/>
            <a:ext cx="135599" cy="178594"/>
          </a:xfrm>
          <a:prstGeom prst="rect">
            <a:avLst/>
          </a:prstGeom>
          <a:solidFill>
            <a:srgbClr val="F0CC71"/>
          </a:solidFill>
          <a:ln/>
        </p:spPr>
        <p:txBody>
          <a:bodyPr/>
          <a:lstStyle/>
          <a:p>
            <a:endParaRPr lang="en-US"/>
          </a:p>
        </p:txBody>
      </p:sp>
      <p:sp>
        <p:nvSpPr>
          <p:cNvPr id="54" name="Shape 46"/>
          <p:cNvSpPr/>
          <p:nvPr/>
        </p:nvSpPr>
        <p:spPr>
          <a:xfrm>
            <a:off x="11661407" y="6483635"/>
            <a:ext cx="2626041" cy="1431592"/>
          </a:xfrm>
          <a:prstGeom prst="rect">
            <a:avLst/>
          </a:prstGeom>
          <a:ln w="13229">
            <a:solidFill>
              <a:srgbClr val="FFFFFF">
                <a:alpha val="45000"/>
              </a:srgbClr>
            </a:solidFill>
            <a:prstDash val="dash"/>
          </a:ln>
        </p:spPr>
        <p:txBody>
          <a:bodyPr/>
          <a:lstStyle/>
          <a:p>
            <a:endParaRPr lang="en-US"/>
          </a:p>
        </p:txBody>
      </p:sp>
      <p:sp>
        <p:nvSpPr>
          <p:cNvPr id="55" name="Text 47"/>
          <p:cNvSpPr/>
          <p:nvPr/>
        </p:nvSpPr>
        <p:spPr>
          <a:xfrm>
            <a:off x="11811785" y="6565439"/>
            <a:ext cx="2401484" cy="586594"/>
          </a:xfrm>
          <a:prstGeom prst="rect">
            <a:avLst/>
          </a:prstGeom>
          <a:noFill/>
          <a:ln/>
        </p:spPr>
        <p:txBody>
          <a:bodyPr wrap="square" lIns="25400" tIns="25400" rIns="25400" bIns="25400" rtlCol="0" anchor="t">
            <a:normAutofit/>
          </a:bodyPr>
          <a:lstStyle/>
          <a:p>
            <a:pPr marL="0" indent="0" algn="l">
              <a:lnSpc>
                <a:spcPct val="92160"/>
              </a:lnSpc>
              <a:buNone/>
            </a:pPr>
            <a:r>
              <a:rPr lang="en-US" sz="1050" dirty="0">
                <a:solidFill>
                  <a:srgbClr val="FFFFFF"/>
                </a:solidFill>
                <a:latin typeface="Oracle Sans Tab" pitchFamily="34" charset="0"/>
                <a:ea typeface="Oracle Sans Tab" pitchFamily="34" charset="-122"/>
                <a:cs typeface="Oracle Sans Tab" pitchFamily="34" charset="-120"/>
              </a:rPr>
              <a:t>(:Paper {paper_id: "2312.10997", title: "Benchmarking RAG for Factual Consistency"})</a:t>
            </a:r>
            <a:endParaRPr lang="en-US" sz="1050" dirty="0"/>
          </a:p>
        </p:txBody>
      </p:sp>
      <p:sp>
        <p:nvSpPr>
          <p:cNvPr id="56" name="Text 48"/>
          <p:cNvSpPr/>
          <p:nvPr/>
        </p:nvSpPr>
        <p:spPr>
          <a:xfrm>
            <a:off x="11811785" y="7113933"/>
            <a:ext cx="2401484" cy="403762"/>
          </a:xfrm>
          <a:prstGeom prst="rect">
            <a:avLst/>
          </a:prstGeom>
          <a:noFill/>
          <a:ln/>
        </p:spPr>
        <p:txBody>
          <a:bodyPr wrap="square" lIns="25400" tIns="25400" rIns="25400" bIns="25400" rtlCol="0" anchor="t">
            <a:normAutofit/>
          </a:bodyPr>
          <a:lstStyle/>
          <a:p>
            <a:pPr marL="0" indent="0" algn="l">
              <a:lnSpc>
                <a:spcPct val="92160"/>
              </a:lnSpc>
              <a:buNone/>
            </a:pPr>
            <a:r>
              <a:rPr lang="en-US" sz="1050" dirty="0">
                <a:solidFill>
                  <a:srgbClr val="FFFFFF"/>
                </a:solidFill>
                <a:latin typeface="Oracle Sans Tab" pitchFamily="34" charset="0"/>
                <a:ea typeface="Oracle Sans Tab" pitchFamily="34" charset="-122"/>
                <a:cs typeface="Oracle Sans Tab" pitchFamily="34" charset="-120"/>
              </a:rPr>
              <a:t>-[:HAS_SECTION]→ (:Section {name: "Results"})</a:t>
            </a:r>
            <a:endParaRPr lang="en-US" sz="1050" dirty="0"/>
          </a:p>
        </p:txBody>
      </p:sp>
      <p:sp>
        <p:nvSpPr>
          <p:cNvPr id="57" name="Text 49"/>
          <p:cNvSpPr/>
          <p:nvPr/>
        </p:nvSpPr>
        <p:spPr>
          <a:xfrm>
            <a:off x="11811785" y="7479595"/>
            <a:ext cx="2401484" cy="586594"/>
          </a:xfrm>
          <a:prstGeom prst="rect">
            <a:avLst/>
          </a:prstGeom>
          <a:noFill/>
          <a:ln/>
        </p:spPr>
        <p:txBody>
          <a:bodyPr wrap="square" lIns="25400" tIns="25400" rIns="25400" bIns="25400" rtlCol="0" anchor="t">
            <a:normAutofit/>
          </a:bodyPr>
          <a:lstStyle/>
          <a:p>
            <a:pPr marL="0" indent="0" algn="l">
              <a:lnSpc>
                <a:spcPct val="92160"/>
              </a:lnSpc>
              <a:buNone/>
            </a:pPr>
            <a:r>
              <a:rPr lang="en-US" sz="1050" dirty="0">
                <a:solidFill>
                  <a:srgbClr val="FFFFFF"/>
                </a:solidFill>
                <a:latin typeface="Oracle Sans Tab" pitchFamily="34" charset="0"/>
                <a:ea typeface="Oracle Sans Tab" pitchFamily="34" charset="-122"/>
                <a:cs typeface="Oracle Sans Tab" pitchFamily="34" charset="-120"/>
              </a:rPr>
              <a:t>-[:CONTAINS_CHUNK]→ (:Chunk D_BY]→ (:Author {name: "Yamamoto, Kenji"})</a:t>
            </a:r>
            <a:endParaRPr lang="en-US" sz="1050" dirty="0"/>
          </a:p>
        </p:txBody>
      </p:sp>
      <p:sp>
        <p:nvSpPr>
          <p:cNvPr id="58" name="Shape 50"/>
          <p:cNvSpPr/>
          <p:nvPr/>
        </p:nvSpPr>
        <p:spPr>
          <a:xfrm rot="10800000">
            <a:off x="14287500" y="7199922"/>
            <a:ext cx="818193" cy="26458"/>
          </a:xfrm>
          <a:prstGeom prst="rect">
            <a:avLst/>
          </a:prstGeom>
          <a:solidFill>
            <a:srgbClr val="F0CC71"/>
          </a:solidFill>
          <a:ln/>
        </p:spPr>
        <p:txBody>
          <a:bodyPr/>
          <a:lstStyle/>
          <a:p>
            <a:endParaRPr lang="en-US"/>
          </a:p>
        </p:txBody>
      </p:sp>
      <p:sp>
        <p:nvSpPr>
          <p:cNvPr id="59" name="Shape 51"/>
          <p:cNvSpPr/>
          <p:nvPr/>
        </p:nvSpPr>
        <p:spPr>
          <a:xfrm rot="5400000">
            <a:off x="15058067" y="7125741"/>
            <a:ext cx="123825" cy="26458"/>
          </a:xfrm>
          <a:prstGeom prst="rect">
            <a:avLst/>
          </a:prstGeom>
          <a:solidFill>
            <a:srgbClr val="F0CC71"/>
          </a:solidFill>
          <a:ln/>
        </p:spPr>
        <p:txBody>
          <a:bodyPr/>
          <a:lstStyle/>
          <a:p>
            <a:endParaRPr lang="en-US"/>
          </a:p>
        </p:txBody>
      </p:sp>
      <p:sp>
        <p:nvSpPr>
          <p:cNvPr id="60" name="Shape 52"/>
          <p:cNvSpPr/>
          <p:nvPr/>
        </p:nvSpPr>
        <p:spPr>
          <a:xfrm rot="10800000">
            <a:off x="15105692" y="7078017"/>
            <a:ext cx="818193" cy="26458"/>
          </a:xfrm>
          <a:prstGeom prst="rect">
            <a:avLst/>
          </a:prstGeom>
          <a:solidFill>
            <a:srgbClr val="F0CC71"/>
          </a:solidFill>
          <a:ln/>
        </p:spPr>
        <p:txBody>
          <a:bodyPr/>
          <a:lstStyle/>
          <a:p>
            <a:endParaRPr lang="en-US"/>
          </a:p>
        </p:txBody>
      </p:sp>
      <p:sp>
        <p:nvSpPr>
          <p:cNvPr id="61" name="Shape 53"/>
          <p:cNvSpPr/>
          <p:nvPr/>
        </p:nvSpPr>
        <p:spPr>
          <a:xfrm rot="10800000">
            <a:off x="15788286" y="6988721"/>
            <a:ext cx="135599" cy="178594"/>
          </a:xfrm>
          <a:prstGeom prst="rect">
            <a:avLst/>
          </a:prstGeom>
          <a:solidFill>
            <a:srgbClr val="F0CC71"/>
          </a:solidFill>
          <a:ln/>
        </p:spPr>
        <p:txBody>
          <a:bodyPr/>
          <a:lstStyle/>
          <a:p>
            <a:endParaRPr lang="en-US"/>
          </a:p>
        </p:txBody>
      </p:sp>
      <p:sp>
        <p:nvSpPr>
          <p:cNvPr id="64" name="Shape 56"/>
          <p:cNvSpPr/>
          <p:nvPr/>
        </p:nvSpPr>
        <p:spPr>
          <a:xfrm>
            <a:off x="813387" y="5555888"/>
            <a:ext cx="1772553" cy="282877"/>
          </a:xfrm>
          <a:prstGeom prst="roundRect">
            <a:avLst>
              <a:gd name="adj" fmla="val 16836"/>
            </a:avLst>
          </a:prstGeom>
          <a:solidFill>
            <a:srgbClr val="0B5060"/>
          </a:solidFill>
          <a:ln w="13229">
            <a:solidFill>
              <a:srgbClr val="F0CC71"/>
            </a:solidFill>
            <a:prstDash val="solid"/>
          </a:ln>
        </p:spPr>
        <p:txBody>
          <a:bodyPr/>
          <a:lstStyle/>
          <a:p>
            <a:endParaRPr lang="en-US"/>
          </a:p>
        </p:txBody>
      </p:sp>
      <p:sp>
        <p:nvSpPr>
          <p:cNvPr id="65" name="Text 57"/>
          <p:cNvSpPr/>
          <p:nvPr/>
        </p:nvSpPr>
        <p:spPr>
          <a:xfrm>
            <a:off x="925665" y="5571598"/>
            <a:ext cx="1547996"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dirty="0">
                <a:solidFill>
                  <a:srgbClr val="FFFFFF"/>
                </a:solidFill>
                <a:latin typeface="Oracle Sans Tab" pitchFamily="34" charset="0"/>
                <a:ea typeface="Oracle Sans Tab" pitchFamily="34" charset="-122"/>
                <a:cs typeface="Oracle Sans Tab" pitchFamily="34" charset="-120"/>
              </a:rPr>
              <a:t>Data Sources</a:t>
            </a:r>
            <a:endParaRPr lang="en-US" sz="1650" dirty="0"/>
          </a:p>
        </p:txBody>
      </p:sp>
      <p:sp>
        <p:nvSpPr>
          <p:cNvPr id="66" name="Shape 58"/>
          <p:cNvSpPr/>
          <p:nvPr/>
        </p:nvSpPr>
        <p:spPr>
          <a:xfrm>
            <a:off x="3988077" y="3566139"/>
            <a:ext cx="1371596" cy="282877"/>
          </a:xfrm>
          <a:prstGeom prst="roundRect">
            <a:avLst>
              <a:gd name="adj" fmla="val 16836"/>
            </a:avLst>
          </a:prstGeom>
          <a:solidFill>
            <a:srgbClr val="0B5060"/>
          </a:solidFill>
          <a:ln w="13229">
            <a:solidFill>
              <a:srgbClr val="F0CC71"/>
            </a:solidFill>
            <a:prstDash val="solid"/>
          </a:ln>
        </p:spPr>
        <p:txBody>
          <a:bodyPr/>
          <a:lstStyle/>
          <a:p>
            <a:endParaRPr lang="en-US"/>
          </a:p>
        </p:txBody>
      </p:sp>
      <p:sp>
        <p:nvSpPr>
          <p:cNvPr id="67" name="Text 59"/>
          <p:cNvSpPr/>
          <p:nvPr/>
        </p:nvSpPr>
        <p:spPr>
          <a:xfrm>
            <a:off x="4100355" y="3604741"/>
            <a:ext cx="1147039"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b="1" dirty="0">
                <a:solidFill>
                  <a:srgbClr val="FFFFFF"/>
                </a:solidFill>
                <a:latin typeface="Oracle Sans Tab" pitchFamily="34" charset="0"/>
                <a:ea typeface="Oracle Sans Tab" pitchFamily="34" charset="-122"/>
                <a:cs typeface="Oracle Sans Tab" pitchFamily="34" charset="-120"/>
              </a:rPr>
              <a:t>Data Object</a:t>
            </a:r>
            <a:endParaRPr lang="en-US" sz="1350" dirty="0"/>
          </a:p>
        </p:txBody>
      </p:sp>
      <p:sp>
        <p:nvSpPr>
          <p:cNvPr id="68" name="Shape 60"/>
          <p:cNvSpPr/>
          <p:nvPr/>
        </p:nvSpPr>
        <p:spPr>
          <a:xfrm>
            <a:off x="3988077" y="4536725"/>
            <a:ext cx="1371596"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69" name="Text 61"/>
          <p:cNvSpPr/>
          <p:nvPr/>
        </p:nvSpPr>
        <p:spPr>
          <a:xfrm>
            <a:off x="4100355" y="4575328"/>
            <a:ext cx="1147039"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Chunking</a:t>
            </a:r>
            <a:endParaRPr lang="en-US" sz="1350" dirty="0"/>
          </a:p>
        </p:txBody>
      </p:sp>
      <p:sp>
        <p:nvSpPr>
          <p:cNvPr id="70" name="Shape 62"/>
          <p:cNvSpPr/>
          <p:nvPr/>
        </p:nvSpPr>
        <p:spPr>
          <a:xfrm>
            <a:off x="3752846" y="4866318"/>
            <a:ext cx="184304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71" name="Text 63"/>
          <p:cNvSpPr/>
          <p:nvPr/>
        </p:nvSpPr>
        <p:spPr>
          <a:xfrm>
            <a:off x="3826110" y="4904920"/>
            <a:ext cx="1696511"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Data Deduplication</a:t>
            </a:r>
            <a:endParaRPr lang="en-US" sz="1350" dirty="0"/>
          </a:p>
        </p:txBody>
      </p:sp>
      <p:sp>
        <p:nvSpPr>
          <p:cNvPr id="72" name="Shape 64"/>
          <p:cNvSpPr/>
          <p:nvPr/>
        </p:nvSpPr>
        <p:spPr>
          <a:xfrm>
            <a:off x="3752846" y="5231102"/>
            <a:ext cx="184304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73" name="Text 65"/>
          <p:cNvSpPr/>
          <p:nvPr/>
        </p:nvSpPr>
        <p:spPr>
          <a:xfrm>
            <a:off x="3826110" y="5269704"/>
            <a:ext cx="1696511"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Text Normalization</a:t>
            </a:r>
            <a:endParaRPr lang="en-US" sz="1350" dirty="0"/>
          </a:p>
        </p:txBody>
      </p:sp>
      <p:sp>
        <p:nvSpPr>
          <p:cNvPr id="74" name="Shape 66"/>
          <p:cNvSpPr/>
          <p:nvPr/>
        </p:nvSpPr>
        <p:spPr>
          <a:xfrm>
            <a:off x="3752846" y="5578781"/>
            <a:ext cx="184304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75" name="Text 67"/>
          <p:cNvSpPr/>
          <p:nvPr/>
        </p:nvSpPr>
        <p:spPr>
          <a:xfrm>
            <a:off x="3826110" y="5617383"/>
            <a:ext cx="1696511"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Entity extraction</a:t>
            </a:r>
            <a:endParaRPr lang="en-US" sz="1350" dirty="0"/>
          </a:p>
        </p:txBody>
      </p:sp>
      <p:sp>
        <p:nvSpPr>
          <p:cNvPr id="76" name="Shape 68"/>
          <p:cNvSpPr/>
          <p:nvPr/>
        </p:nvSpPr>
        <p:spPr>
          <a:xfrm>
            <a:off x="4571039" y="6652255"/>
            <a:ext cx="43770" cy="46664"/>
          </a:xfrm>
          <a:prstGeom prst="ellipse">
            <a:avLst/>
          </a:prstGeom>
          <a:solidFill>
            <a:srgbClr val="0B5060"/>
          </a:solidFill>
          <a:ln w="13229">
            <a:solidFill>
              <a:srgbClr val="FFFFFF">
                <a:alpha val="30000"/>
              </a:srgbClr>
            </a:solidFill>
            <a:prstDash val="solid"/>
          </a:ln>
        </p:spPr>
        <p:txBody>
          <a:bodyPr/>
          <a:lstStyle/>
          <a:p>
            <a:endParaRPr lang="en-US"/>
          </a:p>
        </p:txBody>
      </p:sp>
      <p:sp>
        <p:nvSpPr>
          <p:cNvPr id="77" name="Shape 69"/>
          <p:cNvSpPr/>
          <p:nvPr/>
        </p:nvSpPr>
        <p:spPr>
          <a:xfrm>
            <a:off x="4571039" y="6770336"/>
            <a:ext cx="43770" cy="46664"/>
          </a:xfrm>
          <a:prstGeom prst="ellipse">
            <a:avLst/>
          </a:prstGeom>
          <a:solidFill>
            <a:srgbClr val="0B5060"/>
          </a:solidFill>
          <a:ln w="13229">
            <a:solidFill>
              <a:srgbClr val="FFFFFF">
                <a:alpha val="30000"/>
              </a:srgbClr>
            </a:solidFill>
            <a:prstDash val="solid"/>
          </a:ln>
        </p:spPr>
        <p:txBody>
          <a:bodyPr/>
          <a:lstStyle/>
          <a:p>
            <a:endParaRPr lang="en-US"/>
          </a:p>
        </p:txBody>
      </p:sp>
      <p:sp>
        <p:nvSpPr>
          <p:cNvPr id="78" name="Shape 70"/>
          <p:cNvSpPr/>
          <p:nvPr/>
        </p:nvSpPr>
        <p:spPr>
          <a:xfrm>
            <a:off x="4571039" y="6894152"/>
            <a:ext cx="43770" cy="46664"/>
          </a:xfrm>
          <a:prstGeom prst="ellipse">
            <a:avLst/>
          </a:prstGeom>
          <a:solidFill>
            <a:srgbClr val="0B5060"/>
          </a:solidFill>
          <a:ln w="13229">
            <a:solidFill>
              <a:srgbClr val="FFFFFF">
                <a:alpha val="30000"/>
              </a:srgbClr>
            </a:solidFill>
            <a:prstDash val="solid"/>
          </a:ln>
        </p:spPr>
        <p:txBody>
          <a:bodyPr/>
          <a:lstStyle/>
          <a:p>
            <a:endParaRPr lang="en-US"/>
          </a:p>
        </p:txBody>
      </p:sp>
      <p:sp>
        <p:nvSpPr>
          <p:cNvPr id="79" name="Shape 71"/>
          <p:cNvSpPr/>
          <p:nvPr/>
        </p:nvSpPr>
        <p:spPr>
          <a:xfrm>
            <a:off x="7387559" y="4351931"/>
            <a:ext cx="2253609" cy="692464"/>
          </a:xfrm>
          <a:prstGeom prst="roundRect">
            <a:avLst>
              <a:gd name="adj" fmla="val 16644"/>
            </a:avLst>
          </a:prstGeom>
          <a:solidFill>
            <a:srgbClr val="89B2B0"/>
          </a:solidFill>
          <a:ln w="16536">
            <a:solidFill>
              <a:srgbClr val="FFFFFF">
                <a:alpha val="45000"/>
              </a:srgbClr>
            </a:solidFill>
            <a:prstDash val="solid"/>
          </a:ln>
        </p:spPr>
        <p:txBody>
          <a:bodyPr/>
          <a:lstStyle/>
          <a:p>
            <a:endParaRPr lang="en-US"/>
          </a:p>
        </p:txBody>
      </p:sp>
      <p:sp>
        <p:nvSpPr>
          <p:cNvPr id="80" name="Text 72"/>
          <p:cNvSpPr/>
          <p:nvPr/>
        </p:nvSpPr>
        <p:spPr>
          <a:xfrm>
            <a:off x="7503145" y="4469546"/>
            <a:ext cx="2022438" cy="342888"/>
          </a:xfrm>
          <a:prstGeom prst="rect">
            <a:avLst/>
          </a:prstGeom>
          <a:noFill/>
          <a:ln/>
        </p:spPr>
        <p:txBody>
          <a:bodyPr wrap="square" lIns="25400" tIns="25400" rIns="25400" bIns="25400" rtlCol="0" anchor="t">
            <a:normAutofit/>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Chunks passed into an embedding model.</a:t>
            </a:r>
            <a:endParaRPr lang="en-US" sz="1200" dirty="0"/>
          </a:p>
        </p:txBody>
      </p:sp>
      <p:sp>
        <p:nvSpPr>
          <p:cNvPr id="81" name="Text 73"/>
          <p:cNvSpPr/>
          <p:nvPr/>
        </p:nvSpPr>
        <p:spPr>
          <a:xfrm>
            <a:off x="7443933" y="4774334"/>
            <a:ext cx="2140862"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Embedding Generation</a:t>
            </a:r>
            <a:endParaRPr lang="en-US" sz="1200" dirty="0"/>
          </a:p>
        </p:txBody>
      </p:sp>
      <p:sp>
        <p:nvSpPr>
          <p:cNvPr id="82" name="Shape 74"/>
          <p:cNvSpPr/>
          <p:nvPr/>
        </p:nvSpPr>
        <p:spPr>
          <a:xfrm>
            <a:off x="9012524" y="3431832"/>
            <a:ext cx="1324880" cy="36380"/>
          </a:xfrm>
          <a:prstGeom prst="rect">
            <a:avLst/>
          </a:prstGeom>
          <a:solidFill>
            <a:srgbClr val="F0CC71"/>
          </a:solidFill>
          <a:ln/>
        </p:spPr>
        <p:txBody>
          <a:bodyPr/>
          <a:lstStyle/>
          <a:p>
            <a:endParaRPr lang="en-US"/>
          </a:p>
        </p:txBody>
      </p:sp>
      <p:sp>
        <p:nvSpPr>
          <p:cNvPr id="83" name="Shape 75"/>
          <p:cNvSpPr/>
          <p:nvPr/>
        </p:nvSpPr>
        <p:spPr>
          <a:xfrm rot="5400000">
            <a:off x="8438887" y="5297196"/>
            <a:ext cx="3762375" cy="36380"/>
          </a:xfrm>
          <a:prstGeom prst="rect">
            <a:avLst/>
          </a:prstGeom>
          <a:solidFill>
            <a:srgbClr val="F0CC71"/>
          </a:solidFill>
          <a:ln/>
        </p:spPr>
        <p:txBody>
          <a:bodyPr/>
          <a:lstStyle/>
          <a:p>
            <a:endParaRPr lang="en-US"/>
          </a:p>
        </p:txBody>
      </p:sp>
      <p:sp>
        <p:nvSpPr>
          <p:cNvPr id="84" name="Shape 76"/>
          <p:cNvSpPr/>
          <p:nvPr/>
        </p:nvSpPr>
        <p:spPr>
          <a:xfrm>
            <a:off x="10337405" y="7198940"/>
            <a:ext cx="1324880" cy="36380"/>
          </a:xfrm>
          <a:prstGeom prst="rect">
            <a:avLst/>
          </a:prstGeom>
          <a:solidFill>
            <a:srgbClr val="F0CC71"/>
          </a:solidFill>
          <a:ln/>
        </p:spPr>
        <p:txBody>
          <a:bodyPr/>
          <a:lstStyle/>
          <a:p>
            <a:endParaRPr lang="en-US"/>
          </a:p>
        </p:txBody>
      </p:sp>
      <p:sp>
        <p:nvSpPr>
          <p:cNvPr id="85" name="Shape 77"/>
          <p:cNvSpPr/>
          <p:nvPr/>
        </p:nvSpPr>
        <p:spPr>
          <a:xfrm>
            <a:off x="11479505" y="7079878"/>
            <a:ext cx="181901" cy="238125"/>
          </a:xfrm>
          <a:prstGeom prst="rect">
            <a:avLst/>
          </a:prstGeom>
          <a:solidFill>
            <a:srgbClr val="F0CC71"/>
          </a:solidFill>
          <a:ln/>
        </p:spPr>
        <p:txBody>
          <a:bodyPr/>
          <a:lstStyle/>
          <a:p>
            <a:endParaRPr lang="en-US"/>
          </a:p>
        </p:txBody>
      </p:sp>
      <p:sp>
        <p:nvSpPr>
          <p:cNvPr id="86" name="Shape 78"/>
          <p:cNvSpPr/>
          <p:nvPr/>
        </p:nvSpPr>
        <p:spPr>
          <a:xfrm>
            <a:off x="3752846" y="5914058"/>
            <a:ext cx="184304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87" name="Text 79"/>
          <p:cNvSpPr/>
          <p:nvPr/>
        </p:nvSpPr>
        <p:spPr>
          <a:xfrm>
            <a:off x="3826110" y="5952660"/>
            <a:ext cx="1696511"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PII Redaction</a:t>
            </a:r>
            <a:endParaRPr lang="en-US" sz="1350" dirty="0"/>
          </a:p>
        </p:txBody>
      </p:sp>
      <p:sp>
        <p:nvSpPr>
          <p:cNvPr id="88" name="Shape 80"/>
          <p:cNvSpPr/>
          <p:nvPr/>
        </p:nvSpPr>
        <p:spPr>
          <a:xfrm>
            <a:off x="3535650" y="6236001"/>
            <a:ext cx="227645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89" name="Text 81"/>
          <p:cNvSpPr/>
          <p:nvPr/>
        </p:nvSpPr>
        <p:spPr>
          <a:xfrm>
            <a:off x="3587244" y="6274604"/>
            <a:ext cx="2173263"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Content Classification</a:t>
            </a:r>
            <a:endParaRPr lang="en-US" sz="1350" dirty="0"/>
          </a:p>
        </p:txBody>
      </p:sp>
      <p:sp>
        <p:nvSpPr>
          <p:cNvPr id="90" name="Shape 82"/>
          <p:cNvSpPr/>
          <p:nvPr/>
        </p:nvSpPr>
        <p:spPr>
          <a:xfrm>
            <a:off x="16668771" y="4598040"/>
            <a:ext cx="1619229" cy="1378882"/>
          </a:xfrm>
          <a:prstGeom prst="roundRect">
            <a:avLst>
              <a:gd name="adj" fmla="val 8289"/>
            </a:avLst>
          </a:prstGeom>
          <a:solidFill>
            <a:srgbClr val="0B5060"/>
          </a:solidFill>
          <a:ln w="13229">
            <a:solidFill>
              <a:srgbClr val="FD6953"/>
            </a:solidFill>
            <a:prstDash val="solid"/>
          </a:ln>
          <a:effectLst>
            <a:outerShdw blurRad="133350" dist="28575" dir="5400000" algn="bl" rotWithShape="0">
              <a:srgbClr val="000000">
                <a:alpha val="30000"/>
              </a:srgbClr>
            </a:outerShdw>
          </a:effectLst>
        </p:spPr>
        <p:txBody>
          <a:bodyPr/>
          <a:lstStyle/>
          <a:p>
            <a:endParaRPr lang="en-US"/>
          </a:p>
        </p:txBody>
      </p:sp>
      <p:sp>
        <p:nvSpPr>
          <p:cNvPr id="91" name="Text 83"/>
          <p:cNvSpPr/>
          <p:nvPr/>
        </p:nvSpPr>
        <p:spPr>
          <a:xfrm>
            <a:off x="16886959" y="4787496"/>
            <a:ext cx="1288012" cy="1238182"/>
          </a:xfrm>
          <a:prstGeom prst="rect">
            <a:avLst/>
          </a:prstGeom>
          <a:noFill/>
          <a:ln/>
        </p:spPr>
        <p:txBody>
          <a:bodyPr wrap="square" lIns="25400" tIns="25400" rIns="25400" bIns="25400" rtlCol="0" anchor="t">
            <a:normAutofit/>
          </a:bodyPr>
          <a:lstStyle/>
          <a:p>
            <a:pPr marL="0" indent="0" algn="ctr">
              <a:lnSpc>
                <a:spcPct val="76800"/>
              </a:lnSpc>
              <a:buNone/>
            </a:pPr>
            <a:r>
              <a:rPr lang="en-US" sz="3150" b="1" dirty="0">
                <a:solidFill>
                  <a:srgbClr val="FFFFFF"/>
                </a:solidFill>
                <a:latin typeface="Oracle Sans Tab" pitchFamily="34" charset="0"/>
                <a:ea typeface="Oracle Sans Tab" pitchFamily="34" charset="-122"/>
                <a:cs typeface="Oracle Sans Tab" pitchFamily="34" charset="-120"/>
              </a:rPr>
              <a:t>Data Sync Logic</a:t>
            </a:r>
            <a:endParaRPr lang="en-US" sz="3150" dirty="0"/>
          </a:p>
        </p:txBody>
      </p:sp>
      <p:sp>
        <p:nvSpPr>
          <p:cNvPr id="92" name="Shape 84"/>
          <p:cNvSpPr/>
          <p:nvPr/>
        </p:nvSpPr>
        <p:spPr>
          <a:xfrm>
            <a:off x="15900062" y="2983229"/>
            <a:ext cx="428604" cy="594331"/>
          </a:xfrm>
          <a:prstGeom prst="roundRect">
            <a:avLst>
              <a:gd name="adj" fmla="val 50000"/>
            </a:avLst>
          </a:prstGeom>
          <a:solidFill>
            <a:srgbClr val="0B5060"/>
          </a:solidFill>
          <a:ln w="13229">
            <a:solidFill>
              <a:srgbClr val="FFFFFF">
                <a:alpha val="3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3" name="Shape 85"/>
          <p:cNvSpPr/>
          <p:nvPr/>
        </p:nvSpPr>
        <p:spPr>
          <a:xfrm>
            <a:off x="15889572" y="3921414"/>
            <a:ext cx="428604" cy="594331"/>
          </a:xfrm>
          <a:prstGeom prst="roundRect">
            <a:avLst>
              <a:gd name="adj" fmla="val 50000"/>
            </a:avLst>
          </a:prstGeom>
          <a:solidFill>
            <a:srgbClr val="0B5060"/>
          </a:solidFill>
          <a:ln w="13229">
            <a:solidFill>
              <a:srgbClr val="FFFFFF">
                <a:alpha val="3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4" name="Shape 86"/>
          <p:cNvSpPr/>
          <p:nvPr/>
        </p:nvSpPr>
        <p:spPr>
          <a:xfrm>
            <a:off x="15889572" y="4922490"/>
            <a:ext cx="428604" cy="594331"/>
          </a:xfrm>
          <a:prstGeom prst="roundRect">
            <a:avLst>
              <a:gd name="adj" fmla="val 50000"/>
            </a:avLst>
          </a:prstGeom>
          <a:solidFill>
            <a:srgbClr val="0B5060"/>
          </a:solidFill>
          <a:ln w="13229">
            <a:solidFill>
              <a:srgbClr val="FFFFFF">
                <a:alpha val="3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5" name="Shape 87"/>
          <p:cNvSpPr/>
          <p:nvPr/>
        </p:nvSpPr>
        <p:spPr>
          <a:xfrm>
            <a:off x="15913395" y="5861657"/>
            <a:ext cx="428604" cy="594331"/>
          </a:xfrm>
          <a:prstGeom prst="roundRect">
            <a:avLst>
              <a:gd name="adj" fmla="val 50000"/>
            </a:avLst>
          </a:prstGeom>
          <a:solidFill>
            <a:srgbClr val="0B5060"/>
          </a:solidFill>
          <a:ln w="13229">
            <a:solidFill>
              <a:srgbClr val="FFFFFF">
                <a:alpha val="3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6" name="Shape 88"/>
          <p:cNvSpPr/>
          <p:nvPr/>
        </p:nvSpPr>
        <p:spPr>
          <a:xfrm>
            <a:off x="15922904" y="6780826"/>
            <a:ext cx="428604" cy="594331"/>
          </a:xfrm>
          <a:prstGeom prst="roundRect">
            <a:avLst>
              <a:gd name="adj" fmla="val 50000"/>
            </a:avLst>
          </a:prstGeom>
          <a:solidFill>
            <a:srgbClr val="0B5060"/>
          </a:solidFill>
          <a:ln w="13229">
            <a:solidFill>
              <a:srgbClr val="FFFFFF">
                <a:alpha val="3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7" name="Shape 89"/>
          <p:cNvSpPr/>
          <p:nvPr/>
        </p:nvSpPr>
        <p:spPr>
          <a:xfrm>
            <a:off x="15766685" y="7467554"/>
            <a:ext cx="741970" cy="146658"/>
          </a:xfrm>
          <a:prstGeom prst="roundRect">
            <a:avLst>
              <a:gd name="adj" fmla="val 16886"/>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8" name="Text 90"/>
          <p:cNvSpPr/>
          <p:nvPr/>
        </p:nvSpPr>
        <p:spPr>
          <a:xfrm>
            <a:off x="15882271" y="7476494"/>
            <a:ext cx="510799" cy="190494"/>
          </a:xfrm>
          <a:prstGeom prst="rect">
            <a:avLst/>
          </a:prstGeom>
          <a:noFill/>
          <a:ln/>
        </p:spPr>
        <p:txBody>
          <a:bodyPr wrap="square" lIns="25400" tIns="25400" rIns="25400" bIns="25400" rtlCol="0" anchor="t">
            <a:normAutofit/>
          </a:bodyPr>
          <a:lstStyle/>
          <a:p>
            <a:pPr marL="0" indent="0" algn="ctr">
              <a:lnSpc>
                <a:spcPct val="76800"/>
              </a:lnSpc>
              <a:buNone/>
            </a:pPr>
            <a:r>
              <a:rPr lang="en-US" sz="1050" dirty="0">
                <a:latin typeface="Oracle Sans Tab" pitchFamily="34" charset="0"/>
                <a:ea typeface="Oracle Sans Tab" pitchFamily="34" charset="-122"/>
                <a:cs typeface="Oracle Sans Tab" pitchFamily="34" charset="-120"/>
              </a:rPr>
              <a:t>Graph</a:t>
            </a:r>
            <a:endParaRPr lang="en-US" sz="1050" dirty="0"/>
          </a:p>
        </p:txBody>
      </p:sp>
      <p:sp>
        <p:nvSpPr>
          <p:cNvPr id="99" name="Shape 91"/>
          <p:cNvSpPr/>
          <p:nvPr/>
        </p:nvSpPr>
        <p:spPr>
          <a:xfrm>
            <a:off x="15766685" y="6544613"/>
            <a:ext cx="741970" cy="146658"/>
          </a:xfrm>
          <a:prstGeom prst="roundRect">
            <a:avLst>
              <a:gd name="adj" fmla="val 16886"/>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00" name="Text 92"/>
          <p:cNvSpPr/>
          <p:nvPr/>
        </p:nvSpPr>
        <p:spPr>
          <a:xfrm>
            <a:off x="15882271" y="6553553"/>
            <a:ext cx="510799" cy="190494"/>
          </a:xfrm>
          <a:prstGeom prst="rect">
            <a:avLst/>
          </a:prstGeom>
          <a:noFill/>
          <a:ln/>
        </p:spPr>
        <p:txBody>
          <a:bodyPr wrap="square" lIns="25400" tIns="25400" rIns="25400" bIns="25400" rtlCol="0" anchor="t">
            <a:normAutofit/>
          </a:bodyPr>
          <a:lstStyle/>
          <a:p>
            <a:pPr marL="0" indent="0" algn="ctr">
              <a:lnSpc>
                <a:spcPct val="76800"/>
              </a:lnSpc>
              <a:buNone/>
            </a:pPr>
            <a:r>
              <a:rPr lang="en-US" sz="1050" dirty="0">
                <a:latin typeface="Oracle Sans Tab" pitchFamily="34" charset="0"/>
                <a:ea typeface="Oracle Sans Tab" pitchFamily="34" charset="-122"/>
                <a:cs typeface="Oracle Sans Tab" pitchFamily="34" charset="-120"/>
              </a:rPr>
              <a:t>Vector</a:t>
            </a:r>
            <a:endParaRPr lang="en-US" sz="1050" dirty="0"/>
          </a:p>
        </p:txBody>
      </p:sp>
      <p:sp>
        <p:nvSpPr>
          <p:cNvPr id="101" name="Shape 93"/>
          <p:cNvSpPr/>
          <p:nvPr/>
        </p:nvSpPr>
        <p:spPr>
          <a:xfrm>
            <a:off x="15756246" y="4614860"/>
            <a:ext cx="741970" cy="146658"/>
          </a:xfrm>
          <a:prstGeom prst="roundRect">
            <a:avLst>
              <a:gd name="adj" fmla="val 16886"/>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02" name="Text 94"/>
          <p:cNvSpPr/>
          <p:nvPr/>
        </p:nvSpPr>
        <p:spPr>
          <a:xfrm>
            <a:off x="15871832" y="4623800"/>
            <a:ext cx="510799" cy="190494"/>
          </a:xfrm>
          <a:prstGeom prst="rect">
            <a:avLst/>
          </a:prstGeom>
          <a:noFill/>
          <a:ln/>
        </p:spPr>
        <p:txBody>
          <a:bodyPr wrap="square" lIns="25400" tIns="25400" rIns="25400" bIns="25400" rtlCol="0" anchor="t">
            <a:normAutofit/>
          </a:bodyPr>
          <a:lstStyle/>
          <a:p>
            <a:pPr marL="0" indent="0" algn="ctr">
              <a:lnSpc>
                <a:spcPct val="76800"/>
              </a:lnSpc>
              <a:buNone/>
            </a:pPr>
            <a:r>
              <a:rPr lang="en-US" sz="1050" dirty="0">
                <a:latin typeface="Oracle Sans Tab" pitchFamily="34" charset="0"/>
                <a:ea typeface="Oracle Sans Tab" pitchFamily="34" charset="-122"/>
                <a:cs typeface="Oracle Sans Tab" pitchFamily="34" charset="-120"/>
              </a:rPr>
              <a:t>JSON</a:t>
            </a:r>
            <a:endParaRPr lang="en-US" sz="1050" dirty="0"/>
          </a:p>
        </p:txBody>
      </p:sp>
      <p:sp>
        <p:nvSpPr>
          <p:cNvPr id="103" name="Shape 95"/>
          <p:cNvSpPr/>
          <p:nvPr/>
        </p:nvSpPr>
        <p:spPr>
          <a:xfrm>
            <a:off x="15639097" y="3613784"/>
            <a:ext cx="996270" cy="146658"/>
          </a:xfrm>
          <a:prstGeom prst="roundRect">
            <a:avLst>
              <a:gd name="adj" fmla="val 16886"/>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04" name="Text 96"/>
          <p:cNvSpPr/>
          <p:nvPr/>
        </p:nvSpPr>
        <p:spPr>
          <a:xfrm>
            <a:off x="15754683" y="3622725"/>
            <a:ext cx="765099" cy="190494"/>
          </a:xfrm>
          <a:prstGeom prst="rect">
            <a:avLst/>
          </a:prstGeom>
          <a:noFill/>
          <a:ln/>
        </p:spPr>
        <p:txBody>
          <a:bodyPr wrap="square" lIns="25400" tIns="25400" rIns="25400" bIns="25400" rtlCol="0" anchor="t">
            <a:normAutofit/>
          </a:bodyPr>
          <a:lstStyle/>
          <a:p>
            <a:pPr marL="0" indent="0" algn="ctr">
              <a:lnSpc>
                <a:spcPct val="76800"/>
              </a:lnSpc>
              <a:buNone/>
            </a:pPr>
            <a:r>
              <a:rPr lang="en-US" sz="1050" dirty="0">
                <a:latin typeface="Oracle Sans Tab" pitchFamily="34" charset="0"/>
                <a:ea typeface="Oracle Sans Tab" pitchFamily="34" charset="-122"/>
                <a:cs typeface="Oracle Sans Tab" pitchFamily="34" charset="-120"/>
              </a:rPr>
              <a:t>Relational</a:t>
            </a:r>
            <a:endParaRPr lang="en-US" sz="1050" dirty="0"/>
          </a:p>
        </p:txBody>
      </p:sp>
      <p:sp>
        <p:nvSpPr>
          <p:cNvPr id="105" name="Shape 97"/>
          <p:cNvSpPr/>
          <p:nvPr/>
        </p:nvSpPr>
        <p:spPr>
          <a:xfrm>
            <a:off x="15766685" y="5615936"/>
            <a:ext cx="741970" cy="146658"/>
          </a:xfrm>
          <a:prstGeom prst="roundRect">
            <a:avLst>
              <a:gd name="adj" fmla="val 16886"/>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06" name="Text 98"/>
          <p:cNvSpPr/>
          <p:nvPr/>
        </p:nvSpPr>
        <p:spPr>
          <a:xfrm>
            <a:off x="15882271" y="5624876"/>
            <a:ext cx="510799" cy="190494"/>
          </a:xfrm>
          <a:prstGeom prst="rect">
            <a:avLst/>
          </a:prstGeom>
          <a:noFill/>
          <a:ln/>
        </p:spPr>
        <p:txBody>
          <a:bodyPr wrap="square" lIns="25400" tIns="25400" rIns="25400" bIns="25400" rtlCol="0" anchor="t">
            <a:normAutofit/>
          </a:bodyPr>
          <a:lstStyle/>
          <a:p>
            <a:pPr marL="0" indent="0" algn="ctr">
              <a:lnSpc>
                <a:spcPct val="76800"/>
              </a:lnSpc>
              <a:buNone/>
            </a:pPr>
            <a:r>
              <a:rPr lang="en-US" sz="1050" dirty="0">
                <a:latin typeface="Oracle Sans Tab" pitchFamily="34" charset="0"/>
                <a:ea typeface="Oracle Sans Tab" pitchFamily="34" charset="-122"/>
                <a:cs typeface="Oracle Sans Tab" pitchFamily="34" charset="-120"/>
              </a:rPr>
              <a:t>Spatial</a:t>
            </a:r>
            <a:endParaRPr lang="en-US" sz="1050" dirty="0"/>
          </a:p>
        </p:txBody>
      </p:sp>
      <p:sp>
        <p:nvSpPr>
          <p:cNvPr id="107" name="Shape 99"/>
          <p:cNvSpPr/>
          <p:nvPr/>
        </p:nvSpPr>
        <p:spPr>
          <a:xfrm>
            <a:off x="16328667" y="3280368"/>
            <a:ext cx="356206" cy="16536"/>
          </a:xfrm>
          <a:prstGeom prst="rect">
            <a:avLst/>
          </a:prstGeom>
          <a:solidFill>
            <a:srgbClr val="F0CC71"/>
          </a:solidFill>
          <a:ln/>
        </p:spPr>
        <p:txBody>
          <a:bodyPr/>
          <a:lstStyle/>
          <a:p>
            <a:endParaRPr lang="en-US"/>
          </a:p>
        </p:txBody>
      </p:sp>
      <p:sp>
        <p:nvSpPr>
          <p:cNvPr id="108" name="Shape 100"/>
          <p:cNvSpPr/>
          <p:nvPr/>
        </p:nvSpPr>
        <p:spPr>
          <a:xfrm rot="5400000">
            <a:off x="15772986" y="4177445"/>
            <a:ext cx="1809750" cy="16536"/>
          </a:xfrm>
          <a:prstGeom prst="rect">
            <a:avLst/>
          </a:prstGeom>
          <a:solidFill>
            <a:srgbClr val="F0CC71"/>
          </a:solidFill>
          <a:ln/>
        </p:spPr>
        <p:txBody>
          <a:bodyPr/>
          <a:lstStyle/>
          <a:p>
            <a:endParaRPr lang="en-US"/>
          </a:p>
        </p:txBody>
      </p:sp>
      <p:sp>
        <p:nvSpPr>
          <p:cNvPr id="109" name="Shape 101"/>
          <p:cNvSpPr/>
          <p:nvPr/>
        </p:nvSpPr>
        <p:spPr>
          <a:xfrm>
            <a:off x="16684872" y="5091058"/>
            <a:ext cx="356206" cy="16536"/>
          </a:xfrm>
          <a:prstGeom prst="rect">
            <a:avLst/>
          </a:prstGeom>
          <a:solidFill>
            <a:srgbClr val="F0CC71"/>
          </a:solidFill>
          <a:ln/>
        </p:spPr>
        <p:txBody>
          <a:bodyPr/>
          <a:lstStyle/>
          <a:p>
            <a:endParaRPr lang="en-US"/>
          </a:p>
        </p:txBody>
      </p:sp>
      <p:sp>
        <p:nvSpPr>
          <p:cNvPr id="110" name="Shape 102"/>
          <p:cNvSpPr/>
          <p:nvPr/>
        </p:nvSpPr>
        <p:spPr>
          <a:xfrm>
            <a:off x="16950851" y="5031527"/>
            <a:ext cx="89297" cy="119063"/>
          </a:xfrm>
          <a:prstGeom prst="rect">
            <a:avLst/>
          </a:prstGeom>
          <a:solidFill>
            <a:srgbClr val="F0CC71"/>
          </a:solidFill>
          <a:ln/>
        </p:spPr>
        <p:txBody>
          <a:bodyPr/>
          <a:lstStyle/>
          <a:p>
            <a:endParaRPr lang="en-US"/>
          </a:p>
        </p:txBody>
      </p:sp>
      <p:sp>
        <p:nvSpPr>
          <p:cNvPr id="111" name="Shape 103"/>
          <p:cNvSpPr/>
          <p:nvPr/>
        </p:nvSpPr>
        <p:spPr>
          <a:xfrm rot="10800000">
            <a:off x="16328667" y="3220837"/>
            <a:ext cx="89297" cy="119063"/>
          </a:xfrm>
          <a:prstGeom prst="rect">
            <a:avLst/>
          </a:prstGeom>
          <a:solidFill>
            <a:srgbClr val="F0CC71"/>
          </a:solidFill>
          <a:ln/>
        </p:spPr>
        <p:txBody>
          <a:bodyPr/>
          <a:lstStyle/>
          <a:p>
            <a:endParaRPr lang="en-US"/>
          </a:p>
        </p:txBody>
      </p:sp>
      <p:sp>
        <p:nvSpPr>
          <p:cNvPr id="112" name="Shape 104"/>
          <p:cNvSpPr/>
          <p:nvPr/>
        </p:nvSpPr>
        <p:spPr>
          <a:xfrm>
            <a:off x="16318228" y="4218605"/>
            <a:ext cx="360960" cy="16536"/>
          </a:xfrm>
          <a:prstGeom prst="rect">
            <a:avLst/>
          </a:prstGeom>
          <a:solidFill>
            <a:srgbClr val="F0CC71"/>
          </a:solidFill>
          <a:ln/>
        </p:spPr>
        <p:txBody>
          <a:bodyPr/>
          <a:lstStyle/>
          <a:p>
            <a:endParaRPr lang="en-US"/>
          </a:p>
        </p:txBody>
      </p:sp>
      <p:sp>
        <p:nvSpPr>
          <p:cNvPr id="113" name="Shape 105"/>
          <p:cNvSpPr/>
          <p:nvPr/>
        </p:nvSpPr>
        <p:spPr>
          <a:xfrm rot="5400000">
            <a:off x="16234027" y="4647055"/>
            <a:ext cx="876300" cy="16536"/>
          </a:xfrm>
          <a:prstGeom prst="rect">
            <a:avLst/>
          </a:prstGeom>
          <a:solidFill>
            <a:srgbClr val="F0CC71"/>
          </a:solidFill>
          <a:ln/>
        </p:spPr>
        <p:txBody>
          <a:bodyPr/>
          <a:lstStyle/>
          <a:p>
            <a:endParaRPr lang="en-US"/>
          </a:p>
        </p:txBody>
      </p:sp>
      <p:sp>
        <p:nvSpPr>
          <p:cNvPr id="114" name="Shape 106"/>
          <p:cNvSpPr/>
          <p:nvPr/>
        </p:nvSpPr>
        <p:spPr>
          <a:xfrm>
            <a:off x="16679188" y="5092040"/>
            <a:ext cx="360960" cy="16536"/>
          </a:xfrm>
          <a:prstGeom prst="rect">
            <a:avLst/>
          </a:prstGeom>
          <a:solidFill>
            <a:srgbClr val="F0CC71"/>
          </a:solidFill>
          <a:ln/>
        </p:spPr>
        <p:txBody>
          <a:bodyPr/>
          <a:lstStyle/>
          <a:p>
            <a:endParaRPr lang="en-US"/>
          </a:p>
        </p:txBody>
      </p:sp>
      <p:sp>
        <p:nvSpPr>
          <p:cNvPr id="115" name="Shape 107"/>
          <p:cNvSpPr/>
          <p:nvPr/>
        </p:nvSpPr>
        <p:spPr>
          <a:xfrm>
            <a:off x="16949972" y="5032509"/>
            <a:ext cx="89297" cy="119063"/>
          </a:xfrm>
          <a:prstGeom prst="rect">
            <a:avLst/>
          </a:prstGeom>
          <a:solidFill>
            <a:srgbClr val="F0CC71"/>
          </a:solidFill>
          <a:ln/>
        </p:spPr>
        <p:txBody>
          <a:bodyPr/>
          <a:lstStyle/>
          <a:p>
            <a:endParaRPr lang="en-US"/>
          </a:p>
        </p:txBody>
      </p:sp>
      <p:sp>
        <p:nvSpPr>
          <p:cNvPr id="116" name="Shape 108"/>
          <p:cNvSpPr/>
          <p:nvPr/>
        </p:nvSpPr>
        <p:spPr>
          <a:xfrm rot="10800000">
            <a:off x="16318228" y="4159074"/>
            <a:ext cx="89297" cy="119063"/>
          </a:xfrm>
          <a:prstGeom prst="rect">
            <a:avLst/>
          </a:prstGeom>
          <a:solidFill>
            <a:srgbClr val="F0CC71"/>
          </a:solidFill>
          <a:ln/>
        </p:spPr>
        <p:txBody>
          <a:bodyPr/>
          <a:lstStyle/>
          <a:p>
            <a:endParaRPr lang="en-US"/>
          </a:p>
        </p:txBody>
      </p:sp>
      <p:sp>
        <p:nvSpPr>
          <p:cNvPr id="117" name="Shape 109"/>
          <p:cNvSpPr/>
          <p:nvPr/>
        </p:nvSpPr>
        <p:spPr>
          <a:xfrm rot="10800000">
            <a:off x="16318228" y="5219681"/>
            <a:ext cx="360960" cy="16536"/>
          </a:xfrm>
          <a:prstGeom prst="rect">
            <a:avLst/>
          </a:prstGeom>
          <a:solidFill>
            <a:srgbClr val="F0CC71"/>
          </a:solidFill>
          <a:ln/>
        </p:spPr>
        <p:txBody>
          <a:bodyPr/>
          <a:lstStyle/>
          <a:p>
            <a:endParaRPr lang="en-US"/>
          </a:p>
        </p:txBody>
      </p:sp>
      <p:sp>
        <p:nvSpPr>
          <p:cNvPr id="118" name="Shape 110"/>
          <p:cNvSpPr/>
          <p:nvPr/>
        </p:nvSpPr>
        <p:spPr>
          <a:xfrm rot="5400000">
            <a:off x="16625922" y="5147127"/>
            <a:ext cx="123825" cy="16536"/>
          </a:xfrm>
          <a:prstGeom prst="rect">
            <a:avLst/>
          </a:prstGeom>
          <a:solidFill>
            <a:srgbClr val="F0CC71"/>
          </a:solidFill>
          <a:ln/>
        </p:spPr>
        <p:txBody>
          <a:bodyPr/>
          <a:lstStyle/>
          <a:p>
            <a:endParaRPr lang="en-US"/>
          </a:p>
        </p:txBody>
      </p:sp>
      <p:sp>
        <p:nvSpPr>
          <p:cNvPr id="119" name="Shape 111"/>
          <p:cNvSpPr/>
          <p:nvPr/>
        </p:nvSpPr>
        <p:spPr>
          <a:xfrm rot="10800000">
            <a:off x="16678310" y="5091110"/>
            <a:ext cx="360960" cy="16536"/>
          </a:xfrm>
          <a:prstGeom prst="rect">
            <a:avLst/>
          </a:prstGeom>
          <a:solidFill>
            <a:srgbClr val="F0CC71"/>
          </a:solidFill>
          <a:ln/>
        </p:spPr>
        <p:txBody>
          <a:bodyPr/>
          <a:lstStyle/>
          <a:p>
            <a:endParaRPr lang="en-US"/>
          </a:p>
        </p:txBody>
      </p:sp>
      <p:sp>
        <p:nvSpPr>
          <p:cNvPr id="120" name="Shape 112"/>
          <p:cNvSpPr/>
          <p:nvPr/>
        </p:nvSpPr>
        <p:spPr>
          <a:xfrm rot="10800000">
            <a:off x="16949972" y="5031579"/>
            <a:ext cx="89297" cy="119063"/>
          </a:xfrm>
          <a:prstGeom prst="rect">
            <a:avLst/>
          </a:prstGeom>
          <a:solidFill>
            <a:srgbClr val="F0CC71"/>
          </a:solidFill>
          <a:ln/>
        </p:spPr>
        <p:txBody>
          <a:bodyPr/>
          <a:lstStyle/>
          <a:p>
            <a:endParaRPr lang="en-US"/>
          </a:p>
        </p:txBody>
      </p:sp>
      <p:sp>
        <p:nvSpPr>
          <p:cNvPr id="121" name="Shape 113"/>
          <p:cNvSpPr/>
          <p:nvPr/>
        </p:nvSpPr>
        <p:spPr>
          <a:xfrm>
            <a:off x="16318228" y="5160150"/>
            <a:ext cx="89297" cy="119063"/>
          </a:xfrm>
          <a:prstGeom prst="rect">
            <a:avLst/>
          </a:prstGeom>
          <a:solidFill>
            <a:srgbClr val="F0CC71"/>
          </a:solidFill>
          <a:ln/>
        </p:spPr>
        <p:txBody>
          <a:bodyPr/>
          <a:lstStyle/>
          <a:p>
            <a:endParaRPr lang="en-US"/>
          </a:p>
        </p:txBody>
      </p:sp>
      <p:sp>
        <p:nvSpPr>
          <p:cNvPr id="122" name="Shape 114"/>
          <p:cNvSpPr/>
          <p:nvPr/>
        </p:nvSpPr>
        <p:spPr>
          <a:xfrm rot="10800000">
            <a:off x="16341999" y="6158848"/>
            <a:ext cx="348609" cy="16536"/>
          </a:xfrm>
          <a:prstGeom prst="rect">
            <a:avLst/>
          </a:prstGeom>
          <a:solidFill>
            <a:srgbClr val="F0CC71"/>
          </a:solidFill>
          <a:ln/>
        </p:spPr>
        <p:txBody>
          <a:bodyPr/>
          <a:lstStyle/>
          <a:p>
            <a:endParaRPr lang="en-US"/>
          </a:p>
        </p:txBody>
      </p:sp>
      <p:sp>
        <p:nvSpPr>
          <p:cNvPr id="123" name="Shape 115"/>
          <p:cNvSpPr/>
          <p:nvPr/>
        </p:nvSpPr>
        <p:spPr>
          <a:xfrm rot="5400000">
            <a:off x="16167663" y="5616711"/>
            <a:ext cx="1066800" cy="16536"/>
          </a:xfrm>
          <a:prstGeom prst="rect">
            <a:avLst/>
          </a:prstGeom>
          <a:solidFill>
            <a:srgbClr val="F0CC71"/>
          </a:solidFill>
          <a:ln/>
        </p:spPr>
        <p:txBody>
          <a:bodyPr/>
          <a:lstStyle/>
          <a:p>
            <a:endParaRPr lang="en-US"/>
          </a:p>
        </p:txBody>
      </p:sp>
      <p:sp>
        <p:nvSpPr>
          <p:cNvPr id="124" name="Shape 116"/>
          <p:cNvSpPr/>
          <p:nvPr/>
        </p:nvSpPr>
        <p:spPr>
          <a:xfrm rot="10800000">
            <a:off x="16691538" y="5091110"/>
            <a:ext cx="348609" cy="16536"/>
          </a:xfrm>
          <a:prstGeom prst="rect">
            <a:avLst/>
          </a:prstGeom>
          <a:solidFill>
            <a:srgbClr val="F0CC71"/>
          </a:solidFill>
          <a:ln/>
        </p:spPr>
        <p:txBody>
          <a:bodyPr/>
          <a:lstStyle/>
          <a:p>
            <a:endParaRPr lang="en-US"/>
          </a:p>
        </p:txBody>
      </p:sp>
      <p:sp>
        <p:nvSpPr>
          <p:cNvPr id="125" name="Shape 117"/>
          <p:cNvSpPr/>
          <p:nvPr/>
        </p:nvSpPr>
        <p:spPr>
          <a:xfrm rot="10800000">
            <a:off x="16950851" y="5031579"/>
            <a:ext cx="89297" cy="119063"/>
          </a:xfrm>
          <a:prstGeom prst="rect">
            <a:avLst/>
          </a:prstGeom>
          <a:solidFill>
            <a:srgbClr val="F0CC71"/>
          </a:solidFill>
          <a:ln/>
        </p:spPr>
        <p:txBody>
          <a:bodyPr/>
          <a:lstStyle/>
          <a:p>
            <a:endParaRPr lang="en-US"/>
          </a:p>
        </p:txBody>
      </p:sp>
      <p:sp>
        <p:nvSpPr>
          <p:cNvPr id="126" name="Shape 118"/>
          <p:cNvSpPr/>
          <p:nvPr/>
        </p:nvSpPr>
        <p:spPr>
          <a:xfrm>
            <a:off x="16341999" y="6099317"/>
            <a:ext cx="89297" cy="119063"/>
          </a:xfrm>
          <a:prstGeom prst="rect">
            <a:avLst/>
          </a:prstGeom>
          <a:solidFill>
            <a:srgbClr val="F0CC71"/>
          </a:solidFill>
          <a:ln/>
        </p:spPr>
        <p:txBody>
          <a:bodyPr/>
          <a:lstStyle/>
          <a:p>
            <a:endParaRPr lang="en-US"/>
          </a:p>
        </p:txBody>
      </p:sp>
      <p:sp>
        <p:nvSpPr>
          <p:cNvPr id="127" name="Shape 119"/>
          <p:cNvSpPr/>
          <p:nvPr/>
        </p:nvSpPr>
        <p:spPr>
          <a:xfrm rot="10800000">
            <a:off x="16351559" y="7078017"/>
            <a:ext cx="343803" cy="16536"/>
          </a:xfrm>
          <a:prstGeom prst="rect">
            <a:avLst/>
          </a:prstGeom>
          <a:solidFill>
            <a:srgbClr val="F0CC71"/>
          </a:solidFill>
          <a:ln/>
        </p:spPr>
        <p:txBody>
          <a:bodyPr/>
          <a:lstStyle/>
          <a:p>
            <a:endParaRPr lang="en-US"/>
          </a:p>
        </p:txBody>
      </p:sp>
      <p:sp>
        <p:nvSpPr>
          <p:cNvPr id="128" name="Shape 120"/>
          <p:cNvSpPr/>
          <p:nvPr/>
        </p:nvSpPr>
        <p:spPr>
          <a:xfrm rot="5400000">
            <a:off x="15709577" y="6076295"/>
            <a:ext cx="1990725" cy="16536"/>
          </a:xfrm>
          <a:prstGeom prst="rect">
            <a:avLst/>
          </a:prstGeom>
          <a:solidFill>
            <a:srgbClr val="F0CC71"/>
          </a:solidFill>
          <a:ln/>
        </p:spPr>
        <p:txBody>
          <a:bodyPr/>
          <a:lstStyle/>
          <a:p>
            <a:endParaRPr lang="en-US"/>
          </a:p>
        </p:txBody>
      </p:sp>
      <p:sp>
        <p:nvSpPr>
          <p:cNvPr id="129" name="Shape 121"/>
          <p:cNvSpPr/>
          <p:nvPr/>
        </p:nvSpPr>
        <p:spPr>
          <a:xfrm rot="10800000">
            <a:off x="16695415" y="5091110"/>
            <a:ext cx="343803" cy="16536"/>
          </a:xfrm>
          <a:prstGeom prst="rect">
            <a:avLst/>
          </a:prstGeom>
          <a:solidFill>
            <a:srgbClr val="F0CC71"/>
          </a:solidFill>
          <a:ln/>
        </p:spPr>
        <p:txBody>
          <a:bodyPr/>
          <a:lstStyle/>
          <a:p>
            <a:endParaRPr lang="en-US"/>
          </a:p>
        </p:txBody>
      </p:sp>
      <p:sp>
        <p:nvSpPr>
          <p:cNvPr id="130" name="Shape 122"/>
          <p:cNvSpPr/>
          <p:nvPr/>
        </p:nvSpPr>
        <p:spPr>
          <a:xfrm rot="10800000">
            <a:off x="16949921" y="5031579"/>
            <a:ext cx="89297" cy="119063"/>
          </a:xfrm>
          <a:prstGeom prst="rect">
            <a:avLst/>
          </a:prstGeom>
          <a:solidFill>
            <a:srgbClr val="F0CC71"/>
          </a:solidFill>
          <a:ln/>
        </p:spPr>
        <p:txBody>
          <a:bodyPr/>
          <a:lstStyle/>
          <a:p>
            <a:endParaRPr lang="en-US"/>
          </a:p>
        </p:txBody>
      </p:sp>
      <p:sp>
        <p:nvSpPr>
          <p:cNvPr id="131" name="Shape 123"/>
          <p:cNvSpPr/>
          <p:nvPr/>
        </p:nvSpPr>
        <p:spPr>
          <a:xfrm>
            <a:off x="16351559" y="7018486"/>
            <a:ext cx="89297" cy="119063"/>
          </a:xfrm>
          <a:prstGeom prst="rect">
            <a:avLst/>
          </a:prstGeom>
          <a:solidFill>
            <a:srgbClr val="F0CC71"/>
          </a:solidFill>
          <a:ln/>
        </p:spPr>
        <p:txBody>
          <a:bodyPr/>
          <a:lstStyle/>
          <a:p>
            <a:endParaRPr lang="en-US"/>
          </a:p>
        </p:txBody>
      </p:sp>
      <p:sp>
        <p:nvSpPr>
          <p:cNvPr id="132" name="Shape 124"/>
          <p:cNvSpPr/>
          <p:nvPr/>
        </p:nvSpPr>
        <p:spPr>
          <a:xfrm>
            <a:off x="813387" y="409536"/>
            <a:ext cx="603839" cy="46302"/>
          </a:xfrm>
          <a:prstGeom prst="rect">
            <a:avLst/>
          </a:prstGeom>
          <a:solidFill>
            <a:srgbClr val="C74634"/>
          </a:solidFill>
          <a:ln w="23151">
            <a:solidFill>
              <a:srgbClr val="FD6953"/>
            </a:solidFill>
            <a:prstDash val="solid"/>
          </a:ln>
        </p:spPr>
        <p:txBody>
          <a:bodyPr/>
          <a:lstStyle/>
          <a:p>
            <a:endParaRPr lang="en-US"/>
          </a:p>
        </p:txBody>
      </p:sp>
      <p:sp>
        <p:nvSpPr>
          <p:cNvPr id="133" name="Text 125"/>
          <p:cNvSpPr/>
          <p:nvPr/>
        </p:nvSpPr>
        <p:spPr>
          <a:xfrm>
            <a:off x="813387" y="649521"/>
            <a:ext cx="11301949" cy="381025"/>
          </a:xfrm>
          <a:prstGeom prst="rect">
            <a:avLst/>
          </a:prstGeom>
          <a:noFill/>
          <a:ln/>
        </p:spPr>
        <p:txBody>
          <a:bodyPr wrap="square" lIns="25400" tIns="25400" rIns="25400" bIns="25400" rtlCol="0" anchor="t">
            <a:normAutofit/>
          </a:bodyPr>
          <a:lstStyle/>
          <a:p>
            <a:pPr marL="0" indent="0" algn="l">
              <a:lnSpc>
                <a:spcPct val="92160"/>
              </a:lnSpc>
              <a:buNone/>
            </a:pPr>
            <a:r>
              <a:rPr lang="en-US" sz="2250" b="1" dirty="0">
                <a:solidFill>
                  <a:srgbClr val="FD6953"/>
                </a:solidFill>
                <a:latin typeface="Oracle Sans Tab" pitchFamily="34" charset="0"/>
                <a:ea typeface="Oracle Sans Tab" pitchFamily="34" charset="-122"/>
                <a:cs typeface="Oracle Sans Tab" pitchFamily="34" charset="-120"/>
              </a:rPr>
              <a:t>RAG APPLICATION: DATA INGESTION</a:t>
            </a:r>
            <a:endParaRPr lang="en-US" sz="2250" dirty="0"/>
          </a:p>
        </p:txBody>
      </p:sp>
      <p:sp>
        <p:nvSpPr>
          <p:cNvPr id="134" name="Text 126"/>
          <p:cNvSpPr/>
          <p:nvPr/>
        </p:nvSpPr>
        <p:spPr>
          <a:xfrm>
            <a:off x="813387" y="1218220"/>
            <a:ext cx="16952925" cy="738161"/>
          </a:xfrm>
          <a:prstGeom prst="rect">
            <a:avLst/>
          </a:prstGeom>
          <a:noFill/>
          <a:ln/>
        </p:spPr>
        <p:txBody>
          <a:bodyPr wrap="square" lIns="25400" tIns="25400" rIns="25400" bIns="25400" rtlCol="0" anchor="t">
            <a:normAutofit/>
          </a:bodyPr>
          <a:lstStyle/>
          <a:p>
            <a:pPr marL="0" indent="0" algn="l">
              <a:lnSpc>
                <a:spcPct val="80640"/>
              </a:lnSpc>
              <a:buNone/>
            </a:pPr>
            <a:r>
              <a:rPr lang="en-US" sz="5250" dirty="0">
                <a:solidFill>
                  <a:srgbClr val="FFFFFF"/>
                </a:solidFill>
                <a:latin typeface="Oracle Sans Tab" pitchFamily="34" charset="0"/>
                <a:ea typeface="Oracle Sans Tab" pitchFamily="34" charset="-122"/>
                <a:cs typeface="Oracle Sans Tab" pitchFamily="34" charset="-120"/>
              </a:rPr>
              <a:t>Specialized Systems Require </a:t>
            </a:r>
            <a:r>
              <a:rPr lang="en-US" sz="5250" i="1" dirty="0">
                <a:solidFill>
                  <a:srgbClr val="FD6953"/>
                </a:solidFill>
                <a:latin typeface="Oracle Sans Tab" pitchFamily="34" charset="0"/>
                <a:ea typeface="Oracle Sans Tab" pitchFamily="34" charset="-122"/>
                <a:cs typeface="Oracle Sans Tab" pitchFamily="34" charset="-120"/>
              </a:rPr>
              <a:t>Dedicated Attention</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Shape 0"/>
          <p:cNvSpPr/>
          <p:nvPr/>
        </p:nvSpPr>
        <p:spPr>
          <a:xfrm>
            <a:off x="14284606" y="4895825"/>
            <a:ext cx="802948" cy="26458"/>
          </a:xfrm>
          <a:prstGeom prst="rect">
            <a:avLst/>
          </a:prstGeom>
          <a:solidFill>
            <a:srgbClr val="F0CC71"/>
          </a:solidFill>
          <a:ln/>
        </p:spPr>
        <p:txBody>
          <a:bodyPr/>
          <a:lstStyle/>
          <a:p>
            <a:endParaRPr lang="en-US"/>
          </a:p>
        </p:txBody>
      </p:sp>
      <p:sp>
        <p:nvSpPr>
          <p:cNvPr id="4" name="Shape 1"/>
          <p:cNvSpPr/>
          <p:nvPr/>
        </p:nvSpPr>
        <p:spPr>
          <a:xfrm rot="5400000">
            <a:off x="14913458" y="5044033"/>
            <a:ext cx="323850" cy="26458"/>
          </a:xfrm>
          <a:prstGeom prst="rect">
            <a:avLst/>
          </a:prstGeom>
          <a:solidFill>
            <a:srgbClr val="F0CC71"/>
          </a:solidFill>
          <a:ln/>
        </p:spPr>
        <p:txBody>
          <a:bodyPr/>
          <a:lstStyle/>
          <a:p>
            <a:endParaRPr lang="en-US"/>
          </a:p>
        </p:txBody>
      </p:sp>
      <p:sp>
        <p:nvSpPr>
          <p:cNvPr id="5" name="Shape 2"/>
          <p:cNvSpPr/>
          <p:nvPr/>
        </p:nvSpPr>
        <p:spPr>
          <a:xfrm>
            <a:off x="15087553" y="5218699"/>
            <a:ext cx="802948" cy="26458"/>
          </a:xfrm>
          <a:prstGeom prst="rect">
            <a:avLst/>
          </a:prstGeom>
          <a:solidFill>
            <a:srgbClr val="F0CC71"/>
          </a:solidFill>
          <a:ln/>
        </p:spPr>
        <p:txBody>
          <a:bodyPr/>
          <a:lstStyle/>
          <a:p>
            <a:endParaRPr lang="en-US"/>
          </a:p>
        </p:txBody>
      </p:sp>
      <p:sp>
        <p:nvSpPr>
          <p:cNvPr id="6" name="Shape 3"/>
          <p:cNvSpPr/>
          <p:nvPr/>
        </p:nvSpPr>
        <p:spPr>
          <a:xfrm>
            <a:off x="15753921" y="5129403"/>
            <a:ext cx="135599" cy="178594"/>
          </a:xfrm>
          <a:prstGeom prst="rect">
            <a:avLst/>
          </a:prstGeom>
          <a:solidFill>
            <a:srgbClr val="F0CC71"/>
          </a:solidFill>
          <a:ln/>
        </p:spPr>
        <p:txBody>
          <a:bodyPr/>
          <a:lstStyle/>
          <a:p>
            <a:endParaRPr lang="en-US"/>
          </a:p>
        </p:txBody>
      </p:sp>
      <p:pic>
        <p:nvPicPr>
          <p:cNvPr id="7" name="Image 1" descr="preencoded.png"/>
          <p:cNvPicPr>
            <a:picLocks noChangeAspect="1"/>
          </p:cNvPicPr>
          <p:nvPr/>
        </p:nvPicPr>
        <p:blipFill>
          <a:blip r:embed="rId4"/>
          <a:srcRect t="-31" b="-31"/>
          <a:stretch/>
        </p:blipFill>
        <p:spPr>
          <a:xfrm>
            <a:off x="919117" y="2900340"/>
            <a:ext cx="1613493" cy="2533644"/>
          </a:xfrm>
          <a:prstGeom prst="rect">
            <a:avLst/>
          </a:prstGeom>
        </p:spPr>
      </p:pic>
      <p:pic>
        <p:nvPicPr>
          <p:cNvPr id="8" name="Image 2" descr="preencoded.png"/>
          <p:cNvPicPr>
            <a:picLocks noChangeAspect="1"/>
          </p:cNvPicPr>
          <p:nvPr/>
        </p:nvPicPr>
        <p:blipFill>
          <a:blip r:embed="rId5"/>
          <a:srcRect t="-58" b="-58"/>
          <a:stretch/>
        </p:blipFill>
        <p:spPr>
          <a:xfrm>
            <a:off x="4111893" y="2666969"/>
            <a:ext cx="1123911" cy="834368"/>
          </a:xfrm>
          <a:prstGeom prst="rect">
            <a:avLst/>
          </a:prstGeom>
        </p:spPr>
      </p:pic>
      <p:sp>
        <p:nvSpPr>
          <p:cNvPr id="9" name="Shape 4"/>
          <p:cNvSpPr/>
          <p:nvPr/>
        </p:nvSpPr>
        <p:spPr>
          <a:xfrm>
            <a:off x="3393746" y="3975726"/>
            <a:ext cx="2561239" cy="434289"/>
          </a:xfrm>
          <a:prstGeom prst="roundRect">
            <a:avLst>
              <a:gd name="adj" fmla="val 16669"/>
            </a:avLst>
          </a:prstGeom>
          <a:solidFill>
            <a:srgbClr val="89B2B0"/>
          </a:solidFill>
          <a:ln w="16536">
            <a:solidFill>
              <a:srgbClr val="FFFFFF">
                <a:alpha val="45000"/>
              </a:srgbClr>
            </a:solidFill>
            <a:prstDash val="solid"/>
          </a:ln>
        </p:spPr>
        <p:txBody>
          <a:bodyPr/>
          <a:lstStyle/>
          <a:p>
            <a:endParaRPr lang="en-US"/>
          </a:p>
        </p:txBody>
      </p:sp>
      <p:sp>
        <p:nvSpPr>
          <p:cNvPr id="10" name="Text 5"/>
          <p:cNvSpPr/>
          <p:nvPr/>
        </p:nvSpPr>
        <p:spPr>
          <a:xfrm>
            <a:off x="3509332" y="4040477"/>
            <a:ext cx="2330068" cy="342888"/>
          </a:xfrm>
          <a:prstGeom prst="rect">
            <a:avLst/>
          </a:prstGeom>
          <a:noFill/>
          <a:ln/>
        </p:spPr>
        <p:txBody>
          <a:bodyPr wrap="square" lIns="25400" tIns="25400" rIns="25400" bIns="25400" rtlCol="0" anchor="t">
            <a:normAutofit/>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Data ingested into a Data Processing pipeline</a:t>
            </a:r>
            <a:endParaRPr lang="en-US" sz="1200" dirty="0"/>
          </a:p>
        </p:txBody>
      </p:sp>
      <p:pic>
        <p:nvPicPr>
          <p:cNvPr id="11" name="Image 3" descr="preencoded.png"/>
          <p:cNvPicPr>
            <a:picLocks noChangeAspect="1"/>
          </p:cNvPicPr>
          <p:nvPr/>
        </p:nvPicPr>
        <p:blipFill>
          <a:blip r:embed="rId6"/>
          <a:srcRect l="-15" r="-15"/>
          <a:stretch/>
        </p:blipFill>
        <p:spPr>
          <a:xfrm>
            <a:off x="7957137" y="2983229"/>
            <a:ext cx="1055336" cy="898188"/>
          </a:xfrm>
          <a:prstGeom prst="rect">
            <a:avLst/>
          </a:prstGeom>
        </p:spPr>
      </p:pic>
      <p:sp>
        <p:nvSpPr>
          <p:cNvPr id="12" name="Shape 6"/>
          <p:cNvSpPr/>
          <p:nvPr/>
        </p:nvSpPr>
        <p:spPr>
          <a:xfrm rot="102600">
            <a:off x="2533998" y="4177989"/>
            <a:ext cx="857250" cy="26458"/>
          </a:xfrm>
          <a:prstGeom prst="rect">
            <a:avLst/>
          </a:prstGeom>
          <a:solidFill>
            <a:srgbClr val="F0CC71"/>
          </a:solidFill>
          <a:ln/>
        </p:spPr>
        <p:txBody>
          <a:bodyPr/>
          <a:lstStyle/>
          <a:p>
            <a:endParaRPr lang="en-US"/>
          </a:p>
        </p:txBody>
      </p:sp>
      <p:sp>
        <p:nvSpPr>
          <p:cNvPr id="13" name="Shape 7"/>
          <p:cNvSpPr/>
          <p:nvPr/>
        </p:nvSpPr>
        <p:spPr>
          <a:xfrm rot="102600">
            <a:off x="3259250" y="4099412"/>
            <a:ext cx="135599" cy="180975"/>
          </a:xfrm>
          <a:prstGeom prst="rect">
            <a:avLst/>
          </a:prstGeom>
          <a:solidFill>
            <a:srgbClr val="F0CC71"/>
          </a:solidFill>
          <a:ln/>
        </p:spPr>
        <p:txBody>
          <a:bodyPr/>
          <a:lstStyle/>
          <a:p>
            <a:endParaRPr lang="en-US"/>
          </a:p>
        </p:txBody>
      </p:sp>
      <p:sp>
        <p:nvSpPr>
          <p:cNvPr id="14" name="Shape 8"/>
          <p:cNvSpPr/>
          <p:nvPr/>
        </p:nvSpPr>
        <p:spPr>
          <a:xfrm rot="10800000">
            <a:off x="5359673" y="3707060"/>
            <a:ext cx="1298215" cy="36380"/>
          </a:xfrm>
          <a:prstGeom prst="rect">
            <a:avLst/>
          </a:prstGeom>
          <a:solidFill>
            <a:srgbClr val="F0CC71"/>
          </a:solidFill>
          <a:ln/>
        </p:spPr>
        <p:txBody>
          <a:bodyPr/>
          <a:lstStyle/>
          <a:p>
            <a:endParaRPr lang="en-US"/>
          </a:p>
        </p:txBody>
      </p:sp>
      <p:sp>
        <p:nvSpPr>
          <p:cNvPr id="15" name="Shape 9"/>
          <p:cNvSpPr/>
          <p:nvPr/>
        </p:nvSpPr>
        <p:spPr>
          <a:xfrm rot="5400000">
            <a:off x="6539859" y="3551256"/>
            <a:ext cx="276225" cy="36380"/>
          </a:xfrm>
          <a:prstGeom prst="rect">
            <a:avLst/>
          </a:prstGeom>
          <a:solidFill>
            <a:srgbClr val="F0CC71"/>
          </a:solidFill>
          <a:ln/>
        </p:spPr>
        <p:txBody>
          <a:bodyPr/>
          <a:lstStyle/>
          <a:p>
            <a:endParaRPr lang="en-US"/>
          </a:p>
        </p:txBody>
      </p:sp>
      <p:sp>
        <p:nvSpPr>
          <p:cNvPr id="16" name="Shape 10"/>
          <p:cNvSpPr/>
          <p:nvPr/>
        </p:nvSpPr>
        <p:spPr>
          <a:xfrm rot="10800000">
            <a:off x="6658921" y="3431832"/>
            <a:ext cx="1298215" cy="36380"/>
          </a:xfrm>
          <a:prstGeom prst="rect">
            <a:avLst/>
          </a:prstGeom>
          <a:solidFill>
            <a:srgbClr val="F0CC71"/>
          </a:solidFill>
          <a:ln/>
        </p:spPr>
        <p:txBody>
          <a:bodyPr/>
          <a:lstStyle/>
          <a:p>
            <a:endParaRPr lang="en-US"/>
          </a:p>
        </p:txBody>
      </p:sp>
      <p:sp>
        <p:nvSpPr>
          <p:cNvPr id="17" name="Shape 11"/>
          <p:cNvSpPr/>
          <p:nvPr/>
        </p:nvSpPr>
        <p:spPr>
          <a:xfrm rot="10800000">
            <a:off x="7775236" y="3312769"/>
            <a:ext cx="181901" cy="238125"/>
          </a:xfrm>
          <a:prstGeom prst="rect">
            <a:avLst/>
          </a:prstGeom>
          <a:solidFill>
            <a:srgbClr val="F0CC71"/>
          </a:solidFill>
          <a:ln/>
        </p:spPr>
        <p:txBody>
          <a:bodyPr/>
          <a:lstStyle/>
          <a:p>
            <a:endParaRPr lang="en-US"/>
          </a:p>
        </p:txBody>
      </p:sp>
      <p:pic>
        <p:nvPicPr>
          <p:cNvPr id="18" name="Image 4" descr="preencoded.png"/>
          <p:cNvPicPr>
            <a:picLocks noChangeAspect="1"/>
          </p:cNvPicPr>
          <p:nvPr/>
        </p:nvPicPr>
        <p:blipFill>
          <a:blip r:embed="rId7"/>
          <a:srcRect l="-175" r="-175"/>
          <a:stretch/>
        </p:blipFill>
        <p:spPr>
          <a:xfrm>
            <a:off x="8152422" y="5667354"/>
            <a:ext cx="741970" cy="594331"/>
          </a:xfrm>
          <a:prstGeom prst="rect">
            <a:avLst/>
          </a:prstGeom>
        </p:spPr>
      </p:pic>
      <p:sp>
        <p:nvSpPr>
          <p:cNvPr id="19" name="Shape 12"/>
          <p:cNvSpPr/>
          <p:nvPr/>
        </p:nvSpPr>
        <p:spPr>
          <a:xfrm rot="5325000">
            <a:off x="7596819" y="4761209"/>
            <a:ext cx="1790700" cy="26458"/>
          </a:xfrm>
          <a:prstGeom prst="rect">
            <a:avLst/>
          </a:prstGeom>
          <a:solidFill>
            <a:srgbClr val="F0CC71"/>
          </a:solidFill>
          <a:ln/>
        </p:spPr>
        <p:txBody>
          <a:bodyPr/>
          <a:lstStyle/>
          <a:p>
            <a:endParaRPr lang="en-US"/>
          </a:p>
        </p:txBody>
      </p:sp>
      <p:sp>
        <p:nvSpPr>
          <p:cNvPr id="20" name="Shape 13"/>
          <p:cNvSpPr/>
          <p:nvPr/>
        </p:nvSpPr>
        <p:spPr>
          <a:xfrm rot="5325000">
            <a:off x="8454619" y="5510207"/>
            <a:ext cx="135599" cy="180975"/>
          </a:xfrm>
          <a:prstGeom prst="rect">
            <a:avLst/>
          </a:prstGeom>
          <a:solidFill>
            <a:srgbClr val="F0CC71"/>
          </a:solidFill>
          <a:ln/>
        </p:spPr>
        <p:txBody>
          <a:bodyPr/>
          <a:lstStyle/>
          <a:p>
            <a:endParaRPr lang="en-US"/>
          </a:p>
        </p:txBody>
      </p:sp>
      <p:sp>
        <p:nvSpPr>
          <p:cNvPr id="23" name="Shape 16"/>
          <p:cNvSpPr/>
          <p:nvPr/>
        </p:nvSpPr>
        <p:spPr>
          <a:xfrm>
            <a:off x="7637105" y="6295998"/>
            <a:ext cx="1772553" cy="282877"/>
          </a:xfrm>
          <a:prstGeom prst="roundRect">
            <a:avLst>
              <a:gd name="adj" fmla="val 16836"/>
            </a:avLst>
          </a:prstGeom>
          <a:solidFill>
            <a:srgbClr val="0B5060"/>
          </a:solidFill>
          <a:ln w="13229">
            <a:solidFill>
              <a:srgbClr val="F0CC71"/>
            </a:solidFill>
            <a:prstDash val="solid"/>
          </a:ln>
        </p:spPr>
        <p:txBody>
          <a:bodyPr/>
          <a:lstStyle/>
          <a:p>
            <a:endParaRPr lang="en-US"/>
          </a:p>
        </p:txBody>
      </p:sp>
      <p:sp>
        <p:nvSpPr>
          <p:cNvPr id="24" name="Text 17"/>
          <p:cNvSpPr/>
          <p:nvPr/>
        </p:nvSpPr>
        <p:spPr>
          <a:xfrm>
            <a:off x="7713893" y="6361265"/>
            <a:ext cx="1618976"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FFFFFF"/>
                </a:solidFill>
                <a:latin typeface="Oracle Sans Tab" pitchFamily="34" charset="0"/>
                <a:ea typeface="Oracle Sans Tab" pitchFamily="34" charset="-122"/>
                <a:cs typeface="Oracle Sans Tab" pitchFamily="34" charset="-120"/>
              </a:rPr>
              <a:t>Embedding Model</a:t>
            </a:r>
            <a:endParaRPr lang="en-US" sz="1200" dirty="0"/>
          </a:p>
        </p:txBody>
      </p:sp>
      <p:pic>
        <p:nvPicPr>
          <p:cNvPr id="25" name="Image 5" descr="preencoded.png"/>
          <p:cNvPicPr>
            <a:picLocks noChangeAspect="1"/>
          </p:cNvPicPr>
          <p:nvPr/>
        </p:nvPicPr>
        <p:blipFill>
          <a:blip r:embed="rId8"/>
          <a:srcRect t="-101" b="-101"/>
          <a:stretch/>
        </p:blipFill>
        <p:spPr>
          <a:xfrm>
            <a:off x="11703368" y="5606376"/>
            <a:ext cx="2517417" cy="762951"/>
          </a:xfrm>
          <a:prstGeom prst="rect">
            <a:avLst/>
          </a:prstGeom>
        </p:spPr>
      </p:pic>
      <p:sp>
        <p:nvSpPr>
          <p:cNvPr id="26" name="Shape 18"/>
          <p:cNvSpPr/>
          <p:nvPr/>
        </p:nvSpPr>
        <p:spPr>
          <a:xfrm>
            <a:off x="11613813" y="2891761"/>
            <a:ext cx="2696476" cy="1246797"/>
          </a:xfrm>
          <a:prstGeom prst="rect">
            <a:avLst/>
          </a:prstGeom>
          <a:ln w="16536">
            <a:solidFill>
              <a:srgbClr val="FFFFFF">
                <a:alpha val="45000"/>
              </a:srgbClr>
            </a:solidFill>
            <a:prstDash val="dash"/>
          </a:ln>
        </p:spPr>
        <p:txBody>
          <a:bodyPr/>
          <a:lstStyle/>
          <a:p>
            <a:endParaRPr lang="en-US"/>
          </a:p>
        </p:txBody>
      </p:sp>
      <p:sp>
        <p:nvSpPr>
          <p:cNvPr id="27" name="Text 19"/>
          <p:cNvSpPr/>
          <p:nvPr/>
        </p:nvSpPr>
        <p:spPr>
          <a:xfrm>
            <a:off x="11767498" y="2976872"/>
            <a:ext cx="2465305" cy="952256"/>
          </a:xfrm>
          <a:prstGeom prst="rect">
            <a:avLst/>
          </a:prstGeom>
          <a:noFill/>
          <a:ln/>
        </p:spPr>
        <p:txBody>
          <a:bodyPr wrap="square" lIns="25400" tIns="25400" rIns="25400" bIns="25400" rtlCol="0" anchor="t">
            <a:normAutofit/>
          </a:bodyPr>
          <a:lstStyle/>
          <a:p>
            <a:pPr marL="0" indent="0" algn="l">
              <a:lnSpc>
                <a:spcPct val="92160"/>
              </a:lnSpc>
              <a:buNone/>
            </a:pPr>
            <a:r>
              <a:rPr lang="en-US" sz="1200" i="1" dirty="0">
                <a:solidFill>
                  <a:srgbClr val="FFFFFF"/>
                </a:solidFill>
                <a:latin typeface="Oracle Sans Tab" pitchFamily="34" charset="0"/>
                <a:ea typeface="Oracle Sans Tab" pitchFamily="34" charset="-122"/>
                <a:cs typeface="Oracle Sans Tab" pitchFamily="34" charset="-120"/>
              </a:rPr>
              <a:t>"We find that retrieval-augmented generation significantly reduces hallucin…all Questions benchmark when using contriver-based retrieval."</a:t>
            </a:r>
            <a:endParaRPr lang="en-US" sz="1200" dirty="0"/>
          </a:p>
        </p:txBody>
      </p:sp>
      <p:sp>
        <p:nvSpPr>
          <p:cNvPr id="28" name="Shape 20"/>
          <p:cNvSpPr/>
          <p:nvPr/>
        </p:nvSpPr>
        <p:spPr>
          <a:xfrm>
            <a:off x="11687141" y="4341492"/>
            <a:ext cx="2597464" cy="1108666"/>
          </a:xfrm>
          <a:prstGeom prst="rect">
            <a:avLst/>
          </a:prstGeom>
          <a:ln w="13229">
            <a:solidFill>
              <a:srgbClr val="FFFFFF">
                <a:alpha val="45000"/>
              </a:srgbClr>
            </a:solidFill>
            <a:prstDash val="dash"/>
          </a:ln>
        </p:spPr>
        <p:txBody>
          <a:bodyPr/>
          <a:lstStyle/>
          <a:p>
            <a:endParaRPr lang="en-US"/>
          </a:p>
        </p:txBody>
      </p:sp>
      <p:sp>
        <p:nvSpPr>
          <p:cNvPr id="29" name="Text 21"/>
          <p:cNvSpPr/>
          <p:nvPr/>
        </p:nvSpPr>
        <p:spPr>
          <a:xfrm>
            <a:off x="11837520" y="4423296"/>
            <a:ext cx="2372907" cy="1135087"/>
          </a:xfrm>
          <a:prstGeom prst="rect">
            <a:avLst/>
          </a:prstGeom>
          <a:noFill/>
          <a:ln/>
        </p:spPr>
        <p:txBody>
          <a:bodyPr wrap="square" lIns="25400" tIns="25400" rIns="25400" bIns="25400" rtlCol="0" anchor="t">
            <a:normAutofit/>
          </a:bodyPr>
          <a:lstStyle/>
          <a:p>
            <a:pPr marL="0" indent="0" algn="l">
              <a:lnSpc>
                <a:spcPct val="92160"/>
              </a:lnSpc>
              <a:buNone/>
            </a:pP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paper_id</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86B596"/>
                </a:solidFill>
                <a:latin typeface="Oracle Sans Tab" pitchFamily="34" charset="0"/>
                <a:ea typeface="Oracle Sans Tab" pitchFamily="34" charset="-122"/>
                <a:cs typeface="Oracle Sans Tab" pitchFamily="34" charset="-120"/>
              </a:rPr>
              <a:t>2312.10997</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title </a:t>
            </a:r>
            <a:r>
              <a:rPr lang="en-US" sz="1050" i="1" dirty="0">
                <a:solidFill>
                  <a:srgbClr val="FFFFFF"/>
                </a:solidFill>
                <a:latin typeface="Oracle Sans Tab" pitchFamily="34" charset="0"/>
                <a:ea typeface="Oracle Sans Tab" pitchFamily="34" charset="-122"/>
                <a:cs typeface="Oracle Sans Tab" pitchFamily="34" charset="-120"/>
              </a:rPr>
              <a:t>": " </a:t>
            </a:r>
            <a:r>
              <a:rPr lang="en-US" sz="1050" i="1" dirty="0">
                <a:solidFill>
                  <a:srgbClr val="86B596"/>
                </a:solidFill>
                <a:latin typeface="Oracle Sans Tab" pitchFamily="34" charset="0"/>
                <a:ea typeface="Oracle Sans Tab" pitchFamily="34" charset="-122"/>
                <a:cs typeface="Oracle Sans Tab" pitchFamily="34" charset="-120"/>
              </a:rPr>
              <a:t>Benchmarking RAG for Factual Consistency </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authors</a:t>
            </a:r>
            <a:r>
              <a:rPr lang="en-US" sz="1050" i="1" dirty="0">
                <a:solidFill>
                  <a:srgbClr val="FFFFFF"/>
                </a:solidFill>
                <a:latin typeface="Oracle Sans Tab" pitchFamily="34" charset="0"/>
                <a:ea typeface="Oracle Sans Tab" pitchFamily="34" charset="-122"/>
                <a:cs typeface="Oracle Sans Tab" pitchFamily="34" charset="-120"/>
              </a:rPr>
              <a:t>": [" </a:t>
            </a:r>
            <a:r>
              <a:rPr lang="en-US" sz="1050" i="1" dirty="0">
                <a:solidFill>
                  <a:srgbClr val="86B596"/>
                </a:solidFill>
                <a:latin typeface="Oracle Sans Tab" pitchFamily="34" charset="0"/>
                <a:ea typeface="Oracle Sans Tab" pitchFamily="34" charset="-122"/>
                <a:cs typeface="Oracle Sans Tab" pitchFamily="34" charset="-120"/>
              </a:rPr>
              <a:t>Chen, Wei", "Patel, Anika", "Yamamoto, Kenji" </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section </a:t>
            </a:r>
            <a:r>
              <a:rPr lang="en-US" sz="1050" i="1" dirty="0">
                <a:solidFill>
                  <a:srgbClr val="FFFFFF"/>
                </a:solidFill>
                <a:latin typeface="Oracle Sans Tab" pitchFamily="34" charset="0"/>
                <a:ea typeface="Oracle Sans Tab" pitchFamily="34" charset="-122"/>
                <a:cs typeface="Oracle Sans Tab" pitchFamily="34" charset="-120"/>
              </a:rPr>
              <a:t>": " </a:t>
            </a:r>
            <a:r>
              <a:rPr lang="en-US" sz="1050" i="1" dirty="0">
                <a:solidFill>
                  <a:srgbClr val="86B596"/>
                </a:solidFill>
                <a:latin typeface="Oracle Sans Tab" pitchFamily="34" charset="0"/>
                <a:ea typeface="Oracle Sans Tab" pitchFamily="34" charset="-122"/>
                <a:cs typeface="Oracle Sans Tab" pitchFamily="34" charset="-120"/>
              </a:rPr>
              <a:t>Results</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page</a:t>
            </a:r>
            <a:r>
              <a:rPr lang="en-US" sz="1050" i="1" dirty="0">
                <a:solidFill>
                  <a:srgbClr val="FFFFFF"/>
                </a:solidFill>
                <a:latin typeface="Oracle Sans Tab" pitchFamily="34" charset="0"/>
                <a:ea typeface="Oracle Sans Tab" pitchFamily="34" charset="-122"/>
                <a:cs typeface="Oracle Sans Tab" pitchFamily="34" charset="-120"/>
              </a:rPr>
              <a:t>":</a:t>
            </a:r>
            <a:r>
              <a:rPr lang="en-US" sz="1050" i="1" dirty="0">
                <a:solidFill>
                  <a:srgbClr val="86B596"/>
                </a:solidFill>
                <a:latin typeface="Oracle Sans Tab" pitchFamily="34" charset="0"/>
                <a:ea typeface="Oracle Sans Tab" pitchFamily="34" charset="-122"/>
                <a:cs typeface="Oracle Sans Tab" pitchFamily="34" charset="-120"/>
              </a:rPr>
              <a:t>7</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chunk_index</a:t>
            </a:r>
            <a:r>
              <a:rPr lang="en-US" sz="1050" i="1" dirty="0">
                <a:solidFill>
                  <a:srgbClr val="FFFFFF"/>
                </a:solidFill>
                <a:latin typeface="Oracle Sans Tab" pitchFamily="34" charset="0"/>
                <a:ea typeface="Oracle Sans Tab" pitchFamily="34" charset="-122"/>
                <a:cs typeface="Oracle Sans Tab" pitchFamily="34" charset="-120"/>
              </a:rPr>
              <a:t>":</a:t>
            </a:r>
            <a:r>
              <a:rPr lang="en-US" sz="1050" i="1" dirty="0">
                <a:solidFill>
                  <a:srgbClr val="86B596"/>
                </a:solidFill>
                <a:latin typeface="Oracle Sans Tab" pitchFamily="34" charset="0"/>
                <a:ea typeface="Oracle Sans Tab" pitchFamily="34" charset="-122"/>
                <a:cs typeface="Oracle Sans Tab" pitchFamily="34" charset="-120"/>
              </a:rPr>
              <a:t>42</a:t>
            </a:r>
            <a:r>
              <a:rPr lang="en-US" sz="1050" i="1" dirty="0">
                <a:solidFill>
                  <a:srgbClr val="FFFFFF"/>
                </a:solidFill>
                <a:latin typeface="Oracle Sans Tab" pitchFamily="34" charset="0"/>
                <a:ea typeface="Oracle Sans Tab" pitchFamily="34" charset="-122"/>
                <a:cs typeface="Oracle Sans Tab" pitchFamily="34" charset="-120"/>
              </a:rPr>
              <a:t>}</a:t>
            </a:r>
            <a:endParaRPr lang="en-US" sz="1200" dirty="0"/>
          </a:p>
        </p:txBody>
      </p:sp>
      <p:sp>
        <p:nvSpPr>
          <p:cNvPr id="30" name="Shape 22"/>
          <p:cNvSpPr/>
          <p:nvPr/>
        </p:nvSpPr>
        <p:spPr>
          <a:xfrm>
            <a:off x="8894444" y="5964545"/>
            <a:ext cx="1403945" cy="36380"/>
          </a:xfrm>
          <a:prstGeom prst="rect">
            <a:avLst/>
          </a:prstGeom>
          <a:solidFill>
            <a:srgbClr val="F0CC71"/>
          </a:solidFill>
          <a:ln/>
        </p:spPr>
        <p:txBody>
          <a:bodyPr/>
          <a:lstStyle/>
          <a:p>
            <a:endParaRPr lang="en-US"/>
          </a:p>
        </p:txBody>
      </p:sp>
      <p:sp>
        <p:nvSpPr>
          <p:cNvPr id="31" name="Shape 23"/>
          <p:cNvSpPr/>
          <p:nvPr/>
        </p:nvSpPr>
        <p:spPr>
          <a:xfrm rot="5400000">
            <a:off x="10266771" y="5958732"/>
            <a:ext cx="28575" cy="36380"/>
          </a:xfrm>
          <a:prstGeom prst="rect">
            <a:avLst/>
          </a:prstGeom>
          <a:solidFill>
            <a:srgbClr val="F0CC71"/>
          </a:solidFill>
          <a:ln/>
        </p:spPr>
        <p:txBody>
          <a:bodyPr/>
          <a:lstStyle/>
          <a:p>
            <a:endParaRPr lang="en-US"/>
          </a:p>
        </p:txBody>
      </p:sp>
      <p:sp>
        <p:nvSpPr>
          <p:cNvPr id="32" name="Shape 24"/>
          <p:cNvSpPr/>
          <p:nvPr/>
        </p:nvSpPr>
        <p:spPr>
          <a:xfrm>
            <a:off x="10298389" y="5989298"/>
            <a:ext cx="1403945" cy="36380"/>
          </a:xfrm>
          <a:prstGeom prst="rect">
            <a:avLst/>
          </a:prstGeom>
          <a:solidFill>
            <a:srgbClr val="F0CC71"/>
          </a:solidFill>
          <a:ln/>
        </p:spPr>
        <p:txBody>
          <a:bodyPr/>
          <a:lstStyle/>
          <a:p>
            <a:endParaRPr lang="en-US"/>
          </a:p>
        </p:txBody>
      </p:sp>
      <p:sp>
        <p:nvSpPr>
          <p:cNvPr id="33" name="Shape 25"/>
          <p:cNvSpPr/>
          <p:nvPr/>
        </p:nvSpPr>
        <p:spPr>
          <a:xfrm>
            <a:off x="11521415" y="5870236"/>
            <a:ext cx="181901" cy="238125"/>
          </a:xfrm>
          <a:prstGeom prst="rect">
            <a:avLst/>
          </a:prstGeom>
          <a:solidFill>
            <a:srgbClr val="F0CC71"/>
          </a:solidFill>
          <a:ln/>
        </p:spPr>
        <p:txBody>
          <a:bodyPr/>
          <a:lstStyle/>
          <a:p>
            <a:endParaRPr lang="en-US"/>
          </a:p>
        </p:txBody>
      </p:sp>
      <p:sp>
        <p:nvSpPr>
          <p:cNvPr id="34" name="Shape 26"/>
          <p:cNvSpPr/>
          <p:nvPr/>
        </p:nvSpPr>
        <p:spPr>
          <a:xfrm>
            <a:off x="9012524" y="3431832"/>
            <a:ext cx="1301109" cy="36380"/>
          </a:xfrm>
          <a:prstGeom prst="rect">
            <a:avLst/>
          </a:prstGeom>
          <a:solidFill>
            <a:srgbClr val="F0CC71"/>
          </a:solidFill>
          <a:ln/>
        </p:spPr>
        <p:txBody>
          <a:bodyPr/>
          <a:lstStyle/>
          <a:p>
            <a:endParaRPr lang="en-US"/>
          </a:p>
        </p:txBody>
      </p:sp>
      <p:sp>
        <p:nvSpPr>
          <p:cNvPr id="35" name="Shape 27"/>
          <p:cNvSpPr/>
          <p:nvPr/>
        </p:nvSpPr>
        <p:spPr>
          <a:xfrm rot="5400000">
            <a:off x="10253440" y="3455060"/>
            <a:ext cx="85725" cy="36380"/>
          </a:xfrm>
          <a:prstGeom prst="rect">
            <a:avLst/>
          </a:prstGeom>
          <a:solidFill>
            <a:srgbClr val="F0CC71"/>
          </a:solidFill>
          <a:ln/>
        </p:spPr>
        <p:txBody>
          <a:bodyPr/>
          <a:lstStyle/>
          <a:p>
            <a:endParaRPr lang="en-US"/>
          </a:p>
        </p:txBody>
      </p:sp>
      <p:sp>
        <p:nvSpPr>
          <p:cNvPr id="36" name="Shape 28"/>
          <p:cNvSpPr/>
          <p:nvPr/>
        </p:nvSpPr>
        <p:spPr>
          <a:xfrm>
            <a:off x="10313633" y="3514669"/>
            <a:ext cx="1301109" cy="36380"/>
          </a:xfrm>
          <a:prstGeom prst="rect">
            <a:avLst/>
          </a:prstGeom>
          <a:solidFill>
            <a:srgbClr val="F0CC71"/>
          </a:solidFill>
          <a:ln/>
        </p:spPr>
        <p:txBody>
          <a:bodyPr/>
          <a:lstStyle/>
          <a:p>
            <a:endParaRPr lang="en-US"/>
          </a:p>
        </p:txBody>
      </p:sp>
      <p:sp>
        <p:nvSpPr>
          <p:cNvPr id="37" name="Shape 29"/>
          <p:cNvSpPr/>
          <p:nvPr/>
        </p:nvSpPr>
        <p:spPr>
          <a:xfrm>
            <a:off x="11431860" y="3395607"/>
            <a:ext cx="181901" cy="238125"/>
          </a:xfrm>
          <a:prstGeom prst="rect">
            <a:avLst/>
          </a:prstGeom>
          <a:solidFill>
            <a:srgbClr val="F0CC71"/>
          </a:solidFill>
          <a:ln/>
        </p:spPr>
        <p:txBody>
          <a:bodyPr/>
          <a:lstStyle/>
          <a:p>
            <a:endParaRPr lang="en-US"/>
          </a:p>
        </p:txBody>
      </p:sp>
      <p:sp>
        <p:nvSpPr>
          <p:cNvPr id="38" name="Shape 30"/>
          <p:cNvSpPr/>
          <p:nvPr/>
        </p:nvSpPr>
        <p:spPr>
          <a:xfrm>
            <a:off x="9012524" y="3431832"/>
            <a:ext cx="1337283" cy="36380"/>
          </a:xfrm>
          <a:prstGeom prst="rect">
            <a:avLst/>
          </a:prstGeom>
          <a:solidFill>
            <a:srgbClr val="F0CC71"/>
          </a:solidFill>
          <a:ln/>
        </p:spPr>
        <p:txBody>
          <a:bodyPr/>
          <a:lstStyle/>
          <a:p>
            <a:endParaRPr lang="en-US"/>
          </a:p>
        </p:txBody>
      </p:sp>
      <p:sp>
        <p:nvSpPr>
          <p:cNvPr id="39" name="Shape 31"/>
          <p:cNvSpPr/>
          <p:nvPr/>
        </p:nvSpPr>
        <p:spPr>
          <a:xfrm rot="5400000">
            <a:off x="9599052" y="4145613"/>
            <a:ext cx="1466850" cy="36380"/>
          </a:xfrm>
          <a:prstGeom prst="rect">
            <a:avLst/>
          </a:prstGeom>
          <a:solidFill>
            <a:srgbClr val="F0CC71"/>
          </a:solidFill>
          <a:ln/>
        </p:spPr>
        <p:txBody>
          <a:bodyPr/>
          <a:lstStyle/>
          <a:p>
            <a:endParaRPr lang="en-US"/>
          </a:p>
        </p:txBody>
      </p:sp>
      <p:sp>
        <p:nvSpPr>
          <p:cNvPr id="40" name="Shape 32"/>
          <p:cNvSpPr/>
          <p:nvPr/>
        </p:nvSpPr>
        <p:spPr>
          <a:xfrm>
            <a:off x="10349807" y="4895773"/>
            <a:ext cx="1337283" cy="36380"/>
          </a:xfrm>
          <a:prstGeom prst="rect">
            <a:avLst/>
          </a:prstGeom>
          <a:solidFill>
            <a:srgbClr val="F0CC71"/>
          </a:solidFill>
          <a:ln/>
        </p:spPr>
        <p:txBody>
          <a:bodyPr/>
          <a:lstStyle/>
          <a:p>
            <a:endParaRPr lang="en-US"/>
          </a:p>
        </p:txBody>
      </p:sp>
      <p:sp>
        <p:nvSpPr>
          <p:cNvPr id="41" name="Shape 33"/>
          <p:cNvSpPr/>
          <p:nvPr/>
        </p:nvSpPr>
        <p:spPr>
          <a:xfrm>
            <a:off x="11505241" y="4776711"/>
            <a:ext cx="181901" cy="238125"/>
          </a:xfrm>
          <a:prstGeom prst="rect">
            <a:avLst/>
          </a:prstGeom>
          <a:solidFill>
            <a:srgbClr val="F0CC71"/>
          </a:solidFill>
          <a:ln/>
        </p:spPr>
        <p:txBody>
          <a:bodyPr/>
          <a:lstStyle/>
          <a:p>
            <a:endParaRPr lang="en-US"/>
          </a:p>
        </p:txBody>
      </p:sp>
      <p:sp>
        <p:nvSpPr>
          <p:cNvPr id="42" name="Shape 34"/>
          <p:cNvSpPr/>
          <p:nvPr/>
        </p:nvSpPr>
        <p:spPr>
          <a:xfrm rot="10800000">
            <a:off x="14284606" y="4895825"/>
            <a:ext cx="802948" cy="26458"/>
          </a:xfrm>
          <a:prstGeom prst="rect">
            <a:avLst/>
          </a:prstGeom>
          <a:solidFill>
            <a:srgbClr val="F0CC71"/>
          </a:solidFill>
          <a:ln/>
        </p:spPr>
        <p:txBody>
          <a:bodyPr/>
          <a:lstStyle/>
          <a:p>
            <a:endParaRPr lang="en-US"/>
          </a:p>
        </p:txBody>
      </p:sp>
      <p:sp>
        <p:nvSpPr>
          <p:cNvPr id="43" name="Shape 35"/>
          <p:cNvSpPr/>
          <p:nvPr/>
        </p:nvSpPr>
        <p:spPr>
          <a:xfrm rot="5400000">
            <a:off x="14762722" y="4543986"/>
            <a:ext cx="676275" cy="26458"/>
          </a:xfrm>
          <a:prstGeom prst="rect">
            <a:avLst/>
          </a:prstGeom>
          <a:solidFill>
            <a:srgbClr val="F0CC71"/>
          </a:solidFill>
          <a:ln/>
        </p:spPr>
        <p:txBody>
          <a:bodyPr/>
          <a:lstStyle/>
          <a:p>
            <a:endParaRPr lang="en-US"/>
          </a:p>
        </p:txBody>
      </p:sp>
      <p:sp>
        <p:nvSpPr>
          <p:cNvPr id="44" name="Shape 36"/>
          <p:cNvSpPr/>
          <p:nvPr/>
        </p:nvSpPr>
        <p:spPr>
          <a:xfrm rot="10800000">
            <a:off x="15086572" y="4218605"/>
            <a:ext cx="802948" cy="26458"/>
          </a:xfrm>
          <a:prstGeom prst="rect">
            <a:avLst/>
          </a:prstGeom>
          <a:solidFill>
            <a:srgbClr val="F0CC71"/>
          </a:solidFill>
          <a:ln/>
        </p:spPr>
        <p:txBody>
          <a:bodyPr/>
          <a:lstStyle/>
          <a:p>
            <a:endParaRPr lang="en-US"/>
          </a:p>
        </p:txBody>
      </p:sp>
      <p:sp>
        <p:nvSpPr>
          <p:cNvPr id="45" name="Shape 37"/>
          <p:cNvSpPr/>
          <p:nvPr/>
        </p:nvSpPr>
        <p:spPr>
          <a:xfrm rot="10800000">
            <a:off x="15753921" y="4129308"/>
            <a:ext cx="135599" cy="178594"/>
          </a:xfrm>
          <a:prstGeom prst="rect">
            <a:avLst/>
          </a:prstGeom>
          <a:solidFill>
            <a:srgbClr val="F0CC71"/>
          </a:solidFill>
          <a:ln/>
        </p:spPr>
        <p:txBody>
          <a:bodyPr/>
          <a:lstStyle/>
          <a:p>
            <a:endParaRPr lang="en-US"/>
          </a:p>
        </p:txBody>
      </p:sp>
      <p:sp>
        <p:nvSpPr>
          <p:cNvPr id="46" name="Shape 38"/>
          <p:cNvSpPr/>
          <p:nvPr/>
        </p:nvSpPr>
        <p:spPr>
          <a:xfrm rot="10800000">
            <a:off x="14310340" y="3515599"/>
            <a:ext cx="795300" cy="26458"/>
          </a:xfrm>
          <a:prstGeom prst="rect">
            <a:avLst/>
          </a:prstGeom>
          <a:solidFill>
            <a:srgbClr val="F0CC71"/>
          </a:solidFill>
          <a:ln/>
        </p:spPr>
        <p:txBody>
          <a:bodyPr/>
          <a:lstStyle/>
          <a:p>
            <a:endParaRPr lang="en-US"/>
          </a:p>
        </p:txBody>
      </p:sp>
      <p:sp>
        <p:nvSpPr>
          <p:cNvPr id="47" name="Shape 39"/>
          <p:cNvSpPr/>
          <p:nvPr/>
        </p:nvSpPr>
        <p:spPr>
          <a:xfrm rot="5400000">
            <a:off x="14999987" y="3384754"/>
            <a:ext cx="238125" cy="26458"/>
          </a:xfrm>
          <a:prstGeom prst="rect">
            <a:avLst/>
          </a:prstGeom>
          <a:solidFill>
            <a:srgbClr val="F0CC71"/>
          </a:solidFill>
          <a:ln/>
        </p:spPr>
        <p:txBody>
          <a:bodyPr/>
          <a:lstStyle/>
          <a:p>
            <a:endParaRPr lang="en-US"/>
          </a:p>
        </p:txBody>
      </p:sp>
      <p:sp>
        <p:nvSpPr>
          <p:cNvPr id="48" name="Shape 40"/>
          <p:cNvSpPr/>
          <p:nvPr/>
        </p:nvSpPr>
        <p:spPr>
          <a:xfrm rot="10800000">
            <a:off x="15104762" y="3280368"/>
            <a:ext cx="795300" cy="26458"/>
          </a:xfrm>
          <a:prstGeom prst="rect">
            <a:avLst/>
          </a:prstGeom>
          <a:solidFill>
            <a:srgbClr val="F0CC71"/>
          </a:solidFill>
          <a:ln/>
        </p:spPr>
        <p:txBody>
          <a:bodyPr/>
          <a:lstStyle/>
          <a:p>
            <a:endParaRPr lang="en-US"/>
          </a:p>
        </p:txBody>
      </p:sp>
      <p:sp>
        <p:nvSpPr>
          <p:cNvPr id="49" name="Shape 41"/>
          <p:cNvSpPr/>
          <p:nvPr/>
        </p:nvSpPr>
        <p:spPr>
          <a:xfrm rot="10800000">
            <a:off x="15764463" y="3191071"/>
            <a:ext cx="135599" cy="178594"/>
          </a:xfrm>
          <a:prstGeom prst="rect">
            <a:avLst/>
          </a:prstGeom>
          <a:solidFill>
            <a:srgbClr val="F0CC71"/>
          </a:solidFill>
          <a:ln/>
        </p:spPr>
        <p:txBody>
          <a:bodyPr/>
          <a:lstStyle/>
          <a:p>
            <a:endParaRPr lang="en-US"/>
          </a:p>
        </p:txBody>
      </p:sp>
      <p:sp>
        <p:nvSpPr>
          <p:cNvPr id="50" name="Shape 42"/>
          <p:cNvSpPr/>
          <p:nvPr/>
        </p:nvSpPr>
        <p:spPr>
          <a:xfrm>
            <a:off x="14220785" y="5988316"/>
            <a:ext cx="845788" cy="26458"/>
          </a:xfrm>
          <a:prstGeom prst="rect">
            <a:avLst/>
          </a:prstGeom>
          <a:solidFill>
            <a:srgbClr val="F0CC71"/>
          </a:solidFill>
          <a:ln/>
        </p:spPr>
        <p:txBody>
          <a:bodyPr/>
          <a:lstStyle/>
          <a:p>
            <a:endParaRPr lang="en-US"/>
          </a:p>
        </p:txBody>
      </p:sp>
      <p:sp>
        <p:nvSpPr>
          <p:cNvPr id="51" name="Shape 43"/>
          <p:cNvSpPr/>
          <p:nvPr/>
        </p:nvSpPr>
        <p:spPr>
          <a:xfrm rot="5400000">
            <a:off x="14968677" y="6060328"/>
            <a:ext cx="171450" cy="26458"/>
          </a:xfrm>
          <a:prstGeom prst="rect">
            <a:avLst/>
          </a:prstGeom>
          <a:solidFill>
            <a:srgbClr val="F0CC71"/>
          </a:solidFill>
          <a:ln/>
        </p:spPr>
        <p:txBody>
          <a:bodyPr/>
          <a:lstStyle/>
          <a:p>
            <a:endParaRPr lang="en-US"/>
          </a:p>
        </p:txBody>
      </p:sp>
      <p:sp>
        <p:nvSpPr>
          <p:cNvPr id="52" name="Shape 44"/>
          <p:cNvSpPr/>
          <p:nvPr/>
        </p:nvSpPr>
        <p:spPr>
          <a:xfrm>
            <a:off x="15066573" y="6158797"/>
            <a:ext cx="845788" cy="26458"/>
          </a:xfrm>
          <a:prstGeom prst="rect">
            <a:avLst/>
          </a:prstGeom>
          <a:solidFill>
            <a:srgbClr val="F0CC71"/>
          </a:solidFill>
          <a:ln/>
        </p:spPr>
        <p:txBody>
          <a:bodyPr/>
          <a:lstStyle/>
          <a:p>
            <a:endParaRPr lang="en-US"/>
          </a:p>
        </p:txBody>
      </p:sp>
      <p:sp>
        <p:nvSpPr>
          <p:cNvPr id="53" name="Shape 45"/>
          <p:cNvSpPr/>
          <p:nvPr/>
        </p:nvSpPr>
        <p:spPr>
          <a:xfrm>
            <a:off x="15777744" y="6069500"/>
            <a:ext cx="135599" cy="178594"/>
          </a:xfrm>
          <a:prstGeom prst="rect">
            <a:avLst/>
          </a:prstGeom>
          <a:solidFill>
            <a:srgbClr val="F0CC71"/>
          </a:solidFill>
          <a:ln/>
        </p:spPr>
        <p:txBody>
          <a:bodyPr/>
          <a:lstStyle/>
          <a:p>
            <a:endParaRPr lang="en-US"/>
          </a:p>
        </p:txBody>
      </p:sp>
      <p:sp>
        <p:nvSpPr>
          <p:cNvPr id="54" name="Shape 46"/>
          <p:cNvSpPr/>
          <p:nvPr/>
        </p:nvSpPr>
        <p:spPr>
          <a:xfrm>
            <a:off x="11661407" y="6483635"/>
            <a:ext cx="2626041" cy="1431592"/>
          </a:xfrm>
          <a:prstGeom prst="rect">
            <a:avLst/>
          </a:prstGeom>
          <a:ln w="13229">
            <a:solidFill>
              <a:srgbClr val="FFFFFF">
                <a:alpha val="45000"/>
              </a:srgbClr>
            </a:solidFill>
            <a:prstDash val="dash"/>
          </a:ln>
        </p:spPr>
        <p:txBody>
          <a:bodyPr/>
          <a:lstStyle/>
          <a:p>
            <a:endParaRPr lang="en-US"/>
          </a:p>
        </p:txBody>
      </p:sp>
      <p:sp>
        <p:nvSpPr>
          <p:cNvPr id="55" name="Text 47"/>
          <p:cNvSpPr/>
          <p:nvPr/>
        </p:nvSpPr>
        <p:spPr>
          <a:xfrm>
            <a:off x="11811785" y="6565439"/>
            <a:ext cx="2401484" cy="586594"/>
          </a:xfrm>
          <a:prstGeom prst="rect">
            <a:avLst/>
          </a:prstGeom>
          <a:noFill/>
          <a:ln/>
        </p:spPr>
        <p:txBody>
          <a:bodyPr wrap="square" lIns="25400" tIns="25400" rIns="25400" bIns="25400" rtlCol="0" anchor="t">
            <a:normAutofit/>
          </a:bodyPr>
          <a:lstStyle/>
          <a:p>
            <a:pPr marL="0" indent="0" algn="l">
              <a:lnSpc>
                <a:spcPct val="92160"/>
              </a:lnSpc>
              <a:buNone/>
            </a:pPr>
            <a:r>
              <a:rPr lang="en-US" sz="1050" dirty="0">
                <a:solidFill>
                  <a:srgbClr val="FFFFFF"/>
                </a:solidFill>
                <a:latin typeface="Oracle Sans Tab" pitchFamily="34" charset="0"/>
                <a:ea typeface="Oracle Sans Tab" pitchFamily="34" charset="-122"/>
                <a:cs typeface="Oracle Sans Tab" pitchFamily="34" charset="-120"/>
              </a:rPr>
              <a:t>(:Paper {paper_id: "2312.10997", title: "Benchmarking RAG for Factual Consistency"})</a:t>
            </a:r>
            <a:endParaRPr lang="en-US" sz="1050" dirty="0"/>
          </a:p>
        </p:txBody>
      </p:sp>
      <p:sp>
        <p:nvSpPr>
          <p:cNvPr id="56" name="Text 48"/>
          <p:cNvSpPr/>
          <p:nvPr/>
        </p:nvSpPr>
        <p:spPr>
          <a:xfrm>
            <a:off x="11811785" y="7113933"/>
            <a:ext cx="2401484" cy="403762"/>
          </a:xfrm>
          <a:prstGeom prst="rect">
            <a:avLst/>
          </a:prstGeom>
          <a:noFill/>
          <a:ln/>
        </p:spPr>
        <p:txBody>
          <a:bodyPr wrap="square" lIns="25400" tIns="25400" rIns="25400" bIns="25400" rtlCol="0" anchor="t">
            <a:normAutofit/>
          </a:bodyPr>
          <a:lstStyle/>
          <a:p>
            <a:pPr marL="0" indent="0" algn="l">
              <a:lnSpc>
                <a:spcPct val="92160"/>
              </a:lnSpc>
              <a:buNone/>
            </a:pPr>
            <a:r>
              <a:rPr lang="en-US" sz="1050" dirty="0">
                <a:solidFill>
                  <a:srgbClr val="FFFFFF"/>
                </a:solidFill>
                <a:latin typeface="Oracle Sans Tab" pitchFamily="34" charset="0"/>
                <a:ea typeface="Oracle Sans Tab" pitchFamily="34" charset="-122"/>
                <a:cs typeface="Oracle Sans Tab" pitchFamily="34" charset="-120"/>
              </a:rPr>
              <a:t>-[:HAS_SECTION]→ (:Section {name: "Results"})</a:t>
            </a:r>
            <a:endParaRPr lang="en-US" sz="1050" dirty="0"/>
          </a:p>
        </p:txBody>
      </p:sp>
      <p:sp>
        <p:nvSpPr>
          <p:cNvPr id="57" name="Text 49"/>
          <p:cNvSpPr/>
          <p:nvPr/>
        </p:nvSpPr>
        <p:spPr>
          <a:xfrm>
            <a:off x="11811785" y="7479595"/>
            <a:ext cx="2401484" cy="586594"/>
          </a:xfrm>
          <a:prstGeom prst="rect">
            <a:avLst/>
          </a:prstGeom>
          <a:noFill/>
          <a:ln/>
        </p:spPr>
        <p:txBody>
          <a:bodyPr wrap="square" lIns="25400" tIns="25400" rIns="25400" bIns="25400" rtlCol="0" anchor="t">
            <a:normAutofit/>
          </a:bodyPr>
          <a:lstStyle/>
          <a:p>
            <a:pPr marL="0" indent="0" algn="l">
              <a:lnSpc>
                <a:spcPct val="92160"/>
              </a:lnSpc>
              <a:buNone/>
            </a:pPr>
            <a:r>
              <a:rPr lang="en-US" sz="1050" dirty="0">
                <a:solidFill>
                  <a:srgbClr val="FFFFFF"/>
                </a:solidFill>
                <a:latin typeface="Oracle Sans Tab" pitchFamily="34" charset="0"/>
                <a:ea typeface="Oracle Sans Tab" pitchFamily="34" charset="-122"/>
                <a:cs typeface="Oracle Sans Tab" pitchFamily="34" charset="-120"/>
              </a:rPr>
              <a:t>-[:CONTAINS_CHUNK]→ (:Chunk D_BY]→ (:Author {name: "Yamamoto, Kenji"})</a:t>
            </a:r>
            <a:endParaRPr lang="en-US" sz="1050" dirty="0"/>
          </a:p>
        </p:txBody>
      </p:sp>
      <p:sp>
        <p:nvSpPr>
          <p:cNvPr id="58" name="Shape 50"/>
          <p:cNvSpPr/>
          <p:nvPr/>
        </p:nvSpPr>
        <p:spPr>
          <a:xfrm rot="10800000">
            <a:off x="14287500" y="7199922"/>
            <a:ext cx="818193" cy="26458"/>
          </a:xfrm>
          <a:prstGeom prst="rect">
            <a:avLst/>
          </a:prstGeom>
          <a:solidFill>
            <a:srgbClr val="F0CC71"/>
          </a:solidFill>
          <a:ln/>
        </p:spPr>
        <p:txBody>
          <a:bodyPr/>
          <a:lstStyle/>
          <a:p>
            <a:endParaRPr lang="en-US"/>
          </a:p>
        </p:txBody>
      </p:sp>
      <p:sp>
        <p:nvSpPr>
          <p:cNvPr id="59" name="Shape 51"/>
          <p:cNvSpPr/>
          <p:nvPr/>
        </p:nvSpPr>
        <p:spPr>
          <a:xfrm rot="5400000">
            <a:off x="15058067" y="7125741"/>
            <a:ext cx="123825" cy="26458"/>
          </a:xfrm>
          <a:prstGeom prst="rect">
            <a:avLst/>
          </a:prstGeom>
          <a:solidFill>
            <a:srgbClr val="F0CC71"/>
          </a:solidFill>
          <a:ln/>
        </p:spPr>
        <p:txBody>
          <a:bodyPr/>
          <a:lstStyle/>
          <a:p>
            <a:endParaRPr lang="en-US"/>
          </a:p>
        </p:txBody>
      </p:sp>
      <p:sp>
        <p:nvSpPr>
          <p:cNvPr id="60" name="Shape 52"/>
          <p:cNvSpPr/>
          <p:nvPr/>
        </p:nvSpPr>
        <p:spPr>
          <a:xfrm rot="10800000">
            <a:off x="15105692" y="7078017"/>
            <a:ext cx="818193" cy="26458"/>
          </a:xfrm>
          <a:prstGeom prst="rect">
            <a:avLst/>
          </a:prstGeom>
          <a:solidFill>
            <a:srgbClr val="F0CC71"/>
          </a:solidFill>
          <a:ln/>
        </p:spPr>
        <p:txBody>
          <a:bodyPr/>
          <a:lstStyle/>
          <a:p>
            <a:endParaRPr lang="en-US"/>
          </a:p>
        </p:txBody>
      </p:sp>
      <p:sp>
        <p:nvSpPr>
          <p:cNvPr id="61" name="Shape 53"/>
          <p:cNvSpPr/>
          <p:nvPr/>
        </p:nvSpPr>
        <p:spPr>
          <a:xfrm rot="10800000">
            <a:off x="15788286" y="6988721"/>
            <a:ext cx="135599" cy="178594"/>
          </a:xfrm>
          <a:prstGeom prst="rect">
            <a:avLst/>
          </a:prstGeom>
          <a:solidFill>
            <a:srgbClr val="F0CC71"/>
          </a:solidFill>
          <a:ln/>
        </p:spPr>
        <p:txBody>
          <a:bodyPr/>
          <a:lstStyle/>
          <a:p>
            <a:endParaRPr lang="en-US"/>
          </a:p>
        </p:txBody>
      </p:sp>
      <p:sp>
        <p:nvSpPr>
          <p:cNvPr id="64" name="Shape 56"/>
          <p:cNvSpPr/>
          <p:nvPr/>
        </p:nvSpPr>
        <p:spPr>
          <a:xfrm>
            <a:off x="813387" y="5555888"/>
            <a:ext cx="1772553" cy="282877"/>
          </a:xfrm>
          <a:prstGeom prst="roundRect">
            <a:avLst>
              <a:gd name="adj" fmla="val 16836"/>
            </a:avLst>
          </a:prstGeom>
          <a:solidFill>
            <a:srgbClr val="0B5060"/>
          </a:solidFill>
          <a:ln w="13229">
            <a:solidFill>
              <a:srgbClr val="F0CC71"/>
            </a:solidFill>
            <a:prstDash val="solid"/>
          </a:ln>
        </p:spPr>
        <p:txBody>
          <a:bodyPr/>
          <a:lstStyle/>
          <a:p>
            <a:endParaRPr lang="en-US"/>
          </a:p>
        </p:txBody>
      </p:sp>
      <p:sp>
        <p:nvSpPr>
          <p:cNvPr id="65" name="Text 57"/>
          <p:cNvSpPr/>
          <p:nvPr/>
        </p:nvSpPr>
        <p:spPr>
          <a:xfrm>
            <a:off x="925665" y="5571598"/>
            <a:ext cx="1547996"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dirty="0">
                <a:solidFill>
                  <a:srgbClr val="FFFFFF"/>
                </a:solidFill>
                <a:latin typeface="Oracle Sans Tab" pitchFamily="34" charset="0"/>
                <a:ea typeface="Oracle Sans Tab" pitchFamily="34" charset="-122"/>
                <a:cs typeface="Oracle Sans Tab" pitchFamily="34" charset="-120"/>
              </a:rPr>
              <a:t>Data Sources</a:t>
            </a:r>
            <a:endParaRPr lang="en-US" sz="1650" dirty="0"/>
          </a:p>
        </p:txBody>
      </p:sp>
      <p:sp>
        <p:nvSpPr>
          <p:cNvPr id="66" name="Shape 58"/>
          <p:cNvSpPr/>
          <p:nvPr/>
        </p:nvSpPr>
        <p:spPr>
          <a:xfrm>
            <a:off x="3988077" y="3566139"/>
            <a:ext cx="1371596" cy="282877"/>
          </a:xfrm>
          <a:prstGeom prst="roundRect">
            <a:avLst>
              <a:gd name="adj" fmla="val 16836"/>
            </a:avLst>
          </a:prstGeom>
          <a:solidFill>
            <a:srgbClr val="0B5060"/>
          </a:solidFill>
          <a:ln w="13229">
            <a:solidFill>
              <a:srgbClr val="F0CC71"/>
            </a:solidFill>
            <a:prstDash val="solid"/>
          </a:ln>
        </p:spPr>
        <p:txBody>
          <a:bodyPr/>
          <a:lstStyle/>
          <a:p>
            <a:endParaRPr lang="en-US"/>
          </a:p>
        </p:txBody>
      </p:sp>
      <p:sp>
        <p:nvSpPr>
          <p:cNvPr id="67" name="Text 59"/>
          <p:cNvSpPr/>
          <p:nvPr/>
        </p:nvSpPr>
        <p:spPr>
          <a:xfrm>
            <a:off x="4100355" y="3604741"/>
            <a:ext cx="1147039"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b="1" dirty="0">
                <a:solidFill>
                  <a:srgbClr val="FFFFFF"/>
                </a:solidFill>
                <a:latin typeface="Oracle Sans Tab" pitchFamily="34" charset="0"/>
                <a:ea typeface="Oracle Sans Tab" pitchFamily="34" charset="-122"/>
                <a:cs typeface="Oracle Sans Tab" pitchFamily="34" charset="-120"/>
              </a:rPr>
              <a:t>Data Object</a:t>
            </a:r>
            <a:endParaRPr lang="en-US" sz="1350" dirty="0"/>
          </a:p>
        </p:txBody>
      </p:sp>
      <p:sp>
        <p:nvSpPr>
          <p:cNvPr id="68" name="Shape 60"/>
          <p:cNvSpPr/>
          <p:nvPr/>
        </p:nvSpPr>
        <p:spPr>
          <a:xfrm>
            <a:off x="3988077" y="4536725"/>
            <a:ext cx="1371596"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69" name="Text 61"/>
          <p:cNvSpPr/>
          <p:nvPr/>
        </p:nvSpPr>
        <p:spPr>
          <a:xfrm>
            <a:off x="4100355" y="4575328"/>
            <a:ext cx="1147039"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Chunking</a:t>
            </a:r>
            <a:endParaRPr lang="en-US" sz="1350" dirty="0"/>
          </a:p>
        </p:txBody>
      </p:sp>
      <p:sp>
        <p:nvSpPr>
          <p:cNvPr id="70" name="Shape 62"/>
          <p:cNvSpPr/>
          <p:nvPr/>
        </p:nvSpPr>
        <p:spPr>
          <a:xfrm>
            <a:off x="3752846" y="4866318"/>
            <a:ext cx="184304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71" name="Text 63"/>
          <p:cNvSpPr/>
          <p:nvPr/>
        </p:nvSpPr>
        <p:spPr>
          <a:xfrm>
            <a:off x="3826110" y="4904920"/>
            <a:ext cx="1696511"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Data Deduplication</a:t>
            </a:r>
            <a:endParaRPr lang="en-US" sz="1350" dirty="0"/>
          </a:p>
        </p:txBody>
      </p:sp>
      <p:sp>
        <p:nvSpPr>
          <p:cNvPr id="72" name="Shape 64"/>
          <p:cNvSpPr/>
          <p:nvPr/>
        </p:nvSpPr>
        <p:spPr>
          <a:xfrm>
            <a:off x="3752846" y="5231102"/>
            <a:ext cx="184304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73" name="Text 65"/>
          <p:cNvSpPr/>
          <p:nvPr/>
        </p:nvSpPr>
        <p:spPr>
          <a:xfrm>
            <a:off x="3826110" y="5269704"/>
            <a:ext cx="1696511"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Text Normalization</a:t>
            </a:r>
            <a:endParaRPr lang="en-US" sz="1350" dirty="0"/>
          </a:p>
        </p:txBody>
      </p:sp>
      <p:sp>
        <p:nvSpPr>
          <p:cNvPr id="74" name="Shape 66"/>
          <p:cNvSpPr/>
          <p:nvPr/>
        </p:nvSpPr>
        <p:spPr>
          <a:xfrm>
            <a:off x="3752846" y="5578781"/>
            <a:ext cx="184304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75" name="Text 67"/>
          <p:cNvSpPr/>
          <p:nvPr/>
        </p:nvSpPr>
        <p:spPr>
          <a:xfrm>
            <a:off x="3826110" y="5617383"/>
            <a:ext cx="1696511"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Entity extraction</a:t>
            </a:r>
            <a:endParaRPr lang="en-US" sz="1350" dirty="0"/>
          </a:p>
        </p:txBody>
      </p:sp>
      <p:sp>
        <p:nvSpPr>
          <p:cNvPr id="76" name="Shape 68"/>
          <p:cNvSpPr/>
          <p:nvPr/>
        </p:nvSpPr>
        <p:spPr>
          <a:xfrm>
            <a:off x="4571039" y="6652255"/>
            <a:ext cx="43770" cy="46664"/>
          </a:xfrm>
          <a:prstGeom prst="ellipse">
            <a:avLst/>
          </a:prstGeom>
          <a:solidFill>
            <a:srgbClr val="0B5060"/>
          </a:solidFill>
          <a:ln w="13229">
            <a:solidFill>
              <a:srgbClr val="FFFFFF">
                <a:alpha val="30000"/>
              </a:srgbClr>
            </a:solidFill>
            <a:prstDash val="solid"/>
          </a:ln>
        </p:spPr>
        <p:txBody>
          <a:bodyPr/>
          <a:lstStyle/>
          <a:p>
            <a:endParaRPr lang="en-US"/>
          </a:p>
        </p:txBody>
      </p:sp>
      <p:sp>
        <p:nvSpPr>
          <p:cNvPr id="77" name="Shape 69"/>
          <p:cNvSpPr/>
          <p:nvPr/>
        </p:nvSpPr>
        <p:spPr>
          <a:xfrm>
            <a:off x="4571039" y="6770336"/>
            <a:ext cx="43770" cy="46664"/>
          </a:xfrm>
          <a:prstGeom prst="ellipse">
            <a:avLst/>
          </a:prstGeom>
          <a:solidFill>
            <a:srgbClr val="0B5060"/>
          </a:solidFill>
          <a:ln w="13229">
            <a:solidFill>
              <a:srgbClr val="FFFFFF">
                <a:alpha val="30000"/>
              </a:srgbClr>
            </a:solidFill>
            <a:prstDash val="solid"/>
          </a:ln>
        </p:spPr>
        <p:txBody>
          <a:bodyPr/>
          <a:lstStyle/>
          <a:p>
            <a:endParaRPr lang="en-US"/>
          </a:p>
        </p:txBody>
      </p:sp>
      <p:sp>
        <p:nvSpPr>
          <p:cNvPr id="78" name="Shape 70"/>
          <p:cNvSpPr/>
          <p:nvPr/>
        </p:nvSpPr>
        <p:spPr>
          <a:xfrm>
            <a:off x="4571039" y="6894152"/>
            <a:ext cx="43770" cy="46664"/>
          </a:xfrm>
          <a:prstGeom prst="ellipse">
            <a:avLst/>
          </a:prstGeom>
          <a:solidFill>
            <a:srgbClr val="0B5060"/>
          </a:solidFill>
          <a:ln w="13229">
            <a:solidFill>
              <a:srgbClr val="FFFFFF">
                <a:alpha val="30000"/>
              </a:srgbClr>
            </a:solidFill>
            <a:prstDash val="solid"/>
          </a:ln>
        </p:spPr>
        <p:txBody>
          <a:bodyPr/>
          <a:lstStyle/>
          <a:p>
            <a:endParaRPr lang="en-US"/>
          </a:p>
        </p:txBody>
      </p:sp>
      <p:sp>
        <p:nvSpPr>
          <p:cNvPr id="79" name="Shape 71"/>
          <p:cNvSpPr/>
          <p:nvPr/>
        </p:nvSpPr>
        <p:spPr>
          <a:xfrm>
            <a:off x="7387559" y="4351931"/>
            <a:ext cx="2253609" cy="692464"/>
          </a:xfrm>
          <a:prstGeom prst="roundRect">
            <a:avLst>
              <a:gd name="adj" fmla="val 16644"/>
            </a:avLst>
          </a:prstGeom>
          <a:solidFill>
            <a:srgbClr val="89B2B0"/>
          </a:solidFill>
          <a:ln w="16536">
            <a:solidFill>
              <a:srgbClr val="FFFFFF">
                <a:alpha val="45000"/>
              </a:srgbClr>
            </a:solidFill>
            <a:prstDash val="solid"/>
          </a:ln>
        </p:spPr>
        <p:txBody>
          <a:bodyPr/>
          <a:lstStyle/>
          <a:p>
            <a:endParaRPr lang="en-US"/>
          </a:p>
        </p:txBody>
      </p:sp>
      <p:sp>
        <p:nvSpPr>
          <p:cNvPr id="80" name="Text 72"/>
          <p:cNvSpPr/>
          <p:nvPr/>
        </p:nvSpPr>
        <p:spPr>
          <a:xfrm>
            <a:off x="7503145" y="4469546"/>
            <a:ext cx="2022438" cy="342888"/>
          </a:xfrm>
          <a:prstGeom prst="rect">
            <a:avLst/>
          </a:prstGeom>
          <a:noFill/>
          <a:ln/>
        </p:spPr>
        <p:txBody>
          <a:bodyPr wrap="square" lIns="25400" tIns="25400" rIns="25400" bIns="25400" rtlCol="0" anchor="t">
            <a:normAutofit/>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Chunks passed into an embedding model.</a:t>
            </a:r>
            <a:endParaRPr lang="en-US" sz="1200" dirty="0"/>
          </a:p>
        </p:txBody>
      </p:sp>
      <p:sp>
        <p:nvSpPr>
          <p:cNvPr id="81" name="Text 73"/>
          <p:cNvSpPr/>
          <p:nvPr/>
        </p:nvSpPr>
        <p:spPr>
          <a:xfrm>
            <a:off x="7443933" y="4774334"/>
            <a:ext cx="2140862"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Embedding Generation</a:t>
            </a:r>
            <a:endParaRPr lang="en-US" sz="1200" dirty="0"/>
          </a:p>
        </p:txBody>
      </p:sp>
      <p:sp>
        <p:nvSpPr>
          <p:cNvPr id="82" name="Shape 74"/>
          <p:cNvSpPr/>
          <p:nvPr/>
        </p:nvSpPr>
        <p:spPr>
          <a:xfrm>
            <a:off x="9012524" y="3431832"/>
            <a:ext cx="1324880" cy="36380"/>
          </a:xfrm>
          <a:prstGeom prst="rect">
            <a:avLst/>
          </a:prstGeom>
          <a:solidFill>
            <a:srgbClr val="F0CC71"/>
          </a:solidFill>
          <a:ln/>
        </p:spPr>
        <p:txBody>
          <a:bodyPr/>
          <a:lstStyle/>
          <a:p>
            <a:endParaRPr lang="en-US"/>
          </a:p>
        </p:txBody>
      </p:sp>
      <p:sp>
        <p:nvSpPr>
          <p:cNvPr id="83" name="Shape 75"/>
          <p:cNvSpPr/>
          <p:nvPr/>
        </p:nvSpPr>
        <p:spPr>
          <a:xfrm rot="5400000">
            <a:off x="8438887" y="5297196"/>
            <a:ext cx="3762375" cy="36380"/>
          </a:xfrm>
          <a:prstGeom prst="rect">
            <a:avLst/>
          </a:prstGeom>
          <a:solidFill>
            <a:srgbClr val="F0CC71"/>
          </a:solidFill>
          <a:ln/>
        </p:spPr>
        <p:txBody>
          <a:bodyPr/>
          <a:lstStyle/>
          <a:p>
            <a:endParaRPr lang="en-US"/>
          </a:p>
        </p:txBody>
      </p:sp>
      <p:sp>
        <p:nvSpPr>
          <p:cNvPr id="84" name="Shape 76"/>
          <p:cNvSpPr/>
          <p:nvPr/>
        </p:nvSpPr>
        <p:spPr>
          <a:xfrm>
            <a:off x="10337405" y="7198940"/>
            <a:ext cx="1324880" cy="36380"/>
          </a:xfrm>
          <a:prstGeom prst="rect">
            <a:avLst/>
          </a:prstGeom>
          <a:solidFill>
            <a:srgbClr val="F0CC71"/>
          </a:solidFill>
          <a:ln/>
        </p:spPr>
        <p:txBody>
          <a:bodyPr/>
          <a:lstStyle/>
          <a:p>
            <a:endParaRPr lang="en-US"/>
          </a:p>
        </p:txBody>
      </p:sp>
      <p:sp>
        <p:nvSpPr>
          <p:cNvPr id="85" name="Shape 77"/>
          <p:cNvSpPr/>
          <p:nvPr/>
        </p:nvSpPr>
        <p:spPr>
          <a:xfrm>
            <a:off x="11479505" y="7079878"/>
            <a:ext cx="181901" cy="238125"/>
          </a:xfrm>
          <a:prstGeom prst="rect">
            <a:avLst/>
          </a:prstGeom>
          <a:solidFill>
            <a:srgbClr val="F0CC71"/>
          </a:solidFill>
          <a:ln/>
        </p:spPr>
        <p:txBody>
          <a:bodyPr/>
          <a:lstStyle/>
          <a:p>
            <a:endParaRPr lang="en-US"/>
          </a:p>
        </p:txBody>
      </p:sp>
      <p:sp>
        <p:nvSpPr>
          <p:cNvPr id="86" name="Shape 78"/>
          <p:cNvSpPr/>
          <p:nvPr/>
        </p:nvSpPr>
        <p:spPr>
          <a:xfrm>
            <a:off x="3752846" y="5914058"/>
            <a:ext cx="184304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87" name="Text 79"/>
          <p:cNvSpPr/>
          <p:nvPr/>
        </p:nvSpPr>
        <p:spPr>
          <a:xfrm>
            <a:off x="3826110" y="5952660"/>
            <a:ext cx="1696511"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PII Redaction</a:t>
            </a:r>
            <a:endParaRPr lang="en-US" sz="1350" dirty="0"/>
          </a:p>
        </p:txBody>
      </p:sp>
      <p:sp>
        <p:nvSpPr>
          <p:cNvPr id="88" name="Shape 80"/>
          <p:cNvSpPr/>
          <p:nvPr/>
        </p:nvSpPr>
        <p:spPr>
          <a:xfrm>
            <a:off x="3535650" y="6236001"/>
            <a:ext cx="227645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89" name="Text 81"/>
          <p:cNvSpPr/>
          <p:nvPr/>
        </p:nvSpPr>
        <p:spPr>
          <a:xfrm>
            <a:off x="3587244" y="6274604"/>
            <a:ext cx="2173263"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Content Classification</a:t>
            </a:r>
            <a:endParaRPr lang="en-US" sz="1350" dirty="0"/>
          </a:p>
        </p:txBody>
      </p:sp>
      <p:sp>
        <p:nvSpPr>
          <p:cNvPr id="92" name="Shape 84"/>
          <p:cNvSpPr/>
          <p:nvPr/>
        </p:nvSpPr>
        <p:spPr>
          <a:xfrm>
            <a:off x="15900062" y="2983229"/>
            <a:ext cx="428604" cy="594331"/>
          </a:xfrm>
          <a:prstGeom prst="roundRect">
            <a:avLst>
              <a:gd name="adj" fmla="val 50000"/>
            </a:avLst>
          </a:prstGeom>
          <a:solidFill>
            <a:srgbClr val="0B5060"/>
          </a:solidFill>
          <a:ln w="13229">
            <a:solidFill>
              <a:srgbClr val="FFFFFF">
                <a:alpha val="3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3" name="Shape 85"/>
          <p:cNvSpPr/>
          <p:nvPr/>
        </p:nvSpPr>
        <p:spPr>
          <a:xfrm>
            <a:off x="15889572" y="3921414"/>
            <a:ext cx="428604" cy="594331"/>
          </a:xfrm>
          <a:prstGeom prst="roundRect">
            <a:avLst>
              <a:gd name="adj" fmla="val 50000"/>
            </a:avLst>
          </a:prstGeom>
          <a:solidFill>
            <a:srgbClr val="0B5060"/>
          </a:solidFill>
          <a:ln w="13229">
            <a:solidFill>
              <a:srgbClr val="FFFFFF">
                <a:alpha val="3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4" name="Shape 86"/>
          <p:cNvSpPr/>
          <p:nvPr/>
        </p:nvSpPr>
        <p:spPr>
          <a:xfrm>
            <a:off x="15889572" y="4922490"/>
            <a:ext cx="428604" cy="594331"/>
          </a:xfrm>
          <a:prstGeom prst="roundRect">
            <a:avLst>
              <a:gd name="adj" fmla="val 50000"/>
            </a:avLst>
          </a:prstGeom>
          <a:solidFill>
            <a:srgbClr val="0B5060"/>
          </a:solidFill>
          <a:ln w="13229">
            <a:solidFill>
              <a:srgbClr val="FFFFFF">
                <a:alpha val="3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5" name="Shape 87"/>
          <p:cNvSpPr/>
          <p:nvPr/>
        </p:nvSpPr>
        <p:spPr>
          <a:xfrm>
            <a:off x="15913395" y="5861657"/>
            <a:ext cx="428604" cy="594331"/>
          </a:xfrm>
          <a:prstGeom prst="roundRect">
            <a:avLst>
              <a:gd name="adj" fmla="val 50000"/>
            </a:avLst>
          </a:prstGeom>
          <a:solidFill>
            <a:srgbClr val="0B5060"/>
          </a:solidFill>
          <a:ln w="13229">
            <a:solidFill>
              <a:srgbClr val="FFFFFF">
                <a:alpha val="3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6" name="Shape 88"/>
          <p:cNvSpPr/>
          <p:nvPr/>
        </p:nvSpPr>
        <p:spPr>
          <a:xfrm>
            <a:off x="15922904" y="6780826"/>
            <a:ext cx="428604" cy="594331"/>
          </a:xfrm>
          <a:prstGeom prst="roundRect">
            <a:avLst>
              <a:gd name="adj" fmla="val 50000"/>
            </a:avLst>
          </a:prstGeom>
          <a:solidFill>
            <a:srgbClr val="0B5060"/>
          </a:solidFill>
          <a:ln w="13229">
            <a:solidFill>
              <a:srgbClr val="FFFFFF">
                <a:alpha val="3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7" name="Shape 89"/>
          <p:cNvSpPr/>
          <p:nvPr/>
        </p:nvSpPr>
        <p:spPr>
          <a:xfrm>
            <a:off x="15766685" y="7467554"/>
            <a:ext cx="741970" cy="146658"/>
          </a:xfrm>
          <a:prstGeom prst="roundRect">
            <a:avLst>
              <a:gd name="adj" fmla="val 16886"/>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8" name="Text 90"/>
          <p:cNvSpPr/>
          <p:nvPr/>
        </p:nvSpPr>
        <p:spPr>
          <a:xfrm>
            <a:off x="15882271" y="7476494"/>
            <a:ext cx="510799" cy="190494"/>
          </a:xfrm>
          <a:prstGeom prst="rect">
            <a:avLst/>
          </a:prstGeom>
          <a:noFill/>
          <a:ln/>
        </p:spPr>
        <p:txBody>
          <a:bodyPr wrap="square" lIns="25400" tIns="25400" rIns="25400" bIns="25400" rtlCol="0" anchor="t">
            <a:normAutofit/>
          </a:bodyPr>
          <a:lstStyle/>
          <a:p>
            <a:pPr marL="0" indent="0" algn="ctr">
              <a:lnSpc>
                <a:spcPct val="76800"/>
              </a:lnSpc>
              <a:buNone/>
            </a:pPr>
            <a:r>
              <a:rPr lang="en-US" sz="1050" dirty="0">
                <a:latin typeface="Oracle Sans Tab" pitchFamily="34" charset="0"/>
                <a:ea typeface="Oracle Sans Tab" pitchFamily="34" charset="-122"/>
                <a:cs typeface="Oracle Sans Tab" pitchFamily="34" charset="-120"/>
              </a:rPr>
              <a:t>Graph</a:t>
            </a:r>
            <a:endParaRPr lang="en-US" sz="1050" dirty="0"/>
          </a:p>
        </p:txBody>
      </p:sp>
      <p:sp>
        <p:nvSpPr>
          <p:cNvPr id="99" name="Shape 91"/>
          <p:cNvSpPr/>
          <p:nvPr/>
        </p:nvSpPr>
        <p:spPr>
          <a:xfrm>
            <a:off x="15766685" y="6544613"/>
            <a:ext cx="741970" cy="146658"/>
          </a:xfrm>
          <a:prstGeom prst="roundRect">
            <a:avLst>
              <a:gd name="adj" fmla="val 16886"/>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00" name="Text 92"/>
          <p:cNvSpPr/>
          <p:nvPr/>
        </p:nvSpPr>
        <p:spPr>
          <a:xfrm>
            <a:off x="15882271" y="6553553"/>
            <a:ext cx="510799" cy="190494"/>
          </a:xfrm>
          <a:prstGeom prst="rect">
            <a:avLst/>
          </a:prstGeom>
          <a:noFill/>
          <a:ln/>
        </p:spPr>
        <p:txBody>
          <a:bodyPr wrap="square" lIns="25400" tIns="25400" rIns="25400" bIns="25400" rtlCol="0" anchor="t">
            <a:normAutofit/>
          </a:bodyPr>
          <a:lstStyle/>
          <a:p>
            <a:pPr marL="0" indent="0" algn="ctr">
              <a:lnSpc>
                <a:spcPct val="76800"/>
              </a:lnSpc>
              <a:buNone/>
            </a:pPr>
            <a:r>
              <a:rPr lang="en-US" sz="1050" dirty="0">
                <a:latin typeface="Oracle Sans Tab" pitchFamily="34" charset="0"/>
                <a:ea typeface="Oracle Sans Tab" pitchFamily="34" charset="-122"/>
                <a:cs typeface="Oracle Sans Tab" pitchFamily="34" charset="-120"/>
              </a:rPr>
              <a:t>Vector</a:t>
            </a:r>
            <a:endParaRPr lang="en-US" sz="1050" dirty="0"/>
          </a:p>
        </p:txBody>
      </p:sp>
      <p:sp>
        <p:nvSpPr>
          <p:cNvPr id="101" name="Shape 93"/>
          <p:cNvSpPr/>
          <p:nvPr/>
        </p:nvSpPr>
        <p:spPr>
          <a:xfrm>
            <a:off x="15756246" y="4614860"/>
            <a:ext cx="741970" cy="146658"/>
          </a:xfrm>
          <a:prstGeom prst="roundRect">
            <a:avLst>
              <a:gd name="adj" fmla="val 16886"/>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02" name="Text 94"/>
          <p:cNvSpPr/>
          <p:nvPr/>
        </p:nvSpPr>
        <p:spPr>
          <a:xfrm>
            <a:off x="15871832" y="4623800"/>
            <a:ext cx="510799" cy="190494"/>
          </a:xfrm>
          <a:prstGeom prst="rect">
            <a:avLst/>
          </a:prstGeom>
          <a:noFill/>
          <a:ln/>
        </p:spPr>
        <p:txBody>
          <a:bodyPr wrap="square" lIns="25400" tIns="25400" rIns="25400" bIns="25400" rtlCol="0" anchor="t">
            <a:normAutofit/>
          </a:bodyPr>
          <a:lstStyle/>
          <a:p>
            <a:pPr marL="0" indent="0" algn="ctr">
              <a:lnSpc>
                <a:spcPct val="76800"/>
              </a:lnSpc>
              <a:buNone/>
            </a:pPr>
            <a:r>
              <a:rPr lang="en-US" sz="1050" dirty="0">
                <a:solidFill>
                  <a:srgbClr val="86B596"/>
                </a:solidFill>
                <a:latin typeface="Oracle Sans Tab" pitchFamily="34" charset="0"/>
                <a:ea typeface="Oracle Sans Tab" pitchFamily="34" charset="-122"/>
                <a:cs typeface="Oracle Sans Tab" pitchFamily="34" charset="-120"/>
              </a:rPr>
              <a:t>JSON</a:t>
            </a:r>
            <a:endParaRPr lang="en-US" sz="1050" dirty="0"/>
          </a:p>
        </p:txBody>
      </p:sp>
      <p:sp>
        <p:nvSpPr>
          <p:cNvPr id="103" name="Shape 95"/>
          <p:cNvSpPr/>
          <p:nvPr/>
        </p:nvSpPr>
        <p:spPr>
          <a:xfrm>
            <a:off x="15639097" y="3613784"/>
            <a:ext cx="996270" cy="146658"/>
          </a:xfrm>
          <a:prstGeom prst="roundRect">
            <a:avLst>
              <a:gd name="adj" fmla="val 16886"/>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04" name="Text 96"/>
          <p:cNvSpPr/>
          <p:nvPr/>
        </p:nvSpPr>
        <p:spPr>
          <a:xfrm>
            <a:off x="15754683" y="3622725"/>
            <a:ext cx="765099" cy="190494"/>
          </a:xfrm>
          <a:prstGeom prst="rect">
            <a:avLst/>
          </a:prstGeom>
          <a:noFill/>
          <a:ln/>
        </p:spPr>
        <p:txBody>
          <a:bodyPr wrap="square" lIns="25400" tIns="25400" rIns="25400" bIns="25400" rtlCol="0" anchor="t">
            <a:normAutofit/>
          </a:bodyPr>
          <a:lstStyle/>
          <a:p>
            <a:pPr marL="0" indent="0" algn="ctr">
              <a:lnSpc>
                <a:spcPct val="76800"/>
              </a:lnSpc>
              <a:buNone/>
            </a:pPr>
            <a:r>
              <a:rPr lang="en-US" sz="1050" dirty="0">
                <a:latin typeface="Oracle Sans Tab" pitchFamily="34" charset="0"/>
                <a:ea typeface="Oracle Sans Tab" pitchFamily="34" charset="-122"/>
                <a:cs typeface="Oracle Sans Tab" pitchFamily="34" charset="-120"/>
              </a:rPr>
              <a:t>Relational</a:t>
            </a:r>
            <a:endParaRPr lang="en-US" sz="1050" dirty="0"/>
          </a:p>
        </p:txBody>
      </p:sp>
      <p:sp>
        <p:nvSpPr>
          <p:cNvPr id="105" name="Shape 97"/>
          <p:cNvSpPr/>
          <p:nvPr/>
        </p:nvSpPr>
        <p:spPr>
          <a:xfrm>
            <a:off x="15766685" y="5615936"/>
            <a:ext cx="741970" cy="146658"/>
          </a:xfrm>
          <a:prstGeom prst="roundRect">
            <a:avLst>
              <a:gd name="adj" fmla="val 16886"/>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06" name="Text 98"/>
          <p:cNvSpPr/>
          <p:nvPr/>
        </p:nvSpPr>
        <p:spPr>
          <a:xfrm>
            <a:off x="15882271" y="5624876"/>
            <a:ext cx="510799" cy="190494"/>
          </a:xfrm>
          <a:prstGeom prst="rect">
            <a:avLst/>
          </a:prstGeom>
          <a:noFill/>
          <a:ln/>
        </p:spPr>
        <p:txBody>
          <a:bodyPr wrap="square" lIns="25400" tIns="25400" rIns="25400" bIns="25400" rtlCol="0" anchor="t">
            <a:normAutofit/>
          </a:bodyPr>
          <a:lstStyle/>
          <a:p>
            <a:pPr marL="0" indent="0" algn="ctr">
              <a:lnSpc>
                <a:spcPct val="76800"/>
              </a:lnSpc>
              <a:buNone/>
            </a:pPr>
            <a:r>
              <a:rPr lang="en-US" sz="1050" dirty="0">
                <a:latin typeface="Oracle Sans Tab" pitchFamily="34" charset="0"/>
                <a:cs typeface="Oracle Sans Tab" pitchFamily="34" charset="-120"/>
              </a:rPr>
              <a:t>Spatial</a:t>
            </a:r>
            <a:endParaRPr lang="en-US" sz="1050" dirty="0"/>
          </a:p>
        </p:txBody>
      </p:sp>
      <p:sp>
        <p:nvSpPr>
          <p:cNvPr id="107" name="Shape 99"/>
          <p:cNvSpPr/>
          <p:nvPr/>
        </p:nvSpPr>
        <p:spPr>
          <a:xfrm>
            <a:off x="16328667" y="3280368"/>
            <a:ext cx="356206" cy="16536"/>
          </a:xfrm>
          <a:prstGeom prst="rect">
            <a:avLst/>
          </a:prstGeom>
          <a:solidFill>
            <a:srgbClr val="F0CC71"/>
          </a:solidFill>
          <a:ln/>
        </p:spPr>
        <p:txBody>
          <a:bodyPr/>
          <a:lstStyle/>
          <a:p>
            <a:endParaRPr lang="en-US"/>
          </a:p>
        </p:txBody>
      </p:sp>
      <p:sp>
        <p:nvSpPr>
          <p:cNvPr id="108" name="Shape 100"/>
          <p:cNvSpPr/>
          <p:nvPr/>
        </p:nvSpPr>
        <p:spPr>
          <a:xfrm rot="5400000">
            <a:off x="15668211" y="4282219"/>
            <a:ext cx="2019300" cy="16536"/>
          </a:xfrm>
          <a:prstGeom prst="rect">
            <a:avLst/>
          </a:prstGeom>
          <a:solidFill>
            <a:srgbClr val="F0CC71"/>
          </a:solidFill>
          <a:ln/>
        </p:spPr>
        <p:txBody>
          <a:bodyPr/>
          <a:lstStyle/>
          <a:p>
            <a:endParaRPr lang="en-US"/>
          </a:p>
        </p:txBody>
      </p:sp>
      <p:sp>
        <p:nvSpPr>
          <p:cNvPr id="109" name="Shape 101"/>
          <p:cNvSpPr/>
          <p:nvPr/>
        </p:nvSpPr>
        <p:spPr>
          <a:xfrm>
            <a:off x="16684872" y="5300607"/>
            <a:ext cx="356206" cy="16536"/>
          </a:xfrm>
          <a:prstGeom prst="rect">
            <a:avLst/>
          </a:prstGeom>
          <a:solidFill>
            <a:srgbClr val="F0CC71"/>
          </a:solidFill>
          <a:ln/>
        </p:spPr>
        <p:txBody>
          <a:bodyPr/>
          <a:lstStyle/>
          <a:p>
            <a:endParaRPr lang="en-US"/>
          </a:p>
        </p:txBody>
      </p:sp>
      <p:sp>
        <p:nvSpPr>
          <p:cNvPr id="110" name="Shape 102"/>
          <p:cNvSpPr/>
          <p:nvPr/>
        </p:nvSpPr>
        <p:spPr>
          <a:xfrm>
            <a:off x="16950851" y="5241075"/>
            <a:ext cx="89297" cy="119063"/>
          </a:xfrm>
          <a:prstGeom prst="rect">
            <a:avLst/>
          </a:prstGeom>
          <a:solidFill>
            <a:srgbClr val="F0CC71"/>
          </a:solidFill>
          <a:ln/>
        </p:spPr>
        <p:txBody>
          <a:bodyPr/>
          <a:lstStyle/>
          <a:p>
            <a:endParaRPr lang="en-US"/>
          </a:p>
        </p:txBody>
      </p:sp>
      <p:sp>
        <p:nvSpPr>
          <p:cNvPr id="111" name="Shape 103"/>
          <p:cNvSpPr/>
          <p:nvPr/>
        </p:nvSpPr>
        <p:spPr>
          <a:xfrm rot="10800000">
            <a:off x="16328667" y="3220837"/>
            <a:ext cx="89297" cy="119063"/>
          </a:xfrm>
          <a:prstGeom prst="rect">
            <a:avLst/>
          </a:prstGeom>
          <a:solidFill>
            <a:srgbClr val="F0CC71"/>
          </a:solidFill>
          <a:ln/>
        </p:spPr>
        <p:txBody>
          <a:bodyPr/>
          <a:lstStyle/>
          <a:p>
            <a:endParaRPr lang="en-US"/>
          </a:p>
        </p:txBody>
      </p:sp>
      <p:sp>
        <p:nvSpPr>
          <p:cNvPr id="112" name="Shape 104"/>
          <p:cNvSpPr/>
          <p:nvPr/>
        </p:nvSpPr>
        <p:spPr>
          <a:xfrm>
            <a:off x="16318228" y="4218605"/>
            <a:ext cx="360960" cy="16536"/>
          </a:xfrm>
          <a:prstGeom prst="rect">
            <a:avLst/>
          </a:prstGeom>
          <a:solidFill>
            <a:srgbClr val="F0CC71"/>
          </a:solidFill>
          <a:ln/>
        </p:spPr>
        <p:txBody>
          <a:bodyPr/>
          <a:lstStyle/>
          <a:p>
            <a:endParaRPr lang="en-US"/>
          </a:p>
        </p:txBody>
      </p:sp>
      <p:sp>
        <p:nvSpPr>
          <p:cNvPr id="113" name="Shape 105"/>
          <p:cNvSpPr/>
          <p:nvPr/>
        </p:nvSpPr>
        <p:spPr>
          <a:xfrm rot="5400000">
            <a:off x="16129252" y="4751338"/>
            <a:ext cx="1085850" cy="16536"/>
          </a:xfrm>
          <a:prstGeom prst="rect">
            <a:avLst/>
          </a:prstGeom>
          <a:solidFill>
            <a:srgbClr val="F0CC71"/>
          </a:solidFill>
          <a:ln/>
        </p:spPr>
        <p:txBody>
          <a:bodyPr/>
          <a:lstStyle/>
          <a:p>
            <a:endParaRPr lang="en-US"/>
          </a:p>
        </p:txBody>
      </p:sp>
      <p:sp>
        <p:nvSpPr>
          <p:cNvPr id="114" name="Shape 106"/>
          <p:cNvSpPr/>
          <p:nvPr/>
        </p:nvSpPr>
        <p:spPr>
          <a:xfrm>
            <a:off x="16679188" y="5300607"/>
            <a:ext cx="360960" cy="16536"/>
          </a:xfrm>
          <a:prstGeom prst="rect">
            <a:avLst/>
          </a:prstGeom>
          <a:solidFill>
            <a:srgbClr val="F0CC71"/>
          </a:solidFill>
          <a:ln/>
        </p:spPr>
        <p:txBody>
          <a:bodyPr/>
          <a:lstStyle/>
          <a:p>
            <a:endParaRPr lang="en-US"/>
          </a:p>
        </p:txBody>
      </p:sp>
      <p:sp>
        <p:nvSpPr>
          <p:cNvPr id="115" name="Shape 107"/>
          <p:cNvSpPr/>
          <p:nvPr/>
        </p:nvSpPr>
        <p:spPr>
          <a:xfrm>
            <a:off x="16950903" y="5241075"/>
            <a:ext cx="89297" cy="119063"/>
          </a:xfrm>
          <a:prstGeom prst="rect">
            <a:avLst/>
          </a:prstGeom>
          <a:solidFill>
            <a:srgbClr val="F0CC71"/>
          </a:solidFill>
          <a:ln/>
        </p:spPr>
        <p:txBody>
          <a:bodyPr/>
          <a:lstStyle/>
          <a:p>
            <a:endParaRPr lang="en-US"/>
          </a:p>
        </p:txBody>
      </p:sp>
      <p:sp>
        <p:nvSpPr>
          <p:cNvPr id="116" name="Shape 108"/>
          <p:cNvSpPr/>
          <p:nvPr/>
        </p:nvSpPr>
        <p:spPr>
          <a:xfrm rot="10800000">
            <a:off x="16318228" y="4159074"/>
            <a:ext cx="89297" cy="119063"/>
          </a:xfrm>
          <a:prstGeom prst="rect">
            <a:avLst/>
          </a:prstGeom>
          <a:solidFill>
            <a:srgbClr val="F0CC71"/>
          </a:solidFill>
          <a:ln/>
        </p:spPr>
        <p:txBody>
          <a:bodyPr/>
          <a:lstStyle/>
          <a:p>
            <a:endParaRPr lang="en-US"/>
          </a:p>
        </p:txBody>
      </p:sp>
      <p:sp>
        <p:nvSpPr>
          <p:cNvPr id="117" name="Shape 109"/>
          <p:cNvSpPr/>
          <p:nvPr/>
        </p:nvSpPr>
        <p:spPr>
          <a:xfrm>
            <a:off x="16318228" y="5219681"/>
            <a:ext cx="360960" cy="16536"/>
          </a:xfrm>
          <a:prstGeom prst="rect">
            <a:avLst/>
          </a:prstGeom>
          <a:solidFill>
            <a:srgbClr val="F0CC71"/>
          </a:solidFill>
          <a:ln/>
        </p:spPr>
        <p:txBody>
          <a:bodyPr/>
          <a:lstStyle/>
          <a:p>
            <a:endParaRPr lang="en-US"/>
          </a:p>
        </p:txBody>
      </p:sp>
      <p:sp>
        <p:nvSpPr>
          <p:cNvPr id="118" name="Shape 110"/>
          <p:cNvSpPr/>
          <p:nvPr/>
        </p:nvSpPr>
        <p:spPr>
          <a:xfrm rot="5400000">
            <a:off x="16629314" y="5252367"/>
            <a:ext cx="85725" cy="16536"/>
          </a:xfrm>
          <a:prstGeom prst="rect">
            <a:avLst/>
          </a:prstGeom>
          <a:solidFill>
            <a:srgbClr val="F0CC71"/>
          </a:solidFill>
          <a:ln/>
        </p:spPr>
        <p:txBody>
          <a:bodyPr/>
          <a:lstStyle/>
          <a:p>
            <a:endParaRPr lang="en-US"/>
          </a:p>
        </p:txBody>
      </p:sp>
      <p:sp>
        <p:nvSpPr>
          <p:cNvPr id="119" name="Shape 111"/>
          <p:cNvSpPr/>
          <p:nvPr/>
        </p:nvSpPr>
        <p:spPr>
          <a:xfrm>
            <a:off x="16679188" y="5301589"/>
            <a:ext cx="360960" cy="16536"/>
          </a:xfrm>
          <a:prstGeom prst="rect">
            <a:avLst/>
          </a:prstGeom>
          <a:solidFill>
            <a:srgbClr val="F0CC71"/>
          </a:solidFill>
          <a:ln/>
        </p:spPr>
        <p:txBody>
          <a:bodyPr/>
          <a:lstStyle/>
          <a:p>
            <a:endParaRPr lang="en-US"/>
          </a:p>
        </p:txBody>
      </p:sp>
      <p:sp>
        <p:nvSpPr>
          <p:cNvPr id="120" name="Shape 112"/>
          <p:cNvSpPr/>
          <p:nvPr/>
        </p:nvSpPr>
        <p:spPr>
          <a:xfrm>
            <a:off x="16950903" y="5242057"/>
            <a:ext cx="89297" cy="119063"/>
          </a:xfrm>
          <a:prstGeom prst="rect">
            <a:avLst/>
          </a:prstGeom>
          <a:solidFill>
            <a:srgbClr val="F0CC71"/>
          </a:solidFill>
          <a:ln/>
        </p:spPr>
        <p:txBody>
          <a:bodyPr/>
          <a:lstStyle/>
          <a:p>
            <a:endParaRPr lang="en-US"/>
          </a:p>
        </p:txBody>
      </p:sp>
      <p:sp>
        <p:nvSpPr>
          <p:cNvPr id="121" name="Shape 113"/>
          <p:cNvSpPr/>
          <p:nvPr/>
        </p:nvSpPr>
        <p:spPr>
          <a:xfrm rot="10800000">
            <a:off x="16318228" y="5160150"/>
            <a:ext cx="89297" cy="119063"/>
          </a:xfrm>
          <a:prstGeom prst="rect">
            <a:avLst/>
          </a:prstGeom>
          <a:solidFill>
            <a:srgbClr val="F0CC71"/>
          </a:solidFill>
          <a:ln/>
        </p:spPr>
        <p:txBody>
          <a:bodyPr/>
          <a:lstStyle/>
          <a:p>
            <a:endParaRPr lang="en-US"/>
          </a:p>
        </p:txBody>
      </p:sp>
      <p:sp>
        <p:nvSpPr>
          <p:cNvPr id="122" name="Shape 114"/>
          <p:cNvSpPr/>
          <p:nvPr/>
        </p:nvSpPr>
        <p:spPr>
          <a:xfrm rot="10800000">
            <a:off x="16341999" y="6158848"/>
            <a:ext cx="348609" cy="16536"/>
          </a:xfrm>
          <a:prstGeom prst="rect">
            <a:avLst/>
          </a:prstGeom>
          <a:solidFill>
            <a:srgbClr val="F0CC71"/>
          </a:solidFill>
          <a:ln/>
        </p:spPr>
        <p:txBody>
          <a:bodyPr/>
          <a:lstStyle/>
          <a:p>
            <a:endParaRPr lang="en-US"/>
          </a:p>
        </p:txBody>
      </p:sp>
      <p:sp>
        <p:nvSpPr>
          <p:cNvPr id="123" name="Shape 115"/>
          <p:cNvSpPr/>
          <p:nvPr/>
        </p:nvSpPr>
        <p:spPr>
          <a:xfrm rot="5400000">
            <a:off x="16272438" y="5721485"/>
            <a:ext cx="857250" cy="16536"/>
          </a:xfrm>
          <a:prstGeom prst="rect">
            <a:avLst/>
          </a:prstGeom>
          <a:solidFill>
            <a:srgbClr val="F0CC71"/>
          </a:solidFill>
          <a:ln/>
        </p:spPr>
        <p:txBody>
          <a:bodyPr/>
          <a:lstStyle/>
          <a:p>
            <a:endParaRPr lang="en-US"/>
          </a:p>
        </p:txBody>
      </p:sp>
      <p:sp>
        <p:nvSpPr>
          <p:cNvPr id="124" name="Shape 116"/>
          <p:cNvSpPr/>
          <p:nvPr/>
        </p:nvSpPr>
        <p:spPr>
          <a:xfrm rot="10800000">
            <a:off x="16691538" y="5300658"/>
            <a:ext cx="348609" cy="16536"/>
          </a:xfrm>
          <a:prstGeom prst="rect">
            <a:avLst/>
          </a:prstGeom>
          <a:solidFill>
            <a:srgbClr val="F0CC71"/>
          </a:solidFill>
          <a:ln/>
        </p:spPr>
        <p:txBody>
          <a:bodyPr/>
          <a:lstStyle/>
          <a:p>
            <a:endParaRPr lang="en-US"/>
          </a:p>
        </p:txBody>
      </p:sp>
      <p:sp>
        <p:nvSpPr>
          <p:cNvPr id="125" name="Shape 117"/>
          <p:cNvSpPr/>
          <p:nvPr/>
        </p:nvSpPr>
        <p:spPr>
          <a:xfrm rot="10800000">
            <a:off x="16950851" y="5241127"/>
            <a:ext cx="89297" cy="119063"/>
          </a:xfrm>
          <a:prstGeom prst="rect">
            <a:avLst/>
          </a:prstGeom>
          <a:solidFill>
            <a:srgbClr val="F0CC71"/>
          </a:solidFill>
          <a:ln/>
        </p:spPr>
        <p:txBody>
          <a:bodyPr/>
          <a:lstStyle/>
          <a:p>
            <a:endParaRPr lang="en-US"/>
          </a:p>
        </p:txBody>
      </p:sp>
      <p:sp>
        <p:nvSpPr>
          <p:cNvPr id="126" name="Shape 118"/>
          <p:cNvSpPr/>
          <p:nvPr/>
        </p:nvSpPr>
        <p:spPr>
          <a:xfrm>
            <a:off x="16341999" y="6099317"/>
            <a:ext cx="89297" cy="119063"/>
          </a:xfrm>
          <a:prstGeom prst="rect">
            <a:avLst/>
          </a:prstGeom>
          <a:solidFill>
            <a:srgbClr val="F0CC71"/>
          </a:solidFill>
          <a:ln/>
        </p:spPr>
        <p:txBody>
          <a:bodyPr/>
          <a:lstStyle/>
          <a:p>
            <a:endParaRPr lang="en-US"/>
          </a:p>
        </p:txBody>
      </p:sp>
      <p:sp>
        <p:nvSpPr>
          <p:cNvPr id="127" name="Shape 119"/>
          <p:cNvSpPr/>
          <p:nvPr/>
        </p:nvSpPr>
        <p:spPr>
          <a:xfrm rot="10800000">
            <a:off x="16351559" y="7078017"/>
            <a:ext cx="343803" cy="16536"/>
          </a:xfrm>
          <a:prstGeom prst="rect">
            <a:avLst/>
          </a:prstGeom>
          <a:solidFill>
            <a:srgbClr val="F0CC71"/>
          </a:solidFill>
          <a:ln/>
        </p:spPr>
        <p:txBody>
          <a:bodyPr/>
          <a:lstStyle/>
          <a:p>
            <a:endParaRPr lang="en-US"/>
          </a:p>
        </p:txBody>
      </p:sp>
      <p:sp>
        <p:nvSpPr>
          <p:cNvPr id="128" name="Shape 120"/>
          <p:cNvSpPr/>
          <p:nvPr/>
        </p:nvSpPr>
        <p:spPr>
          <a:xfrm rot="5400000">
            <a:off x="15815333" y="6181070"/>
            <a:ext cx="1781175" cy="16536"/>
          </a:xfrm>
          <a:prstGeom prst="rect">
            <a:avLst/>
          </a:prstGeom>
          <a:solidFill>
            <a:srgbClr val="F0CC71"/>
          </a:solidFill>
          <a:ln/>
        </p:spPr>
        <p:txBody>
          <a:bodyPr/>
          <a:lstStyle/>
          <a:p>
            <a:endParaRPr lang="en-US"/>
          </a:p>
        </p:txBody>
      </p:sp>
      <p:sp>
        <p:nvSpPr>
          <p:cNvPr id="129" name="Shape 121"/>
          <p:cNvSpPr/>
          <p:nvPr/>
        </p:nvSpPr>
        <p:spPr>
          <a:xfrm rot="10800000">
            <a:off x="16696396" y="5300658"/>
            <a:ext cx="343803" cy="16536"/>
          </a:xfrm>
          <a:prstGeom prst="rect">
            <a:avLst/>
          </a:prstGeom>
          <a:solidFill>
            <a:srgbClr val="F0CC71"/>
          </a:solidFill>
          <a:ln/>
        </p:spPr>
        <p:txBody>
          <a:bodyPr/>
          <a:lstStyle/>
          <a:p>
            <a:endParaRPr lang="en-US"/>
          </a:p>
        </p:txBody>
      </p:sp>
      <p:sp>
        <p:nvSpPr>
          <p:cNvPr id="130" name="Shape 122"/>
          <p:cNvSpPr/>
          <p:nvPr/>
        </p:nvSpPr>
        <p:spPr>
          <a:xfrm rot="10800000">
            <a:off x="16950903" y="5241127"/>
            <a:ext cx="89297" cy="119063"/>
          </a:xfrm>
          <a:prstGeom prst="rect">
            <a:avLst/>
          </a:prstGeom>
          <a:solidFill>
            <a:srgbClr val="F0CC71"/>
          </a:solidFill>
          <a:ln/>
        </p:spPr>
        <p:txBody>
          <a:bodyPr/>
          <a:lstStyle/>
          <a:p>
            <a:endParaRPr lang="en-US"/>
          </a:p>
        </p:txBody>
      </p:sp>
      <p:sp>
        <p:nvSpPr>
          <p:cNvPr id="131" name="Shape 123"/>
          <p:cNvSpPr/>
          <p:nvPr/>
        </p:nvSpPr>
        <p:spPr>
          <a:xfrm>
            <a:off x="16351559" y="7018486"/>
            <a:ext cx="89297" cy="119063"/>
          </a:xfrm>
          <a:prstGeom prst="rect">
            <a:avLst/>
          </a:prstGeom>
          <a:solidFill>
            <a:srgbClr val="F0CC71"/>
          </a:solidFill>
          <a:ln/>
        </p:spPr>
        <p:txBody>
          <a:bodyPr/>
          <a:lstStyle/>
          <a:p>
            <a:endParaRPr lang="en-US"/>
          </a:p>
        </p:txBody>
      </p:sp>
      <p:sp>
        <p:nvSpPr>
          <p:cNvPr id="133" name="Text 125"/>
          <p:cNvSpPr/>
          <p:nvPr/>
        </p:nvSpPr>
        <p:spPr>
          <a:xfrm>
            <a:off x="13772323" y="1899977"/>
            <a:ext cx="5107383" cy="3060801"/>
          </a:xfrm>
          <a:prstGeom prst="rect">
            <a:avLst/>
          </a:prstGeom>
          <a:noFill/>
          <a:ln/>
        </p:spPr>
        <p:txBody>
          <a:bodyPr wrap="square" lIns="25400" tIns="25400" rIns="25400" bIns="25400" rtlCol="0" anchor="t">
            <a:normAutofit/>
          </a:bodyPr>
          <a:lstStyle/>
          <a:p>
            <a:pPr marL="0" indent="0" algn="ctr">
              <a:lnSpc>
                <a:spcPct val="76800"/>
              </a:lnSpc>
              <a:buNone/>
            </a:pPr>
            <a:r>
              <a:rPr lang="en-US" sz="4650" b="1" dirty="0">
                <a:solidFill>
                  <a:srgbClr val="FD6953"/>
                </a:solidFill>
                <a:latin typeface="Oracle Sans Tab" pitchFamily="34" charset="0"/>
                <a:ea typeface="Oracle Sans Tab" pitchFamily="34" charset="-122"/>
                <a:cs typeface="Oracle Sans Tab" pitchFamily="34" charset="-120"/>
              </a:rPr>
              <a:t>Anti Pattern</a:t>
            </a:r>
            <a:endParaRPr lang="en-US" sz="4650" dirty="0"/>
          </a:p>
        </p:txBody>
      </p:sp>
      <p:sp>
        <p:nvSpPr>
          <p:cNvPr id="134" name="Shape 126"/>
          <p:cNvSpPr/>
          <p:nvPr/>
        </p:nvSpPr>
        <p:spPr>
          <a:xfrm>
            <a:off x="813387" y="409536"/>
            <a:ext cx="603839" cy="46302"/>
          </a:xfrm>
          <a:prstGeom prst="rect">
            <a:avLst/>
          </a:prstGeom>
          <a:solidFill>
            <a:srgbClr val="C74634"/>
          </a:solidFill>
          <a:ln w="23151">
            <a:solidFill>
              <a:srgbClr val="FD6953"/>
            </a:solidFill>
            <a:prstDash val="solid"/>
          </a:ln>
        </p:spPr>
        <p:txBody>
          <a:bodyPr/>
          <a:lstStyle/>
          <a:p>
            <a:endParaRPr lang="en-US"/>
          </a:p>
        </p:txBody>
      </p:sp>
      <p:sp>
        <p:nvSpPr>
          <p:cNvPr id="135" name="Text 127"/>
          <p:cNvSpPr/>
          <p:nvPr/>
        </p:nvSpPr>
        <p:spPr>
          <a:xfrm>
            <a:off x="813387" y="649521"/>
            <a:ext cx="11301949" cy="381025"/>
          </a:xfrm>
          <a:prstGeom prst="rect">
            <a:avLst/>
          </a:prstGeom>
          <a:noFill/>
          <a:ln/>
        </p:spPr>
        <p:txBody>
          <a:bodyPr wrap="square" lIns="25400" tIns="25400" rIns="25400" bIns="25400" rtlCol="0" anchor="t">
            <a:normAutofit/>
          </a:bodyPr>
          <a:lstStyle/>
          <a:p>
            <a:pPr marL="0" indent="0" algn="l">
              <a:lnSpc>
                <a:spcPct val="92160"/>
              </a:lnSpc>
              <a:buNone/>
            </a:pPr>
            <a:r>
              <a:rPr lang="en-US" sz="2250" b="1" dirty="0">
                <a:solidFill>
                  <a:srgbClr val="FD6953"/>
                </a:solidFill>
                <a:latin typeface="Oracle Sans Tab" pitchFamily="34" charset="0"/>
                <a:ea typeface="Oracle Sans Tab" pitchFamily="34" charset="-122"/>
                <a:cs typeface="Oracle Sans Tab" pitchFamily="34" charset="-120"/>
              </a:rPr>
              <a:t>RAG APPLICATION: DATA INGESTION</a:t>
            </a:r>
            <a:endParaRPr lang="en-US" sz="2250" dirty="0"/>
          </a:p>
        </p:txBody>
      </p:sp>
      <p:sp>
        <p:nvSpPr>
          <p:cNvPr id="136" name="Text 128"/>
          <p:cNvSpPr/>
          <p:nvPr/>
        </p:nvSpPr>
        <p:spPr>
          <a:xfrm>
            <a:off x="813387" y="1218220"/>
            <a:ext cx="16952925" cy="738161"/>
          </a:xfrm>
          <a:prstGeom prst="rect">
            <a:avLst/>
          </a:prstGeom>
          <a:noFill/>
          <a:ln/>
        </p:spPr>
        <p:txBody>
          <a:bodyPr wrap="square" lIns="25400" tIns="25400" rIns="25400" bIns="25400" rtlCol="0" anchor="t">
            <a:normAutofit/>
          </a:bodyPr>
          <a:lstStyle/>
          <a:p>
            <a:pPr marL="0" indent="0" algn="l">
              <a:lnSpc>
                <a:spcPct val="80640"/>
              </a:lnSpc>
              <a:buNone/>
            </a:pPr>
            <a:r>
              <a:rPr lang="en-US" sz="5250" dirty="0">
                <a:solidFill>
                  <a:srgbClr val="FFFFFF"/>
                </a:solidFill>
                <a:latin typeface="Oracle Sans Tab" pitchFamily="34" charset="0"/>
                <a:ea typeface="Oracle Sans Tab" pitchFamily="34" charset="-122"/>
                <a:cs typeface="Oracle Sans Tab" pitchFamily="34" charset="-120"/>
              </a:rPr>
              <a:t>We are seeing Increase in </a:t>
            </a:r>
            <a:r>
              <a:rPr lang="en-US" sz="5250" i="1" dirty="0">
                <a:solidFill>
                  <a:srgbClr val="FD6953"/>
                </a:solidFill>
                <a:latin typeface="Oracle Sans Tab" pitchFamily="34" charset="0"/>
                <a:ea typeface="Oracle Sans Tab" pitchFamily="34" charset="-122"/>
                <a:cs typeface="Oracle Sans Tab" pitchFamily="34" charset="-120"/>
              </a:rPr>
              <a:t>Cognitive Load</a:t>
            </a:r>
            <a:endParaRPr lang="en-US" sz="1200" dirty="0"/>
          </a:p>
        </p:txBody>
      </p:sp>
      <p:sp>
        <p:nvSpPr>
          <p:cNvPr id="137" name="Text 96">
            <a:extLst>
              <a:ext uri="{FF2B5EF4-FFF2-40B4-BE49-F238E27FC236}">
                <a16:creationId xmlns:a16="http://schemas.microsoft.com/office/drawing/2014/main" id="{36E7E547-AE52-BDF7-3105-A206D1299CF7}"/>
              </a:ext>
            </a:extLst>
          </p:cNvPr>
          <p:cNvSpPr/>
          <p:nvPr/>
        </p:nvSpPr>
        <p:spPr>
          <a:xfrm>
            <a:off x="15753921" y="4617831"/>
            <a:ext cx="765099" cy="190494"/>
          </a:xfrm>
          <a:prstGeom prst="rect">
            <a:avLst/>
          </a:prstGeom>
          <a:noFill/>
          <a:ln/>
        </p:spPr>
        <p:txBody>
          <a:bodyPr wrap="square" lIns="25400" tIns="25400" rIns="25400" bIns="25400" rtlCol="0" anchor="t">
            <a:normAutofit/>
          </a:bodyPr>
          <a:lstStyle/>
          <a:p>
            <a:pPr marL="0" indent="0" algn="ctr">
              <a:lnSpc>
                <a:spcPct val="76800"/>
              </a:lnSpc>
              <a:buNone/>
            </a:pPr>
            <a:r>
              <a:rPr lang="en-US" sz="1050" dirty="0">
                <a:latin typeface="Oracle Sans Tab" pitchFamily="34" charset="0"/>
                <a:cs typeface="Oracle Sans Tab" pitchFamily="34" charset="-120"/>
              </a:rPr>
              <a:t>JSON</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Shape 0"/>
          <p:cNvSpPr/>
          <p:nvPr/>
        </p:nvSpPr>
        <p:spPr>
          <a:xfrm>
            <a:off x="16379155" y="2646970"/>
            <a:ext cx="1632562" cy="2490752"/>
          </a:xfrm>
          <a:prstGeom prst="rect">
            <a:avLst/>
          </a:prstGeom>
          <a:solidFill>
            <a:srgbClr val="0B5060"/>
          </a:solidFill>
          <a:ln w="16536">
            <a:solidFill>
              <a:srgbClr val="FFFFFF">
                <a:alpha val="30000"/>
              </a:srgbClr>
            </a:solidFill>
            <a:prstDash val="dash"/>
          </a:ln>
        </p:spPr>
        <p:txBody>
          <a:bodyPr/>
          <a:lstStyle/>
          <a:p>
            <a:endParaRPr lang="en-US"/>
          </a:p>
        </p:txBody>
      </p:sp>
      <p:pic>
        <p:nvPicPr>
          <p:cNvPr id="4" name="Image 1" descr="preencoded.png"/>
          <p:cNvPicPr>
            <a:picLocks noChangeAspect="1"/>
          </p:cNvPicPr>
          <p:nvPr/>
        </p:nvPicPr>
        <p:blipFill>
          <a:blip r:embed="rId4"/>
          <a:srcRect t="-31" b="-31"/>
          <a:stretch/>
        </p:blipFill>
        <p:spPr>
          <a:xfrm>
            <a:off x="367626" y="2870832"/>
            <a:ext cx="1613493" cy="2533644"/>
          </a:xfrm>
          <a:prstGeom prst="rect">
            <a:avLst/>
          </a:prstGeom>
        </p:spPr>
      </p:pic>
      <p:pic>
        <p:nvPicPr>
          <p:cNvPr id="5" name="Image 2" descr="preencoded.png"/>
          <p:cNvPicPr>
            <a:picLocks noChangeAspect="1"/>
          </p:cNvPicPr>
          <p:nvPr/>
        </p:nvPicPr>
        <p:blipFill>
          <a:blip r:embed="rId5"/>
          <a:srcRect t="-58" b="-58"/>
          <a:stretch/>
        </p:blipFill>
        <p:spPr>
          <a:xfrm>
            <a:off x="3560403" y="2638392"/>
            <a:ext cx="1123911" cy="834368"/>
          </a:xfrm>
          <a:prstGeom prst="rect">
            <a:avLst/>
          </a:prstGeom>
        </p:spPr>
      </p:pic>
      <p:sp>
        <p:nvSpPr>
          <p:cNvPr id="6" name="Shape 1"/>
          <p:cNvSpPr/>
          <p:nvPr/>
        </p:nvSpPr>
        <p:spPr>
          <a:xfrm>
            <a:off x="2842255" y="3946167"/>
            <a:ext cx="2561239" cy="434289"/>
          </a:xfrm>
          <a:prstGeom prst="roundRect">
            <a:avLst>
              <a:gd name="adj" fmla="val 16669"/>
            </a:avLst>
          </a:prstGeom>
          <a:solidFill>
            <a:srgbClr val="89B2B0"/>
          </a:solidFill>
          <a:ln w="16536">
            <a:solidFill>
              <a:srgbClr val="FFFFFF">
                <a:alpha val="45000"/>
              </a:srgbClr>
            </a:solidFill>
            <a:prstDash val="solid"/>
          </a:ln>
        </p:spPr>
        <p:txBody>
          <a:bodyPr/>
          <a:lstStyle/>
          <a:p>
            <a:endParaRPr lang="en-US"/>
          </a:p>
        </p:txBody>
      </p:sp>
      <p:sp>
        <p:nvSpPr>
          <p:cNvPr id="7" name="Text 2"/>
          <p:cNvSpPr/>
          <p:nvPr/>
        </p:nvSpPr>
        <p:spPr>
          <a:xfrm>
            <a:off x="2957841" y="4010918"/>
            <a:ext cx="2330068" cy="342888"/>
          </a:xfrm>
          <a:prstGeom prst="rect">
            <a:avLst/>
          </a:prstGeom>
          <a:noFill/>
          <a:ln/>
        </p:spPr>
        <p:txBody>
          <a:bodyPr wrap="square" lIns="25400" tIns="25400" rIns="25400" bIns="25400" rtlCol="0" anchor="t">
            <a:normAutofit/>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Data ingested into a Data Processing pipeline</a:t>
            </a:r>
            <a:endParaRPr lang="en-US" sz="1200" dirty="0"/>
          </a:p>
        </p:txBody>
      </p:sp>
      <p:pic>
        <p:nvPicPr>
          <p:cNvPr id="8" name="Image 3" descr="preencoded.png"/>
          <p:cNvPicPr>
            <a:picLocks noChangeAspect="1"/>
          </p:cNvPicPr>
          <p:nvPr/>
        </p:nvPicPr>
        <p:blipFill>
          <a:blip r:embed="rId6"/>
          <a:srcRect l="-15" r="-15"/>
          <a:stretch/>
        </p:blipFill>
        <p:spPr>
          <a:xfrm>
            <a:off x="7405646" y="2953670"/>
            <a:ext cx="1055336" cy="898188"/>
          </a:xfrm>
          <a:prstGeom prst="rect">
            <a:avLst/>
          </a:prstGeom>
        </p:spPr>
      </p:pic>
      <p:sp>
        <p:nvSpPr>
          <p:cNvPr id="9" name="Shape 3"/>
          <p:cNvSpPr/>
          <p:nvPr/>
        </p:nvSpPr>
        <p:spPr>
          <a:xfrm rot="102600">
            <a:off x="1982507" y="4149412"/>
            <a:ext cx="857250" cy="26458"/>
          </a:xfrm>
          <a:prstGeom prst="rect">
            <a:avLst/>
          </a:prstGeom>
          <a:solidFill>
            <a:srgbClr val="F0CC71"/>
          </a:solidFill>
          <a:ln/>
        </p:spPr>
        <p:txBody>
          <a:bodyPr/>
          <a:lstStyle/>
          <a:p>
            <a:endParaRPr lang="en-US"/>
          </a:p>
        </p:txBody>
      </p:sp>
      <p:sp>
        <p:nvSpPr>
          <p:cNvPr id="10" name="Shape 4"/>
          <p:cNvSpPr/>
          <p:nvPr/>
        </p:nvSpPr>
        <p:spPr>
          <a:xfrm rot="102600">
            <a:off x="2707759" y="4070835"/>
            <a:ext cx="135599" cy="180975"/>
          </a:xfrm>
          <a:prstGeom prst="rect">
            <a:avLst/>
          </a:prstGeom>
          <a:solidFill>
            <a:srgbClr val="F0CC71"/>
          </a:solidFill>
          <a:ln/>
        </p:spPr>
        <p:txBody>
          <a:bodyPr/>
          <a:lstStyle/>
          <a:p>
            <a:endParaRPr lang="en-US"/>
          </a:p>
        </p:txBody>
      </p:sp>
      <p:sp>
        <p:nvSpPr>
          <p:cNvPr id="11" name="Shape 5"/>
          <p:cNvSpPr/>
          <p:nvPr/>
        </p:nvSpPr>
        <p:spPr>
          <a:xfrm rot="10800000">
            <a:off x="4808182" y="3678483"/>
            <a:ext cx="1298215" cy="36380"/>
          </a:xfrm>
          <a:prstGeom prst="rect">
            <a:avLst/>
          </a:prstGeom>
          <a:solidFill>
            <a:srgbClr val="F0CC71"/>
          </a:solidFill>
          <a:ln/>
        </p:spPr>
        <p:txBody>
          <a:bodyPr/>
          <a:lstStyle/>
          <a:p>
            <a:endParaRPr lang="en-US"/>
          </a:p>
        </p:txBody>
      </p:sp>
      <p:sp>
        <p:nvSpPr>
          <p:cNvPr id="12" name="Shape 6"/>
          <p:cNvSpPr/>
          <p:nvPr/>
        </p:nvSpPr>
        <p:spPr>
          <a:xfrm rot="5400000">
            <a:off x="5988368" y="3522679"/>
            <a:ext cx="276225" cy="36380"/>
          </a:xfrm>
          <a:prstGeom prst="rect">
            <a:avLst/>
          </a:prstGeom>
          <a:solidFill>
            <a:srgbClr val="F0CC71"/>
          </a:solidFill>
          <a:ln/>
        </p:spPr>
        <p:txBody>
          <a:bodyPr/>
          <a:lstStyle/>
          <a:p>
            <a:endParaRPr lang="en-US"/>
          </a:p>
        </p:txBody>
      </p:sp>
      <p:sp>
        <p:nvSpPr>
          <p:cNvPr id="13" name="Shape 7"/>
          <p:cNvSpPr/>
          <p:nvPr/>
        </p:nvSpPr>
        <p:spPr>
          <a:xfrm rot="10800000">
            <a:off x="6107431" y="3403255"/>
            <a:ext cx="1298215" cy="36380"/>
          </a:xfrm>
          <a:prstGeom prst="rect">
            <a:avLst/>
          </a:prstGeom>
          <a:solidFill>
            <a:srgbClr val="F0CC71"/>
          </a:solidFill>
          <a:ln/>
        </p:spPr>
        <p:txBody>
          <a:bodyPr/>
          <a:lstStyle/>
          <a:p>
            <a:endParaRPr lang="en-US"/>
          </a:p>
        </p:txBody>
      </p:sp>
      <p:sp>
        <p:nvSpPr>
          <p:cNvPr id="14" name="Shape 8"/>
          <p:cNvSpPr/>
          <p:nvPr/>
        </p:nvSpPr>
        <p:spPr>
          <a:xfrm rot="10800000">
            <a:off x="7223745" y="3284192"/>
            <a:ext cx="181901" cy="238125"/>
          </a:xfrm>
          <a:prstGeom prst="rect">
            <a:avLst/>
          </a:prstGeom>
          <a:solidFill>
            <a:srgbClr val="F0CC71"/>
          </a:solidFill>
          <a:ln/>
        </p:spPr>
        <p:txBody>
          <a:bodyPr/>
          <a:lstStyle/>
          <a:p>
            <a:endParaRPr lang="en-US"/>
          </a:p>
        </p:txBody>
      </p:sp>
      <p:pic>
        <p:nvPicPr>
          <p:cNvPr id="15" name="Image 4" descr="preencoded.png"/>
          <p:cNvPicPr>
            <a:picLocks noChangeAspect="1"/>
          </p:cNvPicPr>
          <p:nvPr/>
        </p:nvPicPr>
        <p:blipFill>
          <a:blip r:embed="rId7"/>
          <a:srcRect l="-175" r="-175"/>
          <a:stretch/>
        </p:blipFill>
        <p:spPr>
          <a:xfrm>
            <a:off x="7601862" y="5637847"/>
            <a:ext cx="741970" cy="594331"/>
          </a:xfrm>
          <a:prstGeom prst="rect">
            <a:avLst/>
          </a:prstGeom>
        </p:spPr>
      </p:pic>
      <p:sp>
        <p:nvSpPr>
          <p:cNvPr id="16" name="Shape 9"/>
          <p:cNvSpPr/>
          <p:nvPr/>
        </p:nvSpPr>
        <p:spPr>
          <a:xfrm rot="5325000">
            <a:off x="7045328" y="4731702"/>
            <a:ext cx="1790700" cy="26458"/>
          </a:xfrm>
          <a:prstGeom prst="rect">
            <a:avLst/>
          </a:prstGeom>
          <a:solidFill>
            <a:srgbClr val="F0CC71"/>
          </a:solidFill>
          <a:ln/>
        </p:spPr>
        <p:txBody>
          <a:bodyPr/>
          <a:lstStyle/>
          <a:p>
            <a:endParaRPr lang="en-US"/>
          </a:p>
        </p:txBody>
      </p:sp>
      <p:sp>
        <p:nvSpPr>
          <p:cNvPr id="17" name="Shape 10"/>
          <p:cNvSpPr/>
          <p:nvPr/>
        </p:nvSpPr>
        <p:spPr>
          <a:xfrm rot="5325000">
            <a:off x="7903127" y="5480700"/>
            <a:ext cx="135599" cy="180975"/>
          </a:xfrm>
          <a:prstGeom prst="rect">
            <a:avLst/>
          </a:prstGeom>
          <a:solidFill>
            <a:srgbClr val="F0CC71"/>
          </a:solidFill>
          <a:ln/>
        </p:spPr>
        <p:txBody>
          <a:bodyPr/>
          <a:lstStyle/>
          <a:p>
            <a:endParaRPr lang="en-US"/>
          </a:p>
        </p:txBody>
      </p:sp>
      <p:sp>
        <p:nvSpPr>
          <p:cNvPr id="18" name="Shape 11"/>
          <p:cNvSpPr/>
          <p:nvPr/>
        </p:nvSpPr>
        <p:spPr>
          <a:xfrm>
            <a:off x="6077286" y="2477730"/>
            <a:ext cx="3994330" cy="430258"/>
          </a:xfrm>
          <a:prstGeom prst="roundRect">
            <a:avLst>
              <a:gd name="adj" fmla="val 26565"/>
            </a:avLst>
          </a:prstGeom>
          <a:solidFill>
            <a:srgbClr val="0B5060"/>
          </a:solidFill>
          <a:ln w="13229">
            <a:solidFill>
              <a:srgbClr val="FFFFFF">
                <a:alpha val="55000"/>
              </a:srgbClr>
            </a:solidFill>
            <a:prstDash val="solid"/>
          </a:ln>
          <a:effectLst>
            <a:outerShdw blurRad="133350" dist="28575" dir="5400000" algn="bl" rotWithShape="0">
              <a:srgbClr val="000000">
                <a:alpha val="30000"/>
              </a:srgbClr>
            </a:outerShdw>
          </a:effectLst>
        </p:spPr>
        <p:txBody>
          <a:bodyPr/>
          <a:lstStyle/>
          <a:p>
            <a:endParaRPr lang="en-US"/>
          </a:p>
        </p:txBody>
      </p:sp>
      <p:sp>
        <p:nvSpPr>
          <p:cNvPr id="19" name="Text 12"/>
          <p:cNvSpPr/>
          <p:nvPr/>
        </p:nvSpPr>
        <p:spPr>
          <a:xfrm>
            <a:off x="6269686" y="2521086"/>
            <a:ext cx="3694520"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Data objects are broken into chunks</a:t>
            </a:r>
            <a:endParaRPr lang="en-US" sz="1650" dirty="0"/>
          </a:p>
        </p:txBody>
      </p:sp>
      <p:sp>
        <p:nvSpPr>
          <p:cNvPr id="20" name="Shape 13"/>
          <p:cNvSpPr/>
          <p:nvPr/>
        </p:nvSpPr>
        <p:spPr>
          <a:xfrm>
            <a:off x="7085614" y="6266491"/>
            <a:ext cx="1772553" cy="282877"/>
          </a:xfrm>
          <a:prstGeom prst="roundRect">
            <a:avLst>
              <a:gd name="adj" fmla="val 16836"/>
            </a:avLst>
          </a:prstGeom>
          <a:solidFill>
            <a:srgbClr val="0B5060"/>
          </a:solidFill>
          <a:ln w="13229">
            <a:solidFill>
              <a:srgbClr val="F0CC71"/>
            </a:solidFill>
            <a:prstDash val="solid"/>
          </a:ln>
        </p:spPr>
        <p:txBody>
          <a:bodyPr/>
          <a:lstStyle/>
          <a:p>
            <a:endParaRPr lang="en-US"/>
          </a:p>
        </p:txBody>
      </p:sp>
      <p:sp>
        <p:nvSpPr>
          <p:cNvPr id="21" name="Text 14"/>
          <p:cNvSpPr/>
          <p:nvPr/>
        </p:nvSpPr>
        <p:spPr>
          <a:xfrm>
            <a:off x="7162402" y="6331758"/>
            <a:ext cx="1618976"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FFFFFF"/>
                </a:solidFill>
                <a:latin typeface="Oracle Sans Tab" pitchFamily="34" charset="0"/>
                <a:ea typeface="Oracle Sans Tab" pitchFamily="34" charset="-122"/>
                <a:cs typeface="Oracle Sans Tab" pitchFamily="34" charset="-120"/>
              </a:rPr>
              <a:t>Embedding Model</a:t>
            </a:r>
            <a:endParaRPr lang="en-US" sz="1200" dirty="0"/>
          </a:p>
        </p:txBody>
      </p:sp>
      <p:pic>
        <p:nvPicPr>
          <p:cNvPr id="22" name="Image 5" descr="preencoded.png"/>
          <p:cNvPicPr>
            <a:picLocks noChangeAspect="1"/>
          </p:cNvPicPr>
          <p:nvPr/>
        </p:nvPicPr>
        <p:blipFill>
          <a:blip r:embed="rId8"/>
          <a:srcRect t="-101" b="-101"/>
          <a:stretch/>
        </p:blipFill>
        <p:spPr>
          <a:xfrm>
            <a:off x="11881445" y="5553046"/>
            <a:ext cx="2517417" cy="762951"/>
          </a:xfrm>
          <a:prstGeom prst="rect">
            <a:avLst/>
          </a:prstGeom>
        </p:spPr>
      </p:pic>
      <p:sp>
        <p:nvSpPr>
          <p:cNvPr id="23" name="Shape 15"/>
          <p:cNvSpPr/>
          <p:nvPr/>
        </p:nvSpPr>
        <p:spPr>
          <a:xfrm>
            <a:off x="11791942" y="2838431"/>
            <a:ext cx="2696476" cy="1246797"/>
          </a:xfrm>
          <a:prstGeom prst="rect">
            <a:avLst/>
          </a:prstGeom>
          <a:ln w="16536">
            <a:solidFill>
              <a:srgbClr val="FFFFFF">
                <a:alpha val="45000"/>
              </a:srgbClr>
            </a:solidFill>
            <a:prstDash val="dash"/>
          </a:ln>
        </p:spPr>
        <p:txBody>
          <a:bodyPr/>
          <a:lstStyle/>
          <a:p>
            <a:endParaRPr lang="en-US"/>
          </a:p>
        </p:txBody>
      </p:sp>
      <p:sp>
        <p:nvSpPr>
          <p:cNvPr id="24" name="Text 16"/>
          <p:cNvSpPr/>
          <p:nvPr/>
        </p:nvSpPr>
        <p:spPr>
          <a:xfrm>
            <a:off x="11945627" y="2923542"/>
            <a:ext cx="2465305" cy="952256"/>
          </a:xfrm>
          <a:prstGeom prst="rect">
            <a:avLst/>
          </a:prstGeom>
          <a:noFill/>
          <a:ln/>
        </p:spPr>
        <p:txBody>
          <a:bodyPr wrap="square" lIns="25400" tIns="25400" rIns="25400" bIns="25400" rtlCol="0" anchor="t">
            <a:normAutofit/>
          </a:bodyPr>
          <a:lstStyle/>
          <a:p>
            <a:pPr marL="0" indent="0" algn="l">
              <a:lnSpc>
                <a:spcPct val="92160"/>
              </a:lnSpc>
              <a:buNone/>
            </a:pPr>
            <a:r>
              <a:rPr lang="en-US" sz="1200" i="1" dirty="0">
                <a:solidFill>
                  <a:srgbClr val="FFFFFF"/>
                </a:solidFill>
                <a:latin typeface="Oracle Sans Tab" pitchFamily="34" charset="0"/>
                <a:ea typeface="Oracle Sans Tab" pitchFamily="34" charset="-122"/>
                <a:cs typeface="Oracle Sans Tab" pitchFamily="34" charset="-120"/>
              </a:rPr>
              <a:t>"We find that retrieval-augmented generation significantly reduces hallucin…all Questions benchmark when using contriver-based retrieval."</a:t>
            </a:r>
            <a:endParaRPr lang="en-US" sz="1200" dirty="0"/>
          </a:p>
        </p:txBody>
      </p:sp>
      <p:sp>
        <p:nvSpPr>
          <p:cNvPr id="25" name="Shape 17"/>
          <p:cNvSpPr/>
          <p:nvPr/>
        </p:nvSpPr>
        <p:spPr>
          <a:xfrm>
            <a:off x="11865270" y="4288110"/>
            <a:ext cx="2597464" cy="1108666"/>
          </a:xfrm>
          <a:prstGeom prst="rect">
            <a:avLst/>
          </a:prstGeom>
          <a:ln w="13229">
            <a:solidFill>
              <a:srgbClr val="FFFFFF">
                <a:alpha val="45000"/>
              </a:srgbClr>
            </a:solidFill>
            <a:prstDash val="dash"/>
          </a:ln>
        </p:spPr>
        <p:txBody>
          <a:bodyPr/>
          <a:lstStyle/>
          <a:p>
            <a:endParaRPr lang="en-US"/>
          </a:p>
        </p:txBody>
      </p:sp>
      <p:sp>
        <p:nvSpPr>
          <p:cNvPr id="26" name="Text 18"/>
          <p:cNvSpPr/>
          <p:nvPr/>
        </p:nvSpPr>
        <p:spPr>
          <a:xfrm>
            <a:off x="12015648" y="4369914"/>
            <a:ext cx="2372907" cy="1135087"/>
          </a:xfrm>
          <a:prstGeom prst="rect">
            <a:avLst/>
          </a:prstGeom>
          <a:noFill/>
          <a:ln/>
        </p:spPr>
        <p:txBody>
          <a:bodyPr wrap="square" lIns="25400" tIns="25400" rIns="25400" bIns="25400" rtlCol="0" anchor="t">
            <a:normAutofit/>
          </a:bodyPr>
          <a:lstStyle/>
          <a:p>
            <a:pPr marL="0" indent="0" algn="l">
              <a:lnSpc>
                <a:spcPct val="92160"/>
              </a:lnSpc>
              <a:buNone/>
            </a:pP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paper_id</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86B596"/>
                </a:solidFill>
                <a:latin typeface="Oracle Sans Tab" pitchFamily="34" charset="0"/>
                <a:ea typeface="Oracle Sans Tab" pitchFamily="34" charset="-122"/>
                <a:cs typeface="Oracle Sans Tab" pitchFamily="34" charset="-120"/>
              </a:rPr>
              <a:t>2312.10997</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title </a:t>
            </a:r>
            <a:r>
              <a:rPr lang="en-US" sz="1050" i="1" dirty="0">
                <a:solidFill>
                  <a:srgbClr val="FFFFFF"/>
                </a:solidFill>
                <a:latin typeface="Oracle Sans Tab" pitchFamily="34" charset="0"/>
                <a:ea typeface="Oracle Sans Tab" pitchFamily="34" charset="-122"/>
                <a:cs typeface="Oracle Sans Tab" pitchFamily="34" charset="-120"/>
              </a:rPr>
              <a:t>": " </a:t>
            </a:r>
            <a:r>
              <a:rPr lang="en-US" sz="1050" i="1" dirty="0">
                <a:solidFill>
                  <a:srgbClr val="86B596"/>
                </a:solidFill>
                <a:latin typeface="Oracle Sans Tab" pitchFamily="34" charset="0"/>
                <a:ea typeface="Oracle Sans Tab" pitchFamily="34" charset="-122"/>
                <a:cs typeface="Oracle Sans Tab" pitchFamily="34" charset="-120"/>
              </a:rPr>
              <a:t>Benchmarking RAG for Factual Consistency </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authors</a:t>
            </a:r>
            <a:r>
              <a:rPr lang="en-US" sz="1050" i="1" dirty="0">
                <a:solidFill>
                  <a:srgbClr val="FFFFFF"/>
                </a:solidFill>
                <a:latin typeface="Oracle Sans Tab" pitchFamily="34" charset="0"/>
                <a:ea typeface="Oracle Sans Tab" pitchFamily="34" charset="-122"/>
                <a:cs typeface="Oracle Sans Tab" pitchFamily="34" charset="-120"/>
              </a:rPr>
              <a:t>": [" </a:t>
            </a:r>
            <a:r>
              <a:rPr lang="en-US" sz="1050" i="1" dirty="0">
                <a:solidFill>
                  <a:srgbClr val="86B596"/>
                </a:solidFill>
                <a:latin typeface="Oracle Sans Tab" pitchFamily="34" charset="0"/>
                <a:ea typeface="Oracle Sans Tab" pitchFamily="34" charset="-122"/>
                <a:cs typeface="Oracle Sans Tab" pitchFamily="34" charset="-120"/>
              </a:rPr>
              <a:t>Chen, Wei", "Patel, Anika", "Yamamoto, Kenji" </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section </a:t>
            </a:r>
            <a:r>
              <a:rPr lang="en-US" sz="1050" i="1" dirty="0">
                <a:solidFill>
                  <a:srgbClr val="FFFFFF"/>
                </a:solidFill>
                <a:latin typeface="Oracle Sans Tab" pitchFamily="34" charset="0"/>
                <a:ea typeface="Oracle Sans Tab" pitchFamily="34" charset="-122"/>
                <a:cs typeface="Oracle Sans Tab" pitchFamily="34" charset="-120"/>
              </a:rPr>
              <a:t>": " </a:t>
            </a:r>
            <a:r>
              <a:rPr lang="en-US" sz="1050" i="1" dirty="0">
                <a:solidFill>
                  <a:srgbClr val="86B596"/>
                </a:solidFill>
                <a:latin typeface="Oracle Sans Tab" pitchFamily="34" charset="0"/>
                <a:ea typeface="Oracle Sans Tab" pitchFamily="34" charset="-122"/>
                <a:cs typeface="Oracle Sans Tab" pitchFamily="34" charset="-120"/>
              </a:rPr>
              <a:t>Results</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page</a:t>
            </a:r>
            <a:r>
              <a:rPr lang="en-US" sz="1050" i="1" dirty="0">
                <a:solidFill>
                  <a:srgbClr val="FFFFFF"/>
                </a:solidFill>
                <a:latin typeface="Oracle Sans Tab" pitchFamily="34" charset="0"/>
                <a:ea typeface="Oracle Sans Tab" pitchFamily="34" charset="-122"/>
                <a:cs typeface="Oracle Sans Tab" pitchFamily="34" charset="-120"/>
              </a:rPr>
              <a:t>":</a:t>
            </a:r>
            <a:r>
              <a:rPr lang="en-US" sz="1050" i="1" dirty="0">
                <a:solidFill>
                  <a:srgbClr val="86B596"/>
                </a:solidFill>
                <a:latin typeface="Oracle Sans Tab" pitchFamily="34" charset="0"/>
                <a:ea typeface="Oracle Sans Tab" pitchFamily="34" charset="-122"/>
                <a:cs typeface="Oracle Sans Tab" pitchFamily="34" charset="-120"/>
              </a:rPr>
              <a:t>7</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chunk_index</a:t>
            </a:r>
            <a:r>
              <a:rPr lang="en-US" sz="1050" i="1" dirty="0">
                <a:solidFill>
                  <a:srgbClr val="FFFFFF"/>
                </a:solidFill>
                <a:latin typeface="Oracle Sans Tab" pitchFamily="34" charset="0"/>
                <a:ea typeface="Oracle Sans Tab" pitchFamily="34" charset="-122"/>
                <a:cs typeface="Oracle Sans Tab" pitchFamily="34" charset="-120"/>
              </a:rPr>
              <a:t>":</a:t>
            </a:r>
            <a:r>
              <a:rPr lang="en-US" sz="1050" i="1" dirty="0">
                <a:solidFill>
                  <a:srgbClr val="86B596"/>
                </a:solidFill>
                <a:latin typeface="Oracle Sans Tab" pitchFamily="34" charset="0"/>
                <a:ea typeface="Oracle Sans Tab" pitchFamily="34" charset="-122"/>
                <a:cs typeface="Oracle Sans Tab" pitchFamily="34" charset="-120"/>
              </a:rPr>
              <a:t>42</a:t>
            </a:r>
            <a:r>
              <a:rPr lang="en-US" sz="1050" i="1" dirty="0">
                <a:solidFill>
                  <a:srgbClr val="FFFFFF"/>
                </a:solidFill>
                <a:latin typeface="Oracle Sans Tab" pitchFamily="34" charset="0"/>
                <a:ea typeface="Oracle Sans Tab" pitchFamily="34" charset="-122"/>
                <a:cs typeface="Oracle Sans Tab" pitchFamily="34" charset="-120"/>
              </a:rPr>
              <a:t>}</a:t>
            </a:r>
            <a:endParaRPr lang="en-US" sz="1200" dirty="0"/>
          </a:p>
        </p:txBody>
      </p:sp>
      <p:sp>
        <p:nvSpPr>
          <p:cNvPr id="27" name="Shape 19"/>
          <p:cNvSpPr/>
          <p:nvPr/>
        </p:nvSpPr>
        <p:spPr>
          <a:xfrm>
            <a:off x="8342901" y="5934987"/>
            <a:ext cx="1769711" cy="36380"/>
          </a:xfrm>
          <a:prstGeom prst="rect">
            <a:avLst/>
          </a:prstGeom>
          <a:solidFill>
            <a:srgbClr val="F0CC71"/>
          </a:solidFill>
          <a:ln/>
        </p:spPr>
        <p:txBody>
          <a:bodyPr/>
          <a:lstStyle/>
          <a:p>
            <a:endParaRPr lang="en-US"/>
          </a:p>
        </p:txBody>
      </p:sp>
      <p:sp>
        <p:nvSpPr>
          <p:cNvPr id="28" name="Shape 20"/>
          <p:cNvSpPr/>
          <p:nvPr/>
        </p:nvSpPr>
        <p:spPr>
          <a:xfrm rot="1800">
            <a:off x="10112593" y="5934987"/>
            <a:ext cx="1769730" cy="36380"/>
          </a:xfrm>
          <a:prstGeom prst="rect">
            <a:avLst/>
          </a:prstGeom>
          <a:solidFill>
            <a:srgbClr val="F0CC71"/>
          </a:solidFill>
          <a:ln/>
        </p:spPr>
        <p:txBody>
          <a:bodyPr/>
          <a:lstStyle/>
          <a:p>
            <a:endParaRPr lang="en-US"/>
          </a:p>
        </p:txBody>
      </p:sp>
      <p:sp>
        <p:nvSpPr>
          <p:cNvPr id="29" name="Shape 21"/>
          <p:cNvSpPr/>
          <p:nvPr/>
        </p:nvSpPr>
        <p:spPr>
          <a:xfrm rot="1800">
            <a:off x="11699430" y="5816759"/>
            <a:ext cx="181901" cy="238220"/>
          </a:xfrm>
          <a:prstGeom prst="rect">
            <a:avLst/>
          </a:prstGeom>
          <a:solidFill>
            <a:srgbClr val="F0CC71"/>
          </a:solidFill>
          <a:ln/>
        </p:spPr>
        <p:txBody>
          <a:bodyPr/>
          <a:lstStyle/>
          <a:p>
            <a:endParaRPr lang="en-US"/>
          </a:p>
        </p:txBody>
      </p:sp>
      <p:sp>
        <p:nvSpPr>
          <p:cNvPr id="30" name="Shape 22"/>
          <p:cNvSpPr/>
          <p:nvPr/>
        </p:nvSpPr>
        <p:spPr>
          <a:xfrm>
            <a:off x="8461034" y="3403255"/>
            <a:ext cx="1664963" cy="36380"/>
          </a:xfrm>
          <a:prstGeom prst="rect">
            <a:avLst/>
          </a:prstGeom>
          <a:solidFill>
            <a:srgbClr val="F0CC71"/>
          </a:solidFill>
          <a:ln/>
        </p:spPr>
        <p:txBody>
          <a:bodyPr/>
          <a:lstStyle/>
          <a:p>
            <a:endParaRPr lang="en-US"/>
          </a:p>
        </p:txBody>
      </p:sp>
      <p:sp>
        <p:nvSpPr>
          <p:cNvPr id="31" name="Shape 23"/>
          <p:cNvSpPr/>
          <p:nvPr/>
        </p:nvSpPr>
        <p:spPr>
          <a:xfrm rot="5400000">
            <a:off x="10080092" y="3414572"/>
            <a:ext cx="57150" cy="36380"/>
          </a:xfrm>
          <a:prstGeom prst="rect">
            <a:avLst/>
          </a:prstGeom>
          <a:solidFill>
            <a:srgbClr val="F0CC71"/>
          </a:solidFill>
          <a:ln/>
        </p:spPr>
        <p:txBody>
          <a:bodyPr/>
          <a:lstStyle/>
          <a:p>
            <a:endParaRPr lang="en-US"/>
          </a:p>
        </p:txBody>
      </p:sp>
      <p:sp>
        <p:nvSpPr>
          <p:cNvPr id="32" name="Shape 24"/>
          <p:cNvSpPr/>
          <p:nvPr/>
        </p:nvSpPr>
        <p:spPr>
          <a:xfrm>
            <a:off x="10125997" y="3462269"/>
            <a:ext cx="1664963" cy="36380"/>
          </a:xfrm>
          <a:prstGeom prst="rect">
            <a:avLst/>
          </a:prstGeom>
          <a:solidFill>
            <a:srgbClr val="F0CC71"/>
          </a:solidFill>
          <a:ln/>
        </p:spPr>
        <p:txBody>
          <a:bodyPr/>
          <a:lstStyle/>
          <a:p>
            <a:endParaRPr lang="en-US"/>
          </a:p>
        </p:txBody>
      </p:sp>
      <p:sp>
        <p:nvSpPr>
          <p:cNvPr id="33" name="Shape 25"/>
          <p:cNvSpPr/>
          <p:nvPr/>
        </p:nvSpPr>
        <p:spPr>
          <a:xfrm>
            <a:off x="11609989" y="3343207"/>
            <a:ext cx="181901" cy="238125"/>
          </a:xfrm>
          <a:prstGeom prst="rect">
            <a:avLst/>
          </a:prstGeom>
          <a:solidFill>
            <a:srgbClr val="F0CC71"/>
          </a:solidFill>
          <a:ln/>
        </p:spPr>
        <p:txBody>
          <a:bodyPr/>
          <a:lstStyle/>
          <a:p>
            <a:endParaRPr lang="en-US"/>
          </a:p>
        </p:txBody>
      </p:sp>
      <p:sp>
        <p:nvSpPr>
          <p:cNvPr id="34" name="Shape 26"/>
          <p:cNvSpPr/>
          <p:nvPr/>
        </p:nvSpPr>
        <p:spPr>
          <a:xfrm>
            <a:off x="8461034" y="3403255"/>
            <a:ext cx="1702067" cy="36380"/>
          </a:xfrm>
          <a:prstGeom prst="rect">
            <a:avLst/>
          </a:prstGeom>
          <a:solidFill>
            <a:srgbClr val="F0CC71"/>
          </a:solidFill>
          <a:ln/>
        </p:spPr>
        <p:txBody>
          <a:bodyPr/>
          <a:lstStyle/>
          <a:p>
            <a:endParaRPr lang="en-US"/>
          </a:p>
        </p:txBody>
      </p:sp>
      <p:sp>
        <p:nvSpPr>
          <p:cNvPr id="35" name="Shape 27"/>
          <p:cNvSpPr/>
          <p:nvPr/>
        </p:nvSpPr>
        <p:spPr>
          <a:xfrm rot="5400000">
            <a:off x="9426633" y="4104659"/>
            <a:ext cx="1438275" cy="36380"/>
          </a:xfrm>
          <a:prstGeom prst="rect">
            <a:avLst/>
          </a:prstGeom>
          <a:solidFill>
            <a:srgbClr val="F0CC71"/>
          </a:solidFill>
          <a:ln/>
        </p:spPr>
        <p:txBody>
          <a:bodyPr/>
          <a:lstStyle/>
          <a:p>
            <a:endParaRPr lang="en-US"/>
          </a:p>
        </p:txBody>
      </p:sp>
      <p:sp>
        <p:nvSpPr>
          <p:cNvPr id="36" name="Shape 28"/>
          <p:cNvSpPr/>
          <p:nvPr/>
        </p:nvSpPr>
        <p:spPr>
          <a:xfrm>
            <a:off x="10163101" y="4842443"/>
            <a:ext cx="1702067" cy="36380"/>
          </a:xfrm>
          <a:prstGeom prst="rect">
            <a:avLst/>
          </a:prstGeom>
          <a:solidFill>
            <a:srgbClr val="F0CC71"/>
          </a:solidFill>
          <a:ln/>
        </p:spPr>
        <p:txBody>
          <a:bodyPr/>
          <a:lstStyle/>
          <a:p>
            <a:endParaRPr lang="en-US"/>
          </a:p>
        </p:txBody>
      </p:sp>
      <p:sp>
        <p:nvSpPr>
          <p:cNvPr id="37" name="Shape 29"/>
          <p:cNvSpPr/>
          <p:nvPr/>
        </p:nvSpPr>
        <p:spPr>
          <a:xfrm>
            <a:off x="11683317" y="4723381"/>
            <a:ext cx="181901" cy="238125"/>
          </a:xfrm>
          <a:prstGeom prst="rect">
            <a:avLst/>
          </a:prstGeom>
          <a:solidFill>
            <a:srgbClr val="F0CC71"/>
          </a:solidFill>
          <a:ln/>
        </p:spPr>
        <p:txBody>
          <a:bodyPr/>
          <a:lstStyle/>
          <a:p>
            <a:endParaRPr lang="en-US"/>
          </a:p>
        </p:txBody>
      </p:sp>
      <p:sp>
        <p:nvSpPr>
          <p:cNvPr id="38" name="Shape 30"/>
          <p:cNvSpPr/>
          <p:nvPr/>
        </p:nvSpPr>
        <p:spPr>
          <a:xfrm>
            <a:off x="16764920" y="5503540"/>
            <a:ext cx="861033" cy="1369684"/>
          </a:xfrm>
          <a:prstGeom prst="roundRect">
            <a:avLst>
              <a:gd name="adj" fmla="val 50000"/>
            </a:avLst>
          </a:prstGeom>
          <a:solidFill>
            <a:srgbClr val="C74634"/>
          </a:solidFill>
          <a:ln w="13229">
            <a:solidFill>
              <a:srgbClr val="FFFFFF">
                <a:alpha val="3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39" name="Shape 31"/>
          <p:cNvSpPr/>
          <p:nvPr/>
        </p:nvSpPr>
        <p:spPr>
          <a:xfrm>
            <a:off x="16452483" y="3239440"/>
            <a:ext cx="1467766" cy="300033"/>
          </a:xfrm>
          <a:prstGeom prst="roundRect">
            <a:avLst>
              <a:gd name="adj" fmla="val 16826"/>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40" name="Text 32"/>
          <p:cNvSpPr/>
          <p:nvPr/>
        </p:nvSpPr>
        <p:spPr>
          <a:xfrm>
            <a:off x="16568069" y="3313286"/>
            <a:ext cx="1236594"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JSON</a:t>
            </a:r>
            <a:endParaRPr lang="en-US" sz="1200" dirty="0"/>
          </a:p>
        </p:txBody>
      </p:sp>
      <p:sp>
        <p:nvSpPr>
          <p:cNvPr id="41" name="Shape 33"/>
          <p:cNvSpPr/>
          <p:nvPr/>
        </p:nvSpPr>
        <p:spPr>
          <a:xfrm>
            <a:off x="16452483" y="3729953"/>
            <a:ext cx="1467766" cy="314296"/>
          </a:xfrm>
          <a:prstGeom prst="roundRect">
            <a:avLst>
              <a:gd name="adj" fmla="val 16668"/>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42" name="Text 34"/>
          <p:cNvSpPr/>
          <p:nvPr/>
        </p:nvSpPr>
        <p:spPr>
          <a:xfrm>
            <a:off x="16568069" y="3810930"/>
            <a:ext cx="1236594"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Graph</a:t>
            </a:r>
            <a:endParaRPr lang="en-US" sz="1200" dirty="0"/>
          </a:p>
        </p:txBody>
      </p:sp>
      <p:sp>
        <p:nvSpPr>
          <p:cNvPr id="43" name="Shape 35"/>
          <p:cNvSpPr/>
          <p:nvPr/>
        </p:nvSpPr>
        <p:spPr>
          <a:xfrm>
            <a:off x="16452483" y="4217624"/>
            <a:ext cx="1467766" cy="314296"/>
          </a:xfrm>
          <a:prstGeom prst="roundRect">
            <a:avLst>
              <a:gd name="adj" fmla="val 16668"/>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44" name="Text 36"/>
          <p:cNvSpPr/>
          <p:nvPr/>
        </p:nvSpPr>
        <p:spPr>
          <a:xfrm>
            <a:off x="16568069" y="4298600"/>
            <a:ext cx="1236594"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Operational</a:t>
            </a:r>
            <a:endParaRPr lang="en-US" sz="1200" dirty="0"/>
          </a:p>
        </p:txBody>
      </p:sp>
      <p:sp>
        <p:nvSpPr>
          <p:cNvPr id="45" name="Shape 37"/>
          <p:cNvSpPr/>
          <p:nvPr/>
        </p:nvSpPr>
        <p:spPr>
          <a:xfrm>
            <a:off x="16452483" y="4704364"/>
            <a:ext cx="1467766" cy="300033"/>
          </a:xfrm>
          <a:prstGeom prst="roundRect">
            <a:avLst>
              <a:gd name="adj" fmla="val 16826"/>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46" name="Text 38"/>
          <p:cNvSpPr/>
          <p:nvPr/>
        </p:nvSpPr>
        <p:spPr>
          <a:xfrm>
            <a:off x="16568069" y="4778210"/>
            <a:ext cx="1236594"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Vector</a:t>
            </a:r>
            <a:endParaRPr lang="en-US" sz="1200" dirty="0"/>
          </a:p>
        </p:txBody>
      </p:sp>
      <p:sp>
        <p:nvSpPr>
          <p:cNvPr id="47" name="Shape 39"/>
          <p:cNvSpPr/>
          <p:nvPr/>
        </p:nvSpPr>
        <p:spPr>
          <a:xfrm>
            <a:off x="14462735" y="4842495"/>
            <a:ext cx="1150576" cy="36380"/>
          </a:xfrm>
          <a:prstGeom prst="rect">
            <a:avLst/>
          </a:prstGeom>
          <a:solidFill>
            <a:srgbClr val="F0CC71"/>
          </a:solidFill>
          <a:ln/>
        </p:spPr>
        <p:txBody>
          <a:bodyPr/>
          <a:lstStyle/>
          <a:p>
            <a:endParaRPr lang="en-US"/>
          </a:p>
        </p:txBody>
      </p:sp>
      <p:sp>
        <p:nvSpPr>
          <p:cNvPr id="48" name="Shape 40"/>
          <p:cNvSpPr/>
          <p:nvPr/>
        </p:nvSpPr>
        <p:spPr>
          <a:xfrm rot="5400000">
            <a:off x="14924467" y="5497700"/>
            <a:ext cx="1343025" cy="36380"/>
          </a:xfrm>
          <a:prstGeom prst="rect">
            <a:avLst/>
          </a:prstGeom>
          <a:solidFill>
            <a:srgbClr val="F0CC71"/>
          </a:solidFill>
          <a:ln/>
        </p:spPr>
        <p:txBody>
          <a:bodyPr/>
          <a:lstStyle/>
          <a:p>
            <a:endParaRPr lang="en-US"/>
          </a:p>
        </p:txBody>
      </p:sp>
      <p:sp>
        <p:nvSpPr>
          <p:cNvPr id="49" name="Shape 41"/>
          <p:cNvSpPr/>
          <p:nvPr/>
        </p:nvSpPr>
        <p:spPr>
          <a:xfrm>
            <a:off x="15613310" y="6189286"/>
            <a:ext cx="1150576" cy="36380"/>
          </a:xfrm>
          <a:prstGeom prst="rect">
            <a:avLst/>
          </a:prstGeom>
          <a:solidFill>
            <a:srgbClr val="F0CC71"/>
          </a:solidFill>
          <a:ln/>
        </p:spPr>
        <p:txBody>
          <a:bodyPr/>
          <a:lstStyle/>
          <a:p>
            <a:endParaRPr lang="en-US"/>
          </a:p>
        </p:txBody>
      </p:sp>
      <p:sp>
        <p:nvSpPr>
          <p:cNvPr id="50" name="Shape 42"/>
          <p:cNvSpPr/>
          <p:nvPr/>
        </p:nvSpPr>
        <p:spPr>
          <a:xfrm>
            <a:off x="16583018" y="6070224"/>
            <a:ext cx="181901" cy="238125"/>
          </a:xfrm>
          <a:prstGeom prst="rect">
            <a:avLst/>
          </a:prstGeom>
          <a:solidFill>
            <a:srgbClr val="F0CC71"/>
          </a:solidFill>
          <a:ln/>
        </p:spPr>
        <p:txBody>
          <a:bodyPr/>
          <a:lstStyle/>
          <a:p>
            <a:endParaRPr lang="en-US"/>
          </a:p>
        </p:txBody>
      </p:sp>
      <p:sp>
        <p:nvSpPr>
          <p:cNvPr id="51" name="Shape 43"/>
          <p:cNvSpPr/>
          <p:nvPr/>
        </p:nvSpPr>
        <p:spPr>
          <a:xfrm>
            <a:off x="14488469" y="3461339"/>
            <a:ext cx="1138225" cy="36380"/>
          </a:xfrm>
          <a:prstGeom prst="rect">
            <a:avLst/>
          </a:prstGeom>
          <a:solidFill>
            <a:srgbClr val="F0CC71"/>
          </a:solidFill>
          <a:ln/>
        </p:spPr>
        <p:txBody>
          <a:bodyPr/>
          <a:lstStyle/>
          <a:p>
            <a:endParaRPr lang="en-US"/>
          </a:p>
        </p:txBody>
      </p:sp>
      <p:sp>
        <p:nvSpPr>
          <p:cNvPr id="52" name="Shape 44"/>
          <p:cNvSpPr/>
          <p:nvPr/>
        </p:nvSpPr>
        <p:spPr>
          <a:xfrm rot="5400000">
            <a:off x="14247289" y="4806632"/>
            <a:ext cx="2724150" cy="36380"/>
          </a:xfrm>
          <a:prstGeom prst="rect">
            <a:avLst/>
          </a:prstGeom>
          <a:solidFill>
            <a:srgbClr val="F0CC71"/>
          </a:solidFill>
          <a:ln/>
        </p:spPr>
        <p:txBody>
          <a:bodyPr/>
          <a:lstStyle/>
          <a:p>
            <a:endParaRPr lang="en-US"/>
          </a:p>
        </p:txBody>
      </p:sp>
      <p:sp>
        <p:nvSpPr>
          <p:cNvPr id="53" name="Shape 45"/>
          <p:cNvSpPr/>
          <p:nvPr/>
        </p:nvSpPr>
        <p:spPr>
          <a:xfrm>
            <a:off x="15626694" y="6188304"/>
            <a:ext cx="1138225" cy="36380"/>
          </a:xfrm>
          <a:prstGeom prst="rect">
            <a:avLst/>
          </a:prstGeom>
          <a:solidFill>
            <a:srgbClr val="F0CC71"/>
          </a:solidFill>
          <a:ln/>
        </p:spPr>
        <p:txBody>
          <a:bodyPr/>
          <a:lstStyle/>
          <a:p>
            <a:endParaRPr lang="en-US"/>
          </a:p>
        </p:txBody>
      </p:sp>
      <p:sp>
        <p:nvSpPr>
          <p:cNvPr id="54" name="Shape 46"/>
          <p:cNvSpPr/>
          <p:nvPr/>
        </p:nvSpPr>
        <p:spPr>
          <a:xfrm>
            <a:off x="16583018" y="6069242"/>
            <a:ext cx="181901" cy="238125"/>
          </a:xfrm>
          <a:prstGeom prst="rect">
            <a:avLst/>
          </a:prstGeom>
          <a:solidFill>
            <a:srgbClr val="F0CC71"/>
          </a:solidFill>
          <a:ln/>
        </p:spPr>
        <p:txBody>
          <a:bodyPr/>
          <a:lstStyle/>
          <a:p>
            <a:endParaRPr lang="en-US"/>
          </a:p>
        </p:txBody>
      </p:sp>
      <p:sp>
        <p:nvSpPr>
          <p:cNvPr id="55" name="Shape 47"/>
          <p:cNvSpPr/>
          <p:nvPr/>
        </p:nvSpPr>
        <p:spPr>
          <a:xfrm>
            <a:off x="14398914" y="5934987"/>
            <a:ext cx="1182977" cy="36380"/>
          </a:xfrm>
          <a:prstGeom prst="rect">
            <a:avLst/>
          </a:prstGeom>
          <a:solidFill>
            <a:srgbClr val="F0CC71"/>
          </a:solidFill>
          <a:ln/>
        </p:spPr>
        <p:txBody>
          <a:bodyPr/>
          <a:lstStyle/>
          <a:p>
            <a:endParaRPr lang="en-US"/>
          </a:p>
        </p:txBody>
      </p:sp>
      <p:sp>
        <p:nvSpPr>
          <p:cNvPr id="56" name="Shape 48"/>
          <p:cNvSpPr/>
          <p:nvPr/>
        </p:nvSpPr>
        <p:spPr>
          <a:xfrm rot="5400000">
            <a:off x="15435973" y="6043455"/>
            <a:ext cx="257175" cy="36380"/>
          </a:xfrm>
          <a:prstGeom prst="rect">
            <a:avLst/>
          </a:prstGeom>
          <a:solidFill>
            <a:srgbClr val="F0CC71"/>
          </a:solidFill>
          <a:ln/>
        </p:spPr>
        <p:txBody>
          <a:bodyPr/>
          <a:lstStyle/>
          <a:p>
            <a:endParaRPr lang="en-US"/>
          </a:p>
        </p:txBody>
      </p:sp>
      <p:sp>
        <p:nvSpPr>
          <p:cNvPr id="57" name="Shape 49"/>
          <p:cNvSpPr/>
          <p:nvPr/>
        </p:nvSpPr>
        <p:spPr>
          <a:xfrm>
            <a:off x="15581891" y="6188304"/>
            <a:ext cx="1182977" cy="36380"/>
          </a:xfrm>
          <a:prstGeom prst="rect">
            <a:avLst/>
          </a:prstGeom>
          <a:solidFill>
            <a:srgbClr val="F0CC71"/>
          </a:solidFill>
          <a:ln/>
        </p:spPr>
        <p:txBody>
          <a:bodyPr/>
          <a:lstStyle/>
          <a:p>
            <a:endParaRPr lang="en-US"/>
          </a:p>
        </p:txBody>
      </p:sp>
      <p:sp>
        <p:nvSpPr>
          <p:cNvPr id="58" name="Shape 50"/>
          <p:cNvSpPr/>
          <p:nvPr/>
        </p:nvSpPr>
        <p:spPr>
          <a:xfrm>
            <a:off x="16583018" y="6069242"/>
            <a:ext cx="181901" cy="238125"/>
          </a:xfrm>
          <a:prstGeom prst="rect">
            <a:avLst/>
          </a:prstGeom>
          <a:solidFill>
            <a:srgbClr val="F0CC71"/>
          </a:solidFill>
          <a:ln/>
        </p:spPr>
        <p:txBody>
          <a:bodyPr/>
          <a:lstStyle/>
          <a:p>
            <a:endParaRPr lang="en-US"/>
          </a:p>
        </p:txBody>
      </p:sp>
      <p:sp>
        <p:nvSpPr>
          <p:cNvPr id="59" name="Shape 51"/>
          <p:cNvSpPr/>
          <p:nvPr/>
        </p:nvSpPr>
        <p:spPr>
          <a:xfrm>
            <a:off x="11829097" y="6499810"/>
            <a:ext cx="2626041" cy="1431592"/>
          </a:xfrm>
          <a:prstGeom prst="rect">
            <a:avLst/>
          </a:prstGeom>
          <a:ln w="13229">
            <a:solidFill>
              <a:srgbClr val="FFFFFF">
                <a:alpha val="45000"/>
              </a:srgbClr>
            </a:solidFill>
            <a:prstDash val="dash"/>
          </a:ln>
        </p:spPr>
        <p:txBody>
          <a:bodyPr/>
          <a:lstStyle/>
          <a:p>
            <a:endParaRPr lang="en-US"/>
          </a:p>
        </p:txBody>
      </p:sp>
      <p:sp>
        <p:nvSpPr>
          <p:cNvPr id="60" name="Text 52"/>
          <p:cNvSpPr/>
          <p:nvPr/>
        </p:nvSpPr>
        <p:spPr>
          <a:xfrm>
            <a:off x="11979475" y="6581613"/>
            <a:ext cx="2401484" cy="586594"/>
          </a:xfrm>
          <a:prstGeom prst="rect">
            <a:avLst/>
          </a:prstGeom>
          <a:noFill/>
          <a:ln/>
        </p:spPr>
        <p:txBody>
          <a:bodyPr wrap="square" lIns="25400" tIns="25400" rIns="25400" bIns="25400" rtlCol="0" anchor="t">
            <a:normAutofit/>
          </a:bodyPr>
          <a:lstStyle/>
          <a:p>
            <a:pPr marL="0" indent="0" algn="l">
              <a:lnSpc>
                <a:spcPct val="92160"/>
              </a:lnSpc>
              <a:buNone/>
            </a:pPr>
            <a:r>
              <a:rPr lang="en-US" sz="1050" dirty="0">
                <a:solidFill>
                  <a:srgbClr val="FFFFFF"/>
                </a:solidFill>
                <a:latin typeface="Oracle Sans Tab" pitchFamily="34" charset="0"/>
                <a:ea typeface="Oracle Sans Tab" pitchFamily="34" charset="-122"/>
                <a:cs typeface="Oracle Sans Tab" pitchFamily="34" charset="-120"/>
              </a:rPr>
              <a:t>(:Paper {paper_id: "2312.10997", title: "Benchmarking RAG for Factual Consistency"})</a:t>
            </a:r>
            <a:endParaRPr lang="en-US" sz="1050" dirty="0"/>
          </a:p>
        </p:txBody>
      </p:sp>
      <p:sp>
        <p:nvSpPr>
          <p:cNvPr id="61" name="Text 53"/>
          <p:cNvSpPr/>
          <p:nvPr/>
        </p:nvSpPr>
        <p:spPr>
          <a:xfrm>
            <a:off x="11979475" y="7130107"/>
            <a:ext cx="2401484" cy="403762"/>
          </a:xfrm>
          <a:prstGeom prst="rect">
            <a:avLst/>
          </a:prstGeom>
          <a:noFill/>
          <a:ln/>
        </p:spPr>
        <p:txBody>
          <a:bodyPr wrap="square" lIns="25400" tIns="25400" rIns="25400" bIns="25400" rtlCol="0" anchor="t">
            <a:normAutofit/>
          </a:bodyPr>
          <a:lstStyle/>
          <a:p>
            <a:pPr marL="0" indent="0" algn="l">
              <a:lnSpc>
                <a:spcPct val="92160"/>
              </a:lnSpc>
              <a:buNone/>
            </a:pPr>
            <a:r>
              <a:rPr lang="en-US" sz="1050" dirty="0">
                <a:solidFill>
                  <a:srgbClr val="FFFFFF"/>
                </a:solidFill>
                <a:latin typeface="Oracle Sans Tab" pitchFamily="34" charset="0"/>
                <a:ea typeface="Oracle Sans Tab" pitchFamily="34" charset="-122"/>
                <a:cs typeface="Oracle Sans Tab" pitchFamily="34" charset="-120"/>
              </a:rPr>
              <a:t>-[:HAS_SECTION]→ (:Section {name: "Results"})</a:t>
            </a:r>
            <a:endParaRPr lang="en-US" sz="1050" dirty="0"/>
          </a:p>
        </p:txBody>
      </p:sp>
      <p:sp>
        <p:nvSpPr>
          <p:cNvPr id="62" name="Text 54"/>
          <p:cNvSpPr/>
          <p:nvPr/>
        </p:nvSpPr>
        <p:spPr>
          <a:xfrm>
            <a:off x="11979475" y="7495770"/>
            <a:ext cx="2401484" cy="586594"/>
          </a:xfrm>
          <a:prstGeom prst="rect">
            <a:avLst/>
          </a:prstGeom>
          <a:noFill/>
          <a:ln/>
        </p:spPr>
        <p:txBody>
          <a:bodyPr wrap="square" lIns="25400" tIns="25400" rIns="25400" bIns="25400" rtlCol="0" anchor="t">
            <a:normAutofit/>
          </a:bodyPr>
          <a:lstStyle/>
          <a:p>
            <a:pPr marL="0" indent="0" algn="l">
              <a:lnSpc>
                <a:spcPct val="92160"/>
              </a:lnSpc>
              <a:buNone/>
            </a:pPr>
            <a:r>
              <a:rPr lang="en-US" sz="1050" dirty="0">
                <a:solidFill>
                  <a:srgbClr val="FFFFFF"/>
                </a:solidFill>
                <a:latin typeface="Oracle Sans Tab" pitchFamily="34" charset="0"/>
                <a:ea typeface="Oracle Sans Tab" pitchFamily="34" charset="-122"/>
                <a:cs typeface="Oracle Sans Tab" pitchFamily="34" charset="-120"/>
              </a:rPr>
              <a:t>-[:CONTAINS_CHUNK]→ (:Chunk D_BY]→ (:Author {name: "Yamamoto, Kenji"})</a:t>
            </a:r>
            <a:endParaRPr lang="en-US" sz="1050" dirty="0"/>
          </a:p>
        </p:txBody>
      </p:sp>
      <p:sp>
        <p:nvSpPr>
          <p:cNvPr id="63" name="Shape 55"/>
          <p:cNvSpPr/>
          <p:nvPr/>
        </p:nvSpPr>
        <p:spPr>
          <a:xfrm rot="10800000">
            <a:off x="14455137" y="7215115"/>
            <a:ext cx="1155382" cy="36380"/>
          </a:xfrm>
          <a:prstGeom prst="rect">
            <a:avLst/>
          </a:prstGeom>
          <a:solidFill>
            <a:srgbClr val="F0CC71"/>
          </a:solidFill>
          <a:ln/>
        </p:spPr>
        <p:txBody>
          <a:bodyPr/>
          <a:lstStyle/>
          <a:p>
            <a:endParaRPr lang="en-US"/>
          </a:p>
        </p:txBody>
      </p:sp>
      <p:sp>
        <p:nvSpPr>
          <p:cNvPr id="64" name="Shape 56"/>
          <p:cNvSpPr/>
          <p:nvPr/>
        </p:nvSpPr>
        <p:spPr>
          <a:xfrm rot="5400000">
            <a:off x="15114238" y="6683545"/>
            <a:ext cx="1028700" cy="36380"/>
          </a:xfrm>
          <a:prstGeom prst="rect">
            <a:avLst/>
          </a:prstGeom>
          <a:solidFill>
            <a:srgbClr val="F0CC71"/>
          </a:solidFill>
          <a:ln/>
        </p:spPr>
        <p:txBody>
          <a:bodyPr/>
          <a:lstStyle/>
          <a:p>
            <a:endParaRPr lang="en-US"/>
          </a:p>
        </p:txBody>
      </p:sp>
      <p:sp>
        <p:nvSpPr>
          <p:cNvPr id="65" name="Shape 57"/>
          <p:cNvSpPr/>
          <p:nvPr/>
        </p:nvSpPr>
        <p:spPr>
          <a:xfrm rot="10800000">
            <a:off x="15609538" y="6188356"/>
            <a:ext cx="1155382" cy="36380"/>
          </a:xfrm>
          <a:prstGeom prst="rect">
            <a:avLst/>
          </a:prstGeom>
          <a:solidFill>
            <a:srgbClr val="F0CC71"/>
          </a:solidFill>
          <a:ln/>
        </p:spPr>
        <p:txBody>
          <a:bodyPr/>
          <a:lstStyle/>
          <a:p>
            <a:endParaRPr lang="en-US"/>
          </a:p>
        </p:txBody>
      </p:sp>
      <p:sp>
        <p:nvSpPr>
          <p:cNvPr id="66" name="Shape 58"/>
          <p:cNvSpPr/>
          <p:nvPr/>
        </p:nvSpPr>
        <p:spPr>
          <a:xfrm rot="10800000">
            <a:off x="16583018" y="6069293"/>
            <a:ext cx="181901" cy="238125"/>
          </a:xfrm>
          <a:prstGeom prst="rect">
            <a:avLst/>
          </a:prstGeom>
          <a:solidFill>
            <a:srgbClr val="F0CC71"/>
          </a:solidFill>
          <a:ln/>
        </p:spPr>
        <p:txBody>
          <a:bodyPr/>
          <a:lstStyle/>
          <a:p>
            <a:endParaRPr lang="en-US"/>
          </a:p>
        </p:txBody>
      </p:sp>
      <p:sp>
        <p:nvSpPr>
          <p:cNvPr id="67" name="Shape 59"/>
          <p:cNvSpPr/>
          <p:nvPr/>
        </p:nvSpPr>
        <p:spPr>
          <a:xfrm>
            <a:off x="14840050" y="5036927"/>
            <a:ext cx="1872392" cy="388348"/>
          </a:xfrm>
          <a:prstGeom prst="roundRect">
            <a:avLst>
              <a:gd name="adj" fmla="val 29432"/>
            </a:avLst>
          </a:prstGeom>
          <a:solidFill>
            <a:srgbClr val="0B5060"/>
          </a:solidFill>
          <a:ln w="13229">
            <a:solidFill>
              <a:srgbClr val="FFFFFF">
                <a:alpha val="45000"/>
              </a:srgbClr>
            </a:solidFill>
            <a:prstDash val="solid"/>
          </a:ln>
          <a:effectLst>
            <a:outerShdw blurRad="133350" dist="28575" dir="5400000" algn="bl" rotWithShape="0">
              <a:srgbClr val="000000">
                <a:alpha val="30000"/>
              </a:srgbClr>
            </a:outerShdw>
          </a:effectLst>
        </p:spPr>
        <p:txBody>
          <a:bodyPr/>
          <a:lstStyle/>
          <a:p>
            <a:endParaRPr lang="en-US"/>
          </a:p>
        </p:txBody>
      </p:sp>
      <p:sp>
        <p:nvSpPr>
          <p:cNvPr id="68" name="Text 60"/>
          <p:cNvSpPr/>
          <p:nvPr/>
        </p:nvSpPr>
        <p:spPr>
          <a:xfrm>
            <a:off x="14970510" y="5126328"/>
            <a:ext cx="1611473" cy="247648"/>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650" b="1" dirty="0">
                <a:solidFill>
                  <a:srgbClr val="FFFFFF"/>
                </a:solidFill>
                <a:latin typeface="Oracle Sans Tab" pitchFamily="34" charset="0"/>
                <a:ea typeface="Oracle Sans Tab" pitchFamily="34" charset="-122"/>
                <a:cs typeface="Oracle Sans Tab" pitchFamily="34" charset="-120"/>
              </a:rPr>
              <a:t>Data Ingestion</a:t>
            </a:r>
            <a:endParaRPr lang="en-US" sz="1650" dirty="0"/>
          </a:p>
        </p:txBody>
      </p:sp>
      <p:sp>
        <p:nvSpPr>
          <p:cNvPr id="69" name="Shape 61"/>
          <p:cNvSpPr/>
          <p:nvPr/>
        </p:nvSpPr>
        <p:spPr>
          <a:xfrm>
            <a:off x="16452483" y="2748876"/>
            <a:ext cx="1467766" cy="300033"/>
          </a:xfrm>
          <a:prstGeom prst="roundRect">
            <a:avLst>
              <a:gd name="adj" fmla="val 16826"/>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70" name="Text 62"/>
          <p:cNvSpPr/>
          <p:nvPr/>
        </p:nvSpPr>
        <p:spPr>
          <a:xfrm>
            <a:off x="16568069" y="2822722"/>
            <a:ext cx="1236594"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Spatial</a:t>
            </a:r>
            <a:endParaRPr lang="en-US" sz="1200" dirty="0"/>
          </a:p>
        </p:txBody>
      </p:sp>
      <p:sp>
        <p:nvSpPr>
          <p:cNvPr id="71" name="Shape 63"/>
          <p:cNvSpPr/>
          <p:nvPr/>
        </p:nvSpPr>
        <p:spPr>
          <a:xfrm>
            <a:off x="261896" y="5526381"/>
            <a:ext cx="1772553" cy="282877"/>
          </a:xfrm>
          <a:prstGeom prst="roundRect">
            <a:avLst>
              <a:gd name="adj" fmla="val 16836"/>
            </a:avLst>
          </a:prstGeom>
          <a:solidFill>
            <a:srgbClr val="0B5060"/>
          </a:solidFill>
          <a:ln w="13229">
            <a:solidFill>
              <a:srgbClr val="F0CC71"/>
            </a:solidFill>
            <a:prstDash val="solid"/>
          </a:ln>
        </p:spPr>
        <p:txBody>
          <a:bodyPr/>
          <a:lstStyle/>
          <a:p>
            <a:endParaRPr lang="en-US"/>
          </a:p>
        </p:txBody>
      </p:sp>
      <p:sp>
        <p:nvSpPr>
          <p:cNvPr id="72" name="Text 64"/>
          <p:cNvSpPr/>
          <p:nvPr/>
        </p:nvSpPr>
        <p:spPr>
          <a:xfrm>
            <a:off x="374175" y="5542090"/>
            <a:ext cx="1547996"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dirty="0">
                <a:solidFill>
                  <a:srgbClr val="FFFFFF"/>
                </a:solidFill>
                <a:latin typeface="Oracle Sans Tab" pitchFamily="34" charset="0"/>
                <a:ea typeface="Oracle Sans Tab" pitchFamily="34" charset="-122"/>
                <a:cs typeface="Oracle Sans Tab" pitchFamily="34" charset="-120"/>
              </a:rPr>
              <a:t>Data Sources</a:t>
            </a:r>
            <a:endParaRPr lang="en-US" sz="1650" dirty="0"/>
          </a:p>
        </p:txBody>
      </p:sp>
      <p:sp>
        <p:nvSpPr>
          <p:cNvPr id="73" name="Shape 65"/>
          <p:cNvSpPr/>
          <p:nvPr/>
        </p:nvSpPr>
        <p:spPr>
          <a:xfrm>
            <a:off x="3436586" y="3536632"/>
            <a:ext cx="1371596" cy="282877"/>
          </a:xfrm>
          <a:prstGeom prst="roundRect">
            <a:avLst>
              <a:gd name="adj" fmla="val 16836"/>
            </a:avLst>
          </a:prstGeom>
          <a:solidFill>
            <a:srgbClr val="0B5060"/>
          </a:solidFill>
          <a:ln w="13229">
            <a:solidFill>
              <a:srgbClr val="F0CC71"/>
            </a:solidFill>
            <a:prstDash val="solid"/>
          </a:ln>
        </p:spPr>
        <p:txBody>
          <a:bodyPr/>
          <a:lstStyle/>
          <a:p>
            <a:endParaRPr lang="en-US"/>
          </a:p>
        </p:txBody>
      </p:sp>
      <p:sp>
        <p:nvSpPr>
          <p:cNvPr id="74" name="Text 66"/>
          <p:cNvSpPr/>
          <p:nvPr/>
        </p:nvSpPr>
        <p:spPr>
          <a:xfrm>
            <a:off x="3548864" y="3575234"/>
            <a:ext cx="1147039"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b="1" dirty="0">
                <a:solidFill>
                  <a:srgbClr val="FFFFFF"/>
                </a:solidFill>
                <a:latin typeface="Oracle Sans Tab" pitchFamily="34" charset="0"/>
                <a:ea typeface="Oracle Sans Tab" pitchFamily="34" charset="-122"/>
                <a:cs typeface="Oracle Sans Tab" pitchFamily="34" charset="-120"/>
              </a:rPr>
              <a:t>Data Object</a:t>
            </a:r>
            <a:endParaRPr lang="en-US" sz="1350" dirty="0"/>
          </a:p>
        </p:txBody>
      </p:sp>
      <p:sp>
        <p:nvSpPr>
          <p:cNvPr id="75" name="Shape 67"/>
          <p:cNvSpPr/>
          <p:nvPr/>
        </p:nvSpPr>
        <p:spPr>
          <a:xfrm>
            <a:off x="3436586" y="4507218"/>
            <a:ext cx="1371596"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76" name="Text 68"/>
          <p:cNvSpPr/>
          <p:nvPr/>
        </p:nvSpPr>
        <p:spPr>
          <a:xfrm>
            <a:off x="3548864" y="4545820"/>
            <a:ext cx="1147039"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Chunking</a:t>
            </a:r>
            <a:endParaRPr lang="en-US" sz="1350" dirty="0"/>
          </a:p>
        </p:txBody>
      </p:sp>
      <p:sp>
        <p:nvSpPr>
          <p:cNvPr id="77" name="Shape 69"/>
          <p:cNvSpPr/>
          <p:nvPr/>
        </p:nvSpPr>
        <p:spPr>
          <a:xfrm>
            <a:off x="3201303" y="4836759"/>
            <a:ext cx="184304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78" name="Text 70"/>
          <p:cNvSpPr/>
          <p:nvPr/>
        </p:nvSpPr>
        <p:spPr>
          <a:xfrm>
            <a:off x="3274567" y="4875361"/>
            <a:ext cx="1696511"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Data Deduplication</a:t>
            </a:r>
            <a:endParaRPr lang="en-US" sz="1350" dirty="0"/>
          </a:p>
        </p:txBody>
      </p:sp>
      <p:sp>
        <p:nvSpPr>
          <p:cNvPr id="79" name="Shape 71"/>
          <p:cNvSpPr/>
          <p:nvPr/>
        </p:nvSpPr>
        <p:spPr>
          <a:xfrm>
            <a:off x="3201303" y="5201595"/>
            <a:ext cx="184304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80" name="Text 72"/>
          <p:cNvSpPr/>
          <p:nvPr/>
        </p:nvSpPr>
        <p:spPr>
          <a:xfrm>
            <a:off x="3274567" y="5240197"/>
            <a:ext cx="1696511"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Text Normalization</a:t>
            </a:r>
            <a:endParaRPr lang="en-US" sz="1350" dirty="0"/>
          </a:p>
        </p:txBody>
      </p:sp>
      <p:sp>
        <p:nvSpPr>
          <p:cNvPr id="81" name="Shape 73"/>
          <p:cNvSpPr/>
          <p:nvPr/>
        </p:nvSpPr>
        <p:spPr>
          <a:xfrm>
            <a:off x="3201303" y="5549222"/>
            <a:ext cx="184304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82" name="Text 74"/>
          <p:cNvSpPr/>
          <p:nvPr/>
        </p:nvSpPr>
        <p:spPr>
          <a:xfrm>
            <a:off x="3274567" y="5587824"/>
            <a:ext cx="1696511"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Entity extraction</a:t>
            </a:r>
            <a:endParaRPr lang="en-US" sz="1350" dirty="0"/>
          </a:p>
        </p:txBody>
      </p:sp>
      <p:sp>
        <p:nvSpPr>
          <p:cNvPr id="83" name="Shape 75"/>
          <p:cNvSpPr/>
          <p:nvPr/>
        </p:nvSpPr>
        <p:spPr>
          <a:xfrm>
            <a:off x="4019548" y="6622696"/>
            <a:ext cx="43770" cy="46664"/>
          </a:xfrm>
          <a:prstGeom prst="ellipse">
            <a:avLst/>
          </a:prstGeom>
          <a:solidFill>
            <a:srgbClr val="0B5060"/>
          </a:solidFill>
          <a:ln w="13229">
            <a:solidFill>
              <a:srgbClr val="FFFFFF">
                <a:alpha val="30000"/>
              </a:srgbClr>
            </a:solidFill>
            <a:prstDash val="solid"/>
          </a:ln>
        </p:spPr>
        <p:txBody>
          <a:bodyPr/>
          <a:lstStyle/>
          <a:p>
            <a:endParaRPr lang="en-US"/>
          </a:p>
        </p:txBody>
      </p:sp>
      <p:sp>
        <p:nvSpPr>
          <p:cNvPr id="84" name="Shape 76"/>
          <p:cNvSpPr/>
          <p:nvPr/>
        </p:nvSpPr>
        <p:spPr>
          <a:xfrm>
            <a:off x="4019548" y="6740829"/>
            <a:ext cx="43770" cy="46664"/>
          </a:xfrm>
          <a:prstGeom prst="ellipse">
            <a:avLst/>
          </a:prstGeom>
          <a:solidFill>
            <a:srgbClr val="0B5060"/>
          </a:solidFill>
          <a:ln w="13229">
            <a:solidFill>
              <a:srgbClr val="FFFFFF">
                <a:alpha val="30000"/>
              </a:srgbClr>
            </a:solidFill>
            <a:prstDash val="solid"/>
          </a:ln>
        </p:spPr>
        <p:txBody>
          <a:bodyPr/>
          <a:lstStyle/>
          <a:p>
            <a:endParaRPr lang="en-US"/>
          </a:p>
        </p:txBody>
      </p:sp>
      <p:sp>
        <p:nvSpPr>
          <p:cNvPr id="85" name="Shape 77"/>
          <p:cNvSpPr/>
          <p:nvPr/>
        </p:nvSpPr>
        <p:spPr>
          <a:xfrm>
            <a:off x="4019548" y="6864646"/>
            <a:ext cx="43770" cy="46664"/>
          </a:xfrm>
          <a:prstGeom prst="ellipse">
            <a:avLst/>
          </a:prstGeom>
          <a:solidFill>
            <a:srgbClr val="0B5060"/>
          </a:solidFill>
          <a:ln w="13229">
            <a:solidFill>
              <a:srgbClr val="FFFFFF">
                <a:alpha val="30000"/>
              </a:srgbClr>
            </a:solidFill>
            <a:prstDash val="solid"/>
          </a:ln>
        </p:spPr>
        <p:txBody>
          <a:bodyPr/>
          <a:lstStyle/>
          <a:p>
            <a:endParaRPr lang="en-US"/>
          </a:p>
        </p:txBody>
      </p:sp>
      <p:sp>
        <p:nvSpPr>
          <p:cNvPr id="86" name="Shape 78"/>
          <p:cNvSpPr/>
          <p:nvPr/>
        </p:nvSpPr>
        <p:spPr>
          <a:xfrm>
            <a:off x="6836068" y="4322423"/>
            <a:ext cx="2253609" cy="692464"/>
          </a:xfrm>
          <a:prstGeom prst="roundRect">
            <a:avLst>
              <a:gd name="adj" fmla="val 16644"/>
            </a:avLst>
          </a:prstGeom>
          <a:solidFill>
            <a:srgbClr val="89B2B0"/>
          </a:solidFill>
          <a:ln w="16536">
            <a:solidFill>
              <a:srgbClr val="FFFFFF">
                <a:alpha val="45000"/>
              </a:srgbClr>
            </a:solidFill>
            <a:prstDash val="solid"/>
          </a:ln>
        </p:spPr>
        <p:txBody>
          <a:bodyPr/>
          <a:lstStyle/>
          <a:p>
            <a:endParaRPr lang="en-US"/>
          </a:p>
        </p:txBody>
      </p:sp>
      <p:sp>
        <p:nvSpPr>
          <p:cNvPr id="87" name="Text 79"/>
          <p:cNvSpPr/>
          <p:nvPr/>
        </p:nvSpPr>
        <p:spPr>
          <a:xfrm>
            <a:off x="6951654" y="4440039"/>
            <a:ext cx="2022438" cy="342888"/>
          </a:xfrm>
          <a:prstGeom prst="rect">
            <a:avLst/>
          </a:prstGeom>
          <a:noFill/>
          <a:ln/>
        </p:spPr>
        <p:txBody>
          <a:bodyPr wrap="square" lIns="25400" tIns="25400" rIns="25400" bIns="25400" rtlCol="0" anchor="t">
            <a:normAutofit/>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Chunks passed into an embedding model.</a:t>
            </a:r>
            <a:endParaRPr lang="en-US" sz="1200" dirty="0"/>
          </a:p>
        </p:txBody>
      </p:sp>
      <p:sp>
        <p:nvSpPr>
          <p:cNvPr id="88" name="Text 80"/>
          <p:cNvSpPr/>
          <p:nvPr/>
        </p:nvSpPr>
        <p:spPr>
          <a:xfrm>
            <a:off x="6892442" y="4744826"/>
            <a:ext cx="2140862"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Embedding Generation</a:t>
            </a:r>
            <a:endParaRPr lang="en-US" sz="1200" dirty="0"/>
          </a:p>
        </p:txBody>
      </p:sp>
      <p:sp>
        <p:nvSpPr>
          <p:cNvPr id="89" name="Shape 81"/>
          <p:cNvSpPr/>
          <p:nvPr/>
        </p:nvSpPr>
        <p:spPr>
          <a:xfrm rot="5400000">
            <a:off x="17033494" y="5312854"/>
            <a:ext cx="361950" cy="16536"/>
          </a:xfrm>
          <a:prstGeom prst="rect">
            <a:avLst/>
          </a:prstGeom>
          <a:solidFill>
            <a:srgbClr val="FFFFFF">
              <a:alpha val="30000"/>
            </a:srgbClr>
          </a:solidFill>
          <a:ln/>
        </p:spPr>
        <p:txBody>
          <a:bodyPr/>
          <a:lstStyle/>
          <a:p>
            <a:endParaRPr lang="en-US"/>
          </a:p>
        </p:txBody>
      </p:sp>
      <p:sp>
        <p:nvSpPr>
          <p:cNvPr id="90" name="Shape 82"/>
          <p:cNvSpPr/>
          <p:nvPr/>
        </p:nvSpPr>
        <p:spPr>
          <a:xfrm>
            <a:off x="8461034" y="3403255"/>
            <a:ext cx="1683980" cy="36380"/>
          </a:xfrm>
          <a:prstGeom prst="rect">
            <a:avLst/>
          </a:prstGeom>
          <a:solidFill>
            <a:srgbClr val="F0CC71"/>
          </a:solidFill>
          <a:ln/>
        </p:spPr>
        <p:txBody>
          <a:bodyPr/>
          <a:lstStyle/>
          <a:p>
            <a:endParaRPr lang="en-US"/>
          </a:p>
        </p:txBody>
      </p:sp>
      <p:sp>
        <p:nvSpPr>
          <p:cNvPr id="91" name="Shape 83"/>
          <p:cNvSpPr/>
          <p:nvPr/>
        </p:nvSpPr>
        <p:spPr>
          <a:xfrm rot="5400000">
            <a:off x="8222683" y="5291486"/>
            <a:ext cx="3810000" cy="36380"/>
          </a:xfrm>
          <a:prstGeom prst="rect">
            <a:avLst/>
          </a:prstGeom>
          <a:solidFill>
            <a:srgbClr val="F0CC71"/>
          </a:solidFill>
          <a:ln/>
        </p:spPr>
        <p:txBody>
          <a:bodyPr/>
          <a:lstStyle/>
          <a:p>
            <a:endParaRPr lang="en-US"/>
          </a:p>
        </p:txBody>
      </p:sp>
      <p:sp>
        <p:nvSpPr>
          <p:cNvPr id="92" name="Shape 84"/>
          <p:cNvSpPr/>
          <p:nvPr/>
        </p:nvSpPr>
        <p:spPr>
          <a:xfrm>
            <a:off x="10145013" y="7216097"/>
            <a:ext cx="1683980" cy="36380"/>
          </a:xfrm>
          <a:prstGeom prst="rect">
            <a:avLst/>
          </a:prstGeom>
          <a:solidFill>
            <a:srgbClr val="F0CC71"/>
          </a:solidFill>
          <a:ln/>
        </p:spPr>
        <p:txBody>
          <a:bodyPr/>
          <a:lstStyle/>
          <a:p>
            <a:endParaRPr lang="en-US"/>
          </a:p>
        </p:txBody>
      </p:sp>
      <p:sp>
        <p:nvSpPr>
          <p:cNvPr id="93" name="Shape 85"/>
          <p:cNvSpPr/>
          <p:nvPr/>
        </p:nvSpPr>
        <p:spPr>
          <a:xfrm>
            <a:off x="11647144" y="7097034"/>
            <a:ext cx="181901" cy="238125"/>
          </a:xfrm>
          <a:prstGeom prst="rect">
            <a:avLst/>
          </a:prstGeom>
          <a:solidFill>
            <a:srgbClr val="F0CC71"/>
          </a:solidFill>
          <a:ln/>
        </p:spPr>
        <p:txBody>
          <a:bodyPr/>
          <a:lstStyle/>
          <a:p>
            <a:endParaRPr lang="en-US"/>
          </a:p>
        </p:txBody>
      </p:sp>
      <p:sp>
        <p:nvSpPr>
          <p:cNvPr id="94" name="Shape 86"/>
          <p:cNvSpPr/>
          <p:nvPr/>
        </p:nvSpPr>
        <p:spPr>
          <a:xfrm>
            <a:off x="3201303" y="5884498"/>
            <a:ext cx="184304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95" name="Text 87"/>
          <p:cNvSpPr/>
          <p:nvPr/>
        </p:nvSpPr>
        <p:spPr>
          <a:xfrm>
            <a:off x="3274567" y="5923101"/>
            <a:ext cx="1696511"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PII Redaction</a:t>
            </a:r>
            <a:endParaRPr lang="en-US" sz="1350" dirty="0"/>
          </a:p>
        </p:txBody>
      </p:sp>
      <p:sp>
        <p:nvSpPr>
          <p:cNvPr id="96" name="Shape 88"/>
          <p:cNvSpPr/>
          <p:nvPr/>
        </p:nvSpPr>
        <p:spPr>
          <a:xfrm>
            <a:off x="2984159" y="6206443"/>
            <a:ext cx="227645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97" name="Text 89"/>
          <p:cNvSpPr/>
          <p:nvPr/>
        </p:nvSpPr>
        <p:spPr>
          <a:xfrm>
            <a:off x="3035752" y="6245045"/>
            <a:ext cx="2173263"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Content Classification</a:t>
            </a:r>
            <a:endParaRPr lang="en-US" sz="1350" dirty="0"/>
          </a:p>
        </p:txBody>
      </p:sp>
      <p:sp>
        <p:nvSpPr>
          <p:cNvPr id="98" name="Shape 90"/>
          <p:cNvSpPr/>
          <p:nvPr/>
        </p:nvSpPr>
        <p:spPr>
          <a:xfrm>
            <a:off x="16308668" y="6963709"/>
            <a:ext cx="1772553" cy="434289"/>
          </a:xfrm>
          <a:prstGeom prst="roundRect">
            <a:avLst>
              <a:gd name="adj" fmla="val 16669"/>
            </a:avLst>
          </a:prstGeom>
          <a:solidFill>
            <a:srgbClr val="0B5060"/>
          </a:solidFill>
          <a:ln w="13229">
            <a:solidFill>
              <a:srgbClr val="FD6953"/>
            </a:solidFill>
            <a:prstDash val="solid"/>
          </a:ln>
          <a:effectLst>
            <a:outerShdw blurRad="114300" dist="19050" dir="5400000" algn="bl" rotWithShape="0">
              <a:srgbClr val="000000">
                <a:alpha val="18000"/>
              </a:srgbClr>
            </a:outerShdw>
          </a:effectLst>
        </p:spPr>
        <p:txBody>
          <a:bodyPr/>
          <a:lstStyle/>
          <a:p>
            <a:endParaRPr lang="en-US"/>
          </a:p>
        </p:txBody>
      </p:sp>
      <p:sp>
        <p:nvSpPr>
          <p:cNvPr id="99" name="Text 91"/>
          <p:cNvSpPr/>
          <p:nvPr/>
        </p:nvSpPr>
        <p:spPr>
          <a:xfrm>
            <a:off x="16385457" y="7104631"/>
            <a:ext cx="1618976"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FFFFFF"/>
                </a:solidFill>
                <a:latin typeface="Oracle Sans Tab" pitchFamily="34" charset="0"/>
                <a:ea typeface="Oracle Sans Tab" pitchFamily="34" charset="-122"/>
                <a:cs typeface="Oracle Sans Tab" pitchFamily="34" charset="-120"/>
              </a:rPr>
              <a:t>Oracle AI Database</a:t>
            </a:r>
            <a:endParaRPr lang="en-US" sz="1200" dirty="0"/>
          </a:p>
        </p:txBody>
      </p:sp>
      <p:sp>
        <p:nvSpPr>
          <p:cNvPr id="100" name="Shape 92"/>
          <p:cNvSpPr/>
          <p:nvPr/>
        </p:nvSpPr>
        <p:spPr>
          <a:xfrm>
            <a:off x="813387" y="409536"/>
            <a:ext cx="603839" cy="46302"/>
          </a:xfrm>
          <a:prstGeom prst="rect">
            <a:avLst/>
          </a:prstGeom>
          <a:solidFill>
            <a:srgbClr val="C74634"/>
          </a:solidFill>
          <a:ln w="23151">
            <a:solidFill>
              <a:srgbClr val="FD6953"/>
            </a:solidFill>
            <a:prstDash val="solid"/>
          </a:ln>
        </p:spPr>
        <p:txBody>
          <a:bodyPr/>
          <a:lstStyle/>
          <a:p>
            <a:endParaRPr lang="en-US"/>
          </a:p>
        </p:txBody>
      </p:sp>
      <p:sp>
        <p:nvSpPr>
          <p:cNvPr id="101" name="Text 93"/>
          <p:cNvSpPr/>
          <p:nvPr/>
        </p:nvSpPr>
        <p:spPr>
          <a:xfrm>
            <a:off x="813387" y="649521"/>
            <a:ext cx="11301949" cy="381025"/>
          </a:xfrm>
          <a:prstGeom prst="rect">
            <a:avLst/>
          </a:prstGeom>
          <a:noFill/>
          <a:ln/>
        </p:spPr>
        <p:txBody>
          <a:bodyPr wrap="square" lIns="25400" tIns="25400" rIns="25400" bIns="25400" rtlCol="0" anchor="t">
            <a:normAutofit/>
          </a:bodyPr>
          <a:lstStyle/>
          <a:p>
            <a:pPr marL="0" indent="0" algn="l">
              <a:lnSpc>
                <a:spcPct val="92160"/>
              </a:lnSpc>
              <a:buNone/>
            </a:pPr>
            <a:r>
              <a:rPr lang="en-US" sz="2250" b="1" dirty="0">
                <a:solidFill>
                  <a:srgbClr val="FD6953"/>
                </a:solidFill>
                <a:latin typeface="Oracle Sans Tab" pitchFamily="34" charset="0"/>
                <a:ea typeface="Oracle Sans Tab" pitchFamily="34" charset="-122"/>
                <a:cs typeface="Oracle Sans Tab" pitchFamily="34" charset="-120"/>
              </a:rPr>
              <a:t>RAG APPLICATION: DATA INGESTION</a:t>
            </a:r>
            <a:endParaRPr lang="en-US" sz="2250" dirty="0"/>
          </a:p>
        </p:txBody>
      </p:sp>
      <p:sp>
        <p:nvSpPr>
          <p:cNvPr id="102" name="Text 94"/>
          <p:cNvSpPr/>
          <p:nvPr/>
        </p:nvSpPr>
        <p:spPr>
          <a:xfrm>
            <a:off x="813387" y="1218220"/>
            <a:ext cx="16952925" cy="738161"/>
          </a:xfrm>
          <a:prstGeom prst="rect">
            <a:avLst/>
          </a:prstGeom>
          <a:noFill/>
          <a:ln/>
        </p:spPr>
        <p:txBody>
          <a:bodyPr wrap="square" lIns="25400" tIns="25400" rIns="25400" bIns="25400" rtlCol="0" anchor="t">
            <a:normAutofit/>
          </a:bodyPr>
          <a:lstStyle/>
          <a:p>
            <a:pPr marL="0" indent="0" algn="l">
              <a:lnSpc>
                <a:spcPct val="80640"/>
              </a:lnSpc>
              <a:buNone/>
            </a:pPr>
            <a:r>
              <a:rPr lang="en-US" sz="5250" dirty="0">
                <a:solidFill>
                  <a:srgbClr val="FFFFFF"/>
                </a:solidFill>
                <a:latin typeface="Oracle Sans Tab" pitchFamily="34" charset="0"/>
                <a:ea typeface="Oracle Sans Tab" pitchFamily="34" charset="-122"/>
                <a:cs typeface="Oracle Sans Tab" pitchFamily="34" charset="-120"/>
              </a:rPr>
              <a:t>Promoting and championing </a:t>
            </a:r>
            <a:r>
              <a:rPr lang="en-US" sz="5250" i="1" dirty="0">
                <a:solidFill>
                  <a:srgbClr val="FD6953"/>
                </a:solidFill>
                <a:latin typeface="Oracle Sans Tab" pitchFamily="34" charset="0"/>
                <a:ea typeface="Oracle Sans Tab" pitchFamily="34" charset="-122"/>
                <a:cs typeface="Oracle Sans Tab" pitchFamily="34" charset="-120"/>
              </a:rPr>
              <a:t>Cognitive Focus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31">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Shape 0"/>
          <p:cNvSpPr/>
          <p:nvPr/>
        </p:nvSpPr>
        <p:spPr>
          <a:xfrm>
            <a:off x="16225831" y="748636"/>
            <a:ext cx="1632562" cy="2490752"/>
          </a:xfrm>
          <a:prstGeom prst="rect">
            <a:avLst/>
          </a:prstGeom>
          <a:solidFill>
            <a:srgbClr val="0B5060"/>
          </a:solidFill>
          <a:ln w="16536">
            <a:solidFill>
              <a:srgbClr val="FFFFFF">
                <a:alpha val="30000"/>
              </a:srgbClr>
            </a:solidFill>
            <a:prstDash val="dash"/>
          </a:ln>
        </p:spPr>
        <p:txBody>
          <a:bodyPr/>
          <a:lstStyle/>
          <a:p>
            <a:endParaRPr lang="en-US"/>
          </a:p>
        </p:txBody>
      </p:sp>
      <p:pic>
        <p:nvPicPr>
          <p:cNvPr id="4" name="Image 1" descr="preencoded.png"/>
          <p:cNvPicPr>
            <a:picLocks noChangeAspect="1"/>
          </p:cNvPicPr>
          <p:nvPr/>
        </p:nvPicPr>
        <p:blipFill>
          <a:blip r:embed="rId4"/>
          <a:srcRect t="-31" b="-31"/>
          <a:stretch/>
        </p:blipFill>
        <p:spPr>
          <a:xfrm>
            <a:off x="215232" y="972499"/>
            <a:ext cx="1613493" cy="2533644"/>
          </a:xfrm>
          <a:prstGeom prst="rect">
            <a:avLst/>
          </a:prstGeom>
        </p:spPr>
      </p:pic>
      <p:pic>
        <p:nvPicPr>
          <p:cNvPr id="5" name="Image 2" descr="preencoded.png"/>
          <p:cNvPicPr>
            <a:picLocks noChangeAspect="1"/>
          </p:cNvPicPr>
          <p:nvPr/>
        </p:nvPicPr>
        <p:blipFill>
          <a:blip r:embed="rId5"/>
          <a:srcRect t="-58" b="-58"/>
          <a:stretch/>
        </p:blipFill>
        <p:spPr>
          <a:xfrm>
            <a:off x="3407079" y="740058"/>
            <a:ext cx="1123911" cy="834368"/>
          </a:xfrm>
          <a:prstGeom prst="rect">
            <a:avLst/>
          </a:prstGeom>
        </p:spPr>
      </p:pic>
      <p:sp>
        <p:nvSpPr>
          <p:cNvPr id="6" name="Shape 1"/>
          <p:cNvSpPr/>
          <p:nvPr/>
        </p:nvSpPr>
        <p:spPr>
          <a:xfrm>
            <a:off x="2688880" y="2048815"/>
            <a:ext cx="2561239" cy="434289"/>
          </a:xfrm>
          <a:prstGeom prst="roundRect">
            <a:avLst>
              <a:gd name="adj" fmla="val 16669"/>
            </a:avLst>
          </a:prstGeom>
          <a:solidFill>
            <a:srgbClr val="89B2B0"/>
          </a:solidFill>
          <a:ln w="16536">
            <a:solidFill>
              <a:srgbClr val="FFFFFF">
                <a:alpha val="45000"/>
              </a:srgbClr>
            </a:solidFill>
            <a:prstDash val="solid"/>
          </a:ln>
        </p:spPr>
        <p:txBody>
          <a:bodyPr/>
          <a:lstStyle/>
          <a:p>
            <a:endParaRPr lang="en-US"/>
          </a:p>
        </p:txBody>
      </p:sp>
      <p:sp>
        <p:nvSpPr>
          <p:cNvPr id="7" name="Text 2"/>
          <p:cNvSpPr/>
          <p:nvPr/>
        </p:nvSpPr>
        <p:spPr>
          <a:xfrm>
            <a:off x="2804465" y="2113566"/>
            <a:ext cx="2330068" cy="342888"/>
          </a:xfrm>
          <a:prstGeom prst="rect">
            <a:avLst/>
          </a:prstGeom>
          <a:noFill/>
          <a:ln/>
        </p:spPr>
        <p:txBody>
          <a:bodyPr wrap="square" lIns="25400" tIns="25400" rIns="25400" bIns="25400" rtlCol="0" anchor="t">
            <a:normAutofit/>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Data ingested into a Data Processing pipeline</a:t>
            </a:r>
            <a:endParaRPr lang="en-US" sz="1200" dirty="0"/>
          </a:p>
        </p:txBody>
      </p:sp>
      <p:pic>
        <p:nvPicPr>
          <p:cNvPr id="8" name="Image 3" descr="preencoded.png"/>
          <p:cNvPicPr>
            <a:picLocks noChangeAspect="1"/>
          </p:cNvPicPr>
          <p:nvPr/>
        </p:nvPicPr>
        <p:blipFill>
          <a:blip r:embed="rId6"/>
          <a:srcRect l="-15" r="-15"/>
          <a:stretch/>
        </p:blipFill>
        <p:spPr>
          <a:xfrm>
            <a:off x="7253252" y="1055336"/>
            <a:ext cx="1055336" cy="898188"/>
          </a:xfrm>
          <a:prstGeom prst="rect">
            <a:avLst/>
          </a:prstGeom>
        </p:spPr>
      </p:pic>
      <p:sp>
        <p:nvSpPr>
          <p:cNvPr id="9" name="Shape 3"/>
          <p:cNvSpPr/>
          <p:nvPr/>
        </p:nvSpPr>
        <p:spPr>
          <a:xfrm rot="102600">
            <a:off x="1829183" y="2251078"/>
            <a:ext cx="857250" cy="26458"/>
          </a:xfrm>
          <a:prstGeom prst="rect">
            <a:avLst/>
          </a:prstGeom>
          <a:solidFill>
            <a:srgbClr val="F0CC71"/>
          </a:solidFill>
          <a:ln/>
        </p:spPr>
        <p:txBody>
          <a:bodyPr/>
          <a:lstStyle/>
          <a:p>
            <a:endParaRPr lang="en-US"/>
          </a:p>
        </p:txBody>
      </p:sp>
      <p:sp>
        <p:nvSpPr>
          <p:cNvPr id="10" name="Shape 4"/>
          <p:cNvSpPr/>
          <p:nvPr/>
        </p:nvSpPr>
        <p:spPr>
          <a:xfrm rot="102600">
            <a:off x="2554435" y="2172501"/>
            <a:ext cx="135599" cy="180975"/>
          </a:xfrm>
          <a:prstGeom prst="rect">
            <a:avLst/>
          </a:prstGeom>
          <a:solidFill>
            <a:srgbClr val="F0CC71"/>
          </a:solidFill>
          <a:ln/>
        </p:spPr>
        <p:txBody>
          <a:bodyPr/>
          <a:lstStyle/>
          <a:p>
            <a:endParaRPr lang="en-US"/>
          </a:p>
        </p:txBody>
      </p:sp>
      <p:sp>
        <p:nvSpPr>
          <p:cNvPr id="11" name="Shape 5"/>
          <p:cNvSpPr/>
          <p:nvPr/>
        </p:nvSpPr>
        <p:spPr>
          <a:xfrm rot="10800000">
            <a:off x="4655788" y="1780150"/>
            <a:ext cx="1298215" cy="36380"/>
          </a:xfrm>
          <a:prstGeom prst="rect">
            <a:avLst/>
          </a:prstGeom>
          <a:solidFill>
            <a:srgbClr val="F0CC71"/>
          </a:solidFill>
          <a:ln/>
        </p:spPr>
        <p:txBody>
          <a:bodyPr/>
          <a:lstStyle/>
          <a:p>
            <a:endParaRPr lang="en-US"/>
          </a:p>
        </p:txBody>
      </p:sp>
      <p:sp>
        <p:nvSpPr>
          <p:cNvPr id="12" name="Shape 6"/>
          <p:cNvSpPr/>
          <p:nvPr/>
        </p:nvSpPr>
        <p:spPr>
          <a:xfrm rot="5400000">
            <a:off x="5835974" y="1624345"/>
            <a:ext cx="276225" cy="36380"/>
          </a:xfrm>
          <a:prstGeom prst="rect">
            <a:avLst/>
          </a:prstGeom>
          <a:solidFill>
            <a:srgbClr val="F0CC71"/>
          </a:solidFill>
          <a:ln/>
        </p:spPr>
        <p:txBody>
          <a:bodyPr/>
          <a:lstStyle/>
          <a:p>
            <a:endParaRPr lang="en-US"/>
          </a:p>
        </p:txBody>
      </p:sp>
      <p:sp>
        <p:nvSpPr>
          <p:cNvPr id="13" name="Shape 7"/>
          <p:cNvSpPr/>
          <p:nvPr/>
        </p:nvSpPr>
        <p:spPr>
          <a:xfrm rot="10800000">
            <a:off x="5955037" y="1504921"/>
            <a:ext cx="1298215" cy="36380"/>
          </a:xfrm>
          <a:prstGeom prst="rect">
            <a:avLst/>
          </a:prstGeom>
          <a:solidFill>
            <a:srgbClr val="F0CC71"/>
          </a:solidFill>
          <a:ln/>
        </p:spPr>
        <p:txBody>
          <a:bodyPr/>
          <a:lstStyle/>
          <a:p>
            <a:endParaRPr lang="en-US"/>
          </a:p>
        </p:txBody>
      </p:sp>
      <p:sp>
        <p:nvSpPr>
          <p:cNvPr id="14" name="Shape 8"/>
          <p:cNvSpPr/>
          <p:nvPr/>
        </p:nvSpPr>
        <p:spPr>
          <a:xfrm rot="10800000">
            <a:off x="7071351" y="1385859"/>
            <a:ext cx="181901" cy="238125"/>
          </a:xfrm>
          <a:prstGeom prst="rect">
            <a:avLst/>
          </a:prstGeom>
          <a:solidFill>
            <a:srgbClr val="F0CC71"/>
          </a:solidFill>
          <a:ln/>
        </p:spPr>
        <p:txBody>
          <a:bodyPr/>
          <a:lstStyle/>
          <a:p>
            <a:endParaRPr lang="en-US"/>
          </a:p>
        </p:txBody>
      </p:sp>
      <p:pic>
        <p:nvPicPr>
          <p:cNvPr id="15" name="Image 4" descr="preencoded.png"/>
          <p:cNvPicPr>
            <a:picLocks noChangeAspect="1"/>
          </p:cNvPicPr>
          <p:nvPr/>
        </p:nvPicPr>
        <p:blipFill>
          <a:blip r:embed="rId7"/>
          <a:srcRect l="-175" r="-175"/>
          <a:stretch/>
        </p:blipFill>
        <p:spPr>
          <a:xfrm>
            <a:off x="7448537" y="3739513"/>
            <a:ext cx="741970" cy="594331"/>
          </a:xfrm>
          <a:prstGeom prst="rect">
            <a:avLst/>
          </a:prstGeom>
        </p:spPr>
      </p:pic>
      <p:sp>
        <p:nvSpPr>
          <p:cNvPr id="16" name="Shape 9"/>
          <p:cNvSpPr/>
          <p:nvPr/>
        </p:nvSpPr>
        <p:spPr>
          <a:xfrm rot="5325000">
            <a:off x="6892934" y="2833368"/>
            <a:ext cx="1790700" cy="26458"/>
          </a:xfrm>
          <a:prstGeom prst="rect">
            <a:avLst/>
          </a:prstGeom>
          <a:solidFill>
            <a:srgbClr val="F0CC71"/>
          </a:solidFill>
          <a:ln/>
        </p:spPr>
        <p:txBody>
          <a:bodyPr/>
          <a:lstStyle/>
          <a:p>
            <a:endParaRPr lang="en-US"/>
          </a:p>
        </p:txBody>
      </p:sp>
      <p:sp>
        <p:nvSpPr>
          <p:cNvPr id="17" name="Shape 10"/>
          <p:cNvSpPr/>
          <p:nvPr/>
        </p:nvSpPr>
        <p:spPr>
          <a:xfrm rot="5325000">
            <a:off x="7750734" y="3582366"/>
            <a:ext cx="135599" cy="180975"/>
          </a:xfrm>
          <a:prstGeom prst="rect">
            <a:avLst/>
          </a:prstGeom>
          <a:solidFill>
            <a:srgbClr val="F0CC71"/>
          </a:solidFill>
          <a:ln/>
        </p:spPr>
        <p:txBody>
          <a:bodyPr/>
          <a:lstStyle/>
          <a:p>
            <a:endParaRPr lang="en-US"/>
          </a:p>
        </p:txBody>
      </p:sp>
      <p:sp>
        <p:nvSpPr>
          <p:cNvPr id="20" name="Shape 13"/>
          <p:cNvSpPr/>
          <p:nvPr/>
        </p:nvSpPr>
        <p:spPr>
          <a:xfrm>
            <a:off x="6932290" y="4369087"/>
            <a:ext cx="1772553" cy="282877"/>
          </a:xfrm>
          <a:prstGeom prst="roundRect">
            <a:avLst>
              <a:gd name="adj" fmla="val 16836"/>
            </a:avLst>
          </a:prstGeom>
          <a:solidFill>
            <a:srgbClr val="0B5060"/>
          </a:solidFill>
          <a:ln w="13229">
            <a:solidFill>
              <a:srgbClr val="F0CC71"/>
            </a:solidFill>
            <a:prstDash val="solid"/>
          </a:ln>
        </p:spPr>
        <p:txBody>
          <a:bodyPr/>
          <a:lstStyle/>
          <a:p>
            <a:endParaRPr lang="en-US"/>
          </a:p>
        </p:txBody>
      </p:sp>
      <p:sp>
        <p:nvSpPr>
          <p:cNvPr id="21" name="Text 14"/>
          <p:cNvSpPr/>
          <p:nvPr/>
        </p:nvSpPr>
        <p:spPr>
          <a:xfrm>
            <a:off x="7009078" y="4434355"/>
            <a:ext cx="1618976"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FFFFFF"/>
                </a:solidFill>
                <a:latin typeface="Oracle Sans Tab" pitchFamily="34" charset="0"/>
                <a:ea typeface="Oracle Sans Tab" pitchFamily="34" charset="-122"/>
                <a:cs typeface="Oracle Sans Tab" pitchFamily="34" charset="-120"/>
              </a:rPr>
              <a:t>Embedding Model</a:t>
            </a:r>
            <a:endParaRPr lang="en-US" sz="1200" dirty="0"/>
          </a:p>
        </p:txBody>
      </p:sp>
      <p:pic>
        <p:nvPicPr>
          <p:cNvPr id="22" name="Image 5" descr="preencoded.png"/>
          <p:cNvPicPr>
            <a:picLocks noChangeAspect="1"/>
          </p:cNvPicPr>
          <p:nvPr/>
        </p:nvPicPr>
        <p:blipFill>
          <a:blip r:embed="rId8"/>
          <a:srcRect t="-101" b="-101"/>
          <a:stretch/>
        </p:blipFill>
        <p:spPr>
          <a:xfrm>
            <a:off x="11728121" y="3655694"/>
            <a:ext cx="2517417" cy="762951"/>
          </a:xfrm>
          <a:prstGeom prst="rect">
            <a:avLst/>
          </a:prstGeom>
        </p:spPr>
      </p:pic>
      <p:sp>
        <p:nvSpPr>
          <p:cNvPr id="23" name="Shape 15"/>
          <p:cNvSpPr/>
          <p:nvPr/>
        </p:nvSpPr>
        <p:spPr>
          <a:xfrm>
            <a:off x="11638565" y="940098"/>
            <a:ext cx="2696476" cy="1246797"/>
          </a:xfrm>
          <a:prstGeom prst="rect">
            <a:avLst/>
          </a:prstGeom>
          <a:ln w="16536">
            <a:solidFill>
              <a:srgbClr val="FFFFFF">
                <a:alpha val="45000"/>
              </a:srgbClr>
            </a:solidFill>
            <a:prstDash val="dash"/>
          </a:ln>
        </p:spPr>
        <p:txBody>
          <a:bodyPr/>
          <a:lstStyle/>
          <a:p>
            <a:endParaRPr lang="en-US"/>
          </a:p>
        </p:txBody>
      </p:sp>
      <p:sp>
        <p:nvSpPr>
          <p:cNvPr id="24" name="Text 16"/>
          <p:cNvSpPr/>
          <p:nvPr/>
        </p:nvSpPr>
        <p:spPr>
          <a:xfrm>
            <a:off x="11792251" y="1025209"/>
            <a:ext cx="2465305" cy="952256"/>
          </a:xfrm>
          <a:prstGeom prst="rect">
            <a:avLst/>
          </a:prstGeom>
          <a:noFill/>
          <a:ln/>
        </p:spPr>
        <p:txBody>
          <a:bodyPr wrap="square" lIns="25400" tIns="25400" rIns="25400" bIns="25400" rtlCol="0" anchor="t">
            <a:normAutofit/>
          </a:bodyPr>
          <a:lstStyle/>
          <a:p>
            <a:pPr marL="0" indent="0" algn="l">
              <a:lnSpc>
                <a:spcPct val="92160"/>
              </a:lnSpc>
              <a:buNone/>
            </a:pPr>
            <a:r>
              <a:rPr lang="en-US" sz="1200" i="1" dirty="0">
                <a:solidFill>
                  <a:srgbClr val="FFFFFF"/>
                </a:solidFill>
                <a:latin typeface="Oracle Sans Tab" pitchFamily="34" charset="0"/>
                <a:ea typeface="Oracle Sans Tab" pitchFamily="34" charset="-122"/>
                <a:cs typeface="Oracle Sans Tab" pitchFamily="34" charset="-120"/>
              </a:rPr>
              <a:t>"We find that retrieval-augmented generation significantly reduces hallucin…all Questions benchmark when using contriver-based retrieval."</a:t>
            </a:r>
            <a:endParaRPr lang="en-US" sz="1200" dirty="0"/>
          </a:p>
        </p:txBody>
      </p:sp>
      <p:sp>
        <p:nvSpPr>
          <p:cNvPr id="25" name="Shape 17"/>
          <p:cNvSpPr/>
          <p:nvPr/>
        </p:nvSpPr>
        <p:spPr>
          <a:xfrm>
            <a:off x="11711894" y="2389777"/>
            <a:ext cx="2597464" cy="1108666"/>
          </a:xfrm>
          <a:prstGeom prst="rect">
            <a:avLst/>
          </a:prstGeom>
          <a:ln w="13229">
            <a:solidFill>
              <a:srgbClr val="FFFFFF">
                <a:alpha val="45000"/>
              </a:srgbClr>
            </a:solidFill>
            <a:prstDash val="dash"/>
          </a:ln>
        </p:spPr>
        <p:txBody>
          <a:bodyPr/>
          <a:lstStyle/>
          <a:p>
            <a:endParaRPr lang="en-US"/>
          </a:p>
        </p:txBody>
      </p:sp>
      <p:sp>
        <p:nvSpPr>
          <p:cNvPr id="26" name="Text 18"/>
          <p:cNvSpPr/>
          <p:nvPr/>
        </p:nvSpPr>
        <p:spPr>
          <a:xfrm>
            <a:off x="11862272" y="2471580"/>
            <a:ext cx="2372907" cy="1135087"/>
          </a:xfrm>
          <a:prstGeom prst="rect">
            <a:avLst/>
          </a:prstGeom>
          <a:noFill/>
          <a:ln/>
        </p:spPr>
        <p:txBody>
          <a:bodyPr wrap="square" lIns="25400" tIns="25400" rIns="25400" bIns="25400" rtlCol="0" anchor="t">
            <a:normAutofit/>
          </a:bodyPr>
          <a:lstStyle/>
          <a:p>
            <a:pPr marL="0" indent="0" algn="l">
              <a:lnSpc>
                <a:spcPct val="92160"/>
              </a:lnSpc>
              <a:buNone/>
            </a:pP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paper_id</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86B596"/>
                </a:solidFill>
                <a:latin typeface="Oracle Sans Tab" pitchFamily="34" charset="0"/>
                <a:ea typeface="Oracle Sans Tab" pitchFamily="34" charset="-122"/>
                <a:cs typeface="Oracle Sans Tab" pitchFamily="34" charset="-120"/>
              </a:rPr>
              <a:t>2312.10997</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title </a:t>
            </a:r>
            <a:r>
              <a:rPr lang="en-US" sz="1050" i="1" dirty="0">
                <a:solidFill>
                  <a:srgbClr val="FFFFFF"/>
                </a:solidFill>
                <a:latin typeface="Oracle Sans Tab" pitchFamily="34" charset="0"/>
                <a:ea typeface="Oracle Sans Tab" pitchFamily="34" charset="-122"/>
                <a:cs typeface="Oracle Sans Tab" pitchFamily="34" charset="-120"/>
              </a:rPr>
              <a:t>": " </a:t>
            </a:r>
            <a:r>
              <a:rPr lang="en-US" sz="1050" i="1" dirty="0">
                <a:solidFill>
                  <a:srgbClr val="86B596"/>
                </a:solidFill>
                <a:latin typeface="Oracle Sans Tab" pitchFamily="34" charset="0"/>
                <a:ea typeface="Oracle Sans Tab" pitchFamily="34" charset="-122"/>
                <a:cs typeface="Oracle Sans Tab" pitchFamily="34" charset="-120"/>
              </a:rPr>
              <a:t>Benchmarking RAG for Factual Consistency </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authors</a:t>
            </a:r>
            <a:r>
              <a:rPr lang="en-US" sz="1050" i="1" dirty="0">
                <a:solidFill>
                  <a:srgbClr val="FFFFFF"/>
                </a:solidFill>
                <a:latin typeface="Oracle Sans Tab" pitchFamily="34" charset="0"/>
                <a:ea typeface="Oracle Sans Tab" pitchFamily="34" charset="-122"/>
                <a:cs typeface="Oracle Sans Tab" pitchFamily="34" charset="-120"/>
              </a:rPr>
              <a:t>": [" </a:t>
            </a:r>
            <a:r>
              <a:rPr lang="en-US" sz="1050" i="1" dirty="0">
                <a:solidFill>
                  <a:srgbClr val="86B596"/>
                </a:solidFill>
                <a:latin typeface="Oracle Sans Tab" pitchFamily="34" charset="0"/>
                <a:ea typeface="Oracle Sans Tab" pitchFamily="34" charset="-122"/>
                <a:cs typeface="Oracle Sans Tab" pitchFamily="34" charset="-120"/>
              </a:rPr>
              <a:t>Chen, Wei", "Patel, Anika", "Yamamoto, Kenji" </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section </a:t>
            </a:r>
            <a:r>
              <a:rPr lang="en-US" sz="1050" i="1" dirty="0">
                <a:solidFill>
                  <a:srgbClr val="FFFFFF"/>
                </a:solidFill>
                <a:latin typeface="Oracle Sans Tab" pitchFamily="34" charset="0"/>
                <a:ea typeface="Oracle Sans Tab" pitchFamily="34" charset="-122"/>
                <a:cs typeface="Oracle Sans Tab" pitchFamily="34" charset="-120"/>
              </a:rPr>
              <a:t>": " </a:t>
            </a:r>
            <a:r>
              <a:rPr lang="en-US" sz="1050" i="1" dirty="0">
                <a:solidFill>
                  <a:srgbClr val="86B596"/>
                </a:solidFill>
                <a:latin typeface="Oracle Sans Tab" pitchFamily="34" charset="0"/>
                <a:ea typeface="Oracle Sans Tab" pitchFamily="34" charset="-122"/>
                <a:cs typeface="Oracle Sans Tab" pitchFamily="34" charset="-120"/>
              </a:rPr>
              <a:t>Results</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page</a:t>
            </a:r>
            <a:r>
              <a:rPr lang="en-US" sz="1050" i="1" dirty="0">
                <a:solidFill>
                  <a:srgbClr val="FFFFFF"/>
                </a:solidFill>
                <a:latin typeface="Oracle Sans Tab" pitchFamily="34" charset="0"/>
                <a:ea typeface="Oracle Sans Tab" pitchFamily="34" charset="-122"/>
                <a:cs typeface="Oracle Sans Tab" pitchFamily="34" charset="-120"/>
              </a:rPr>
              <a:t>":</a:t>
            </a:r>
            <a:r>
              <a:rPr lang="en-US" sz="1050" i="1" dirty="0">
                <a:solidFill>
                  <a:srgbClr val="86B596"/>
                </a:solidFill>
                <a:latin typeface="Oracle Sans Tab" pitchFamily="34" charset="0"/>
                <a:ea typeface="Oracle Sans Tab" pitchFamily="34" charset="-122"/>
                <a:cs typeface="Oracle Sans Tab" pitchFamily="34" charset="-120"/>
              </a:rPr>
              <a:t>7</a:t>
            </a:r>
            <a:r>
              <a:rPr lang="en-US" sz="1050" i="1" dirty="0">
                <a:solidFill>
                  <a:srgbClr val="FFFFFF"/>
                </a:solidFill>
                <a:latin typeface="Oracle Sans Tab" pitchFamily="34" charset="0"/>
                <a:ea typeface="Oracle Sans Tab" pitchFamily="34" charset="-122"/>
                <a:cs typeface="Oracle Sans Tab" pitchFamily="34" charset="-120"/>
              </a:rPr>
              <a:t>, "</a:t>
            </a:r>
            <a:r>
              <a:rPr lang="en-US" sz="1050" i="1" dirty="0">
                <a:solidFill>
                  <a:srgbClr val="FD6953"/>
                </a:solidFill>
                <a:latin typeface="Oracle Sans Tab" pitchFamily="34" charset="0"/>
                <a:ea typeface="Oracle Sans Tab" pitchFamily="34" charset="-122"/>
                <a:cs typeface="Oracle Sans Tab" pitchFamily="34" charset="-120"/>
              </a:rPr>
              <a:t>chunk_index</a:t>
            </a:r>
            <a:r>
              <a:rPr lang="en-US" sz="1050" i="1" dirty="0">
                <a:solidFill>
                  <a:srgbClr val="FFFFFF"/>
                </a:solidFill>
                <a:latin typeface="Oracle Sans Tab" pitchFamily="34" charset="0"/>
                <a:ea typeface="Oracle Sans Tab" pitchFamily="34" charset="-122"/>
                <a:cs typeface="Oracle Sans Tab" pitchFamily="34" charset="-120"/>
              </a:rPr>
              <a:t>":</a:t>
            </a:r>
            <a:r>
              <a:rPr lang="en-US" sz="1050" i="1" dirty="0">
                <a:solidFill>
                  <a:srgbClr val="86B596"/>
                </a:solidFill>
                <a:latin typeface="Oracle Sans Tab" pitchFamily="34" charset="0"/>
                <a:ea typeface="Oracle Sans Tab" pitchFamily="34" charset="-122"/>
                <a:cs typeface="Oracle Sans Tab" pitchFamily="34" charset="-120"/>
              </a:rPr>
              <a:t>42</a:t>
            </a:r>
            <a:r>
              <a:rPr lang="en-US" sz="1050" i="1" dirty="0">
                <a:solidFill>
                  <a:srgbClr val="FFFFFF"/>
                </a:solidFill>
                <a:latin typeface="Oracle Sans Tab" pitchFamily="34" charset="0"/>
                <a:ea typeface="Oracle Sans Tab" pitchFamily="34" charset="-122"/>
                <a:cs typeface="Oracle Sans Tab" pitchFamily="34" charset="-120"/>
              </a:rPr>
              <a:t>}</a:t>
            </a:r>
            <a:endParaRPr lang="en-US" sz="1200" dirty="0"/>
          </a:p>
        </p:txBody>
      </p:sp>
      <p:sp>
        <p:nvSpPr>
          <p:cNvPr id="27" name="Shape 19"/>
          <p:cNvSpPr/>
          <p:nvPr/>
        </p:nvSpPr>
        <p:spPr>
          <a:xfrm>
            <a:off x="8189577" y="4036653"/>
            <a:ext cx="1769711" cy="36380"/>
          </a:xfrm>
          <a:prstGeom prst="rect">
            <a:avLst/>
          </a:prstGeom>
          <a:solidFill>
            <a:srgbClr val="F0CC71"/>
          </a:solidFill>
          <a:ln/>
        </p:spPr>
        <p:txBody>
          <a:bodyPr/>
          <a:lstStyle/>
          <a:p>
            <a:endParaRPr lang="en-US"/>
          </a:p>
        </p:txBody>
      </p:sp>
      <p:sp>
        <p:nvSpPr>
          <p:cNvPr id="28" name="Shape 20"/>
          <p:cNvSpPr/>
          <p:nvPr/>
        </p:nvSpPr>
        <p:spPr>
          <a:xfrm rot="1800">
            <a:off x="9959269" y="4036653"/>
            <a:ext cx="1769730" cy="36380"/>
          </a:xfrm>
          <a:prstGeom prst="rect">
            <a:avLst/>
          </a:prstGeom>
          <a:solidFill>
            <a:srgbClr val="F0CC71"/>
          </a:solidFill>
          <a:ln/>
        </p:spPr>
        <p:txBody>
          <a:bodyPr/>
          <a:lstStyle/>
          <a:p>
            <a:endParaRPr lang="en-US"/>
          </a:p>
        </p:txBody>
      </p:sp>
      <p:sp>
        <p:nvSpPr>
          <p:cNvPr id="29" name="Shape 21"/>
          <p:cNvSpPr/>
          <p:nvPr/>
        </p:nvSpPr>
        <p:spPr>
          <a:xfrm rot="1800">
            <a:off x="11546106" y="3918425"/>
            <a:ext cx="181901" cy="238220"/>
          </a:xfrm>
          <a:prstGeom prst="rect">
            <a:avLst/>
          </a:prstGeom>
          <a:solidFill>
            <a:srgbClr val="F0CC71"/>
          </a:solidFill>
          <a:ln/>
        </p:spPr>
        <p:txBody>
          <a:bodyPr/>
          <a:lstStyle/>
          <a:p>
            <a:endParaRPr lang="en-US"/>
          </a:p>
        </p:txBody>
      </p:sp>
      <p:sp>
        <p:nvSpPr>
          <p:cNvPr id="30" name="Shape 22"/>
          <p:cNvSpPr/>
          <p:nvPr/>
        </p:nvSpPr>
        <p:spPr>
          <a:xfrm>
            <a:off x="8308640" y="1504921"/>
            <a:ext cx="1664963" cy="36380"/>
          </a:xfrm>
          <a:prstGeom prst="rect">
            <a:avLst/>
          </a:prstGeom>
          <a:solidFill>
            <a:srgbClr val="F0CC71"/>
          </a:solidFill>
          <a:ln/>
        </p:spPr>
        <p:txBody>
          <a:bodyPr/>
          <a:lstStyle/>
          <a:p>
            <a:endParaRPr lang="en-US"/>
          </a:p>
        </p:txBody>
      </p:sp>
      <p:sp>
        <p:nvSpPr>
          <p:cNvPr id="31" name="Shape 23"/>
          <p:cNvSpPr/>
          <p:nvPr/>
        </p:nvSpPr>
        <p:spPr>
          <a:xfrm rot="5400000">
            <a:off x="9927698" y="1516238"/>
            <a:ext cx="57150" cy="36380"/>
          </a:xfrm>
          <a:prstGeom prst="rect">
            <a:avLst/>
          </a:prstGeom>
          <a:solidFill>
            <a:srgbClr val="F0CC71"/>
          </a:solidFill>
          <a:ln/>
        </p:spPr>
        <p:txBody>
          <a:bodyPr/>
          <a:lstStyle/>
          <a:p>
            <a:endParaRPr lang="en-US"/>
          </a:p>
        </p:txBody>
      </p:sp>
      <p:sp>
        <p:nvSpPr>
          <p:cNvPr id="32" name="Shape 24"/>
          <p:cNvSpPr/>
          <p:nvPr/>
        </p:nvSpPr>
        <p:spPr>
          <a:xfrm>
            <a:off x="9973603" y="1563935"/>
            <a:ext cx="1664963" cy="36380"/>
          </a:xfrm>
          <a:prstGeom prst="rect">
            <a:avLst/>
          </a:prstGeom>
          <a:solidFill>
            <a:srgbClr val="F0CC71"/>
          </a:solidFill>
          <a:ln/>
        </p:spPr>
        <p:txBody>
          <a:bodyPr/>
          <a:lstStyle/>
          <a:p>
            <a:endParaRPr lang="en-US"/>
          </a:p>
        </p:txBody>
      </p:sp>
      <p:sp>
        <p:nvSpPr>
          <p:cNvPr id="33" name="Shape 25"/>
          <p:cNvSpPr/>
          <p:nvPr/>
        </p:nvSpPr>
        <p:spPr>
          <a:xfrm>
            <a:off x="11457595" y="1444873"/>
            <a:ext cx="181901" cy="238125"/>
          </a:xfrm>
          <a:prstGeom prst="rect">
            <a:avLst/>
          </a:prstGeom>
          <a:solidFill>
            <a:srgbClr val="F0CC71"/>
          </a:solidFill>
          <a:ln/>
        </p:spPr>
        <p:txBody>
          <a:bodyPr/>
          <a:lstStyle/>
          <a:p>
            <a:endParaRPr lang="en-US"/>
          </a:p>
        </p:txBody>
      </p:sp>
      <p:sp>
        <p:nvSpPr>
          <p:cNvPr id="34" name="Shape 26"/>
          <p:cNvSpPr/>
          <p:nvPr/>
        </p:nvSpPr>
        <p:spPr>
          <a:xfrm>
            <a:off x="8308640" y="1504921"/>
            <a:ext cx="1702067" cy="36380"/>
          </a:xfrm>
          <a:prstGeom prst="rect">
            <a:avLst/>
          </a:prstGeom>
          <a:solidFill>
            <a:srgbClr val="F0CC71"/>
          </a:solidFill>
          <a:ln/>
        </p:spPr>
        <p:txBody>
          <a:bodyPr/>
          <a:lstStyle/>
          <a:p>
            <a:endParaRPr lang="en-US"/>
          </a:p>
        </p:txBody>
      </p:sp>
      <p:sp>
        <p:nvSpPr>
          <p:cNvPr id="35" name="Shape 27"/>
          <p:cNvSpPr/>
          <p:nvPr/>
        </p:nvSpPr>
        <p:spPr>
          <a:xfrm rot="5400000">
            <a:off x="9274239" y="2206325"/>
            <a:ext cx="1438275" cy="36380"/>
          </a:xfrm>
          <a:prstGeom prst="rect">
            <a:avLst/>
          </a:prstGeom>
          <a:solidFill>
            <a:srgbClr val="F0CC71"/>
          </a:solidFill>
          <a:ln/>
        </p:spPr>
        <p:txBody>
          <a:bodyPr/>
          <a:lstStyle/>
          <a:p>
            <a:endParaRPr lang="en-US"/>
          </a:p>
        </p:txBody>
      </p:sp>
      <p:sp>
        <p:nvSpPr>
          <p:cNvPr id="36" name="Shape 28"/>
          <p:cNvSpPr/>
          <p:nvPr/>
        </p:nvSpPr>
        <p:spPr>
          <a:xfrm>
            <a:off x="10010706" y="2944110"/>
            <a:ext cx="1702067" cy="36380"/>
          </a:xfrm>
          <a:prstGeom prst="rect">
            <a:avLst/>
          </a:prstGeom>
          <a:solidFill>
            <a:srgbClr val="F0CC71"/>
          </a:solidFill>
          <a:ln/>
        </p:spPr>
        <p:txBody>
          <a:bodyPr/>
          <a:lstStyle/>
          <a:p>
            <a:endParaRPr lang="en-US"/>
          </a:p>
        </p:txBody>
      </p:sp>
      <p:sp>
        <p:nvSpPr>
          <p:cNvPr id="37" name="Shape 29"/>
          <p:cNvSpPr/>
          <p:nvPr/>
        </p:nvSpPr>
        <p:spPr>
          <a:xfrm>
            <a:off x="11530924" y="2825047"/>
            <a:ext cx="181901" cy="238125"/>
          </a:xfrm>
          <a:prstGeom prst="rect">
            <a:avLst/>
          </a:prstGeom>
          <a:solidFill>
            <a:srgbClr val="F0CC71"/>
          </a:solidFill>
          <a:ln/>
        </p:spPr>
        <p:txBody>
          <a:bodyPr/>
          <a:lstStyle/>
          <a:p>
            <a:endParaRPr lang="en-US"/>
          </a:p>
        </p:txBody>
      </p:sp>
      <p:sp>
        <p:nvSpPr>
          <p:cNvPr id="38" name="Shape 30"/>
          <p:cNvSpPr/>
          <p:nvPr/>
        </p:nvSpPr>
        <p:spPr>
          <a:xfrm>
            <a:off x="16611595" y="3606136"/>
            <a:ext cx="861033" cy="1369684"/>
          </a:xfrm>
          <a:prstGeom prst="roundRect">
            <a:avLst>
              <a:gd name="adj" fmla="val 50000"/>
            </a:avLst>
          </a:prstGeom>
          <a:solidFill>
            <a:srgbClr val="C74634"/>
          </a:solidFill>
          <a:ln w="13229">
            <a:solidFill>
              <a:srgbClr val="FFFFFF">
                <a:alpha val="3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39" name="Shape 31"/>
          <p:cNvSpPr/>
          <p:nvPr/>
        </p:nvSpPr>
        <p:spPr>
          <a:xfrm>
            <a:off x="16299160" y="1341107"/>
            <a:ext cx="1467766" cy="300033"/>
          </a:xfrm>
          <a:prstGeom prst="roundRect">
            <a:avLst>
              <a:gd name="adj" fmla="val 16826"/>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40" name="Text 32"/>
          <p:cNvSpPr/>
          <p:nvPr/>
        </p:nvSpPr>
        <p:spPr>
          <a:xfrm>
            <a:off x="16414746" y="1414952"/>
            <a:ext cx="1236594"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JSON</a:t>
            </a:r>
            <a:endParaRPr lang="en-US" sz="1200" dirty="0"/>
          </a:p>
        </p:txBody>
      </p:sp>
      <p:sp>
        <p:nvSpPr>
          <p:cNvPr id="41" name="Shape 33"/>
          <p:cNvSpPr/>
          <p:nvPr/>
        </p:nvSpPr>
        <p:spPr>
          <a:xfrm>
            <a:off x="16299160" y="1831619"/>
            <a:ext cx="1467766" cy="314296"/>
          </a:xfrm>
          <a:prstGeom prst="roundRect">
            <a:avLst>
              <a:gd name="adj" fmla="val 16668"/>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42" name="Text 34"/>
          <p:cNvSpPr/>
          <p:nvPr/>
        </p:nvSpPr>
        <p:spPr>
          <a:xfrm>
            <a:off x="16414746" y="1912596"/>
            <a:ext cx="1236594"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Graph</a:t>
            </a:r>
            <a:endParaRPr lang="en-US" sz="1200" dirty="0"/>
          </a:p>
        </p:txBody>
      </p:sp>
      <p:sp>
        <p:nvSpPr>
          <p:cNvPr id="43" name="Shape 35"/>
          <p:cNvSpPr/>
          <p:nvPr/>
        </p:nvSpPr>
        <p:spPr>
          <a:xfrm>
            <a:off x="16299160" y="2320272"/>
            <a:ext cx="1467766" cy="314296"/>
          </a:xfrm>
          <a:prstGeom prst="roundRect">
            <a:avLst>
              <a:gd name="adj" fmla="val 16668"/>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44" name="Text 36"/>
          <p:cNvSpPr/>
          <p:nvPr/>
        </p:nvSpPr>
        <p:spPr>
          <a:xfrm>
            <a:off x="16414746" y="2401249"/>
            <a:ext cx="1236594"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Operational</a:t>
            </a:r>
            <a:endParaRPr lang="en-US" sz="1200" dirty="0"/>
          </a:p>
        </p:txBody>
      </p:sp>
      <p:sp>
        <p:nvSpPr>
          <p:cNvPr id="45" name="Shape 37"/>
          <p:cNvSpPr/>
          <p:nvPr/>
        </p:nvSpPr>
        <p:spPr>
          <a:xfrm>
            <a:off x="16299160" y="2806030"/>
            <a:ext cx="1467766" cy="300033"/>
          </a:xfrm>
          <a:prstGeom prst="roundRect">
            <a:avLst>
              <a:gd name="adj" fmla="val 16826"/>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46" name="Text 38"/>
          <p:cNvSpPr/>
          <p:nvPr/>
        </p:nvSpPr>
        <p:spPr>
          <a:xfrm>
            <a:off x="16414746" y="2879876"/>
            <a:ext cx="1236594"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Vector</a:t>
            </a:r>
            <a:endParaRPr lang="en-US" sz="1200" dirty="0"/>
          </a:p>
        </p:txBody>
      </p:sp>
      <p:sp>
        <p:nvSpPr>
          <p:cNvPr id="47" name="Shape 39"/>
          <p:cNvSpPr/>
          <p:nvPr/>
        </p:nvSpPr>
        <p:spPr>
          <a:xfrm>
            <a:off x="14309359" y="2944161"/>
            <a:ext cx="1150576" cy="36380"/>
          </a:xfrm>
          <a:prstGeom prst="rect">
            <a:avLst/>
          </a:prstGeom>
          <a:solidFill>
            <a:srgbClr val="F0CC71"/>
          </a:solidFill>
          <a:ln/>
        </p:spPr>
        <p:txBody>
          <a:bodyPr/>
          <a:lstStyle/>
          <a:p>
            <a:endParaRPr lang="en-US"/>
          </a:p>
        </p:txBody>
      </p:sp>
      <p:sp>
        <p:nvSpPr>
          <p:cNvPr id="48" name="Shape 40"/>
          <p:cNvSpPr/>
          <p:nvPr/>
        </p:nvSpPr>
        <p:spPr>
          <a:xfrm rot="5400000">
            <a:off x="14771091" y="3599367"/>
            <a:ext cx="1343025" cy="36380"/>
          </a:xfrm>
          <a:prstGeom prst="rect">
            <a:avLst/>
          </a:prstGeom>
          <a:solidFill>
            <a:srgbClr val="F0CC71"/>
          </a:solidFill>
          <a:ln/>
        </p:spPr>
        <p:txBody>
          <a:bodyPr/>
          <a:lstStyle/>
          <a:p>
            <a:endParaRPr lang="en-US"/>
          </a:p>
        </p:txBody>
      </p:sp>
      <p:sp>
        <p:nvSpPr>
          <p:cNvPr id="49" name="Shape 41"/>
          <p:cNvSpPr/>
          <p:nvPr/>
        </p:nvSpPr>
        <p:spPr>
          <a:xfrm>
            <a:off x="15459934" y="4290952"/>
            <a:ext cx="1150576" cy="36380"/>
          </a:xfrm>
          <a:prstGeom prst="rect">
            <a:avLst/>
          </a:prstGeom>
          <a:solidFill>
            <a:srgbClr val="F0CC71"/>
          </a:solidFill>
          <a:ln/>
        </p:spPr>
        <p:txBody>
          <a:bodyPr/>
          <a:lstStyle/>
          <a:p>
            <a:endParaRPr lang="en-US"/>
          </a:p>
        </p:txBody>
      </p:sp>
      <p:sp>
        <p:nvSpPr>
          <p:cNvPr id="50" name="Shape 42"/>
          <p:cNvSpPr/>
          <p:nvPr/>
        </p:nvSpPr>
        <p:spPr>
          <a:xfrm>
            <a:off x="16429643" y="4171890"/>
            <a:ext cx="181901" cy="238125"/>
          </a:xfrm>
          <a:prstGeom prst="rect">
            <a:avLst/>
          </a:prstGeom>
          <a:solidFill>
            <a:srgbClr val="F0CC71"/>
          </a:solidFill>
          <a:ln/>
        </p:spPr>
        <p:txBody>
          <a:bodyPr/>
          <a:lstStyle/>
          <a:p>
            <a:endParaRPr lang="en-US"/>
          </a:p>
        </p:txBody>
      </p:sp>
      <p:sp>
        <p:nvSpPr>
          <p:cNvPr id="51" name="Shape 43"/>
          <p:cNvSpPr/>
          <p:nvPr/>
        </p:nvSpPr>
        <p:spPr>
          <a:xfrm>
            <a:off x="14335094" y="1563987"/>
            <a:ext cx="1138225" cy="36380"/>
          </a:xfrm>
          <a:prstGeom prst="rect">
            <a:avLst/>
          </a:prstGeom>
          <a:solidFill>
            <a:srgbClr val="F0CC71"/>
          </a:solidFill>
          <a:ln/>
        </p:spPr>
        <p:txBody>
          <a:bodyPr/>
          <a:lstStyle/>
          <a:p>
            <a:endParaRPr lang="en-US"/>
          </a:p>
        </p:txBody>
      </p:sp>
      <p:sp>
        <p:nvSpPr>
          <p:cNvPr id="52" name="Shape 44"/>
          <p:cNvSpPr/>
          <p:nvPr/>
        </p:nvSpPr>
        <p:spPr>
          <a:xfrm rot="5400000">
            <a:off x="14093913" y="2909280"/>
            <a:ext cx="2724150" cy="36380"/>
          </a:xfrm>
          <a:prstGeom prst="rect">
            <a:avLst/>
          </a:prstGeom>
          <a:solidFill>
            <a:srgbClr val="F0CC71"/>
          </a:solidFill>
          <a:ln/>
        </p:spPr>
        <p:txBody>
          <a:bodyPr/>
          <a:lstStyle/>
          <a:p>
            <a:endParaRPr lang="en-US"/>
          </a:p>
        </p:txBody>
      </p:sp>
      <p:sp>
        <p:nvSpPr>
          <p:cNvPr id="53" name="Shape 45"/>
          <p:cNvSpPr/>
          <p:nvPr/>
        </p:nvSpPr>
        <p:spPr>
          <a:xfrm>
            <a:off x="15473318" y="4290952"/>
            <a:ext cx="1138225" cy="36380"/>
          </a:xfrm>
          <a:prstGeom prst="rect">
            <a:avLst/>
          </a:prstGeom>
          <a:solidFill>
            <a:srgbClr val="F0CC71"/>
          </a:solidFill>
          <a:ln/>
        </p:spPr>
        <p:txBody>
          <a:bodyPr/>
          <a:lstStyle/>
          <a:p>
            <a:endParaRPr lang="en-US"/>
          </a:p>
        </p:txBody>
      </p:sp>
      <p:sp>
        <p:nvSpPr>
          <p:cNvPr id="54" name="Shape 46"/>
          <p:cNvSpPr/>
          <p:nvPr/>
        </p:nvSpPr>
        <p:spPr>
          <a:xfrm>
            <a:off x="16429643" y="4171890"/>
            <a:ext cx="181901" cy="238125"/>
          </a:xfrm>
          <a:prstGeom prst="rect">
            <a:avLst/>
          </a:prstGeom>
          <a:solidFill>
            <a:srgbClr val="F0CC71"/>
          </a:solidFill>
          <a:ln/>
        </p:spPr>
        <p:txBody>
          <a:bodyPr/>
          <a:lstStyle/>
          <a:p>
            <a:endParaRPr lang="en-US"/>
          </a:p>
        </p:txBody>
      </p:sp>
      <p:sp>
        <p:nvSpPr>
          <p:cNvPr id="55" name="Shape 47"/>
          <p:cNvSpPr/>
          <p:nvPr/>
        </p:nvSpPr>
        <p:spPr>
          <a:xfrm>
            <a:off x="14245590" y="4036653"/>
            <a:ext cx="1182977" cy="36380"/>
          </a:xfrm>
          <a:prstGeom prst="rect">
            <a:avLst/>
          </a:prstGeom>
          <a:solidFill>
            <a:srgbClr val="F0CC71"/>
          </a:solidFill>
          <a:ln/>
        </p:spPr>
        <p:txBody>
          <a:bodyPr/>
          <a:lstStyle/>
          <a:p>
            <a:endParaRPr lang="en-US"/>
          </a:p>
        </p:txBody>
      </p:sp>
      <p:sp>
        <p:nvSpPr>
          <p:cNvPr id="56" name="Shape 48"/>
          <p:cNvSpPr/>
          <p:nvPr/>
        </p:nvSpPr>
        <p:spPr>
          <a:xfrm rot="5400000">
            <a:off x="15282649" y="4145122"/>
            <a:ext cx="257175" cy="36380"/>
          </a:xfrm>
          <a:prstGeom prst="rect">
            <a:avLst/>
          </a:prstGeom>
          <a:solidFill>
            <a:srgbClr val="F0CC71"/>
          </a:solidFill>
          <a:ln/>
        </p:spPr>
        <p:txBody>
          <a:bodyPr/>
          <a:lstStyle/>
          <a:p>
            <a:endParaRPr lang="en-US"/>
          </a:p>
        </p:txBody>
      </p:sp>
      <p:sp>
        <p:nvSpPr>
          <p:cNvPr id="57" name="Shape 49"/>
          <p:cNvSpPr/>
          <p:nvPr/>
        </p:nvSpPr>
        <p:spPr>
          <a:xfrm>
            <a:off x="15428566" y="4289970"/>
            <a:ext cx="1182977" cy="36380"/>
          </a:xfrm>
          <a:prstGeom prst="rect">
            <a:avLst/>
          </a:prstGeom>
          <a:solidFill>
            <a:srgbClr val="F0CC71"/>
          </a:solidFill>
          <a:ln/>
        </p:spPr>
        <p:txBody>
          <a:bodyPr/>
          <a:lstStyle/>
          <a:p>
            <a:endParaRPr lang="en-US"/>
          </a:p>
        </p:txBody>
      </p:sp>
      <p:sp>
        <p:nvSpPr>
          <p:cNvPr id="58" name="Shape 50"/>
          <p:cNvSpPr/>
          <p:nvPr/>
        </p:nvSpPr>
        <p:spPr>
          <a:xfrm>
            <a:off x="16429694" y="4170908"/>
            <a:ext cx="181901" cy="238125"/>
          </a:xfrm>
          <a:prstGeom prst="rect">
            <a:avLst/>
          </a:prstGeom>
          <a:solidFill>
            <a:srgbClr val="F0CC71"/>
          </a:solidFill>
          <a:ln/>
        </p:spPr>
        <p:txBody>
          <a:bodyPr/>
          <a:lstStyle/>
          <a:p>
            <a:endParaRPr lang="en-US"/>
          </a:p>
        </p:txBody>
      </p:sp>
      <p:sp>
        <p:nvSpPr>
          <p:cNvPr id="59" name="Shape 51"/>
          <p:cNvSpPr/>
          <p:nvPr/>
        </p:nvSpPr>
        <p:spPr>
          <a:xfrm>
            <a:off x="11675721" y="4601476"/>
            <a:ext cx="2626041" cy="1431592"/>
          </a:xfrm>
          <a:prstGeom prst="rect">
            <a:avLst/>
          </a:prstGeom>
          <a:ln w="13229">
            <a:solidFill>
              <a:srgbClr val="FFFFFF">
                <a:alpha val="45000"/>
              </a:srgbClr>
            </a:solidFill>
            <a:prstDash val="dash"/>
          </a:ln>
        </p:spPr>
        <p:txBody>
          <a:bodyPr/>
          <a:lstStyle/>
          <a:p>
            <a:endParaRPr lang="en-US"/>
          </a:p>
        </p:txBody>
      </p:sp>
      <p:sp>
        <p:nvSpPr>
          <p:cNvPr id="60" name="Text 52"/>
          <p:cNvSpPr/>
          <p:nvPr/>
        </p:nvSpPr>
        <p:spPr>
          <a:xfrm>
            <a:off x="11826099" y="4683280"/>
            <a:ext cx="2401484" cy="586594"/>
          </a:xfrm>
          <a:prstGeom prst="rect">
            <a:avLst/>
          </a:prstGeom>
          <a:noFill/>
          <a:ln/>
        </p:spPr>
        <p:txBody>
          <a:bodyPr wrap="square" lIns="25400" tIns="25400" rIns="25400" bIns="25400" rtlCol="0" anchor="t">
            <a:normAutofit/>
          </a:bodyPr>
          <a:lstStyle/>
          <a:p>
            <a:pPr marL="0" indent="0" algn="l">
              <a:lnSpc>
                <a:spcPct val="92160"/>
              </a:lnSpc>
              <a:buNone/>
            </a:pPr>
            <a:r>
              <a:rPr lang="en-US" sz="1050" dirty="0">
                <a:solidFill>
                  <a:srgbClr val="FFFFFF"/>
                </a:solidFill>
                <a:latin typeface="Oracle Sans Tab" pitchFamily="34" charset="0"/>
                <a:ea typeface="Oracle Sans Tab" pitchFamily="34" charset="-122"/>
                <a:cs typeface="Oracle Sans Tab" pitchFamily="34" charset="-120"/>
              </a:rPr>
              <a:t>(:Paper {paper_id: "2312.10997", title: "Benchmarking RAG for Factual Consistency"})</a:t>
            </a:r>
            <a:endParaRPr lang="en-US" sz="1050" dirty="0"/>
          </a:p>
        </p:txBody>
      </p:sp>
      <p:sp>
        <p:nvSpPr>
          <p:cNvPr id="61" name="Text 53"/>
          <p:cNvSpPr/>
          <p:nvPr/>
        </p:nvSpPr>
        <p:spPr>
          <a:xfrm>
            <a:off x="11826099" y="5231774"/>
            <a:ext cx="2401484" cy="403762"/>
          </a:xfrm>
          <a:prstGeom prst="rect">
            <a:avLst/>
          </a:prstGeom>
          <a:noFill/>
          <a:ln/>
        </p:spPr>
        <p:txBody>
          <a:bodyPr wrap="square" lIns="25400" tIns="25400" rIns="25400" bIns="25400" rtlCol="0" anchor="t">
            <a:normAutofit/>
          </a:bodyPr>
          <a:lstStyle/>
          <a:p>
            <a:pPr marL="0" indent="0" algn="l">
              <a:lnSpc>
                <a:spcPct val="92160"/>
              </a:lnSpc>
              <a:buNone/>
            </a:pPr>
            <a:r>
              <a:rPr lang="en-US" sz="1050" dirty="0">
                <a:solidFill>
                  <a:srgbClr val="FFFFFF"/>
                </a:solidFill>
                <a:latin typeface="Oracle Sans Tab" pitchFamily="34" charset="0"/>
                <a:ea typeface="Oracle Sans Tab" pitchFamily="34" charset="-122"/>
                <a:cs typeface="Oracle Sans Tab" pitchFamily="34" charset="-120"/>
              </a:rPr>
              <a:t>-[:HAS_SECTION]→ (:Section {name: "Results"})</a:t>
            </a:r>
            <a:endParaRPr lang="en-US" sz="1050" dirty="0"/>
          </a:p>
        </p:txBody>
      </p:sp>
      <p:sp>
        <p:nvSpPr>
          <p:cNvPr id="62" name="Text 54"/>
          <p:cNvSpPr/>
          <p:nvPr/>
        </p:nvSpPr>
        <p:spPr>
          <a:xfrm>
            <a:off x="11826099" y="5597436"/>
            <a:ext cx="2401484" cy="586594"/>
          </a:xfrm>
          <a:prstGeom prst="rect">
            <a:avLst/>
          </a:prstGeom>
          <a:noFill/>
          <a:ln/>
        </p:spPr>
        <p:txBody>
          <a:bodyPr wrap="square" lIns="25400" tIns="25400" rIns="25400" bIns="25400" rtlCol="0" anchor="t">
            <a:normAutofit/>
          </a:bodyPr>
          <a:lstStyle/>
          <a:p>
            <a:pPr marL="0" indent="0" algn="l">
              <a:lnSpc>
                <a:spcPct val="92160"/>
              </a:lnSpc>
              <a:buNone/>
            </a:pPr>
            <a:r>
              <a:rPr lang="en-US" sz="1050" dirty="0">
                <a:solidFill>
                  <a:srgbClr val="FFFFFF"/>
                </a:solidFill>
                <a:latin typeface="Oracle Sans Tab" pitchFamily="34" charset="0"/>
                <a:ea typeface="Oracle Sans Tab" pitchFamily="34" charset="-122"/>
                <a:cs typeface="Oracle Sans Tab" pitchFamily="34" charset="-120"/>
              </a:rPr>
              <a:t>-[:CONTAINS_CHUNK]→ (:Chunk D_BY]→ (:Author {name: "Yamamoto, Kenji"})</a:t>
            </a:r>
            <a:endParaRPr lang="en-US" sz="1050" dirty="0"/>
          </a:p>
        </p:txBody>
      </p:sp>
      <p:sp>
        <p:nvSpPr>
          <p:cNvPr id="63" name="Shape 55"/>
          <p:cNvSpPr/>
          <p:nvPr/>
        </p:nvSpPr>
        <p:spPr>
          <a:xfrm rot="10800000">
            <a:off x="14301762" y="5317763"/>
            <a:ext cx="1155382" cy="36380"/>
          </a:xfrm>
          <a:prstGeom prst="rect">
            <a:avLst/>
          </a:prstGeom>
          <a:solidFill>
            <a:srgbClr val="F0CC71"/>
          </a:solidFill>
          <a:ln/>
        </p:spPr>
        <p:txBody>
          <a:bodyPr/>
          <a:lstStyle/>
          <a:p>
            <a:endParaRPr lang="en-US"/>
          </a:p>
        </p:txBody>
      </p:sp>
      <p:sp>
        <p:nvSpPr>
          <p:cNvPr id="64" name="Shape 56"/>
          <p:cNvSpPr/>
          <p:nvPr/>
        </p:nvSpPr>
        <p:spPr>
          <a:xfrm rot="5400000">
            <a:off x="14960862" y="4786193"/>
            <a:ext cx="1028700" cy="36380"/>
          </a:xfrm>
          <a:prstGeom prst="rect">
            <a:avLst/>
          </a:prstGeom>
          <a:solidFill>
            <a:srgbClr val="F0CC71"/>
          </a:solidFill>
          <a:ln/>
        </p:spPr>
        <p:txBody>
          <a:bodyPr/>
          <a:lstStyle/>
          <a:p>
            <a:endParaRPr lang="en-US"/>
          </a:p>
        </p:txBody>
      </p:sp>
      <p:sp>
        <p:nvSpPr>
          <p:cNvPr id="65" name="Shape 57"/>
          <p:cNvSpPr/>
          <p:nvPr/>
        </p:nvSpPr>
        <p:spPr>
          <a:xfrm rot="10800000">
            <a:off x="15456162" y="4291004"/>
            <a:ext cx="1155382" cy="36380"/>
          </a:xfrm>
          <a:prstGeom prst="rect">
            <a:avLst/>
          </a:prstGeom>
          <a:solidFill>
            <a:srgbClr val="F0CC71"/>
          </a:solidFill>
          <a:ln/>
        </p:spPr>
        <p:txBody>
          <a:bodyPr/>
          <a:lstStyle/>
          <a:p>
            <a:endParaRPr lang="en-US"/>
          </a:p>
        </p:txBody>
      </p:sp>
      <p:sp>
        <p:nvSpPr>
          <p:cNvPr id="66" name="Shape 58"/>
          <p:cNvSpPr/>
          <p:nvPr/>
        </p:nvSpPr>
        <p:spPr>
          <a:xfrm rot="10800000">
            <a:off x="16429643" y="4171942"/>
            <a:ext cx="181901" cy="238125"/>
          </a:xfrm>
          <a:prstGeom prst="rect">
            <a:avLst/>
          </a:prstGeom>
          <a:solidFill>
            <a:srgbClr val="F0CC71"/>
          </a:solidFill>
          <a:ln/>
        </p:spPr>
        <p:txBody>
          <a:bodyPr/>
          <a:lstStyle/>
          <a:p>
            <a:endParaRPr lang="en-US"/>
          </a:p>
        </p:txBody>
      </p:sp>
      <p:sp>
        <p:nvSpPr>
          <p:cNvPr id="67" name="Shape 59"/>
          <p:cNvSpPr/>
          <p:nvPr/>
        </p:nvSpPr>
        <p:spPr>
          <a:xfrm>
            <a:off x="14686674" y="3138594"/>
            <a:ext cx="1872392" cy="388348"/>
          </a:xfrm>
          <a:prstGeom prst="roundRect">
            <a:avLst>
              <a:gd name="adj" fmla="val 29432"/>
            </a:avLst>
          </a:prstGeom>
          <a:solidFill>
            <a:srgbClr val="0B5060"/>
          </a:solidFill>
          <a:ln w="13229">
            <a:solidFill>
              <a:srgbClr val="FFFFFF">
                <a:alpha val="45000"/>
              </a:srgbClr>
            </a:solidFill>
            <a:prstDash val="solid"/>
          </a:ln>
          <a:effectLst>
            <a:outerShdw blurRad="133350" dist="28575" dir="5400000" algn="bl" rotWithShape="0">
              <a:srgbClr val="000000">
                <a:alpha val="30000"/>
              </a:srgbClr>
            </a:outerShdw>
          </a:effectLst>
        </p:spPr>
        <p:txBody>
          <a:bodyPr/>
          <a:lstStyle/>
          <a:p>
            <a:endParaRPr lang="en-US"/>
          </a:p>
        </p:txBody>
      </p:sp>
      <p:sp>
        <p:nvSpPr>
          <p:cNvPr id="68" name="Text 60"/>
          <p:cNvSpPr/>
          <p:nvPr/>
        </p:nvSpPr>
        <p:spPr>
          <a:xfrm>
            <a:off x="14817134" y="3227994"/>
            <a:ext cx="1611473" cy="247648"/>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650" b="1" dirty="0">
                <a:solidFill>
                  <a:srgbClr val="FFFFFF"/>
                </a:solidFill>
                <a:latin typeface="Oracle Sans Tab" pitchFamily="34" charset="0"/>
                <a:ea typeface="Oracle Sans Tab" pitchFamily="34" charset="-122"/>
                <a:cs typeface="Oracle Sans Tab" pitchFamily="34" charset="-120"/>
              </a:rPr>
              <a:t>Data Ingestion</a:t>
            </a:r>
            <a:endParaRPr lang="en-US" sz="1650" dirty="0"/>
          </a:p>
        </p:txBody>
      </p:sp>
      <p:sp>
        <p:nvSpPr>
          <p:cNvPr id="69" name="Shape 61"/>
          <p:cNvSpPr/>
          <p:nvPr/>
        </p:nvSpPr>
        <p:spPr>
          <a:xfrm>
            <a:off x="16299160" y="861033"/>
            <a:ext cx="1467766" cy="300033"/>
          </a:xfrm>
          <a:prstGeom prst="roundRect">
            <a:avLst>
              <a:gd name="adj" fmla="val 16826"/>
            </a:avLst>
          </a:prstGeom>
          <a:solidFill>
            <a:srgbClr val="89B2B0"/>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70" name="Text 62"/>
          <p:cNvSpPr/>
          <p:nvPr/>
        </p:nvSpPr>
        <p:spPr>
          <a:xfrm>
            <a:off x="16414746" y="934878"/>
            <a:ext cx="1236594"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Spatial</a:t>
            </a:r>
            <a:endParaRPr lang="en-US" sz="1200" dirty="0"/>
          </a:p>
        </p:txBody>
      </p:sp>
      <p:sp>
        <p:nvSpPr>
          <p:cNvPr id="71" name="Shape 63"/>
          <p:cNvSpPr/>
          <p:nvPr/>
        </p:nvSpPr>
        <p:spPr>
          <a:xfrm>
            <a:off x="4380508" y="5780680"/>
            <a:ext cx="1497325" cy="594331"/>
          </a:xfrm>
          <a:prstGeom prst="rect">
            <a:avLst/>
          </a:prstGeom>
          <a:solidFill>
            <a:srgbClr val="0B5060"/>
          </a:solidFill>
          <a:ln w="13229">
            <a:solidFill>
              <a:srgbClr val="FD6953"/>
            </a:solidFill>
            <a:prstDash val="dash"/>
          </a:ln>
          <a:effectLst>
            <a:outerShdw blurRad="114300" dist="19050" dir="5400000" algn="bl" rotWithShape="0">
              <a:srgbClr val="000000">
                <a:alpha val="18000"/>
              </a:srgbClr>
            </a:outerShdw>
          </a:effectLst>
        </p:spPr>
        <p:txBody>
          <a:bodyPr/>
          <a:lstStyle/>
          <a:p>
            <a:endParaRPr lang="en-US"/>
          </a:p>
        </p:txBody>
      </p:sp>
      <p:sp>
        <p:nvSpPr>
          <p:cNvPr id="72" name="Text 64"/>
          <p:cNvSpPr/>
          <p:nvPr/>
        </p:nvSpPr>
        <p:spPr>
          <a:xfrm>
            <a:off x="4492786" y="5952091"/>
            <a:ext cx="1272768"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User Query</a:t>
            </a:r>
            <a:endParaRPr lang="en-US" sz="1650" dirty="0"/>
          </a:p>
        </p:txBody>
      </p:sp>
      <p:sp>
        <p:nvSpPr>
          <p:cNvPr id="73" name="Shape 65"/>
          <p:cNvSpPr/>
          <p:nvPr/>
        </p:nvSpPr>
        <p:spPr>
          <a:xfrm rot="10783200">
            <a:off x="2607458" y="6084102"/>
            <a:ext cx="1771650" cy="26458"/>
          </a:xfrm>
          <a:prstGeom prst="rect">
            <a:avLst/>
          </a:prstGeom>
          <a:solidFill>
            <a:srgbClr val="FFFFFF">
              <a:alpha val="40000"/>
            </a:srgbClr>
          </a:solidFill>
          <a:ln/>
        </p:spPr>
        <p:txBody>
          <a:bodyPr/>
          <a:lstStyle/>
          <a:p>
            <a:endParaRPr lang="en-US"/>
          </a:p>
        </p:txBody>
      </p:sp>
      <p:sp>
        <p:nvSpPr>
          <p:cNvPr id="74" name="Shape 66"/>
          <p:cNvSpPr/>
          <p:nvPr/>
        </p:nvSpPr>
        <p:spPr>
          <a:xfrm rot="10783200">
            <a:off x="4245294" y="5989556"/>
            <a:ext cx="135599" cy="179254"/>
          </a:xfrm>
          <a:prstGeom prst="rect">
            <a:avLst/>
          </a:prstGeom>
          <a:solidFill>
            <a:srgbClr val="FFFFFF">
              <a:alpha val="40000"/>
            </a:srgbClr>
          </a:solidFill>
          <a:ln/>
        </p:spPr>
        <p:txBody>
          <a:bodyPr/>
          <a:lstStyle/>
          <a:p>
            <a:endParaRPr lang="en-US"/>
          </a:p>
        </p:txBody>
      </p:sp>
      <p:sp>
        <p:nvSpPr>
          <p:cNvPr id="75" name="Shape 67"/>
          <p:cNvSpPr/>
          <p:nvPr/>
        </p:nvSpPr>
        <p:spPr>
          <a:xfrm rot="10800000">
            <a:off x="5877833" y="6077820"/>
            <a:ext cx="1941173" cy="36380"/>
          </a:xfrm>
          <a:prstGeom prst="rect">
            <a:avLst/>
          </a:prstGeom>
          <a:solidFill>
            <a:srgbClr val="FFFFFF">
              <a:alpha val="40000"/>
            </a:srgbClr>
          </a:solidFill>
          <a:ln/>
        </p:spPr>
        <p:txBody>
          <a:bodyPr/>
          <a:lstStyle/>
          <a:p>
            <a:endParaRPr lang="en-US"/>
          </a:p>
        </p:txBody>
      </p:sp>
      <p:sp>
        <p:nvSpPr>
          <p:cNvPr id="76" name="Shape 68"/>
          <p:cNvSpPr/>
          <p:nvPr/>
        </p:nvSpPr>
        <p:spPr>
          <a:xfrm rot="5400000">
            <a:off x="7123681" y="5346702"/>
            <a:ext cx="1428750" cy="36380"/>
          </a:xfrm>
          <a:prstGeom prst="rect">
            <a:avLst/>
          </a:prstGeom>
          <a:solidFill>
            <a:srgbClr val="FFFFFF">
              <a:alpha val="40000"/>
            </a:srgbClr>
          </a:solidFill>
          <a:ln/>
        </p:spPr>
        <p:txBody>
          <a:bodyPr/>
          <a:lstStyle/>
          <a:p>
            <a:endParaRPr lang="en-US"/>
          </a:p>
        </p:txBody>
      </p:sp>
      <p:sp>
        <p:nvSpPr>
          <p:cNvPr id="77" name="Shape 69"/>
          <p:cNvSpPr/>
          <p:nvPr/>
        </p:nvSpPr>
        <p:spPr>
          <a:xfrm rot="5400000">
            <a:off x="7728055" y="4624315"/>
            <a:ext cx="181901" cy="238125"/>
          </a:xfrm>
          <a:prstGeom prst="rect">
            <a:avLst/>
          </a:prstGeom>
          <a:solidFill>
            <a:srgbClr val="FFFFFF">
              <a:alpha val="40000"/>
            </a:srgbClr>
          </a:solidFill>
          <a:ln/>
        </p:spPr>
        <p:txBody>
          <a:bodyPr/>
          <a:lstStyle/>
          <a:p>
            <a:endParaRPr lang="en-US"/>
          </a:p>
        </p:txBody>
      </p:sp>
      <p:pic>
        <p:nvPicPr>
          <p:cNvPr id="78" name="Image 6" descr="preencoded.png"/>
          <p:cNvPicPr>
            <a:picLocks noChangeAspect="1"/>
          </p:cNvPicPr>
          <p:nvPr/>
        </p:nvPicPr>
        <p:blipFill>
          <a:blip r:embed="rId8"/>
          <a:srcRect t="-101" b="-101"/>
          <a:stretch/>
        </p:blipFill>
        <p:spPr>
          <a:xfrm>
            <a:off x="7996204" y="6472214"/>
            <a:ext cx="2517417" cy="762951"/>
          </a:xfrm>
          <a:prstGeom prst="rect">
            <a:avLst/>
          </a:prstGeom>
        </p:spPr>
      </p:pic>
      <p:sp>
        <p:nvSpPr>
          <p:cNvPr id="79" name="Shape 70"/>
          <p:cNvSpPr/>
          <p:nvPr/>
        </p:nvSpPr>
        <p:spPr>
          <a:xfrm>
            <a:off x="8705825" y="4510060"/>
            <a:ext cx="548597" cy="26458"/>
          </a:xfrm>
          <a:prstGeom prst="rect">
            <a:avLst/>
          </a:prstGeom>
          <a:solidFill>
            <a:srgbClr val="FFFFFF">
              <a:alpha val="40000"/>
            </a:srgbClr>
          </a:solidFill>
          <a:ln/>
        </p:spPr>
        <p:txBody>
          <a:bodyPr/>
          <a:lstStyle/>
          <a:p>
            <a:endParaRPr lang="en-US"/>
          </a:p>
        </p:txBody>
      </p:sp>
      <p:sp>
        <p:nvSpPr>
          <p:cNvPr id="80" name="Shape 71"/>
          <p:cNvSpPr/>
          <p:nvPr/>
        </p:nvSpPr>
        <p:spPr>
          <a:xfrm rot="5400000">
            <a:off x="8261176" y="5477882"/>
            <a:ext cx="1962150" cy="26458"/>
          </a:xfrm>
          <a:prstGeom prst="rect">
            <a:avLst/>
          </a:prstGeom>
          <a:solidFill>
            <a:srgbClr val="FFFFFF">
              <a:alpha val="40000"/>
            </a:srgbClr>
          </a:solidFill>
          <a:ln/>
        </p:spPr>
        <p:txBody>
          <a:bodyPr/>
          <a:lstStyle/>
          <a:p>
            <a:endParaRPr lang="en-US"/>
          </a:p>
        </p:txBody>
      </p:sp>
      <p:sp>
        <p:nvSpPr>
          <p:cNvPr id="81" name="Shape 72"/>
          <p:cNvSpPr/>
          <p:nvPr/>
        </p:nvSpPr>
        <p:spPr>
          <a:xfrm rot="5400000">
            <a:off x="9186622" y="6315000"/>
            <a:ext cx="135599" cy="180975"/>
          </a:xfrm>
          <a:prstGeom prst="rect">
            <a:avLst/>
          </a:prstGeom>
          <a:solidFill>
            <a:srgbClr val="FFFFFF">
              <a:alpha val="40000"/>
            </a:srgbClr>
          </a:solidFill>
          <a:ln/>
        </p:spPr>
        <p:txBody>
          <a:bodyPr/>
          <a:lstStyle/>
          <a:p>
            <a:endParaRPr lang="en-US"/>
          </a:p>
        </p:txBody>
      </p:sp>
      <p:sp>
        <p:nvSpPr>
          <p:cNvPr id="82" name="Shape 73"/>
          <p:cNvSpPr/>
          <p:nvPr/>
        </p:nvSpPr>
        <p:spPr>
          <a:xfrm>
            <a:off x="8649653" y="7304722"/>
            <a:ext cx="1210624" cy="282877"/>
          </a:xfrm>
          <a:prstGeom prst="roundRect">
            <a:avLst>
              <a:gd name="adj" fmla="val 16836"/>
            </a:avLst>
          </a:prstGeom>
          <a:solidFill>
            <a:srgbClr val="0B5060"/>
          </a:solidFill>
          <a:ln w="13229">
            <a:solidFill>
              <a:srgbClr val="F0CC71"/>
            </a:solidFill>
            <a:prstDash val="solid"/>
          </a:ln>
        </p:spPr>
        <p:txBody>
          <a:bodyPr/>
          <a:lstStyle/>
          <a:p>
            <a:endParaRPr lang="en-US"/>
          </a:p>
        </p:txBody>
      </p:sp>
      <p:sp>
        <p:nvSpPr>
          <p:cNvPr id="83" name="Text 74"/>
          <p:cNvSpPr/>
          <p:nvPr/>
        </p:nvSpPr>
        <p:spPr>
          <a:xfrm>
            <a:off x="8761931" y="7369989"/>
            <a:ext cx="986067"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FFFFFF"/>
                </a:solidFill>
                <a:latin typeface="Oracle Sans Tab" pitchFamily="34" charset="0"/>
                <a:ea typeface="Oracle Sans Tab" pitchFamily="34" charset="-122"/>
                <a:cs typeface="Oracle Sans Tab" pitchFamily="34" charset="-120"/>
              </a:rPr>
              <a:t>Embedding</a:t>
            </a:r>
            <a:endParaRPr lang="en-US" sz="1200" dirty="0"/>
          </a:p>
        </p:txBody>
      </p:sp>
      <p:sp>
        <p:nvSpPr>
          <p:cNvPr id="84" name="Shape 75"/>
          <p:cNvSpPr/>
          <p:nvPr/>
        </p:nvSpPr>
        <p:spPr>
          <a:xfrm>
            <a:off x="10513673" y="6854155"/>
            <a:ext cx="1210624" cy="26458"/>
          </a:xfrm>
          <a:prstGeom prst="rect">
            <a:avLst/>
          </a:prstGeom>
          <a:solidFill>
            <a:srgbClr val="FFFFFF">
              <a:alpha val="40000"/>
            </a:srgbClr>
          </a:solidFill>
          <a:ln/>
        </p:spPr>
        <p:txBody>
          <a:bodyPr/>
          <a:lstStyle/>
          <a:p>
            <a:endParaRPr lang="en-US"/>
          </a:p>
        </p:txBody>
      </p:sp>
      <p:sp>
        <p:nvSpPr>
          <p:cNvPr id="85" name="Shape 76"/>
          <p:cNvSpPr/>
          <p:nvPr/>
        </p:nvSpPr>
        <p:spPr>
          <a:xfrm>
            <a:off x="11588698" y="6764858"/>
            <a:ext cx="135599" cy="178594"/>
          </a:xfrm>
          <a:prstGeom prst="rect">
            <a:avLst/>
          </a:prstGeom>
          <a:solidFill>
            <a:srgbClr val="FFFFFF">
              <a:alpha val="40000"/>
            </a:srgbClr>
          </a:solidFill>
          <a:ln/>
        </p:spPr>
        <p:txBody>
          <a:bodyPr/>
          <a:lstStyle/>
          <a:p>
            <a:endParaRPr lang="en-US"/>
          </a:p>
        </p:txBody>
      </p:sp>
      <p:sp>
        <p:nvSpPr>
          <p:cNvPr id="86" name="Shape 77"/>
          <p:cNvSpPr/>
          <p:nvPr/>
        </p:nvSpPr>
        <p:spPr>
          <a:xfrm>
            <a:off x="14165543" y="8490541"/>
            <a:ext cx="2525065" cy="692464"/>
          </a:xfrm>
          <a:prstGeom prst="roundRect">
            <a:avLst>
              <a:gd name="adj" fmla="val 16644"/>
            </a:avLst>
          </a:prstGeom>
          <a:solidFill>
            <a:srgbClr val="89B2B0"/>
          </a:solidFill>
          <a:ln w="16536">
            <a:solidFill>
              <a:srgbClr val="FFFFFF">
                <a:alpha val="45000"/>
              </a:srgbClr>
            </a:solidFill>
            <a:prstDash val="solid"/>
          </a:ln>
        </p:spPr>
        <p:txBody>
          <a:bodyPr/>
          <a:lstStyle/>
          <a:p>
            <a:endParaRPr lang="en-US"/>
          </a:p>
        </p:txBody>
      </p:sp>
      <p:sp>
        <p:nvSpPr>
          <p:cNvPr id="87" name="Text 78"/>
          <p:cNvSpPr/>
          <p:nvPr/>
        </p:nvSpPr>
        <p:spPr>
          <a:xfrm>
            <a:off x="14281128" y="8608157"/>
            <a:ext cx="2293894" cy="495281"/>
          </a:xfrm>
          <a:prstGeom prst="rect">
            <a:avLst/>
          </a:prstGeom>
          <a:noFill/>
          <a:ln/>
        </p:spPr>
        <p:txBody>
          <a:bodyPr wrap="square" lIns="25400" tIns="25400" rIns="25400" bIns="25400" rtlCol="0" anchor="t">
            <a:normAutofit/>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Top k documents matched against query vector via Vector Search (or Hybrid)</a:t>
            </a:r>
            <a:endParaRPr lang="en-US" sz="1200" dirty="0"/>
          </a:p>
        </p:txBody>
      </p:sp>
      <p:pic>
        <p:nvPicPr>
          <p:cNvPr id="88" name="Image 7" descr="preencoded.png"/>
          <p:cNvPicPr>
            <a:picLocks noChangeAspect="1"/>
          </p:cNvPicPr>
          <p:nvPr/>
        </p:nvPicPr>
        <p:blipFill>
          <a:blip r:embed="rId7"/>
          <a:srcRect l="-114" r="-114"/>
          <a:stretch/>
        </p:blipFill>
        <p:spPr>
          <a:xfrm>
            <a:off x="9703076" y="8491523"/>
            <a:ext cx="861033" cy="690552"/>
          </a:xfrm>
          <a:prstGeom prst="rect">
            <a:avLst/>
          </a:prstGeom>
        </p:spPr>
      </p:pic>
      <p:sp>
        <p:nvSpPr>
          <p:cNvPr id="89" name="Shape 79"/>
          <p:cNvSpPr/>
          <p:nvPr/>
        </p:nvSpPr>
        <p:spPr>
          <a:xfrm>
            <a:off x="9110658" y="9218248"/>
            <a:ext cx="2044991" cy="282877"/>
          </a:xfrm>
          <a:prstGeom prst="roundRect">
            <a:avLst>
              <a:gd name="adj" fmla="val 16836"/>
            </a:avLst>
          </a:prstGeom>
          <a:solidFill>
            <a:srgbClr val="0B5060"/>
          </a:solidFill>
          <a:ln w="13229">
            <a:solidFill>
              <a:srgbClr val="F0CC71"/>
            </a:solidFill>
            <a:prstDash val="solid"/>
          </a:ln>
        </p:spPr>
        <p:txBody>
          <a:bodyPr/>
          <a:lstStyle/>
          <a:p>
            <a:endParaRPr lang="en-US"/>
          </a:p>
        </p:txBody>
      </p:sp>
      <p:sp>
        <p:nvSpPr>
          <p:cNvPr id="90" name="Text 80"/>
          <p:cNvSpPr/>
          <p:nvPr/>
        </p:nvSpPr>
        <p:spPr>
          <a:xfrm>
            <a:off x="9173825" y="9254939"/>
            <a:ext cx="1918658" cy="247648"/>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650" b="1" dirty="0">
                <a:solidFill>
                  <a:srgbClr val="FFFFFF"/>
                </a:solidFill>
                <a:latin typeface="Oracle Sans Tab" pitchFamily="34" charset="0"/>
                <a:ea typeface="Oracle Sans Tab" pitchFamily="34" charset="-122"/>
                <a:cs typeface="Oracle Sans Tab" pitchFamily="34" charset="-120"/>
              </a:rPr>
              <a:t>Reranking Model</a:t>
            </a:r>
            <a:endParaRPr lang="en-US" sz="1650" dirty="0"/>
          </a:p>
        </p:txBody>
      </p:sp>
      <p:sp>
        <p:nvSpPr>
          <p:cNvPr id="91" name="Shape 81"/>
          <p:cNvSpPr/>
          <p:nvPr/>
        </p:nvSpPr>
        <p:spPr>
          <a:xfrm>
            <a:off x="6100713" y="8339129"/>
            <a:ext cx="1843040" cy="996270"/>
          </a:xfrm>
          <a:prstGeom prst="roundRect">
            <a:avLst>
              <a:gd name="adj" fmla="val 16636"/>
            </a:avLst>
          </a:prstGeom>
          <a:solidFill>
            <a:srgbClr val="89B2B0"/>
          </a:solidFill>
          <a:ln w="16536">
            <a:solidFill>
              <a:srgbClr val="FFFFFF">
                <a:alpha val="45000"/>
              </a:srgbClr>
            </a:solidFill>
            <a:prstDash val="solid"/>
          </a:ln>
        </p:spPr>
        <p:txBody>
          <a:bodyPr/>
          <a:lstStyle/>
          <a:p>
            <a:endParaRPr lang="en-US"/>
          </a:p>
        </p:txBody>
      </p:sp>
      <p:sp>
        <p:nvSpPr>
          <p:cNvPr id="92" name="Text 82"/>
          <p:cNvSpPr/>
          <p:nvPr/>
        </p:nvSpPr>
        <p:spPr>
          <a:xfrm>
            <a:off x="6216298" y="8471575"/>
            <a:ext cx="1611868" cy="769425"/>
          </a:xfrm>
          <a:prstGeom prst="rect">
            <a:avLst/>
          </a:prstGeom>
          <a:noFill/>
          <a:ln/>
        </p:spPr>
        <p:txBody>
          <a:bodyPr wrap="square" lIns="25400" tIns="25400" rIns="25400" bIns="25400" rtlCol="0" anchor="t">
            <a:normAutofit/>
          </a:bodyPr>
          <a:lstStyle/>
          <a:p>
            <a:pPr marL="0" indent="0" algn="ctr">
              <a:lnSpc>
                <a:spcPct val="92160"/>
              </a:lnSpc>
              <a:buNone/>
            </a:pPr>
            <a:r>
              <a:rPr lang="en-US" sz="1200" b="1" dirty="0">
                <a:solidFill>
                  <a:srgbClr val="86B596"/>
                </a:solidFill>
                <a:latin typeface="Oracle Sans Tab" pitchFamily="34" charset="0"/>
                <a:ea typeface="Oracle Sans Tab" pitchFamily="34" charset="-122"/>
                <a:cs typeface="Oracle Sans Tab" pitchFamily="34" charset="-120"/>
              </a:rPr>
              <a:t>Reranked Documents + </a:t>
            </a:r>
            <a:r>
              <a:rPr lang="en-US" sz="1200" b="1" dirty="0">
                <a:solidFill>
                  <a:srgbClr val="FFFFFF"/>
                </a:solidFill>
                <a:latin typeface="Oracle Sans Tab" pitchFamily="34" charset="0"/>
                <a:ea typeface="Oracle Sans Tab" pitchFamily="34" charset="-122"/>
                <a:cs typeface="Oracle Sans Tab" pitchFamily="34" charset="-120"/>
              </a:rPr>
              <a:t>User Query</a:t>
            </a:r>
            <a:endParaRPr lang="en-US" sz="1200" dirty="0"/>
          </a:p>
        </p:txBody>
      </p:sp>
      <p:pic>
        <p:nvPicPr>
          <p:cNvPr id="93" name="Image 8" descr="preencoded.png"/>
          <p:cNvPicPr>
            <a:picLocks noChangeAspect="1"/>
          </p:cNvPicPr>
          <p:nvPr/>
        </p:nvPicPr>
        <p:blipFill>
          <a:blip r:embed="rId7"/>
          <a:srcRect l="-107" r="-107"/>
          <a:stretch/>
        </p:blipFill>
        <p:spPr>
          <a:xfrm>
            <a:off x="3670887" y="8437211"/>
            <a:ext cx="996270" cy="799124"/>
          </a:xfrm>
          <a:prstGeom prst="rect">
            <a:avLst/>
          </a:prstGeom>
        </p:spPr>
      </p:pic>
      <p:sp>
        <p:nvSpPr>
          <p:cNvPr id="94" name="Shape 83"/>
          <p:cNvSpPr/>
          <p:nvPr/>
        </p:nvSpPr>
        <p:spPr>
          <a:xfrm>
            <a:off x="2891761" y="9263982"/>
            <a:ext cx="2555554" cy="282877"/>
          </a:xfrm>
          <a:prstGeom prst="roundRect">
            <a:avLst>
              <a:gd name="adj" fmla="val 16836"/>
            </a:avLst>
          </a:prstGeom>
          <a:solidFill>
            <a:srgbClr val="0B5060"/>
          </a:solidFill>
          <a:ln w="13229">
            <a:solidFill>
              <a:srgbClr val="F0CC71"/>
            </a:solidFill>
            <a:prstDash val="solid"/>
          </a:ln>
        </p:spPr>
        <p:txBody>
          <a:bodyPr/>
          <a:lstStyle/>
          <a:p>
            <a:endParaRPr lang="en-US"/>
          </a:p>
        </p:txBody>
      </p:sp>
      <p:sp>
        <p:nvSpPr>
          <p:cNvPr id="95" name="Text 84"/>
          <p:cNvSpPr/>
          <p:nvPr/>
        </p:nvSpPr>
        <p:spPr>
          <a:xfrm>
            <a:off x="3004040" y="9195872"/>
            <a:ext cx="2330998" cy="457196"/>
          </a:xfrm>
          <a:prstGeom prst="rect">
            <a:avLst/>
          </a:prstGeom>
          <a:noFill/>
          <a:ln/>
        </p:spPr>
        <p:txBody>
          <a:bodyPr wrap="square" lIns="25400" tIns="25400" rIns="25400" bIns="25400" rtlCol="0" anchor="t">
            <a:normAutofit/>
          </a:bodyPr>
          <a:lstStyle/>
          <a:p>
            <a:pPr marL="0" indent="0" algn="ctr">
              <a:lnSpc>
                <a:spcPct val="76800"/>
              </a:lnSpc>
              <a:buNone/>
            </a:pPr>
            <a:r>
              <a:rPr lang="en-US" sz="1650" b="1" dirty="0">
                <a:solidFill>
                  <a:srgbClr val="FFFFFF"/>
                </a:solidFill>
                <a:latin typeface="Oracle Sans Tab" pitchFamily="34" charset="0"/>
                <a:ea typeface="Oracle Sans Tab" pitchFamily="34" charset="-122"/>
                <a:cs typeface="Oracle Sans Tab" pitchFamily="34" charset="-120"/>
              </a:rPr>
              <a:t>Large Language Model</a:t>
            </a:r>
            <a:endParaRPr lang="en-US" sz="1650" dirty="0"/>
          </a:p>
        </p:txBody>
      </p:sp>
      <p:sp>
        <p:nvSpPr>
          <p:cNvPr id="96" name="Shape 85"/>
          <p:cNvSpPr/>
          <p:nvPr/>
        </p:nvSpPr>
        <p:spPr>
          <a:xfrm>
            <a:off x="10564161" y="8810418"/>
            <a:ext cx="3601382" cy="36380"/>
          </a:xfrm>
          <a:prstGeom prst="rect">
            <a:avLst/>
          </a:prstGeom>
          <a:solidFill>
            <a:srgbClr val="FFFFFF">
              <a:alpha val="40000"/>
            </a:srgbClr>
          </a:solidFill>
          <a:ln/>
        </p:spPr>
        <p:txBody>
          <a:bodyPr/>
          <a:lstStyle/>
          <a:p>
            <a:endParaRPr lang="en-US"/>
          </a:p>
        </p:txBody>
      </p:sp>
      <p:sp>
        <p:nvSpPr>
          <p:cNvPr id="97" name="Shape 86"/>
          <p:cNvSpPr/>
          <p:nvPr/>
        </p:nvSpPr>
        <p:spPr>
          <a:xfrm>
            <a:off x="10564161" y="8727736"/>
            <a:ext cx="181901" cy="238125"/>
          </a:xfrm>
          <a:prstGeom prst="rect">
            <a:avLst/>
          </a:prstGeom>
          <a:solidFill>
            <a:srgbClr val="FFFFFF">
              <a:alpha val="40000"/>
            </a:srgbClr>
          </a:solidFill>
          <a:ln/>
        </p:spPr>
        <p:txBody>
          <a:bodyPr/>
          <a:lstStyle/>
          <a:p>
            <a:endParaRPr lang="en-US"/>
          </a:p>
        </p:txBody>
      </p:sp>
      <p:sp>
        <p:nvSpPr>
          <p:cNvPr id="98" name="Shape 87"/>
          <p:cNvSpPr/>
          <p:nvPr/>
        </p:nvSpPr>
        <p:spPr>
          <a:xfrm>
            <a:off x="7944786" y="8820340"/>
            <a:ext cx="1758290" cy="26458"/>
          </a:xfrm>
          <a:prstGeom prst="rect">
            <a:avLst/>
          </a:prstGeom>
          <a:solidFill>
            <a:srgbClr val="FFFFFF">
              <a:alpha val="40000"/>
            </a:srgbClr>
          </a:solidFill>
          <a:ln/>
        </p:spPr>
        <p:txBody>
          <a:bodyPr/>
          <a:lstStyle/>
          <a:p>
            <a:endParaRPr lang="en-US"/>
          </a:p>
        </p:txBody>
      </p:sp>
      <p:sp>
        <p:nvSpPr>
          <p:cNvPr id="99" name="Shape 88"/>
          <p:cNvSpPr/>
          <p:nvPr/>
        </p:nvSpPr>
        <p:spPr>
          <a:xfrm>
            <a:off x="7944786" y="8757501"/>
            <a:ext cx="135599" cy="178594"/>
          </a:xfrm>
          <a:prstGeom prst="rect">
            <a:avLst/>
          </a:prstGeom>
          <a:solidFill>
            <a:srgbClr val="FFFFFF">
              <a:alpha val="40000"/>
            </a:srgbClr>
          </a:solidFill>
          <a:ln/>
        </p:spPr>
        <p:txBody>
          <a:bodyPr/>
          <a:lstStyle/>
          <a:p>
            <a:endParaRPr lang="en-US"/>
          </a:p>
        </p:txBody>
      </p:sp>
      <p:sp>
        <p:nvSpPr>
          <p:cNvPr id="100" name="Shape 89"/>
          <p:cNvSpPr/>
          <p:nvPr/>
        </p:nvSpPr>
        <p:spPr>
          <a:xfrm>
            <a:off x="4667208" y="8820340"/>
            <a:ext cx="1433504" cy="26458"/>
          </a:xfrm>
          <a:prstGeom prst="rect">
            <a:avLst/>
          </a:prstGeom>
          <a:solidFill>
            <a:srgbClr val="FFFFFF">
              <a:alpha val="40000"/>
            </a:srgbClr>
          </a:solidFill>
          <a:ln/>
        </p:spPr>
        <p:txBody>
          <a:bodyPr/>
          <a:lstStyle/>
          <a:p>
            <a:endParaRPr lang="en-US"/>
          </a:p>
        </p:txBody>
      </p:sp>
      <p:sp>
        <p:nvSpPr>
          <p:cNvPr id="101" name="Shape 90"/>
          <p:cNvSpPr/>
          <p:nvPr/>
        </p:nvSpPr>
        <p:spPr>
          <a:xfrm>
            <a:off x="4667208" y="8757501"/>
            <a:ext cx="135599" cy="178594"/>
          </a:xfrm>
          <a:prstGeom prst="rect">
            <a:avLst/>
          </a:prstGeom>
          <a:solidFill>
            <a:srgbClr val="FFFFFF">
              <a:alpha val="40000"/>
            </a:srgbClr>
          </a:solidFill>
          <a:ln/>
        </p:spPr>
        <p:txBody>
          <a:bodyPr/>
          <a:lstStyle/>
          <a:p>
            <a:endParaRPr lang="en-US"/>
          </a:p>
        </p:txBody>
      </p:sp>
      <p:sp>
        <p:nvSpPr>
          <p:cNvPr id="102" name="Shape 91"/>
          <p:cNvSpPr/>
          <p:nvPr/>
        </p:nvSpPr>
        <p:spPr>
          <a:xfrm>
            <a:off x="1856372" y="8809849"/>
            <a:ext cx="1814463" cy="26458"/>
          </a:xfrm>
          <a:prstGeom prst="rect">
            <a:avLst/>
          </a:prstGeom>
          <a:solidFill>
            <a:srgbClr val="FFFFFF">
              <a:alpha val="40000"/>
            </a:srgbClr>
          </a:solidFill>
          <a:ln/>
        </p:spPr>
        <p:txBody>
          <a:bodyPr/>
          <a:lstStyle/>
          <a:p>
            <a:endParaRPr lang="en-US"/>
          </a:p>
        </p:txBody>
      </p:sp>
      <p:sp>
        <p:nvSpPr>
          <p:cNvPr id="103" name="Shape 92"/>
          <p:cNvSpPr/>
          <p:nvPr/>
        </p:nvSpPr>
        <p:spPr>
          <a:xfrm rot="5400000">
            <a:off x="1527760" y="8478759"/>
            <a:ext cx="685800" cy="26458"/>
          </a:xfrm>
          <a:prstGeom prst="rect">
            <a:avLst/>
          </a:prstGeom>
          <a:solidFill>
            <a:srgbClr val="FFFFFF">
              <a:alpha val="40000"/>
            </a:srgbClr>
          </a:solidFill>
          <a:ln/>
        </p:spPr>
        <p:txBody>
          <a:bodyPr/>
          <a:lstStyle/>
          <a:p>
            <a:endParaRPr lang="en-US"/>
          </a:p>
        </p:txBody>
      </p:sp>
      <p:sp>
        <p:nvSpPr>
          <p:cNvPr id="104" name="Shape 93"/>
          <p:cNvSpPr/>
          <p:nvPr/>
        </p:nvSpPr>
        <p:spPr>
          <a:xfrm rot="5400000">
            <a:off x="1788573" y="8126104"/>
            <a:ext cx="135599" cy="180975"/>
          </a:xfrm>
          <a:prstGeom prst="rect">
            <a:avLst/>
          </a:prstGeom>
          <a:solidFill>
            <a:srgbClr val="FFFFFF">
              <a:alpha val="40000"/>
            </a:srgbClr>
          </a:solidFill>
          <a:ln/>
        </p:spPr>
        <p:txBody>
          <a:bodyPr/>
          <a:lstStyle/>
          <a:p>
            <a:endParaRPr lang="en-US"/>
          </a:p>
        </p:txBody>
      </p:sp>
      <p:sp>
        <p:nvSpPr>
          <p:cNvPr id="105" name="Shape 94"/>
          <p:cNvSpPr/>
          <p:nvPr/>
        </p:nvSpPr>
        <p:spPr>
          <a:xfrm rot="5400000">
            <a:off x="1570606" y="6991382"/>
            <a:ext cx="619125" cy="26458"/>
          </a:xfrm>
          <a:prstGeom prst="rect">
            <a:avLst/>
          </a:prstGeom>
          <a:solidFill>
            <a:srgbClr val="FFFFFF">
              <a:alpha val="40000"/>
            </a:srgbClr>
          </a:solidFill>
          <a:ln/>
        </p:spPr>
        <p:txBody>
          <a:bodyPr/>
          <a:lstStyle/>
          <a:p>
            <a:endParaRPr lang="en-US"/>
          </a:p>
        </p:txBody>
      </p:sp>
      <p:sp>
        <p:nvSpPr>
          <p:cNvPr id="106" name="Shape 95"/>
          <p:cNvSpPr/>
          <p:nvPr/>
        </p:nvSpPr>
        <p:spPr>
          <a:xfrm rot="5400000">
            <a:off x="1798081" y="6674461"/>
            <a:ext cx="135599" cy="180975"/>
          </a:xfrm>
          <a:prstGeom prst="rect">
            <a:avLst/>
          </a:prstGeom>
          <a:solidFill>
            <a:srgbClr val="FFFFFF">
              <a:alpha val="40000"/>
            </a:srgbClr>
          </a:solidFill>
          <a:ln/>
        </p:spPr>
        <p:txBody>
          <a:bodyPr/>
          <a:lstStyle/>
          <a:p>
            <a:endParaRPr lang="en-US"/>
          </a:p>
        </p:txBody>
      </p:sp>
      <p:sp>
        <p:nvSpPr>
          <p:cNvPr id="107" name="Shape 96"/>
          <p:cNvSpPr/>
          <p:nvPr/>
        </p:nvSpPr>
        <p:spPr>
          <a:xfrm>
            <a:off x="412430" y="7313248"/>
            <a:ext cx="2887937" cy="834368"/>
          </a:xfrm>
          <a:prstGeom prst="roundRect">
            <a:avLst>
              <a:gd name="adj" fmla="val 16667"/>
            </a:avLst>
          </a:prstGeom>
          <a:solidFill>
            <a:srgbClr val="89B2B0"/>
          </a:solidFill>
          <a:ln w="16536">
            <a:solidFill>
              <a:srgbClr val="FFFFFF">
                <a:alpha val="45000"/>
              </a:srgbClr>
            </a:solidFill>
            <a:prstDash val="solid"/>
          </a:ln>
        </p:spPr>
        <p:txBody>
          <a:bodyPr/>
          <a:lstStyle/>
          <a:p>
            <a:endParaRPr lang="en-US"/>
          </a:p>
        </p:txBody>
      </p:sp>
      <p:sp>
        <p:nvSpPr>
          <p:cNvPr id="108" name="Text 97"/>
          <p:cNvSpPr/>
          <p:nvPr/>
        </p:nvSpPr>
        <p:spPr>
          <a:xfrm>
            <a:off x="527407" y="7547601"/>
            <a:ext cx="2657983" cy="403762"/>
          </a:xfrm>
          <a:prstGeom prst="rect">
            <a:avLst/>
          </a:prstGeom>
          <a:noFill/>
          <a:ln/>
        </p:spPr>
        <p:txBody>
          <a:bodyPr wrap="square" lIns="25400" tIns="25400" rIns="25400" bIns="25400" rtlCol="0" anchor="t">
            <a:normAutofit/>
          </a:bodyPr>
          <a:lstStyle/>
          <a:p>
            <a:pPr marL="0" indent="0" algn="ctr">
              <a:lnSpc>
                <a:spcPct val="92160"/>
              </a:lnSpc>
              <a:buNone/>
            </a:pPr>
            <a:r>
              <a:rPr lang="en-US" sz="1200" b="1" dirty="0">
                <a:solidFill>
                  <a:srgbClr val="86B596"/>
                </a:solidFill>
                <a:latin typeface="Oracle Sans Tab" pitchFamily="34" charset="0"/>
                <a:ea typeface="Oracle Sans Tab" pitchFamily="34" charset="-122"/>
                <a:cs typeface="Oracle Sans Tab" pitchFamily="34" charset="-120"/>
              </a:rPr>
              <a:t>Natural language response grounded in domain specific data</a:t>
            </a:r>
            <a:endParaRPr lang="en-US" sz="1200" dirty="0"/>
          </a:p>
        </p:txBody>
      </p:sp>
      <p:pic>
        <p:nvPicPr>
          <p:cNvPr id="109" name="Image 9" descr="preencoded.png"/>
          <p:cNvPicPr>
            <a:picLocks noChangeAspect="1"/>
          </p:cNvPicPr>
          <p:nvPr/>
        </p:nvPicPr>
        <p:blipFill>
          <a:blip r:embed="rId9"/>
          <a:srcRect l="-104" r="-104"/>
          <a:stretch/>
        </p:blipFill>
        <p:spPr>
          <a:xfrm>
            <a:off x="1107736" y="5476875"/>
            <a:ext cx="1497325" cy="1218220"/>
          </a:xfrm>
          <a:prstGeom prst="rect">
            <a:avLst/>
          </a:prstGeom>
        </p:spPr>
      </p:pic>
      <p:sp>
        <p:nvSpPr>
          <p:cNvPr id="110" name="Shape 98"/>
          <p:cNvSpPr/>
          <p:nvPr/>
        </p:nvSpPr>
        <p:spPr>
          <a:xfrm>
            <a:off x="109502" y="3628977"/>
            <a:ext cx="1772553" cy="282877"/>
          </a:xfrm>
          <a:prstGeom prst="roundRect">
            <a:avLst>
              <a:gd name="adj" fmla="val 16836"/>
            </a:avLst>
          </a:prstGeom>
          <a:solidFill>
            <a:srgbClr val="0B5060"/>
          </a:solidFill>
          <a:ln w="13229">
            <a:solidFill>
              <a:srgbClr val="F0CC71"/>
            </a:solidFill>
            <a:prstDash val="solid"/>
          </a:ln>
        </p:spPr>
        <p:txBody>
          <a:bodyPr/>
          <a:lstStyle/>
          <a:p>
            <a:endParaRPr lang="en-US"/>
          </a:p>
        </p:txBody>
      </p:sp>
      <p:sp>
        <p:nvSpPr>
          <p:cNvPr id="111" name="Text 99"/>
          <p:cNvSpPr/>
          <p:nvPr/>
        </p:nvSpPr>
        <p:spPr>
          <a:xfrm>
            <a:off x="221781" y="3644687"/>
            <a:ext cx="1547996"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dirty="0">
                <a:solidFill>
                  <a:srgbClr val="FFFFFF"/>
                </a:solidFill>
                <a:latin typeface="Oracle Sans Tab" pitchFamily="34" charset="0"/>
                <a:ea typeface="Oracle Sans Tab" pitchFamily="34" charset="-122"/>
                <a:cs typeface="Oracle Sans Tab" pitchFamily="34" charset="-120"/>
              </a:rPr>
              <a:t>Data Sources</a:t>
            </a:r>
            <a:endParaRPr lang="en-US" sz="1650" dirty="0"/>
          </a:p>
        </p:txBody>
      </p:sp>
      <p:sp>
        <p:nvSpPr>
          <p:cNvPr id="112" name="Shape 100"/>
          <p:cNvSpPr/>
          <p:nvPr/>
        </p:nvSpPr>
        <p:spPr>
          <a:xfrm>
            <a:off x="3284192" y="1638298"/>
            <a:ext cx="1371596" cy="282877"/>
          </a:xfrm>
          <a:prstGeom prst="roundRect">
            <a:avLst>
              <a:gd name="adj" fmla="val 16836"/>
            </a:avLst>
          </a:prstGeom>
          <a:solidFill>
            <a:srgbClr val="0B5060"/>
          </a:solidFill>
          <a:ln w="13229">
            <a:solidFill>
              <a:srgbClr val="F0CC71"/>
            </a:solidFill>
            <a:prstDash val="solid"/>
          </a:ln>
        </p:spPr>
        <p:txBody>
          <a:bodyPr/>
          <a:lstStyle/>
          <a:p>
            <a:endParaRPr lang="en-US"/>
          </a:p>
        </p:txBody>
      </p:sp>
      <p:sp>
        <p:nvSpPr>
          <p:cNvPr id="113" name="Text 101"/>
          <p:cNvSpPr/>
          <p:nvPr/>
        </p:nvSpPr>
        <p:spPr>
          <a:xfrm>
            <a:off x="3396471" y="1676900"/>
            <a:ext cx="1147039"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b="1" dirty="0">
                <a:solidFill>
                  <a:srgbClr val="FFFFFF"/>
                </a:solidFill>
                <a:latin typeface="Oracle Sans Tab" pitchFamily="34" charset="0"/>
                <a:ea typeface="Oracle Sans Tab" pitchFamily="34" charset="-122"/>
                <a:cs typeface="Oracle Sans Tab" pitchFamily="34" charset="-120"/>
              </a:rPr>
              <a:t>Data Object</a:t>
            </a:r>
            <a:endParaRPr lang="en-US" sz="1350" dirty="0"/>
          </a:p>
        </p:txBody>
      </p:sp>
      <p:sp>
        <p:nvSpPr>
          <p:cNvPr id="114" name="Shape 102"/>
          <p:cNvSpPr/>
          <p:nvPr/>
        </p:nvSpPr>
        <p:spPr>
          <a:xfrm>
            <a:off x="3284192" y="2608885"/>
            <a:ext cx="1371596"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115" name="Text 103"/>
          <p:cNvSpPr/>
          <p:nvPr/>
        </p:nvSpPr>
        <p:spPr>
          <a:xfrm>
            <a:off x="3396471" y="2647487"/>
            <a:ext cx="1147039"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Chunking</a:t>
            </a:r>
            <a:endParaRPr lang="en-US" sz="1350" dirty="0"/>
          </a:p>
        </p:txBody>
      </p:sp>
      <p:sp>
        <p:nvSpPr>
          <p:cNvPr id="116" name="Shape 104"/>
          <p:cNvSpPr/>
          <p:nvPr/>
        </p:nvSpPr>
        <p:spPr>
          <a:xfrm>
            <a:off x="3047979" y="2939407"/>
            <a:ext cx="184304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117" name="Text 105"/>
          <p:cNvSpPr/>
          <p:nvPr/>
        </p:nvSpPr>
        <p:spPr>
          <a:xfrm>
            <a:off x="3121244" y="2978009"/>
            <a:ext cx="1696511"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Data Deduplication</a:t>
            </a:r>
            <a:endParaRPr lang="en-US" sz="1350" dirty="0"/>
          </a:p>
        </p:txBody>
      </p:sp>
      <p:sp>
        <p:nvSpPr>
          <p:cNvPr id="118" name="Shape 106"/>
          <p:cNvSpPr/>
          <p:nvPr/>
        </p:nvSpPr>
        <p:spPr>
          <a:xfrm>
            <a:off x="3047979" y="3304191"/>
            <a:ext cx="184304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119" name="Text 107"/>
          <p:cNvSpPr/>
          <p:nvPr/>
        </p:nvSpPr>
        <p:spPr>
          <a:xfrm>
            <a:off x="3121244" y="3342793"/>
            <a:ext cx="1696511"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Text Normalization</a:t>
            </a:r>
            <a:endParaRPr lang="en-US" sz="1350" dirty="0"/>
          </a:p>
        </p:txBody>
      </p:sp>
      <p:sp>
        <p:nvSpPr>
          <p:cNvPr id="120" name="Shape 108"/>
          <p:cNvSpPr/>
          <p:nvPr/>
        </p:nvSpPr>
        <p:spPr>
          <a:xfrm>
            <a:off x="3047979" y="3650888"/>
            <a:ext cx="184304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121" name="Text 109"/>
          <p:cNvSpPr/>
          <p:nvPr/>
        </p:nvSpPr>
        <p:spPr>
          <a:xfrm>
            <a:off x="3121244" y="3689490"/>
            <a:ext cx="1696511"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Entity extraction</a:t>
            </a:r>
            <a:endParaRPr lang="en-US" sz="1350" dirty="0"/>
          </a:p>
        </p:txBody>
      </p:sp>
      <p:sp>
        <p:nvSpPr>
          <p:cNvPr id="122" name="Shape 110"/>
          <p:cNvSpPr/>
          <p:nvPr/>
        </p:nvSpPr>
        <p:spPr>
          <a:xfrm>
            <a:off x="3866172" y="4724363"/>
            <a:ext cx="43770" cy="46664"/>
          </a:xfrm>
          <a:prstGeom prst="ellipse">
            <a:avLst/>
          </a:prstGeom>
          <a:solidFill>
            <a:srgbClr val="0B5060"/>
          </a:solidFill>
          <a:ln w="13229">
            <a:solidFill>
              <a:srgbClr val="FFFFFF">
                <a:alpha val="30000"/>
              </a:srgbClr>
            </a:solidFill>
            <a:prstDash val="solid"/>
          </a:ln>
        </p:spPr>
        <p:txBody>
          <a:bodyPr/>
          <a:lstStyle/>
          <a:p>
            <a:endParaRPr lang="en-US"/>
          </a:p>
        </p:txBody>
      </p:sp>
      <p:sp>
        <p:nvSpPr>
          <p:cNvPr id="123" name="Shape 111"/>
          <p:cNvSpPr/>
          <p:nvPr/>
        </p:nvSpPr>
        <p:spPr>
          <a:xfrm>
            <a:off x="3866172" y="4843425"/>
            <a:ext cx="43770" cy="46664"/>
          </a:xfrm>
          <a:prstGeom prst="ellipse">
            <a:avLst/>
          </a:prstGeom>
          <a:solidFill>
            <a:srgbClr val="0B5060"/>
          </a:solidFill>
          <a:ln w="13229">
            <a:solidFill>
              <a:srgbClr val="FFFFFF">
                <a:alpha val="30000"/>
              </a:srgbClr>
            </a:solidFill>
            <a:prstDash val="solid"/>
          </a:ln>
        </p:spPr>
        <p:txBody>
          <a:bodyPr/>
          <a:lstStyle/>
          <a:p>
            <a:endParaRPr lang="en-US"/>
          </a:p>
        </p:txBody>
      </p:sp>
      <p:sp>
        <p:nvSpPr>
          <p:cNvPr id="124" name="Shape 112"/>
          <p:cNvSpPr/>
          <p:nvPr/>
        </p:nvSpPr>
        <p:spPr>
          <a:xfrm>
            <a:off x="3866172" y="4966311"/>
            <a:ext cx="43770" cy="46664"/>
          </a:xfrm>
          <a:prstGeom prst="ellipse">
            <a:avLst/>
          </a:prstGeom>
          <a:solidFill>
            <a:srgbClr val="0B5060"/>
          </a:solidFill>
          <a:ln w="13229">
            <a:solidFill>
              <a:srgbClr val="FFFFFF">
                <a:alpha val="30000"/>
              </a:srgbClr>
            </a:solidFill>
            <a:prstDash val="solid"/>
          </a:ln>
        </p:spPr>
        <p:txBody>
          <a:bodyPr/>
          <a:lstStyle/>
          <a:p>
            <a:endParaRPr lang="en-US"/>
          </a:p>
        </p:txBody>
      </p:sp>
      <p:sp>
        <p:nvSpPr>
          <p:cNvPr id="125" name="Shape 113"/>
          <p:cNvSpPr/>
          <p:nvPr/>
        </p:nvSpPr>
        <p:spPr>
          <a:xfrm>
            <a:off x="6682693" y="2424090"/>
            <a:ext cx="2253609" cy="692464"/>
          </a:xfrm>
          <a:prstGeom prst="roundRect">
            <a:avLst>
              <a:gd name="adj" fmla="val 16644"/>
            </a:avLst>
          </a:prstGeom>
          <a:solidFill>
            <a:srgbClr val="89B2B0"/>
          </a:solidFill>
          <a:ln w="16536">
            <a:solidFill>
              <a:srgbClr val="FFFFFF">
                <a:alpha val="45000"/>
              </a:srgbClr>
            </a:solidFill>
            <a:prstDash val="solid"/>
          </a:ln>
        </p:spPr>
        <p:txBody>
          <a:bodyPr/>
          <a:lstStyle/>
          <a:p>
            <a:endParaRPr lang="en-US"/>
          </a:p>
        </p:txBody>
      </p:sp>
      <p:sp>
        <p:nvSpPr>
          <p:cNvPr id="126" name="Text 114"/>
          <p:cNvSpPr/>
          <p:nvPr/>
        </p:nvSpPr>
        <p:spPr>
          <a:xfrm>
            <a:off x="6798278" y="2541705"/>
            <a:ext cx="2022438" cy="342888"/>
          </a:xfrm>
          <a:prstGeom prst="rect">
            <a:avLst/>
          </a:prstGeom>
          <a:noFill/>
          <a:ln/>
        </p:spPr>
        <p:txBody>
          <a:bodyPr wrap="square" lIns="25400" tIns="25400" rIns="25400" bIns="25400" rtlCol="0" anchor="t">
            <a:normAutofit/>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Chunks passed into an embedding model.</a:t>
            </a:r>
            <a:endParaRPr lang="en-US" sz="1200" dirty="0"/>
          </a:p>
        </p:txBody>
      </p:sp>
      <p:sp>
        <p:nvSpPr>
          <p:cNvPr id="127" name="Text 115"/>
          <p:cNvSpPr/>
          <p:nvPr/>
        </p:nvSpPr>
        <p:spPr>
          <a:xfrm>
            <a:off x="6739066" y="2846493"/>
            <a:ext cx="2140862"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b="1" dirty="0">
                <a:solidFill>
                  <a:srgbClr val="86B596"/>
                </a:solidFill>
                <a:latin typeface="Oracle Sans Tab" pitchFamily="34" charset="0"/>
                <a:ea typeface="Oracle Sans Tab" pitchFamily="34" charset="-122"/>
                <a:cs typeface="Oracle Sans Tab" pitchFamily="34" charset="-120"/>
              </a:rPr>
              <a:t>Embedding Generation</a:t>
            </a:r>
            <a:endParaRPr lang="en-US" sz="1200" dirty="0"/>
          </a:p>
        </p:txBody>
      </p:sp>
      <p:sp>
        <p:nvSpPr>
          <p:cNvPr id="128" name="Shape 116"/>
          <p:cNvSpPr/>
          <p:nvPr/>
        </p:nvSpPr>
        <p:spPr>
          <a:xfrm rot="10800000">
            <a:off x="14250344" y="6853225"/>
            <a:ext cx="2783189" cy="36380"/>
          </a:xfrm>
          <a:prstGeom prst="rect">
            <a:avLst/>
          </a:prstGeom>
          <a:solidFill>
            <a:srgbClr val="F0CC71"/>
          </a:solidFill>
          <a:ln/>
        </p:spPr>
        <p:txBody>
          <a:bodyPr/>
          <a:lstStyle/>
          <a:p>
            <a:endParaRPr lang="en-US"/>
          </a:p>
        </p:txBody>
      </p:sp>
      <p:sp>
        <p:nvSpPr>
          <p:cNvPr id="129" name="Shape 117"/>
          <p:cNvSpPr/>
          <p:nvPr/>
        </p:nvSpPr>
        <p:spPr>
          <a:xfrm rot="5400000">
            <a:off x="16352496" y="6135904"/>
            <a:ext cx="1400175" cy="36380"/>
          </a:xfrm>
          <a:prstGeom prst="rect">
            <a:avLst/>
          </a:prstGeom>
          <a:solidFill>
            <a:srgbClr val="F0CC71"/>
          </a:solidFill>
          <a:ln/>
        </p:spPr>
        <p:txBody>
          <a:bodyPr/>
          <a:lstStyle/>
          <a:p>
            <a:endParaRPr lang="en-US"/>
          </a:p>
        </p:txBody>
      </p:sp>
      <p:sp>
        <p:nvSpPr>
          <p:cNvPr id="130" name="Shape 118"/>
          <p:cNvSpPr/>
          <p:nvPr/>
        </p:nvSpPr>
        <p:spPr>
          <a:xfrm rot="5400000">
            <a:off x="16942583" y="5427315"/>
            <a:ext cx="181901" cy="238125"/>
          </a:xfrm>
          <a:prstGeom prst="rect">
            <a:avLst/>
          </a:prstGeom>
          <a:solidFill>
            <a:srgbClr val="F0CC71"/>
          </a:solidFill>
          <a:ln/>
        </p:spPr>
        <p:txBody>
          <a:bodyPr/>
          <a:lstStyle/>
          <a:p>
            <a:endParaRPr lang="en-US"/>
          </a:p>
        </p:txBody>
      </p:sp>
      <p:sp>
        <p:nvSpPr>
          <p:cNvPr id="131" name="Shape 119"/>
          <p:cNvSpPr/>
          <p:nvPr/>
        </p:nvSpPr>
        <p:spPr>
          <a:xfrm rot="10800000">
            <a:off x="16691590" y="8837238"/>
            <a:ext cx="390519" cy="36380"/>
          </a:xfrm>
          <a:prstGeom prst="rect">
            <a:avLst/>
          </a:prstGeom>
          <a:solidFill>
            <a:srgbClr val="FFFFFF">
              <a:alpha val="40000"/>
            </a:srgbClr>
          </a:solidFill>
          <a:ln/>
        </p:spPr>
        <p:txBody>
          <a:bodyPr/>
          <a:lstStyle/>
          <a:p>
            <a:endParaRPr lang="en-US"/>
          </a:p>
        </p:txBody>
      </p:sp>
      <p:sp>
        <p:nvSpPr>
          <p:cNvPr id="132" name="Shape 120"/>
          <p:cNvSpPr/>
          <p:nvPr/>
        </p:nvSpPr>
        <p:spPr>
          <a:xfrm rot="5400000">
            <a:off x="14829447" y="6545931"/>
            <a:ext cx="4543425" cy="36380"/>
          </a:xfrm>
          <a:prstGeom prst="rect">
            <a:avLst/>
          </a:prstGeom>
          <a:solidFill>
            <a:srgbClr val="FFFFFF">
              <a:alpha val="40000"/>
            </a:srgbClr>
          </a:solidFill>
          <a:ln/>
        </p:spPr>
        <p:txBody>
          <a:bodyPr/>
          <a:lstStyle/>
          <a:p>
            <a:endParaRPr lang="en-US"/>
          </a:p>
        </p:txBody>
      </p:sp>
      <p:sp>
        <p:nvSpPr>
          <p:cNvPr id="133" name="Shape 121"/>
          <p:cNvSpPr/>
          <p:nvPr/>
        </p:nvSpPr>
        <p:spPr>
          <a:xfrm rot="10800000">
            <a:off x="17082110" y="4291004"/>
            <a:ext cx="390519" cy="36380"/>
          </a:xfrm>
          <a:prstGeom prst="rect">
            <a:avLst/>
          </a:prstGeom>
          <a:solidFill>
            <a:srgbClr val="FFFFFF">
              <a:alpha val="40000"/>
            </a:srgbClr>
          </a:solidFill>
          <a:ln/>
        </p:spPr>
        <p:txBody>
          <a:bodyPr/>
          <a:lstStyle/>
          <a:p>
            <a:endParaRPr lang="en-US"/>
          </a:p>
        </p:txBody>
      </p:sp>
      <p:sp>
        <p:nvSpPr>
          <p:cNvPr id="134" name="Shape 122"/>
          <p:cNvSpPr/>
          <p:nvPr/>
        </p:nvSpPr>
        <p:spPr>
          <a:xfrm>
            <a:off x="16691590" y="8718175"/>
            <a:ext cx="181901" cy="238125"/>
          </a:xfrm>
          <a:prstGeom prst="rect">
            <a:avLst/>
          </a:prstGeom>
          <a:solidFill>
            <a:srgbClr val="FFFFFF">
              <a:alpha val="40000"/>
            </a:srgbClr>
          </a:solidFill>
          <a:ln/>
        </p:spPr>
        <p:txBody>
          <a:bodyPr/>
          <a:lstStyle/>
          <a:p>
            <a:endParaRPr lang="en-US"/>
          </a:p>
        </p:txBody>
      </p:sp>
      <p:sp>
        <p:nvSpPr>
          <p:cNvPr id="135" name="Shape 123"/>
          <p:cNvSpPr/>
          <p:nvPr/>
        </p:nvSpPr>
        <p:spPr>
          <a:xfrm rot="5400000">
            <a:off x="16880170" y="3414520"/>
            <a:ext cx="361950" cy="16536"/>
          </a:xfrm>
          <a:prstGeom prst="rect">
            <a:avLst/>
          </a:prstGeom>
          <a:solidFill>
            <a:srgbClr val="FFFFFF">
              <a:alpha val="30000"/>
            </a:srgbClr>
          </a:solidFill>
          <a:ln/>
        </p:spPr>
        <p:txBody>
          <a:bodyPr/>
          <a:lstStyle/>
          <a:p>
            <a:endParaRPr lang="en-US"/>
          </a:p>
        </p:txBody>
      </p:sp>
      <p:sp>
        <p:nvSpPr>
          <p:cNvPr id="136" name="Shape 124"/>
          <p:cNvSpPr/>
          <p:nvPr/>
        </p:nvSpPr>
        <p:spPr>
          <a:xfrm>
            <a:off x="8308640" y="1504921"/>
            <a:ext cx="1683980" cy="36380"/>
          </a:xfrm>
          <a:prstGeom prst="rect">
            <a:avLst/>
          </a:prstGeom>
          <a:solidFill>
            <a:srgbClr val="F0CC71"/>
          </a:solidFill>
          <a:ln/>
        </p:spPr>
        <p:txBody>
          <a:bodyPr/>
          <a:lstStyle/>
          <a:p>
            <a:endParaRPr lang="en-US"/>
          </a:p>
        </p:txBody>
      </p:sp>
      <p:sp>
        <p:nvSpPr>
          <p:cNvPr id="137" name="Shape 125"/>
          <p:cNvSpPr/>
          <p:nvPr/>
        </p:nvSpPr>
        <p:spPr>
          <a:xfrm rot="5400000">
            <a:off x="8070290" y="3393152"/>
            <a:ext cx="3810000" cy="36380"/>
          </a:xfrm>
          <a:prstGeom prst="rect">
            <a:avLst/>
          </a:prstGeom>
          <a:solidFill>
            <a:srgbClr val="F0CC71"/>
          </a:solidFill>
          <a:ln/>
        </p:spPr>
        <p:txBody>
          <a:bodyPr/>
          <a:lstStyle/>
          <a:p>
            <a:endParaRPr lang="en-US"/>
          </a:p>
        </p:txBody>
      </p:sp>
      <p:sp>
        <p:nvSpPr>
          <p:cNvPr id="138" name="Shape 126"/>
          <p:cNvSpPr/>
          <p:nvPr/>
        </p:nvSpPr>
        <p:spPr>
          <a:xfrm>
            <a:off x="9992619" y="5317763"/>
            <a:ext cx="1683980" cy="36380"/>
          </a:xfrm>
          <a:prstGeom prst="rect">
            <a:avLst/>
          </a:prstGeom>
          <a:solidFill>
            <a:srgbClr val="F0CC71"/>
          </a:solidFill>
          <a:ln/>
        </p:spPr>
        <p:txBody>
          <a:bodyPr/>
          <a:lstStyle/>
          <a:p>
            <a:endParaRPr lang="en-US"/>
          </a:p>
        </p:txBody>
      </p:sp>
      <p:sp>
        <p:nvSpPr>
          <p:cNvPr id="139" name="Shape 127"/>
          <p:cNvSpPr/>
          <p:nvPr/>
        </p:nvSpPr>
        <p:spPr>
          <a:xfrm>
            <a:off x="11494751" y="5198701"/>
            <a:ext cx="181901" cy="238125"/>
          </a:xfrm>
          <a:prstGeom prst="rect">
            <a:avLst/>
          </a:prstGeom>
          <a:solidFill>
            <a:srgbClr val="F0CC71"/>
          </a:solidFill>
          <a:ln/>
        </p:spPr>
        <p:txBody>
          <a:bodyPr/>
          <a:lstStyle/>
          <a:p>
            <a:endParaRPr lang="en-US"/>
          </a:p>
        </p:txBody>
      </p:sp>
      <p:sp>
        <p:nvSpPr>
          <p:cNvPr id="140" name="Shape 128"/>
          <p:cNvSpPr/>
          <p:nvPr/>
        </p:nvSpPr>
        <p:spPr>
          <a:xfrm>
            <a:off x="3047979" y="3987147"/>
            <a:ext cx="184304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141" name="Text 129"/>
          <p:cNvSpPr/>
          <p:nvPr/>
        </p:nvSpPr>
        <p:spPr>
          <a:xfrm>
            <a:off x="3121244" y="4025749"/>
            <a:ext cx="1696511"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PII Redaction</a:t>
            </a:r>
            <a:endParaRPr lang="en-US" sz="1350" dirty="0"/>
          </a:p>
        </p:txBody>
      </p:sp>
      <p:sp>
        <p:nvSpPr>
          <p:cNvPr id="142" name="Shape 130"/>
          <p:cNvSpPr/>
          <p:nvPr/>
        </p:nvSpPr>
        <p:spPr>
          <a:xfrm>
            <a:off x="2831765" y="4308109"/>
            <a:ext cx="2276450" cy="282877"/>
          </a:xfrm>
          <a:prstGeom prst="roundRect">
            <a:avLst>
              <a:gd name="adj" fmla="val 16836"/>
            </a:avLst>
          </a:prstGeom>
          <a:solidFill>
            <a:srgbClr val="0B5060"/>
          </a:solidFill>
          <a:ln w="13229">
            <a:solidFill>
              <a:srgbClr val="FD6953"/>
            </a:solidFill>
            <a:prstDash val="solid"/>
          </a:ln>
        </p:spPr>
        <p:txBody>
          <a:bodyPr/>
          <a:lstStyle/>
          <a:p>
            <a:endParaRPr lang="en-US"/>
          </a:p>
        </p:txBody>
      </p:sp>
      <p:sp>
        <p:nvSpPr>
          <p:cNvPr id="143" name="Text 131"/>
          <p:cNvSpPr/>
          <p:nvPr/>
        </p:nvSpPr>
        <p:spPr>
          <a:xfrm>
            <a:off x="2883359" y="4346711"/>
            <a:ext cx="2173263"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Content Classification</a:t>
            </a:r>
            <a:endParaRPr lang="en-US" sz="1350" dirty="0"/>
          </a:p>
        </p:txBody>
      </p:sp>
      <p:sp>
        <p:nvSpPr>
          <p:cNvPr id="144" name="Shape 132"/>
          <p:cNvSpPr/>
          <p:nvPr/>
        </p:nvSpPr>
        <p:spPr>
          <a:xfrm>
            <a:off x="16193429" y="5020624"/>
            <a:ext cx="1679226" cy="434289"/>
          </a:xfrm>
          <a:prstGeom prst="roundRect">
            <a:avLst>
              <a:gd name="adj" fmla="val 16669"/>
            </a:avLst>
          </a:prstGeom>
          <a:solidFill>
            <a:srgbClr val="0B5060"/>
          </a:solidFill>
          <a:ln w="13229">
            <a:solidFill>
              <a:srgbClr val="FD6953"/>
            </a:solidFill>
            <a:prstDash val="solid"/>
          </a:ln>
          <a:effectLst>
            <a:outerShdw blurRad="114300" dist="19050" dir="5400000" algn="bl" rotWithShape="0">
              <a:srgbClr val="000000">
                <a:alpha val="18000"/>
              </a:srgbClr>
            </a:outerShdw>
          </a:effectLst>
        </p:spPr>
        <p:txBody>
          <a:bodyPr/>
          <a:lstStyle/>
          <a:p>
            <a:endParaRPr lang="en-US"/>
          </a:p>
        </p:txBody>
      </p:sp>
      <p:sp>
        <p:nvSpPr>
          <p:cNvPr id="145" name="Text 133"/>
          <p:cNvSpPr/>
          <p:nvPr/>
        </p:nvSpPr>
        <p:spPr>
          <a:xfrm>
            <a:off x="16274885" y="5161545"/>
            <a:ext cx="1516316"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dirty="0">
                <a:solidFill>
                  <a:srgbClr val="FFFFFF"/>
                </a:solidFill>
                <a:latin typeface="Oracle Sans Tab" pitchFamily="34" charset="0"/>
                <a:ea typeface="Oracle Sans Tab" pitchFamily="34" charset="-122"/>
                <a:cs typeface="Oracle Sans Tab" pitchFamily="34" charset="-120"/>
              </a:rPr>
              <a:t>Oracle AI Database</a:t>
            </a:r>
            <a:endParaRPr lang="en-US" sz="1200" dirty="0"/>
          </a:p>
        </p:txBody>
      </p:sp>
      <p:sp>
        <p:nvSpPr>
          <p:cNvPr id="146" name="Shape 134"/>
          <p:cNvSpPr/>
          <p:nvPr/>
        </p:nvSpPr>
        <p:spPr>
          <a:xfrm>
            <a:off x="11724297" y="6436971"/>
            <a:ext cx="2525065" cy="834368"/>
          </a:xfrm>
          <a:prstGeom prst="roundRect">
            <a:avLst>
              <a:gd name="adj" fmla="val 16667"/>
            </a:avLst>
          </a:prstGeom>
          <a:solidFill>
            <a:srgbClr val="89B2B0"/>
          </a:solidFill>
          <a:ln w="16536">
            <a:solidFill>
              <a:srgbClr val="FFFFFF">
                <a:alpha val="45000"/>
              </a:srgbClr>
            </a:solidFill>
            <a:prstDash val="solid"/>
          </a:ln>
        </p:spPr>
        <p:txBody>
          <a:bodyPr/>
          <a:lstStyle/>
          <a:p>
            <a:endParaRPr lang="en-US"/>
          </a:p>
        </p:txBody>
      </p:sp>
      <p:sp>
        <p:nvSpPr>
          <p:cNvPr id="147" name="Text 135"/>
          <p:cNvSpPr/>
          <p:nvPr/>
        </p:nvSpPr>
        <p:spPr>
          <a:xfrm>
            <a:off x="11839882" y="6701761"/>
            <a:ext cx="2293894" cy="342888"/>
          </a:xfrm>
          <a:prstGeom prst="rect">
            <a:avLst/>
          </a:prstGeom>
          <a:noFill/>
          <a:ln/>
        </p:spPr>
        <p:txBody>
          <a:bodyPr wrap="square" lIns="25400" tIns="25400" rIns="25400" bIns="25400" rtlCol="0" anchor="t">
            <a:normAutofit/>
          </a:bodyPr>
          <a:lstStyle/>
          <a:p>
            <a:pPr marL="0" indent="0" algn="ctr">
              <a:lnSpc>
                <a:spcPct val="76800"/>
              </a:lnSpc>
              <a:buNone/>
            </a:pPr>
            <a:r>
              <a:rPr lang="en-US" sz="1200" dirty="0">
                <a:solidFill>
                  <a:srgbClr val="FFFFFF"/>
                </a:solidFill>
                <a:latin typeface="Oracle Sans Tab" pitchFamily="34" charset="0"/>
                <a:ea typeface="Oracle Sans Tab" pitchFamily="34" charset="-122"/>
                <a:cs typeface="Oracle Sans Tab" pitchFamily="34" charset="-120"/>
              </a:rPr>
              <a:t>Embedding passed as query vector for </a:t>
            </a:r>
            <a:r>
              <a:rPr lang="en-US" sz="1200" b="1" dirty="0">
                <a:solidFill>
                  <a:srgbClr val="FFFFFF"/>
                </a:solidFill>
                <a:latin typeface="Oracle Sans Tab" pitchFamily="34" charset="0"/>
                <a:ea typeface="Oracle Sans Tab" pitchFamily="34" charset="-122"/>
                <a:cs typeface="Oracle Sans Tab" pitchFamily="34" charset="-120"/>
              </a:rPr>
              <a:t>semantic retrieval</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REFERENCE ARCHITECTURE</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IT ALL RUNS IN THE DATABASE</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HOW THE PIECES CONNECT</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Oracle is the </a:t>
            </a:r>
            <a:r>
              <a:rPr lang="en-US" sz="4500" b="1" i="1" dirty="0">
                <a:solidFill>
                  <a:srgbClr val="FD6953"/>
                </a:solidFill>
                <a:latin typeface="Oracle Sans Tab" pitchFamily="34" charset="0"/>
                <a:ea typeface="Oracle Sans Tab" pitchFamily="34" charset="-122"/>
                <a:cs typeface="Oracle Sans Tab" pitchFamily="34" charset="-120"/>
              </a:rPr>
              <a:t>engine</a:t>
            </a:r>
            <a:r>
              <a:rPr lang="en-US" sz="4500" b="1" dirty="0">
                <a:solidFill>
                  <a:srgbClr val="FFFFFF"/>
                </a:solidFill>
                <a:latin typeface="Oracle Sans Tab" pitchFamily="34" charset="0"/>
                <a:ea typeface="Oracle Sans Tab" pitchFamily="34" charset="-122"/>
                <a:cs typeface="Oracle Sans Tab" pitchFamily="34" charset="-120"/>
              </a:rPr>
              <a:t>, not a step.</a:t>
            </a:r>
            <a:endParaRPr lang="en-US" sz="1200" dirty="0"/>
          </a:p>
        </p:txBody>
      </p:sp>
      <p:sp>
        <p:nvSpPr>
          <p:cNvPr id="8" name="Shape 5"/>
          <p:cNvSpPr/>
          <p:nvPr/>
        </p:nvSpPr>
        <p:spPr>
          <a:xfrm>
            <a:off x="4114788" y="3428990"/>
            <a:ext cx="10286969" cy="5074884"/>
          </a:xfrm>
          <a:prstGeom prst="roundRect">
            <a:avLst>
              <a:gd name="adj" fmla="val 2703"/>
            </a:avLst>
          </a:prstGeom>
          <a:solidFill>
            <a:srgbClr val="0B5060"/>
          </a:solidFill>
          <a:ln w="26458">
            <a:solidFill>
              <a:srgbClr val="FD6953"/>
            </a:solidFill>
            <a:prstDash val="solid"/>
          </a:ln>
          <a:effectLst>
            <a:outerShdw blurRad="114300" dist="19050" dir="5400000" algn="bl" rotWithShape="0">
              <a:srgbClr val="000000">
                <a:alpha val="18000"/>
              </a:srgbClr>
            </a:outerShdw>
          </a:effectLst>
        </p:spPr>
        <p:txBody>
          <a:bodyPr/>
          <a:lstStyle/>
          <a:p>
            <a:endParaRPr lang="en-US"/>
          </a:p>
        </p:txBody>
      </p:sp>
      <p:sp>
        <p:nvSpPr>
          <p:cNvPr id="9" name="Shape 6"/>
          <p:cNvSpPr/>
          <p:nvPr/>
        </p:nvSpPr>
        <p:spPr>
          <a:xfrm>
            <a:off x="4526235" y="3428990"/>
            <a:ext cx="4526235" cy="603839"/>
          </a:xfrm>
          <a:prstGeom prst="roundRect">
            <a:avLst>
              <a:gd name="adj" fmla="val 13566"/>
            </a:avLst>
          </a:prstGeom>
          <a:solidFill>
            <a:srgbClr val="C74634"/>
          </a:solidFill>
          <a:ln w="16536">
            <a:solidFill>
              <a:srgbClr val="FD6953"/>
            </a:solidFill>
            <a:prstDash val="solid"/>
          </a:ln>
        </p:spPr>
        <p:txBody>
          <a:bodyPr/>
          <a:lstStyle/>
          <a:p>
            <a:endParaRPr lang="en-US"/>
          </a:p>
        </p:txBody>
      </p:sp>
      <p:sp>
        <p:nvSpPr>
          <p:cNvPr id="10" name="Text 7"/>
          <p:cNvSpPr/>
          <p:nvPr/>
        </p:nvSpPr>
        <p:spPr>
          <a:xfrm>
            <a:off x="4299923" y="3610891"/>
            <a:ext cx="4978859" cy="278137"/>
          </a:xfrm>
          <a:prstGeom prst="rect">
            <a:avLst/>
          </a:prstGeom>
          <a:noFill/>
          <a:ln/>
        </p:spPr>
        <p:txBody>
          <a:bodyPr wrap="square" lIns="25400" tIns="25400" rIns="25400" bIns="25400" rtlCol="0" anchor="t">
            <a:normAutofit/>
          </a:bodyPr>
          <a:lstStyle/>
          <a:p>
            <a:pPr marL="0" indent="0" algn="ctr">
              <a:lnSpc>
                <a:spcPct val="92160"/>
              </a:lnSpc>
              <a:buNone/>
            </a:pPr>
            <a:r>
              <a:rPr lang="en-US" sz="1575" b="1" dirty="0">
                <a:solidFill>
                  <a:srgbClr val="FFFFFF"/>
                </a:solidFill>
                <a:latin typeface="Oracle Sans Tab" pitchFamily="34" charset="0"/>
                <a:ea typeface="Oracle Sans Tab" pitchFamily="34" charset="-122"/>
                <a:cs typeface="Oracle Sans Tab" pitchFamily="34" charset="-120"/>
              </a:rPr>
              <a:t>ORACLE AI DATABASE</a:t>
            </a:r>
            <a:endParaRPr lang="en-US" sz="1575" dirty="0"/>
          </a:p>
        </p:txBody>
      </p:sp>
      <p:sp>
        <p:nvSpPr>
          <p:cNvPr id="11" name="Text 8"/>
          <p:cNvSpPr/>
          <p:nvPr/>
        </p:nvSpPr>
        <p:spPr>
          <a:xfrm>
            <a:off x="9258298" y="3621846"/>
            <a:ext cx="5431508"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i="1" dirty="0">
                <a:solidFill>
                  <a:srgbClr val="C3D7DC"/>
                </a:solidFill>
                <a:latin typeface="Oracle Sans Tab" pitchFamily="34" charset="0"/>
                <a:ea typeface="Oracle Sans Tab" pitchFamily="34" charset="-122"/>
                <a:cs typeface="Oracle Sans Tab" pitchFamily="34" charset="-120"/>
              </a:rPr>
              <a:t>ingestion, embeddings, vector search and rerank, one engine</a:t>
            </a:r>
            <a:endParaRPr lang="en-US" sz="1425" dirty="0"/>
          </a:p>
        </p:txBody>
      </p:sp>
      <p:sp>
        <p:nvSpPr>
          <p:cNvPr id="12" name="Shape 9"/>
          <p:cNvSpPr/>
          <p:nvPr/>
        </p:nvSpPr>
        <p:spPr>
          <a:xfrm>
            <a:off x="4526235" y="4183362"/>
            <a:ext cx="2743192" cy="1302969"/>
          </a:xfrm>
          <a:prstGeom prst="roundRect">
            <a:avLst>
              <a:gd name="adj" fmla="val 738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13" name="Image 1" descr="preencoded.png"/>
          <p:cNvPicPr>
            <a:picLocks noChangeAspect="1"/>
          </p:cNvPicPr>
          <p:nvPr/>
        </p:nvPicPr>
        <p:blipFill>
          <a:blip r:embed="rId4"/>
          <a:srcRect/>
          <a:stretch/>
        </p:blipFill>
        <p:spPr>
          <a:xfrm>
            <a:off x="5582553" y="4375754"/>
            <a:ext cx="630504" cy="630504"/>
          </a:xfrm>
          <a:prstGeom prst="rect">
            <a:avLst/>
          </a:prstGeom>
        </p:spPr>
      </p:pic>
      <p:sp>
        <p:nvSpPr>
          <p:cNvPr id="14" name="Text 10"/>
          <p:cNvSpPr/>
          <p:nvPr/>
        </p:nvSpPr>
        <p:spPr>
          <a:xfrm>
            <a:off x="4509585" y="5033956"/>
            <a:ext cx="2776492" cy="21922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500" b="1" dirty="0">
                <a:solidFill>
                  <a:srgbClr val="FFFFFF"/>
                </a:solidFill>
                <a:latin typeface="Oracle Sans Tab" pitchFamily="34" charset="0"/>
                <a:ea typeface="Oracle Sans Tab" pitchFamily="34" charset="-122"/>
                <a:cs typeface="Oracle Sans Tab" pitchFamily="34" charset="-120"/>
              </a:rPr>
              <a:t>Data object</a:t>
            </a:r>
            <a:endParaRPr lang="en-US" sz="1500" dirty="0"/>
          </a:p>
        </p:txBody>
      </p:sp>
      <p:sp>
        <p:nvSpPr>
          <p:cNvPr id="15" name="Shape 11"/>
          <p:cNvSpPr/>
          <p:nvPr/>
        </p:nvSpPr>
        <p:spPr>
          <a:xfrm>
            <a:off x="7269478" y="4834847"/>
            <a:ext cx="383853" cy="26458"/>
          </a:xfrm>
          <a:prstGeom prst="rect">
            <a:avLst/>
          </a:prstGeom>
          <a:solidFill>
            <a:srgbClr val="FFFFFF">
              <a:alpha val="34000"/>
            </a:srgbClr>
          </a:solidFill>
          <a:ln/>
        </p:spPr>
        <p:txBody>
          <a:bodyPr/>
          <a:lstStyle/>
          <a:p>
            <a:endParaRPr lang="en-US"/>
          </a:p>
        </p:txBody>
      </p:sp>
      <p:sp>
        <p:nvSpPr>
          <p:cNvPr id="16" name="Shape 12"/>
          <p:cNvSpPr/>
          <p:nvPr/>
        </p:nvSpPr>
        <p:spPr>
          <a:xfrm>
            <a:off x="7527654" y="4752165"/>
            <a:ext cx="125677" cy="165365"/>
          </a:xfrm>
          <a:prstGeom prst="rect">
            <a:avLst/>
          </a:prstGeom>
          <a:solidFill>
            <a:srgbClr val="FFFFFF">
              <a:alpha val="34000"/>
            </a:srgbClr>
          </a:solidFill>
          <a:ln/>
        </p:spPr>
        <p:txBody>
          <a:bodyPr/>
          <a:lstStyle/>
          <a:p>
            <a:endParaRPr lang="en-US"/>
          </a:p>
        </p:txBody>
      </p:sp>
      <p:sp>
        <p:nvSpPr>
          <p:cNvPr id="17" name="Shape 13"/>
          <p:cNvSpPr/>
          <p:nvPr/>
        </p:nvSpPr>
        <p:spPr>
          <a:xfrm>
            <a:off x="7653331" y="4183362"/>
            <a:ext cx="2743192" cy="1302969"/>
          </a:xfrm>
          <a:prstGeom prst="roundRect">
            <a:avLst>
              <a:gd name="adj" fmla="val 738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18" name="Image 2" descr="preencoded.png"/>
          <p:cNvPicPr>
            <a:picLocks noChangeAspect="1"/>
          </p:cNvPicPr>
          <p:nvPr/>
        </p:nvPicPr>
        <p:blipFill>
          <a:blip r:embed="rId5"/>
          <a:srcRect/>
          <a:stretch/>
        </p:blipFill>
        <p:spPr>
          <a:xfrm>
            <a:off x="8709649" y="4311003"/>
            <a:ext cx="630504" cy="630504"/>
          </a:xfrm>
          <a:prstGeom prst="rect">
            <a:avLst/>
          </a:prstGeom>
        </p:spPr>
      </p:pic>
      <p:sp>
        <p:nvSpPr>
          <p:cNvPr id="19" name="Text 14"/>
          <p:cNvSpPr/>
          <p:nvPr/>
        </p:nvSpPr>
        <p:spPr>
          <a:xfrm>
            <a:off x="7636675" y="4969154"/>
            <a:ext cx="2775469" cy="21922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500" b="1" dirty="0">
                <a:solidFill>
                  <a:srgbClr val="FFFFFF"/>
                </a:solidFill>
                <a:latin typeface="Oracle Sans Tab" pitchFamily="34" charset="0"/>
                <a:ea typeface="Oracle Sans Tab" pitchFamily="34" charset="-122"/>
                <a:cs typeface="Oracle Sans Tab" pitchFamily="34" charset="-120"/>
              </a:rPr>
              <a:t>Processing</a:t>
            </a:r>
            <a:endParaRPr lang="en-US" sz="1500" dirty="0"/>
          </a:p>
        </p:txBody>
      </p:sp>
      <p:sp>
        <p:nvSpPr>
          <p:cNvPr id="20" name="Text 15"/>
          <p:cNvSpPr/>
          <p:nvPr/>
        </p:nvSpPr>
        <p:spPr>
          <a:xfrm>
            <a:off x="7636675" y="5150280"/>
            <a:ext cx="2775469" cy="21922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500" b="1" dirty="0">
                <a:solidFill>
                  <a:srgbClr val="FFFFFF"/>
                </a:solidFill>
                <a:latin typeface="Oracle Sans Tab" pitchFamily="34" charset="0"/>
                <a:ea typeface="Oracle Sans Tab" pitchFamily="34" charset="-122"/>
                <a:cs typeface="Oracle Sans Tab" pitchFamily="34" charset="-120"/>
              </a:rPr>
              <a:t>pipeline</a:t>
            </a:r>
            <a:endParaRPr lang="en-US" sz="1500" dirty="0"/>
          </a:p>
        </p:txBody>
      </p:sp>
      <p:sp>
        <p:nvSpPr>
          <p:cNvPr id="21" name="Shape 16"/>
          <p:cNvSpPr/>
          <p:nvPr/>
        </p:nvSpPr>
        <p:spPr>
          <a:xfrm>
            <a:off x="10396522" y="4834847"/>
            <a:ext cx="383853" cy="26458"/>
          </a:xfrm>
          <a:prstGeom prst="rect">
            <a:avLst/>
          </a:prstGeom>
          <a:solidFill>
            <a:srgbClr val="FFFFFF">
              <a:alpha val="34000"/>
            </a:srgbClr>
          </a:solidFill>
          <a:ln/>
        </p:spPr>
        <p:txBody>
          <a:bodyPr/>
          <a:lstStyle/>
          <a:p>
            <a:endParaRPr lang="en-US"/>
          </a:p>
        </p:txBody>
      </p:sp>
      <p:sp>
        <p:nvSpPr>
          <p:cNvPr id="22" name="Shape 17"/>
          <p:cNvSpPr/>
          <p:nvPr/>
        </p:nvSpPr>
        <p:spPr>
          <a:xfrm>
            <a:off x="10654698" y="4752165"/>
            <a:ext cx="125677" cy="165365"/>
          </a:xfrm>
          <a:prstGeom prst="rect">
            <a:avLst/>
          </a:prstGeom>
          <a:solidFill>
            <a:srgbClr val="FFFFFF">
              <a:alpha val="34000"/>
            </a:srgbClr>
          </a:solidFill>
          <a:ln/>
        </p:spPr>
        <p:txBody>
          <a:bodyPr/>
          <a:lstStyle/>
          <a:p>
            <a:endParaRPr lang="en-US"/>
          </a:p>
        </p:txBody>
      </p:sp>
      <p:sp>
        <p:nvSpPr>
          <p:cNvPr id="23" name="Shape 18"/>
          <p:cNvSpPr/>
          <p:nvPr/>
        </p:nvSpPr>
        <p:spPr>
          <a:xfrm>
            <a:off x="10780376" y="4183362"/>
            <a:ext cx="2743192" cy="1302969"/>
          </a:xfrm>
          <a:prstGeom prst="roundRect">
            <a:avLst>
              <a:gd name="adj" fmla="val 738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24" name="Image 3" descr="preencoded.png"/>
          <p:cNvPicPr>
            <a:picLocks noChangeAspect="1"/>
          </p:cNvPicPr>
          <p:nvPr/>
        </p:nvPicPr>
        <p:blipFill>
          <a:blip r:embed="rId6"/>
          <a:srcRect/>
          <a:stretch/>
        </p:blipFill>
        <p:spPr>
          <a:xfrm>
            <a:off x="11836693" y="4311003"/>
            <a:ext cx="630504" cy="630504"/>
          </a:xfrm>
          <a:prstGeom prst="rect">
            <a:avLst/>
          </a:prstGeom>
        </p:spPr>
      </p:pic>
      <p:sp>
        <p:nvSpPr>
          <p:cNvPr id="25" name="Text 19"/>
          <p:cNvSpPr/>
          <p:nvPr/>
        </p:nvSpPr>
        <p:spPr>
          <a:xfrm>
            <a:off x="10764702" y="4969154"/>
            <a:ext cx="2775469" cy="21922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500" b="1" dirty="0">
                <a:solidFill>
                  <a:srgbClr val="FFFFFF"/>
                </a:solidFill>
                <a:latin typeface="Oracle Sans Tab" pitchFamily="34" charset="0"/>
                <a:ea typeface="Oracle Sans Tab" pitchFamily="34" charset="-122"/>
                <a:cs typeface="Oracle Sans Tab" pitchFamily="34" charset="-120"/>
              </a:rPr>
              <a:t>Embedding</a:t>
            </a:r>
            <a:endParaRPr lang="en-US" sz="1500" dirty="0"/>
          </a:p>
        </p:txBody>
      </p:sp>
      <p:sp>
        <p:nvSpPr>
          <p:cNvPr id="26" name="Text 20"/>
          <p:cNvSpPr/>
          <p:nvPr/>
        </p:nvSpPr>
        <p:spPr>
          <a:xfrm>
            <a:off x="10764702" y="5150280"/>
            <a:ext cx="2775469" cy="21922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500" b="1" dirty="0">
                <a:solidFill>
                  <a:srgbClr val="FFFFFF"/>
                </a:solidFill>
                <a:latin typeface="Oracle Sans Tab" pitchFamily="34" charset="0"/>
                <a:ea typeface="Oracle Sans Tab" pitchFamily="34" charset="-122"/>
                <a:cs typeface="Oracle Sans Tab" pitchFamily="34" charset="-120"/>
              </a:rPr>
              <a:t>model</a:t>
            </a:r>
            <a:endParaRPr lang="en-US" sz="1500" dirty="0"/>
          </a:p>
        </p:txBody>
      </p:sp>
      <p:sp>
        <p:nvSpPr>
          <p:cNvPr id="27" name="Text 21"/>
          <p:cNvSpPr/>
          <p:nvPr/>
        </p:nvSpPr>
        <p:spPr>
          <a:xfrm>
            <a:off x="7516172" y="5545914"/>
            <a:ext cx="3017511" cy="220931"/>
          </a:xfrm>
          <a:prstGeom prst="rect">
            <a:avLst/>
          </a:prstGeom>
          <a:noFill/>
          <a:ln/>
        </p:spPr>
        <p:txBody>
          <a:bodyPr wrap="square" lIns="25400" tIns="25400" rIns="25400" bIns="25400" rtlCol="0" anchor="t">
            <a:normAutofit lnSpcReduction="10000"/>
          </a:bodyPr>
          <a:lstStyle/>
          <a:p>
            <a:pPr marL="0" indent="0" algn="ctr">
              <a:lnSpc>
                <a:spcPct val="92160"/>
              </a:lnSpc>
              <a:buNone/>
            </a:pPr>
            <a:r>
              <a:rPr lang="en-US" sz="1200" i="1" dirty="0">
                <a:solidFill>
                  <a:srgbClr val="9FBBC3"/>
                </a:solidFill>
                <a:latin typeface="Oracle Sans Tab" pitchFamily="34" charset="0"/>
                <a:ea typeface="Oracle Sans Tab" pitchFamily="34" charset="-122"/>
                <a:cs typeface="Oracle Sans Tab" pitchFamily="34" charset="-120"/>
              </a:rPr>
              <a:t>chunk · clean · redact</a:t>
            </a:r>
            <a:endParaRPr lang="en-US" sz="1200" dirty="0"/>
          </a:p>
        </p:txBody>
      </p:sp>
      <p:sp>
        <p:nvSpPr>
          <p:cNvPr id="28" name="Text 22"/>
          <p:cNvSpPr/>
          <p:nvPr/>
        </p:nvSpPr>
        <p:spPr>
          <a:xfrm>
            <a:off x="4526235" y="5778820"/>
            <a:ext cx="3017511" cy="220931"/>
          </a:xfrm>
          <a:prstGeom prst="rect">
            <a:avLst/>
          </a:prstGeom>
          <a:noFill/>
          <a:ln/>
        </p:spPr>
        <p:txBody>
          <a:bodyPr wrap="square" lIns="25400" tIns="25400" rIns="25400" bIns="25400" rtlCol="0" anchor="t">
            <a:normAutofit lnSpcReduction="10000"/>
          </a:bodyPr>
          <a:lstStyle/>
          <a:p>
            <a:pPr marL="0" indent="0" algn="l">
              <a:lnSpc>
                <a:spcPct val="92160"/>
              </a:lnSpc>
              <a:buNone/>
            </a:pPr>
            <a:r>
              <a:rPr lang="en-US" sz="1200" dirty="0">
                <a:solidFill>
                  <a:srgbClr val="9FBBC3"/>
                </a:solidFill>
                <a:latin typeface="Oracle Sans Tab" pitchFamily="34" charset="0"/>
                <a:ea typeface="Oracle Sans Tab" pitchFamily="34" charset="-122"/>
                <a:cs typeface="Oracle Sans Tab" pitchFamily="34" charset="-120"/>
              </a:rPr>
              <a:t>STORED AS</a:t>
            </a:r>
            <a:endParaRPr lang="en-US" sz="1200" dirty="0"/>
          </a:p>
        </p:txBody>
      </p:sp>
      <p:sp>
        <p:nvSpPr>
          <p:cNvPr id="29" name="Shape 23"/>
          <p:cNvSpPr/>
          <p:nvPr/>
        </p:nvSpPr>
        <p:spPr>
          <a:xfrm>
            <a:off x="4526235" y="6035032"/>
            <a:ext cx="1755448" cy="466690"/>
          </a:xfrm>
          <a:prstGeom prst="roundRect">
            <a:avLst>
              <a:gd name="adj" fmla="val 14695"/>
            </a:avLst>
          </a:prstGeom>
          <a:solidFill>
            <a:srgbClr val="0B5060"/>
          </a:solidFill>
          <a:ln w="16536">
            <a:solidFill>
              <a:srgbClr val="FFFFFF">
                <a:alpha val="20000"/>
              </a:srgbClr>
            </a:solidFill>
            <a:prstDash val="solid"/>
          </a:ln>
        </p:spPr>
        <p:txBody>
          <a:bodyPr/>
          <a:lstStyle/>
          <a:p>
            <a:endParaRPr lang="en-US"/>
          </a:p>
        </p:txBody>
      </p:sp>
      <p:pic>
        <p:nvPicPr>
          <p:cNvPr id="30" name="Image 4" descr="preencoded.png"/>
          <p:cNvPicPr>
            <a:picLocks noChangeAspect="1"/>
          </p:cNvPicPr>
          <p:nvPr/>
        </p:nvPicPr>
        <p:blipFill>
          <a:blip r:embed="rId7"/>
          <a:srcRect/>
          <a:stretch/>
        </p:blipFill>
        <p:spPr>
          <a:xfrm>
            <a:off x="4635789" y="6131202"/>
            <a:ext cx="274299" cy="274299"/>
          </a:xfrm>
          <a:prstGeom prst="rect">
            <a:avLst/>
          </a:prstGeom>
        </p:spPr>
      </p:pic>
      <p:sp>
        <p:nvSpPr>
          <p:cNvPr id="31" name="Text 24"/>
          <p:cNvSpPr/>
          <p:nvPr/>
        </p:nvSpPr>
        <p:spPr>
          <a:xfrm>
            <a:off x="4965381" y="6171251"/>
            <a:ext cx="1357834"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FFFFFF"/>
                </a:solidFill>
                <a:latin typeface="Oracle Sans Tab" pitchFamily="34" charset="0"/>
                <a:ea typeface="Oracle Sans Tab" pitchFamily="34" charset="-122"/>
                <a:cs typeface="Oracle Sans Tab" pitchFamily="34" charset="-120"/>
              </a:rPr>
              <a:t>Spatial</a:t>
            </a:r>
            <a:endParaRPr lang="en-US" sz="1275" dirty="0"/>
          </a:p>
        </p:txBody>
      </p:sp>
      <p:sp>
        <p:nvSpPr>
          <p:cNvPr id="32" name="Shape 25"/>
          <p:cNvSpPr/>
          <p:nvPr/>
        </p:nvSpPr>
        <p:spPr>
          <a:xfrm>
            <a:off x="6418884" y="6035032"/>
            <a:ext cx="1755448" cy="466690"/>
          </a:xfrm>
          <a:prstGeom prst="roundRect">
            <a:avLst>
              <a:gd name="adj" fmla="val 14695"/>
            </a:avLst>
          </a:prstGeom>
          <a:solidFill>
            <a:srgbClr val="0B5060"/>
          </a:solidFill>
          <a:ln w="16536">
            <a:solidFill>
              <a:srgbClr val="FFFFFF">
                <a:alpha val="20000"/>
              </a:srgbClr>
            </a:solidFill>
            <a:prstDash val="solid"/>
          </a:ln>
        </p:spPr>
        <p:txBody>
          <a:bodyPr/>
          <a:lstStyle/>
          <a:p>
            <a:endParaRPr lang="en-US"/>
          </a:p>
        </p:txBody>
      </p:sp>
      <p:pic>
        <p:nvPicPr>
          <p:cNvPr id="33" name="Image 5" descr="preencoded.png"/>
          <p:cNvPicPr>
            <a:picLocks noChangeAspect="1"/>
          </p:cNvPicPr>
          <p:nvPr/>
        </p:nvPicPr>
        <p:blipFill>
          <a:blip r:embed="rId8"/>
          <a:srcRect/>
          <a:stretch/>
        </p:blipFill>
        <p:spPr>
          <a:xfrm>
            <a:off x="6528387" y="6131202"/>
            <a:ext cx="274299" cy="274299"/>
          </a:xfrm>
          <a:prstGeom prst="rect">
            <a:avLst/>
          </a:prstGeom>
        </p:spPr>
      </p:pic>
      <p:sp>
        <p:nvSpPr>
          <p:cNvPr id="34" name="Text 26"/>
          <p:cNvSpPr/>
          <p:nvPr/>
        </p:nvSpPr>
        <p:spPr>
          <a:xfrm>
            <a:off x="6857979" y="6171251"/>
            <a:ext cx="1357834"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FFFFFF"/>
                </a:solidFill>
                <a:latin typeface="Oracle Sans Tab" pitchFamily="34" charset="0"/>
                <a:ea typeface="Oracle Sans Tab" pitchFamily="34" charset="-122"/>
                <a:cs typeface="Oracle Sans Tab" pitchFamily="34" charset="-120"/>
              </a:rPr>
              <a:t>JSON</a:t>
            </a:r>
            <a:endParaRPr lang="en-US" sz="1275" dirty="0"/>
          </a:p>
        </p:txBody>
      </p:sp>
      <p:sp>
        <p:nvSpPr>
          <p:cNvPr id="35" name="Shape 27"/>
          <p:cNvSpPr/>
          <p:nvPr/>
        </p:nvSpPr>
        <p:spPr>
          <a:xfrm>
            <a:off x="8311482" y="6035032"/>
            <a:ext cx="1755448" cy="466690"/>
          </a:xfrm>
          <a:prstGeom prst="roundRect">
            <a:avLst>
              <a:gd name="adj" fmla="val 14695"/>
            </a:avLst>
          </a:prstGeom>
          <a:solidFill>
            <a:srgbClr val="0B5060"/>
          </a:solidFill>
          <a:ln w="16536">
            <a:solidFill>
              <a:srgbClr val="FFFFFF">
                <a:alpha val="20000"/>
              </a:srgbClr>
            </a:solidFill>
            <a:prstDash val="solid"/>
          </a:ln>
        </p:spPr>
        <p:txBody>
          <a:bodyPr/>
          <a:lstStyle/>
          <a:p>
            <a:endParaRPr lang="en-US"/>
          </a:p>
        </p:txBody>
      </p:sp>
      <p:pic>
        <p:nvPicPr>
          <p:cNvPr id="36" name="Image 6" descr="preencoded.png"/>
          <p:cNvPicPr>
            <a:picLocks noChangeAspect="1"/>
          </p:cNvPicPr>
          <p:nvPr/>
        </p:nvPicPr>
        <p:blipFill>
          <a:blip r:embed="rId9"/>
          <a:srcRect/>
          <a:stretch/>
        </p:blipFill>
        <p:spPr>
          <a:xfrm>
            <a:off x="8421966" y="6131202"/>
            <a:ext cx="274299" cy="274299"/>
          </a:xfrm>
          <a:prstGeom prst="rect">
            <a:avLst/>
          </a:prstGeom>
        </p:spPr>
      </p:pic>
      <p:sp>
        <p:nvSpPr>
          <p:cNvPr id="37" name="Text 28"/>
          <p:cNvSpPr/>
          <p:nvPr/>
        </p:nvSpPr>
        <p:spPr>
          <a:xfrm>
            <a:off x="8750577" y="6171251"/>
            <a:ext cx="1357834"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FFFFFF"/>
                </a:solidFill>
                <a:latin typeface="Oracle Sans Tab" pitchFamily="34" charset="0"/>
                <a:ea typeface="Oracle Sans Tab" pitchFamily="34" charset="-122"/>
                <a:cs typeface="Oracle Sans Tab" pitchFamily="34" charset="-120"/>
              </a:rPr>
              <a:t>Graph</a:t>
            </a:r>
            <a:endParaRPr lang="en-US" sz="1275" dirty="0"/>
          </a:p>
        </p:txBody>
      </p:sp>
      <p:sp>
        <p:nvSpPr>
          <p:cNvPr id="38" name="Shape 29"/>
          <p:cNvSpPr/>
          <p:nvPr/>
        </p:nvSpPr>
        <p:spPr>
          <a:xfrm>
            <a:off x="10205062" y="6035032"/>
            <a:ext cx="1755448" cy="466690"/>
          </a:xfrm>
          <a:prstGeom prst="roundRect">
            <a:avLst>
              <a:gd name="adj" fmla="val 14695"/>
            </a:avLst>
          </a:prstGeom>
          <a:solidFill>
            <a:srgbClr val="0B5060"/>
          </a:solidFill>
          <a:ln w="16536">
            <a:solidFill>
              <a:srgbClr val="FFFFFF">
                <a:alpha val="20000"/>
              </a:srgbClr>
            </a:solidFill>
            <a:prstDash val="solid"/>
          </a:ln>
        </p:spPr>
        <p:txBody>
          <a:bodyPr/>
          <a:lstStyle/>
          <a:p>
            <a:endParaRPr lang="en-US"/>
          </a:p>
        </p:txBody>
      </p:sp>
      <p:pic>
        <p:nvPicPr>
          <p:cNvPr id="39" name="Image 7" descr="preencoded.png"/>
          <p:cNvPicPr>
            <a:picLocks noChangeAspect="1"/>
          </p:cNvPicPr>
          <p:nvPr/>
        </p:nvPicPr>
        <p:blipFill>
          <a:blip r:embed="rId10"/>
          <a:srcRect/>
          <a:stretch/>
        </p:blipFill>
        <p:spPr>
          <a:xfrm>
            <a:off x="10314616" y="6131202"/>
            <a:ext cx="274299" cy="274299"/>
          </a:xfrm>
          <a:prstGeom prst="rect">
            <a:avLst/>
          </a:prstGeom>
        </p:spPr>
      </p:pic>
      <p:sp>
        <p:nvSpPr>
          <p:cNvPr id="40" name="Text 30"/>
          <p:cNvSpPr/>
          <p:nvPr/>
        </p:nvSpPr>
        <p:spPr>
          <a:xfrm>
            <a:off x="10643226" y="6171251"/>
            <a:ext cx="1357834"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FFFFFF"/>
                </a:solidFill>
                <a:latin typeface="Oracle Sans Tab" pitchFamily="34" charset="0"/>
                <a:ea typeface="Oracle Sans Tab" pitchFamily="34" charset="-122"/>
                <a:cs typeface="Oracle Sans Tab" pitchFamily="34" charset="-120"/>
              </a:rPr>
              <a:t>Ops</a:t>
            </a:r>
            <a:endParaRPr lang="en-US" sz="1275" dirty="0"/>
          </a:p>
        </p:txBody>
      </p:sp>
      <p:sp>
        <p:nvSpPr>
          <p:cNvPr id="41" name="Shape 31"/>
          <p:cNvSpPr/>
          <p:nvPr/>
        </p:nvSpPr>
        <p:spPr>
          <a:xfrm>
            <a:off x="12097659" y="6035032"/>
            <a:ext cx="1755448" cy="466690"/>
          </a:xfrm>
          <a:prstGeom prst="roundRect">
            <a:avLst>
              <a:gd name="adj" fmla="val 14695"/>
            </a:avLst>
          </a:prstGeom>
          <a:solidFill>
            <a:srgbClr val="0B5060"/>
          </a:solidFill>
          <a:ln w="16536">
            <a:solidFill>
              <a:srgbClr val="FFFFFF">
                <a:alpha val="20000"/>
              </a:srgbClr>
            </a:solidFill>
            <a:prstDash val="solid"/>
          </a:ln>
        </p:spPr>
        <p:txBody>
          <a:bodyPr/>
          <a:lstStyle/>
          <a:p>
            <a:endParaRPr lang="en-US"/>
          </a:p>
        </p:txBody>
      </p:sp>
      <p:pic>
        <p:nvPicPr>
          <p:cNvPr id="42" name="Image 8" descr="preencoded.png"/>
          <p:cNvPicPr>
            <a:picLocks noChangeAspect="1"/>
          </p:cNvPicPr>
          <p:nvPr/>
        </p:nvPicPr>
        <p:blipFill>
          <a:blip r:embed="rId11"/>
          <a:srcRect/>
          <a:stretch/>
        </p:blipFill>
        <p:spPr>
          <a:xfrm>
            <a:off x="12207213" y="6131202"/>
            <a:ext cx="274299" cy="274299"/>
          </a:xfrm>
          <a:prstGeom prst="rect">
            <a:avLst/>
          </a:prstGeom>
        </p:spPr>
      </p:pic>
      <p:sp>
        <p:nvSpPr>
          <p:cNvPr id="43" name="Text 32"/>
          <p:cNvSpPr/>
          <p:nvPr/>
        </p:nvSpPr>
        <p:spPr>
          <a:xfrm>
            <a:off x="12536806" y="6171251"/>
            <a:ext cx="1357834"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FFFFFF"/>
                </a:solidFill>
                <a:latin typeface="Oracle Sans Tab" pitchFamily="34" charset="0"/>
                <a:ea typeface="Oracle Sans Tab" pitchFamily="34" charset="-122"/>
                <a:cs typeface="Oracle Sans Tab" pitchFamily="34" charset="-120"/>
              </a:rPr>
              <a:t>Vector</a:t>
            </a:r>
            <a:endParaRPr lang="en-US" sz="1275" dirty="0"/>
          </a:p>
        </p:txBody>
      </p:sp>
      <p:sp>
        <p:nvSpPr>
          <p:cNvPr id="44" name="Shape 33"/>
          <p:cNvSpPr/>
          <p:nvPr/>
        </p:nvSpPr>
        <p:spPr>
          <a:xfrm>
            <a:off x="4800585" y="6748425"/>
            <a:ext cx="3154639" cy="1262042"/>
          </a:xfrm>
          <a:prstGeom prst="roundRect">
            <a:avLst>
              <a:gd name="adj" fmla="val 762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45" name="Image 9" descr="preencoded.png"/>
          <p:cNvPicPr>
            <a:picLocks noChangeAspect="1"/>
          </p:cNvPicPr>
          <p:nvPr/>
        </p:nvPicPr>
        <p:blipFill>
          <a:blip r:embed="rId12"/>
          <a:srcRect/>
          <a:stretch/>
        </p:blipFill>
        <p:spPr>
          <a:xfrm>
            <a:off x="6062627" y="6855137"/>
            <a:ext cx="630504" cy="630504"/>
          </a:xfrm>
          <a:prstGeom prst="rect">
            <a:avLst/>
          </a:prstGeom>
        </p:spPr>
      </p:pic>
      <p:sp>
        <p:nvSpPr>
          <p:cNvPr id="46" name="Text 34"/>
          <p:cNvSpPr/>
          <p:nvPr/>
        </p:nvSpPr>
        <p:spPr>
          <a:xfrm>
            <a:off x="4763308" y="7513288"/>
            <a:ext cx="3229141" cy="21922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500" b="1" dirty="0">
                <a:solidFill>
                  <a:srgbClr val="FFFFFF"/>
                </a:solidFill>
                <a:latin typeface="Oracle Sans Tab" pitchFamily="34" charset="0"/>
                <a:ea typeface="Oracle Sans Tab" pitchFamily="34" charset="-122"/>
                <a:cs typeface="Oracle Sans Tab" pitchFamily="34" charset="-120"/>
              </a:rPr>
              <a:t>Vector search</a:t>
            </a:r>
            <a:endParaRPr lang="en-US" sz="1500" dirty="0"/>
          </a:p>
        </p:txBody>
      </p:sp>
      <p:sp>
        <p:nvSpPr>
          <p:cNvPr id="47" name="Text 35"/>
          <p:cNvSpPr/>
          <p:nvPr/>
        </p:nvSpPr>
        <p:spPr>
          <a:xfrm>
            <a:off x="4763308" y="7694413"/>
            <a:ext cx="3229141" cy="21922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500" b="1" dirty="0">
                <a:solidFill>
                  <a:srgbClr val="FFFFFF"/>
                </a:solidFill>
                <a:latin typeface="Oracle Sans Tab" pitchFamily="34" charset="0"/>
                <a:ea typeface="Oracle Sans Tab" pitchFamily="34" charset="-122"/>
                <a:cs typeface="Oracle Sans Tab" pitchFamily="34" charset="-120"/>
              </a:rPr>
              <a:t>(top-k)</a:t>
            </a:r>
            <a:endParaRPr lang="en-US" sz="1500" dirty="0"/>
          </a:p>
        </p:txBody>
      </p:sp>
      <p:sp>
        <p:nvSpPr>
          <p:cNvPr id="48" name="Shape 36"/>
          <p:cNvSpPr/>
          <p:nvPr/>
        </p:nvSpPr>
        <p:spPr>
          <a:xfrm>
            <a:off x="7955277" y="7378981"/>
            <a:ext cx="548597" cy="26458"/>
          </a:xfrm>
          <a:prstGeom prst="rect">
            <a:avLst/>
          </a:prstGeom>
          <a:solidFill>
            <a:srgbClr val="FFFFFF">
              <a:alpha val="34000"/>
            </a:srgbClr>
          </a:solidFill>
          <a:ln/>
        </p:spPr>
        <p:txBody>
          <a:bodyPr/>
          <a:lstStyle/>
          <a:p>
            <a:endParaRPr lang="en-US"/>
          </a:p>
        </p:txBody>
      </p:sp>
      <p:sp>
        <p:nvSpPr>
          <p:cNvPr id="49" name="Shape 37"/>
          <p:cNvSpPr/>
          <p:nvPr/>
        </p:nvSpPr>
        <p:spPr>
          <a:xfrm>
            <a:off x="8378196" y="7296299"/>
            <a:ext cx="125677" cy="165365"/>
          </a:xfrm>
          <a:prstGeom prst="rect">
            <a:avLst/>
          </a:prstGeom>
          <a:solidFill>
            <a:srgbClr val="FFFFFF">
              <a:alpha val="34000"/>
            </a:srgbClr>
          </a:solidFill>
          <a:ln/>
        </p:spPr>
        <p:txBody>
          <a:bodyPr/>
          <a:lstStyle/>
          <a:p>
            <a:endParaRPr lang="en-US"/>
          </a:p>
        </p:txBody>
      </p:sp>
      <p:sp>
        <p:nvSpPr>
          <p:cNvPr id="50" name="Shape 38"/>
          <p:cNvSpPr/>
          <p:nvPr/>
        </p:nvSpPr>
        <p:spPr>
          <a:xfrm>
            <a:off x="8503873" y="6748425"/>
            <a:ext cx="3154639" cy="1262042"/>
          </a:xfrm>
          <a:prstGeom prst="roundRect">
            <a:avLst>
              <a:gd name="adj" fmla="val 762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51" name="Image 10" descr="preencoded.png"/>
          <p:cNvPicPr>
            <a:picLocks noChangeAspect="1"/>
          </p:cNvPicPr>
          <p:nvPr/>
        </p:nvPicPr>
        <p:blipFill>
          <a:blip r:embed="rId13"/>
          <a:srcRect/>
          <a:stretch/>
        </p:blipFill>
        <p:spPr>
          <a:xfrm>
            <a:off x="9765967" y="6876066"/>
            <a:ext cx="630504" cy="630504"/>
          </a:xfrm>
          <a:prstGeom prst="rect">
            <a:avLst/>
          </a:prstGeom>
        </p:spPr>
      </p:pic>
      <p:sp>
        <p:nvSpPr>
          <p:cNvPr id="52" name="Text 39"/>
          <p:cNvSpPr/>
          <p:nvPr/>
        </p:nvSpPr>
        <p:spPr>
          <a:xfrm>
            <a:off x="8466648" y="7534269"/>
            <a:ext cx="3229141" cy="21922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500" b="1" dirty="0">
                <a:solidFill>
                  <a:srgbClr val="FFFFFF"/>
                </a:solidFill>
                <a:latin typeface="Oracle Sans Tab" pitchFamily="34" charset="0"/>
                <a:ea typeface="Oracle Sans Tab" pitchFamily="34" charset="-122"/>
                <a:cs typeface="Oracle Sans Tab" pitchFamily="34" charset="-120"/>
              </a:rPr>
              <a:t>Reranking</a:t>
            </a:r>
            <a:endParaRPr lang="en-US" sz="1500" dirty="0"/>
          </a:p>
        </p:txBody>
      </p:sp>
      <p:sp>
        <p:nvSpPr>
          <p:cNvPr id="53" name="Text 40"/>
          <p:cNvSpPr/>
          <p:nvPr/>
        </p:nvSpPr>
        <p:spPr>
          <a:xfrm>
            <a:off x="8466648" y="7715394"/>
            <a:ext cx="3229141" cy="21922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500" b="1" dirty="0">
                <a:solidFill>
                  <a:srgbClr val="FFFFFF"/>
                </a:solidFill>
                <a:latin typeface="Oracle Sans Tab" pitchFamily="34" charset="0"/>
                <a:ea typeface="Oracle Sans Tab" pitchFamily="34" charset="-122"/>
                <a:cs typeface="Oracle Sans Tab" pitchFamily="34" charset="-120"/>
              </a:rPr>
              <a:t>model</a:t>
            </a:r>
            <a:endParaRPr lang="en-US" sz="1500" dirty="0"/>
          </a:p>
        </p:txBody>
      </p:sp>
      <p:sp>
        <p:nvSpPr>
          <p:cNvPr id="54" name="Shape 41"/>
          <p:cNvSpPr/>
          <p:nvPr/>
        </p:nvSpPr>
        <p:spPr>
          <a:xfrm rot="5400000">
            <a:off x="11863575" y="5747452"/>
            <a:ext cx="552450" cy="26458"/>
          </a:xfrm>
          <a:prstGeom prst="rect">
            <a:avLst/>
          </a:prstGeom>
          <a:solidFill>
            <a:srgbClr val="FFFFFF">
              <a:alpha val="34000"/>
            </a:srgbClr>
          </a:solidFill>
          <a:ln/>
        </p:spPr>
        <p:txBody>
          <a:bodyPr/>
          <a:lstStyle/>
          <a:p>
            <a:endParaRPr lang="en-US"/>
          </a:p>
        </p:txBody>
      </p:sp>
      <p:sp>
        <p:nvSpPr>
          <p:cNvPr id="55" name="Shape 42"/>
          <p:cNvSpPr/>
          <p:nvPr/>
        </p:nvSpPr>
        <p:spPr>
          <a:xfrm rot="5400000">
            <a:off x="12089133" y="5892105"/>
            <a:ext cx="125677" cy="161925"/>
          </a:xfrm>
          <a:prstGeom prst="rect">
            <a:avLst/>
          </a:prstGeom>
          <a:solidFill>
            <a:srgbClr val="FFFFFF">
              <a:alpha val="34000"/>
            </a:srgbClr>
          </a:solidFill>
          <a:ln/>
        </p:spPr>
        <p:txBody>
          <a:bodyPr/>
          <a:lstStyle/>
          <a:p>
            <a:endParaRPr lang="en-US"/>
          </a:p>
        </p:txBody>
      </p:sp>
      <p:sp>
        <p:nvSpPr>
          <p:cNvPr id="56" name="Shape 43"/>
          <p:cNvSpPr/>
          <p:nvPr/>
        </p:nvSpPr>
        <p:spPr>
          <a:xfrm rot="5400000">
            <a:off x="6243761" y="6615126"/>
            <a:ext cx="247650" cy="19844"/>
          </a:xfrm>
          <a:prstGeom prst="rect">
            <a:avLst/>
          </a:prstGeom>
          <a:solidFill>
            <a:srgbClr val="FD6953"/>
          </a:solidFill>
          <a:ln/>
        </p:spPr>
        <p:txBody>
          <a:bodyPr/>
          <a:lstStyle/>
          <a:p>
            <a:endParaRPr lang="en-US"/>
          </a:p>
        </p:txBody>
      </p:sp>
      <p:sp>
        <p:nvSpPr>
          <p:cNvPr id="57" name="Shape 44"/>
          <p:cNvSpPr/>
          <p:nvPr/>
        </p:nvSpPr>
        <p:spPr>
          <a:xfrm>
            <a:off x="754373" y="4183362"/>
            <a:ext cx="2811766" cy="1302969"/>
          </a:xfrm>
          <a:prstGeom prst="roundRect">
            <a:avLst>
              <a:gd name="adj" fmla="val 738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58" name="Image 11" descr="preencoded.png"/>
          <p:cNvPicPr>
            <a:picLocks noChangeAspect="1"/>
          </p:cNvPicPr>
          <p:nvPr/>
        </p:nvPicPr>
        <p:blipFill>
          <a:blip r:embed="rId14"/>
          <a:srcRect/>
          <a:stretch/>
        </p:blipFill>
        <p:spPr>
          <a:xfrm>
            <a:off x="1844952" y="4375754"/>
            <a:ext cx="630504" cy="630504"/>
          </a:xfrm>
          <a:prstGeom prst="rect">
            <a:avLst/>
          </a:prstGeom>
        </p:spPr>
      </p:pic>
      <p:sp>
        <p:nvSpPr>
          <p:cNvPr id="59" name="Text 45"/>
          <p:cNvSpPr/>
          <p:nvPr/>
        </p:nvSpPr>
        <p:spPr>
          <a:xfrm>
            <a:off x="734242" y="5033956"/>
            <a:ext cx="2851924" cy="21922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500" b="1" dirty="0">
                <a:solidFill>
                  <a:srgbClr val="FFFFFF"/>
                </a:solidFill>
                <a:latin typeface="Oracle Sans Tab" pitchFamily="34" charset="0"/>
                <a:ea typeface="Oracle Sans Tab" pitchFamily="34" charset="-122"/>
                <a:cs typeface="Oracle Sans Tab" pitchFamily="34" charset="-120"/>
              </a:rPr>
              <a:t>Data sources</a:t>
            </a:r>
            <a:endParaRPr lang="en-US" sz="1500" dirty="0"/>
          </a:p>
        </p:txBody>
      </p:sp>
      <p:sp>
        <p:nvSpPr>
          <p:cNvPr id="60" name="Shape 46"/>
          <p:cNvSpPr/>
          <p:nvPr/>
        </p:nvSpPr>
        <p:spPr>
          <a:xfrm>
            <a:off x="754373" y="6748425"/>
            <a:ext cx="2811766" cy="1262042"/>
          </a:xfrm>
          <a:prstGeom prst="roundRect">
            <a:avLst>
              <a:gd name="adj" fmla="val 762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61" name="Image 12" descr="preencoded.png"/>
          <p:cNvPicPr>
            <a:picLocks noChangeAspect="1"/>
          </p:cNvPicPr>
          <p:nvPr/>
        </p:nvPicPr>
        <p:blipFill>
          <a:blip r:embed="rId15"/>
          <a:srcRect/>
          <a:stretch/>
        </p:blipFill>
        <p:spPr>
          <a:xfrm>
            <a:off x="1844952" y="6939886"/>
            <a:ext cx="630504" cy="630504"/>
          </a:xfrm>
          <a:prstGeom prst="rect">
            <a:avLst/>
          </a:prstGeom>
        </p:spPr>
      </p:pic>
      <p:sp>
        <p:nvSpPr>
          <p:cNvPr id="62" name="Text 47"/>
          <p:cNvSpPr/>
          <p:nvPr/>
        </p:nvSpPr>
        <p:spPr>
          <a:xfrm>
            <a:off x="734242" y="7599019"/>
            <a:ext cx="2851924" cy="21922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500" b="1" dirty="0">
                <a:solidFill>
                  <a:srgbClr val="FFFFFF"/>
                </a:solidFill>
                <a:latin typeface="Oracle Sans Tab" pitchFamily="34" charset="0"/>
                <a:ea typeface="Oracle Sans Tab" pitchFamily="34" charset="-122"/>
                <a:cs typeface="Oracle Sans Tab" pitchFamily="34" charset="-120"/>
              </a:rPr>
              <a:t>User query</a:t>
            </a:r>
            <a:endParaRPr lang="en-US" sz="1500" dirty="0"/>
          </a:p>
        </p:txBody>
      </p:sp>
      <p:sp>
        <p:nvSpPr>
          <p:cNvPr id="63" name="Shape 48"/>
          <p:cNvSpPr/>
          <p:nvPr/>
        </p:nvSpPr>
        <p:spPr>
          <a:xfrm>
            <a:off x="3566139" y="4834847"/>
            <a:ext cx="960096" cy="26458"/>
          </a:xfrm>
          <a:prstGeom prst="rect">
            <a:avLst/>
          </a:prstGeom>
          <a:solidFill>
            <a:srgbClr val="FFFFFF">
              <a:alpha val="34000"/>
            </a:srgbClr>
          </a:solidFill>
          <a:ln/>
        </p:spPr>
        <p:txBody>
          <a:bodyPr/>
          <a:lstStyle/>
          <a:p>
            <a:endParaRPr lang="en-US"/>
          </a:p>
        </p:txBody>
      </p:sp>
      <p:sp>
        <p:nvSpPr>
          <p:cNvPr id="64" name="Shape 49"/>
          <p:cNvSpPr/>
          <p:nvPr/>
        </p:nvSpPr>
        <p:spPr>
          <a:xfrm>
            <a:off x="4400558" y="4752165"/>
            <a:ext cx="125677" cy="165365"/>
          </a:xfrm>
          <a:prstGeom prst="rect">
            <a:avLst/>
          </a:prstGeom>
          <a:solidFill>
            <a:srgbClr val="FFFFFF">
              <a:alpha val="34000"/>
            </a:srgbClr>
          </a:solidFill>
          <a:ln/>
        </p:spPr>
        <p:txBody>
          <a:bodyPr/>
          <a:lstStyle/>
          <a:p>
            <a:endParaRPr lang="en-US"/>
          </a:p>
        </p:txBody>
      </p:sp>
      <p:sp>
        <p:nvSpPr>
          <p:cNvPr id="65" name="Shape 50"/>
          <p:cNvSpPr/>
          <p:nvPr/>
        </p:nvSpPr>
        <p:spPr>
          <a:xfrm>
            <a:off x="3566139" y="7378981"/>
            <a:ext cx="1234395" cy="26458"/>
          </a:xfrm>
          <a:prstGeom prst="rect">
            <a:avLst/>
          </a:prstGeom>
          <a:solidFill>
            <a:srgbClr val="FFFFFF">
              <a:alpha val="34000"/>
            </a:srgbClr>
          </a:solidFill>
          <a:ln/>
        </p:spPr>
        <p:txBody>
          <a:bodyPr/>
          <a:lstStyle/>
          <a:p>
            <a:endParaRPr lang="en-US"/>
          </a:p>
        </p:txBody>
      </p:sp>
      <p:sp>
        <p:nvSpPr>
          <p:cNvPr id="66" name="Shape 51"/>
          <p:cNvSpPr/>
          <p:nvPr/>
        </p:nvSpPr>
        <p:spPr>
          <a:xfrm>
            <a:off x="4674857" y="7296299"/>
            <a:ext cx="125677" cy="165365"/>
          </a:xfrm>
          <a:prstGeom prst="rect">
            <a:avLst/>
          </a:prstGeom>
          <a:solidFill>
            <a:srgbClr val="FFFFFF">
              <a:alpha val="34000"/>
            </a:srgbClr>
          </a:solidFill>
          <a:ln/>
        </p:spPr>
        <p:txBody>
          <a:bodyPr/>
          <a:lstStyle/>
          <a:p>
            <a:endParaRPr lang="en-US"/>
          </a:p>
        </p:txBody>
      </p:sp>
      <p:sp>
        <p:nvSpPr>
          <p:cNvPr id="67" name="Shape 52"/>
          <p:cNvSpPr/>
          <p:nvPr/>
        </p:nvSpPr>
        <p:spPr>
          <a:xfrm>
            <a:off x="14607532" y="4183362"/>
            <a:ext cx="2720299" cy="1302969"/>
          </a:xfrm>
          <a:prstGeom prst="roundRect">
            <a:avLst>
              <a:gd name="adj" fmla="val 7383"/>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pic>
        <p:nvPicPr>
          <p:cNvPr id="68" name="Image 13" descr="preencoded.png"/>
          <p:cNvPicPr>
            <a:picLocks noChangeAspect="1"/>
          </p:cNvPicPr>
          <p:nvPr/>
        </p:nvPicPr>
        <p:blipFill>
          <a:blip r:embed="rId16"/>
          <a:srcRect/>
          <a:stretch/>
        </p:blipFill>
        <p:spPr>
          <a:xfrm>
            <a:off x="15652429" y="4375754"/>
            <a:ext cx="630504" cy="630504"/>
          </a:xfrm>
          <a:prstGeom prst="rect">
            <a:avLst/>
          </a:prstGeom>
        </p:spPr>
      </p:pic>
      <p:sp>
        <p:nvSpPr>
          <p:cNvPr id="69" name="Text 53"/>
          <p:cNvSpPr/>
          <p:nvPr/>
        </p:nvSpPr>
        <p:spPr>
          <a:xfrm>
            <a:off x="14592019" y="5033956"/>
            <a:ext cx="2750344" cy="21922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500" b="1" dirty="0">
                <a:solidFill>
                  <a:srgbClr val="FFFFFF"/>
                </a:solidFill>
                <a:latin typeface="Oracle Sans Tab" pitchFamily="34" charset="0"/>
                <a:ea typeface="Oracle Sans Tab" pitchFamily="34" charset="-122"/>
                <a:cs typeface="Oracle Sans Tab" pitchFamily="34" charset="-120"/>
              </a:rPr>
              <a:t>Grounded</a:t>
            </a:r>
            <a:endParaRPr lang="en-US" sz="1500" dirty="0"/>
          </a:p>
        </p:txBody>
      </p:sp>
      <p:sp>
        <p:nvSpPr>
          <p:cNvPr id="70" name="Text 54"/>
          <p:cNvSpPr/>
          <p:nvPr/>
        </p:nvSpPr>
        <p:spPr>
          <a:xfrm>
            <a:off x="14592019" y="5215082"/>
            <a:ext cx="2750344" cy="21922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500" b="1" dirty="0">
                <a:solidFill>
                  <a:srgbClr val="FFFFFF"/>
                </a:solidFill>
                <a:latin typeface="Oracle Sans Tab" pitchFamily="34" charset="0"/>
                <a:ea typeface="Oracle Sans Tab" pitchFamily="34" charset="-122"/>
                <a:cs typeface="Oracle Sans Tab" pitchFamily="34" charset="-120"/>
              </a:rPr>
              <a:t>response</a:t>
            </a:r>
            <a:endParaRPr lang="en-US" sz="1500" dirty="0"/>
          </a:p>
        </p:txBody>
      </p:sp>
      <p:sp>
        <p:nvSpPr>
          <p:cNvPr id="71" name="Shape 55"/>
          <p:cNvSpPr/>
          <p:nvPr/>
        </p:nvSpPr>
        <p:spPr>
          <a:xfrm>
            <a:off x="14607532" y="6748425"/>
            <a:ext cx="2720299" cy="1262042"/>
          </a:xfrm>
          <a:prstGeom prst="roundRect">
            <a:avLst>
              <a:gd name="adj" fmla="val 762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72" name="Image 14" descr="preencoded.png"/>
          <p:cNvPicPr>
            <a:picLocks noChangeAspect="1"/>
          </p:cNvPicPr>
          <p:nvPr/>
        </p:nvPicPr>
        <p:blipFill>
          <a:blip r:embed="rId17"/>
          <a:srcRect/>
          <a:stretch/>
        </p:blipFill>
        <p:spPr>
          <a:xfrm>
            <a:off x="15652429" y="6939886"/>
            <a:ext cx="630504" cy="630504"/>
          </a:xfrm>
          <a:prstGeom prst="rect">
            <a:avLst/>
          </a:prstGeom>
        </p:spPr>
      </p:pic>
      <p:sp>
        <p:nvSpPr>
          <p:cNvPr id="73" name="Text 56"/>
          <p:cNvSpPr/>
          <p:nvPr/>
        </p:nvSpPr>
        <p:spPr>
          <a:xfrm>
            <a:off x="14592019" y="7599019"/>
            <a:ext cx="2750344" cy="21922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500" b="1" dirty="0">
                <a:solidFill>
                  <a:srgbClr val="FFFFFF"/>
                </a:solidFill>
                <a:latin typeface="Oracle Sans Tab" pitchFamily="34" charset="0"/>
                <a:ea typeface="Oracle Sans Tab" pitchFamily="34" charset="-122"/>
                <a:cs typeface="Oracle Sans Tab" pitchFamily="34" charset="-120"/>
              </a:rPr>
              <a:t>LLM</a:t>
            </a:r>
            <a:endParaRPr lang="en-US" sz="1500" dirty="0"/>
          </a:p>
        </p:txBody>
      </p:sp>
      <p:sp>
        <p:nvSpPr>
          <p:cNvPr id="74" name="Shape 57"/>
          <p:cNvSpPr/>
          <p:nvPr/>
        </p:nvSpPr>
        <p:spPr>
          <a:xfrm>
            <a:off x="11658564" y="7378981"/>
            <a:ext cx="2948916" cy="26458"/>
          </a:xfrm>
          <a:prstGeom prst="rect">
            <a:avLst/>
          </a:prstGeom>
          <a:solidFill>
            <a:srgbClr val="FFFFFF">
              <a:alpha val="34000"/>
            </a:srgbClr>
          </a:solidFill>
          <a:ln/>
        </p:spPr>
        <p:txBody>
          <a:bodyPr/>
          <a:lstStyle/>
          <a:p>
            <a:endParaRPr lang="en-US"/>
          </a:p>
        </p:txBody>
      </p:sp>
      <p:sp>
        <p:nvSpPr>
          <p:cNvPr id="75" name="Shape 58"/>
          <p:cNvSpPr/>
          <p:nvPr/>
        </p:nvSpPr>
        <p:spPr>
          <a:xfrm>
            <a:off x="14481803" y="7296299"/>
            <a:ext cx="125677" cy="165365"/>
          </a:xfrm>
          <a:prstGeom prst="rect">
            <a:avLst/>
          </a:prstGeom>
          <a:solidFill>
            <a:srgbClr val="FFFFFF">
              <a:alpha val="34000"/>
            </a:srgbClr>
          </a:solidFill>
          <a:ln/>
        </p:spPr>
        <p:txBody>
          <a:bodyPr/>
          <a:lstStyle/>
          <a:p>
            <a:endParaRPr lang="en-US"/>
          </a:p>
        </p:txBody>
      </p:sp>
      <p:sp>
        <p:nvSpPr>
          <p:cNvPr id="76" name="Shape 59"/>
          <p:cNvSpPr/>
          <p:nvPr/>
        </p:nvSpPr>
        <p:spPr>
          <a:xfrm rot="5400000">
            <a:off x="15362853" y="6104175"/>
            <a:ext cx="1257300" cy="26458"/>
          </a:xfrm>
          <a:prstGeom prst="rect">
            <a:avLst/>
          </a:prstGeom>
          <a:solidFill>
            <a:srgbClr val="FD6953"/>
          </a:solidFill>
          <a:ln/>
        </p:spPr>
        <p:txBody>
          <a:bodyPr/>
          <a:lstStyle/>
          <a:p>
            <a:endParaRPr lang="en-US"/>
          </a:p>
        </p:txBody>
      </p:sp>
      <p:sp>
        <p:nvSpPr>
          <p:cNvPr id="77" name="Shape 60"/>
          <p:cNvSpPr/>
          <p:nvPr/>
        </p:nvSpPr>
        <p:spPr>
          <a:xfrm rot="5400000">
            <a:off x="15914377" y="5469185"/>
            <a:ext cx="125677" cy="161925"/>
          </a:xfrm>
          <a:prstGeom prst="rect">
            <a:avLst/>
          </a:prstGeom>
          <a:solidFill>
            <a:srgbClr val="FD6953"/>
          </a:solidFill>
          <a:ln/>
        </p:spPr>
        <p:txBody>
          <a:bodyPr/>
          <a:lstStyle/>
          <a:p>
            <a:endParaRPr lang="en-US"/>
          </a:p>
        </p:txBody>
      </p:sp>
      <p:sp>
        <p:nvSpPr>
          <p:cNvPr id="78" name="Text 61"/>
          <p:cNvSpPr/>
          <p:nvPr/>
        </p:nvSpPr>
        <p:spPr>
          <a:xfrm>
            <a:off x="714580" y="8972527"/>
            <a:ext cx="16858767" cy="335239"/>
          </a:xfrm>
          <a:prstGeom prst="rect">
            <a:avLst/>
          </a:prstGeom>
          <a:noFill/>
          <a:ln/>
        </p:spPr>
        <p:txBody>
          <a:bodyPr wrap="square" lIns="25400" tIns="25400" rIns="25400" bIns="25400" rtlCol="0" anchor="t">
            <a:normAutofit/>
          </a:bodyPr>
          <a:lstStyle/>
          <a:p>
            <a:pPr marL="0" indent="0" algn="ctr">
              <a:lnSpc>
                <a:spcPct val="92160"/>
              </a:lnSpc>
              <a:buNone/>
            </a:pPr>
            <a:r>
              <a:rPr lang="en-US" sz="1950" i="1" dirty="0">
                <a:solidFill>
                  <a:srgbClr val="C3D7DC"/>
                </a:solidFill>
                <a:latin typeface="Oracle Sans Tab" pitchFamily="34" charset="0"/>
                <a:ea typeface="Oracle Sans Tab" pitchFamily="34" charset="-122"/>
                <a:cs typeface="Oracle Sans Tab" pitchFamily="34" charset="-120"/>
              </a:rPr>
              <a:t>Only the model (OCI Generative AI) and the I/O sit outside. Everything else is the database.</a:t>
            </a:r>
            <a:endParaRPr lang="en-US" sz="1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AGENT MEMORY</a:t>
            </a:r>
            <a:endParaRPr lang="en-US" sz="1575" dirty="0"/>
          </a:p>
        </p:txBody>
      </p:sp>
      <p:sp>
        <p:nvSpPr>
          <p:cNvPr id="4" name="Shape 1"/>
          <p:cNvSpPr/>
          <p:nvPr/>
        </p:nvSpPr>
        <p:spPr>
          <a:xfrm>
            <a:off x="960096" y="1262042"/>
            <a:ext cx="576244" cy="26458"/>
          </a:xfrm>
          <a:prstGeom prst="rect">
            <a:avLst/>
          </a:prstGeom>
          <a:solidFill>
            <a:srgbClr val="FD6953"/>
          </a:solidFill>
          <a:ln/>
        </p:spPr>
        <p:txBody>
          <a:bodyPr/>
          <a:lstStyle/>
          <a:p>
            <a:endParaRPr lang="en-US"/>
          </a:p>
        </p:txBody>
      </p:sp>
      <p:sp>
        <p:nvSpPr>
          <p:cNvPr id="5" name="Text 2"/>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AGENT MEMORY</a:t>
            </a:r>
            <a:endParaRPr lang="en-US" sz="1800" dirty="0"/>
          </a:p>
        </p:txBody>
      </p:sp>
      <p:sp>
        <p:nvSpPr>
          <p:cNvPr id="6" name="Text 3"/>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What is </a:t>
            </a:r>
            <a:r>
              <a:rPr lang="en-US" sz="5100" b="1" dirty="0">
                <a:solidFill>
                  <a:srgbClr val="FD6953"/>
                </a:solidFill>
                <a:latin typeface="Oracle Sans Tab" pitchFamily="34" charset="0"/>
                <a:ea typeface="Oracle Sans Tab" pitchFamily="34" charset="-122"/>
                <a:cs typeface="Oracle Sans Tab" pitchFamily="34" charset="-120"/>
              </a:rPr>
              <a:t>agent memory</a:t>
            </a:r>
            <a:endParaRPr lang="en-US" sz="1200" dirty="0"/>
          </a:p>
        </p:txBody>
      </p:sp>
      <p:sp>
        <p:nvSpPr>
          <p:cNvPr id="7" name="Shape 4"/>
          <p:cNvSpPr/>
          <p:nvPr/>
        </p:nvSpPr>
        <p:spPr>
          <a:xfrm>
            <a:off x="960096" y="4114788"/>
            <a:ext cx="2057394" cy="2057394"/>
          </a:xfrm>
          <a:prstGeom prst="roundRect">
            <a:avLst>
              <a:gd name="adj" fmla="val 467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8" name="Image 1" descr="preencoded.png"/>
          <p:cNvPicPr>
            <a:picLocks noChangeAspect="1"/>
          </p:cNvPicPr>
          <p:nvPr/>
        </p:nvPicPr>
        <p:blipFill>
          <a:blip r:embed="rId4"/>
          <a:srcRect/>
          <a:stretch/>
        </p:blipFill>
        <p:spPr>
          <a:xfrm>
            <a:off x="1536340" y="4691031"/>
            <a:ext cx="904854" cy="904854"/>
          </a:xfrm>
          <a:prstGeom prst="rect">
            <a:avLst/>
          </a:prstGeom>
        </p:spPr>
      </p:pic>
      <p:sp>
        <p:nvSpPr>
          <p:cNvPr id="9" name="Text 5"/>
          <p:cNvSpPr/>
          <p:nvPr/>
        </p:nvSpPr>
        <p:spPr>
          <a:xfrm>
            <a:off x="3497564" y="4320511"/>
            <a:ext cx="14268754" cy="1432588"/>
          </a:xfrm>
          <a:prstGeom prst="rect">
            <a:avLst/>
          </a:prstGeom>
          <a:noFill/>
          <a:ln/>
        </p:spPr>
        <p:txBody>
          <a:bodyPr wrap="square" lIns="25400" tIns="25400" rIns="25400" bIns="25400" rtlCol="0" anchor="t">
            <a:normAutofit/>
          </a:bodyPr>
          <a:lstStyle/>
          <a:p>
            <a:pPr marL="0" indent="0" algn="l">
              <a:lnSpc>
                <a:spcPct val="93696"/>
              </a:lnSpc>
              <a:buNone/>
            </a:pPr>
            <a:r>
              <a:rPr lang="en-US" sz="3000" dirty="0">
                <a:solidFill>
                  <a:srgbClr val="FFFFFF"/>
                </a:solidFill>
                <a:latin typeface="Oracle Sans Tab" pitchFamily="34" charset="0"/>
                <a:ea typeface="Oracle Sans Tab" pitchFamily="34" charset="-122"/>
                <a:cs typeface="Oracle Sans Tab" pitchFamily="34" charset="-120"/>
              </a:rPr>
              <a:t>The conceptual description of the </a:t>
            </a:r>
            <a:r>
              <a:rPr lang="en-US" sz="3000" b="1" dirty="0">
                <a:solidFill>
                  <a:srgbClr val="FFFFFF"/>
                </a:solidFill>
                <a:latin typeface="Oracle Sans Tab" pitchFamily="34" charset="0"/>
                <a:ea typeface="Oracle Sans Tab" pitchFamily="34" charset="-122"/>
                <a:cs typeface="Oracle Sans Tab" pitchFamily="34" charset="-120"/>
              </a:rPr>
              <a:t>mechanisms and systems </a:t>
            </a:r>
            <a:r>
              <a:rPr lang="en-US" sz="3000" dirty="0">
                <a:solidFill>
                  <a:srgbClr val="FFFFFF"/>
                </a:solidFill>
                <a:latin typeface="Oracle Sans Tab" pitchFamily="34" charset="0"/>
                <a:ea typeface="Oracle Sans Tab" pitchFamily="34" charset="-122"/>
                <a:cs typeface="Oracle Sans Tab" pitchFamily="34" charset="-120"/>
              </a:rPr>
              <a:t>that enable an agent to </a:t>
            </a:r>
            <a:r>
              <a:rPr lang="en-US" sz="3000" b="1" dirty="0">
                <a:solidFill>
                  <a:srgbClr val="FFFFFF"/>
                </a:solidFill>
                <a:latin typeface="Oracle Sans Tab" pitchFamily="34" charset="0"/>
                <a:ea typeface="Oracle Sans Tab" pitchFamily="34" charset="-122"/>
                <a:cs typeface="Oracle Sans Tab" pitchFamily="34" charset="-120"/>
              </a:rPr>
              <a:t>retain, reuse, refine, and recall </a:t>
            </a:r>
            <a:r>
              <a:rPr lang="en-US" sz="3000" dirty="0">
                <a:solidFill>
                  <a:srgbClr val="FFFFFF"/>
                </a:solidFill>
                <a:latin typeface="Oracle Sans Tab" pitchFamily="34" charset="0"/>
                <a:ea typeface="Oracle Sans Tab" pitchFamily="34" charset="-122"/>
                <a:cs typeface="Oracle Sans Tab" pitchFamily="34" charset="-120"/>
              </a:rPr>
              <a:t>information, for </a:t>
            </a:r>
            <a:r>
              <a:rPr lang="en-US" sz="3000" b="1" dirty="0">
                <a:solidFill>
                  <a:srgbClr val="FFFFFF"/>
                </a:solidFill>
                <a:latin typeface="Oracle Sans Tab" pitchFamily="34" charset="0"/>
                <a:ea typeface="Oracle Sans Tab" pitchFamily="34" charset="-122"/>
                <a:cs typeface="Oracle Sans Tab" pitchFamily="34" charset="-120"/>
              </a:rPr>
              <a:t>adaptability and continual learning </a:t>
            </a:r>
            <a:r>
              <a:rPr lang="en-US" sz="3000" dirty="0">
                <a:solidFill>
                  <a:srgbClr val="FFFFFF"/>
                </a:solidFill>
                <a:latin typeface="Oracle Sans Tab" pitchFamily="34" charset="0"/>
                <a:ea typeface="Oracle Sans Tab" pitchFamily="34" charset="-122"/>
                <a:cs typeface="Oracle Sans Tab" pitchFamily="34" charset="-120"/>
              </a:rPr>
              <a:t>.</a:t>
            </a:r>
            <a:endParaRPr lang="en-US" sz="1200" dirty="0"/>
          </a:p>
        </p:txBody>
      </p:sp>
      <p:sp>
        <p:nvSpPr>
          <p:cNvPr id="10" name="Shape 6"/>
          <p:cNvSpPr/>
          <p:nvPr/>
        </p:nvSpPr>
        <p:spPr>
          <a:xfrm>
            <a:off x="960096" y="7680926"/>
            <a:ext cx="16367735" cy="1302969"/>
          </a:xfrm>
          <a:prstGeom prst="roundRect">
            <a:avLst>
              <a:gd name="adj" fmla="val 7383"/>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11" name="Text 7"/>
          <p:cNvSpPr/>
          <p:nvPr/>
        </p:nvSpPr>
        <p:spPr>
          <a:xfrm>
            <a:off x="1508745" y="8187407"/>
            <a:ext cx="15728550" cy="328108"/>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2175" b="1" dirty="0">
                <a:solidFill>
                  <a:srgbClr val="FD6953"/>
                </a:solidFill>
                <a:latin typeface="Oracle Sans Tab" pitchFamily="34" charset="0"/>
                <a:ea typeface="Oracle Sans Tab" pitchFamily="34" charset="-122"/>
                <a:cs typeface="Oracle Sans Tab" pitchFamily="34" charset="-120"/>
              </a:rPr>
              <a:t>Why it matters: </a:t>
            </a:r>
            <a:r>
              <a:rPr lang="en-US" sz="2175" dirty="0">
                <a:solidFill>
                  <a:srgbClr val="FFFFFF"/>
                </a:solidFill>
                <a:latin typeface="Oracle Sans Tab" pitchFamily="34" charset="0"/>
                <a:ea typeface="Oracle Sans Tab" pitchFamily="34" charset="-122"/>
                <a:cs typeface="Oracle Sans Tab" pitchFamily="34" charset="-120"/>
              </a:rPr>
              <a:t>without memory, an agent has amnesia. Memory is what turns a stateless model into a persistent entity.</a:t>
            </a:r>
            <a:endParaRPr lang="en-US" sz="1200" dirty="0"/>
          </a:p>
        </p:txBody>
      </p:sp>
      <p:sp>
        <p:nvSpPr>
          <p:cNvPr id="12" name="Text 8"/>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LAYER 4, MEMORY</a:t>
            </a:r>
            <a:endParaRPr lang="en-US" sz="157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AGENT MEMORY</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THE FULL TAXONOMY</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EVERY KIND, AND WHERE IT LIVES</a:t>
            </a:r>
            <a:endParaRPr lang="en-US" sz="1800" dirty="0"/>
          </a:p>
        </p:txBody>
      </p:sp>
      <p:sp>
        <p:nvSpPr>
          <p:cNvPr id="7" name="Text 4"/>
          <p:cNvSpPr/>
          <p:nvPr/>
        </p:nvSpPr>
        <p:spPr>
          <a:xfrm>
            <a:off x="960096" y="1988819"/>
            <a:ext cx="16952925" cy="678164"/>
          </a:xfrm>
          <a:prstGeom prst="rect">
            <a:avLst/>
          </a:prstGeom>
          <a:noFill/>
          <a:ln/>
        </p:spPr>
        <p:txBody>
          <a:bodyPr wrap="square" lIns="25400" tIns="25400" rIns="25400" bIns="25400" rtlCol="0" anchor="t">
            <a:normAutofit/>
          </a:bodyPr>
          <a:lstStyle/>
          <a:p>
            <a:pPr marL="0" indent="0" algn="l">
              <a:lnSpc>
                <a:spcPct val="92160"/>
              </a:lnSpc>
              <a:buNone/>
            </a:pPr>
            <a:r>
              <a:rPr lang="en-US" sz="4200" b="1" dirty="0">
                <a:solidFill>
                  <a:srgbClr val="FFFFFF"/>
                </a:solidFill>
                <a:latin typeface="Oracle Sans Tab" pitchFamily="34" charset="0"/>
                <a:ea typeface="Oracle Sans Tab" pitchFamily="34" charset="-122"/>
                <a:cs typeface="Oracle Sans Tab" pitchFamily="34" charset="-120"/>
              </a:rPr>
              <a:t>Agent memory is </a:t>
            </a:r>
            <a:r>
              <a:rPr lang="en-US" sz="4200" b="1" i="1" dirty="0">
                <a:solidFill>
                  <a:srgbClr val="FD6953"/>
                </a:solidFill>
                <a:latin typeface="Oracle Sans Tab" pitchFamily="34" charset="0"/>
                <a:ea typeface="Oracle Sans Tab" pitchFamily="34" charset="-122"/>
                <a:cs typeface="Oracle Sans Tab" pitchFamily="34" charset="-120"/>
              </a:rPr>
              <a:t>not one thing.</a:t>
            </a:r>
            <a:endParaRPr lang="en-US" sz="1200" dirty="0"/>
          </a:p>
        </p:txBody>
      </p:sp>
      <p:sp>
        <p:nvSpPr>
          <p:cNvPr id="8" name="Text 5"/>
          <p:cNvSpPr/>
          <p:nvPr/>
        </p:nvSpPr>
        <p:spPr>
          <a:xfrm>
            <a:off x="960096" y="2817502"/>
            <a:ext cx="17094241"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i="1" dirty="0">
                <a:solidFill>
                  <a:srgbClr val="C3D7DC"/>
                </a:solidFill>
                <a:latin typeface="Oracle Sans Tab" pitchFamily="34" charset="0"/>
                <a:ea typeface="Oracle Sans Tab" pitchFamily="34" charset="-122"/>
                <a:cs typeface="Oracle Sans Tab" pitchFamily="34" charset="-120"/>
              </a:rPr>
              <a:t>Short term is ephemeral, long term persists across sessions, and shared memory spans agents. Naming the types tells you where each kind should live.</a:t>
            </a:r>
            <a:endParaRPr lang="en-US" sz="1725" dirty="0"/>
          </a:p>
        </p:txBody>
      </p:sp>
      <p:sp>
        <p:nvSpPr>
          <p:cNvPr id="9" name="Shape 6"/>
          <p:cNvSpPr/>
          <p:nvPr/>
        </p:nvSpPr>
        <p:spPr>
          <a:xfrm>
            <a:off x="754373" y="6377905"/>
            <a:ext cx="1988819" cy="685798"/>
          </a:xfrm>
          <a:prstGeom prst="roundRect">
            <a:avLst>
              <a:gd name="adj" fmla="val 10000"/>
            </a:avLst>
          </a:prstGeom>
          <a:solidFill>
            <a:srgbClr val="04303F"/>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0" name="Text 7"/>
          <p:cNvSpPr/>
          <p:nvPr/>
        </p:nvSpPr>
        <p:spPr>
          <a:xfrm>
            <a:off x="866518" y="6492162"/>
            <a:ext cx="1765406" cy="266717"/>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800" b="1" dirty="0">
                <a:solidFill>
                  <a:srgbClr val="FFFFFF"/>
                </a:solidFill>
                <a:latin typeface="Oracle Sans Tab" pitchFamily="34" charset="0"/>
                <a:ea typeface="Oracle Sans Tab" pitchFamily="34" charset="-122"/>
                <a:cs typeface="Oracle Sans Tab" pitchFamily="34" charset="-120"/>
              </a:rPr>
              <a:t>Agent</a:t>
            </a:r>
            <a:endParaRPr lang="en-US" sz="1800" dirty="0"/>
          </a:p>
        </p:txBody>
      </p:sp>
      <p:sp>
        <p:nvSpPr>
          <p:cNvPr id="11" name="Text 8"/>
          <p:cNvSpPr/>
          <p:nvPr/>
        </p:nvSpPr>
        <p:spPr>
          <a:xfrm>
            <a:off x="866518" y="6720778"/>
            <a:ext cx="1765406" cy="266717"/>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800" b="1" dirty="0">
                <a:solidFill>
                  <a:srgbClr val="FFFFFF"/>
                </a:solidFill>
                <a:latin typeface="Oracle Sans Tab" pitchFamily="34" charset="0"/>
                <a:ea typeface="Oracle Sans Tab" pitchFamily="34" charset="-122"/>
                <a:cs typeface="Oracle Sans Tab" pitchFamily="34" charset="-120"/>
              </a:rPr>
              <a:t>Memory</a:t>
            </a:r>
            <a:endParaRPr lang="en-US" sz="1800" dirty="0"/>
          </a:p>
        </p:txBody>
      </p:sp>
      <p:sp>
        <p:nvSpPr>
          <p:cNvPr id="12" name="Shape 9"/>
          <p:cNvSpPr/>
          <p:nvPr/>
        </p:nvSpPr>
        <p:spPr>
          <a:xfrm>
            <a:off x="3291789" y="3990971"/>
            <a:ext cx="2605991" cy="465760"/>
          </a:xfrm>
          <a:prstGeom prst="roundRect">
            <a:avLst>
              <a:gd name="adj" fmla="val 14724"/>
            </a:avLst>
          </a:prstGeom>
          <a:solidFill>
            <a:srgbClr val="FFFFFF">
              <a:alpha val="28000"/>
            </a:srgbClr>
          </a:solidFill>
          <a:ln w="16536">
            <a:solidFill>
              <a:srgbClr val="FFFFFF">
                <a:alpha val="34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3" name="Text 10"/>
          <p:cNvSpPr/>
          <p:nvPr/>
        </p:nvSpPr>
        <p:spPr>
          <a:xfrm>
            <a:off x="3373125" y="4119076"/>
            <a:ext cx="2444352" cy="247648"/>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650" b="1" dirty="0">
                <a:solidFill>
                  <a:srgbClr val="FFFFFF"/>
                </a:solidFill>
                <a:latin typeface="Oracle Sans Tab" pitchFamily="34" charset="0"/>
                <a:ea typeface="Oracle Sans Tab" pitchFamily="34" charset="-122"/>
                <a:cs typeface="Oracle Sans Tab" pitchFamily="34" charset="-120"/>
              </a:rPr>
              <a:t>Short term</a:t>
            </a:r>
            <a:endParaRPr lang="en-US" sz="1650" dirty="0"/>
          </a:p>
        </p:txBody>
      </p:sp>
      <p:sp>
        <p:nvSpPr>
          <p:cNvPr id="14" name="Shape 11"/>
          <p:cNvSpPr/>
          <p:nvPr/>
        </p:nvSpPr>
        <p:spPr>
          <a:xfrm>
            <a:off x="3291789" y="6707498"/>
            <a:ext cx="2605991" cy="465760"/>
          </a:xfrm>
          <a:prstGeom prst="roundRect">
            <a:avLst>
              <a:gd name="adj" fmla="val 14724"/>
            </a:avLst>
          </a:prstGeom>
          <a:solidFill>
            <a:srgbClr val="C74634"/>
          </a:solidFill>
          <a:ln w="16536">
            <a:solidFill>
              <a:srgbClr val="FD6953"/>
            </a:solidFill>
            <a:prstDash val="solid"/>
          </a:ln>
          <a:effectLst>
            <a:outerShdw blurRad="114300" dist="19050" dir="5400000" algn="bl" rotWithShape="0">
              <a:srgbClr val="000000">
                <a:alpha val="18000"/>
              </a:srgbClr>
            </a:outerShdw>
          </a:effectLst>
        </p:spPr>
        <p:txBody>
          <a:bodyPr/>
          <a:lstStyle/>
          <a:p>
            <a:endParaRPr lang="en-US"/>
          </a:p>
        </p:txBody>
      </p:sp>
      <p:sp>
        <p:nvSpPr>
          <p:cNvPr id="15" name="Text 12"/>
          <p:cNvSpPr/>
          <p:nvPr/>
        </p:nvSpPr>
        <p:spPr>
          <a:xfrm>
            <a:off x="3373125" y="6835603"/>
            <a:ext cx="2444352" cy="247648"/>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650" b="1" dirty="0">
                <a:solidFill>
                  <a:srgbClr val="FFFFFF"/>
                </a:solidFill>
                <a:latin typeface="Oracle Sans Tab" pitchFamily="34" charset="0"/>
                <a:ea typeface="Oracle Sans Tab" pitchFamily="34" charset="-122"/>
                <a:cs typeface="Oracle Sans Tab" pitchFamily="34" charset="-120"/>
              </a:rPr>
              <a:t>Long term</a:t>
            </a:r>
            <a:endParaRPr lang="en-US" sz="1650" dirty="0"/>
          </a:p>
        </p:txBody>
      </p:sp>
      <p:sp>
        <p:nvSpPr>
          <p:cNvPr id="16" name="Shape 13"/>
          <p:cNvSpPr/>
          <p:nvPr/>
        </p:nvSpPr>
        <p:spPr>
          <a:xfrm>
            <a:off x="3291789" y="8970615"/>
            <a:ext cx="2605991" cy="465760"/>
          </a:xfrm>
          <a:prstGeom prst="roundRect">
            <a:avLst>
              <a:gd name="adj" fmla="val 14724"/>
            </a:avLst>
          </a:prstGeom>
          <a:solidFill>
            <a:srgbClr val="86B596"/>
          </a:solidFill>
          <a:ln w="16536">
            <a:solidFill>
              <a:srgbClr val="86B596"/>
            </a:solidFill>
            <a:prstDash val="solid"/>
          </a:ln>
          <a:effectLst>
            <a:outerShdw blurRad="114300" dist="19050" dir="5400000" algn="bl" rotWithShape="0">
              <a:srgbClr val="000000">
                <a:alpha val="18000"/>
              </a:srgbClr>
            </a:outerShdw>
          </a:effectLst>
        </p:spPr>
        <p:txBody>
          <a:bodyPr/>
          <a:lstStyle/>
          <a:p>
            <a:endParaRPr lang="en-US"/>
          </a:p>
        </p:txBody>
      </p:sp>
      <p:sp>
        <p:nvSpPr>
          <p:cNvPr id="17" name="Text 14"/>
          <p:cNvSpPr/>
          <p:nvPr/>
        </p:nvSpPr>
        <p:spPr>
          <a:xfrm>
            <a:off x="3373125" y="9103475"/>
            <a:ext cx="2444352" cy="238139"/>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575" b="1" dirty="0">
                <a:solidFill>
                  <a:srgbClr val="FFFFFF"/>
                </a:solidFill>
                <a:latin typeface="Oracle Sans Tab" pitchFamily="34" charset="0"/>
                <a:ea typeface="Oracle Sans Tab" pitchFamily="34" charset="-122"/>
                <a:cs typeface="Oracle Sans Tab" pitchFamily="34" charset="-120"/>
              </a:rPr>
              <a:t>Shared Memory </a:t>
            </a:r>
            <a:r>
              <a:rPr lang="en-US" sz="1350" i="1" dirty="0">
                <a:solidFill>
                  <a:srgbClr val="FFFFFF"/>
                </a:solidFill>
                <a:latin typeface="Oracle Sans Tab" pitchFamily="34" charset="0"/>
                <a:ea typeface="Oracle Sans Tab" pitchFamily="34" charset="-122"/>
                <a:cs typeface="Oracle Sans Tab" pitchFamily="34" charset="-120"/>
              </a:rPr>
              <a:t>(special)</a:t>
            </a:r>
            <a:endParaRPr lang="en-US" sz="1200" dirty="0"/>
          </a:p>
        </p:txBody>
      </p:sp>
      <p:sp>
        <p:nvSpPr>
          <p:cNvPr id="18" name="Shape 15"/>
          <p:cNvSpPr/>
          <p:nvPr/>
        </p:nvSpPr>
        <p:spPr>
          <a:xfrm>
            <a:off x="6377905" y="3566139"/>
            <a:ext cx="3223214" cy="411448"/>
          </a:xfrm>
          <a:prstGeom prst="roundRect">
            <a:avLst>
              <a:gd name="adj" fmla="val 16668"/>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9" name="Text 16"/>
          <p:cNvSpPr/>
          <p:nvPr/>
        </p:nvSpPr>
        <p:spPr>
          <a:xfrm>
            <a:off x="6428329" y="3681377"/>
            <a:ext cx="3123298" cy="219071"/>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425" dirty="0">
                <a:solidFill>
                  <a:srgbClr val="FFFFFF"/>
                </a:solidFill>
                <a:latin typeface="Oracle Sans Tab" pitchFamily="34" charset="0"/>
                <a:ea typeface="Oracle Sans Tab" pitchFamily="34" charset="-122"/>
                <a:cs typeface="Oracle Sans Tab" pitchFamily="34" charset="-120"/>
              </a:rPr>
              <a:t>Semantic Cache</a:t>
            </a:r>
            <a:endParaRPr lang="en-US" sz="1425" dirty="0"/>
          </a:p>
        </p:txBody>
      </p:sp>
      <p:sp>
        <p:nvSpPr>
          <p:cNvPr id="20" name="Shape 17"/>
          <p:cNvSpPr/>
          <p:nvPr/>
        </p:nvSpPr>
        <p:spPr>
          <a:xfrm>
            <a:off x="6377905" y="4018566"/>
            <a:ext cx="3223214" cy="411448"/>
          </a:xfrm>
          <a:prstGeom prst="roundRect">
            <a:avLst>
              <a:gd name="adj" fmla="val 16668"/>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1" name="Text 18"/>
          <p:cNvSpPr/>
          <p:nvPr/>
        </p:nvSpPr>
        <p:spPr>
          <a:xfrm>
            <a:off x="6428329" y="4133804"/>
            <a:ext cx="3123298" cy="219071"/>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425" dirty="0">
                <a:solidFill>
                  <a:srgbClr val="FFFFFF"/>
                </a:solidFill>
                <a:latin typeface="Oracle Sans Tab" pitchFamily="34" charset="0"/>
                <a:ea typeface="Oracle Sans Tab" pitchFamily="34" charset="-122"/>
                <a:cs typeface="Oracle Sans Tab" pitchFamily="34" charset="-120"/>
              </a:rPr>
              <a:t>Working Memory</a:t>
            </a:r>
            <a:endParaRPr lang="en-US" sz="1425" dirty="0"/>
          </a:p>
        </p:txBody>
      </p:sp>
      <p:sp>
        <p:nvSpPr>
          <p:cNvPr id="22" name="Shape 19"/>
          <p:cNvSpPr/>
          <p:nvPr/>
        </p:nvSpPr>
        <p:spPr>
          <a:xfrm>
            <a:off x="6377905" y="4470993"/>
            <a:ext cx="3223214" cy="411448"/>
          </a:xfrm>
          <a:prstGeom prst="roundRect">
            <a:avLst>
              <a:gd name="adj" fmla="val 16668"/>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3" name="Text 20"/>
          <p:cNvSpPr/>
          <p:nvPr/>
        </p:nvSpPr>
        <p:spPr>
          <a:xfrm>
            <a:off x="6428329" y="4586231"/>
            <a:ext cx="3123298" cy="219071"/>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425" dirty="0">
                <a:solidFill>
                  <a:srgbClr val="FFFFFF"/>
                </a:solidFill>
                <a:latin typeface="Oracle Sans Tab" pitchFamily="34" charset="0"/>
                <a:ea typeface="Oracle Sans Tab" pitchFamily="34" charset="-122"/>
                <a:cs typeface="Oracle Sans Tab" pitchFamily="34" charset="-120"/>
              </a:rPr>
              <a:t>LLM Context Window</a:t>
            </a:r>
            <a:endParaRPr lang="en-US" sz="1425" dirty="0"/>
          </a:p>
        </p:txBody>
      </p:sp>
      <p:sp>
        <p:nvSpPr>
          <p:cNvPr id="24" name="Shape 21"/>
          <p:cNvSpPr/>
          <p:nvPr/>
        </p:nvSpPr>
        <p:spPr>
          <a:xfrm>
            <a:off x="6377905" y="5362566"/>
            <a:ext cx="3223214" cy="439095"/>
          </a:xfrm>
          <a:prstGeom prst="roundRect">
            <a:avLst>
              <a:gd name="adj" fmla="val 15618"/>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25" name="Text 22"/>
          <p:cNvSpPr/>
          <p:nvPr/>
        </p:nvSpPr>
        <p:spPr>
          <a:xfrm>
            <a:off x="6428329" y="5482094"/>
            <a:ext cx="3123298" cy="238139"/>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575" b="1" dirty="0">
                <a:solidFill>
                  <a:srgbClr val="FD6953"/>
                </a:solidFill>
                <a:latin typeface="Oracle Sans Tab" pitchFamily="34" charset="0"/>
                <a:ea typeface="Oracle Sans Tab" pitchFamily="34" charset="-122"/>
                <a:cs typeface="Oracle Sans Tab" pitchFamily="34" charset="-120"/>
              </a:rPr>
              <a:t>Episodic</a:t>
            </a:r>
            <a:endParaRPr lang="en-US" sz="1575" dirty="0"/>
          </a:p>
        </p:txBody>
      </p:sp>
      <p:sp>
        <p:nvSpPr>
          <p:cNvPr id="26" name="Shape 23"/>
          <p:cNvSpPr/>
          <p:nvPr/>
        </p:nvSpPr>
        <p:spPr>
          <a:xfrm>
            <a:off x="6377905" y="6720830"/>
            <a:ext cx="3223214" cy="439095"/>
          </a:xfrm>
          <a:prstGeom prst="roundRect">
            <a:avLst>
              <a:gd name="adj" fmla="val 15618"/>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27" name="Text 24"/>
          <p:cNvSpPr/>
          <p:nvPr/>
        </p:nvSpPr>
        <p:spPr>
          <a:xfrm>
            <a:off x="6428329" y="6840357"/>
            <a:ext cx="3123298" cy="238139"/>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575" b="1" dirty="0">
                <a:solidFill>
                  <a:srgbClr val="FD6953"/>
                </a:solidFill>
                <a:latin typeface="Oracle Sans Tab" pitchFamily="34" charset="0"/>
                <a:ea typeface="Oracle Sans Tab" pitchFamily="34" charset="-122"/>
                <a:cs typeface="Oracle Sans Tab" pitchFamily="34" charset="-120"/>
              </a:rPr>
              <a:t>Procedural</a:t>
            </a:r>
            <a:endParaRPr lang="en-US" sz="1575" dirty="0"/>
          </a:p>
        </p:txBody>
      </p:sp>
      <p:sp>
        <p:nvSpPr>
          <p:cNvPr id="28" name="Shape 25"/>
          <p:cNvSpPr/>
          <p:nvPr/>
        </p:nvSpPr>
        <p:spPr>
          <a:xfrm>
            <a:off x="6377905" y="8079093"/>
            <a:ext cx="3223214" cy="439095"/>
          </a:xfrm>
          <a:prstGeom prst="roundRect">
            <a:avLst>
              <a:gd name="adj" fmla="val 15618"/>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29" name="Text 26"/>
          <p:cNvSpPr/>
          <p:nvPr/>
        </p:nvSpPr>
        <p:spPr>
          <a:xfrm>
            <a:off x="6428329" y="8198620"/>
            <a:ext cx="3123298" cy="238139"/>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575" b="1" dirty="0">
                <a:solidFill>
                  <a:srgbClr val="FD6953"/>
                </a:solidFill>
                <a:latin typeface="Oracle Sans Tab" pitchFamily="34" charset="0"/>
                <a:ea typeface="Oracle Sans Tab" pitchFamily="34" charset="-122"/>
                <a:cs typeface="Oracle Sans Tab" pitchFamily="34" charset="-120"/>
              </a:rPr>
              <a:t>Semantic</a:t>
            </a:r>
            <a:endParaRPr lang="en-US" sz="1575" dirty="0"/>
          </a:p>
        </p:txBody>
      </p:sp>
      <p:sp>
        <p:nvSpPr>
          <p:cNvPr id="30" name="Shape 27"/>
          <p:cNvSpPr/>
          <p:nvPr/>
        </p:nvSpPr>
        <p:spPr>
          <a:xfrm>
            <a:off x="10081245" y="4924402"/>
            <a:ext cx="6789404" cy="411448"/>
          </a:xfrm>
          <a:prstGeom prst="roundRect">
            <a:avLst>
              <a:gd name="adj" fmla="val 16668"/>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31" name="Text 28"/>
          <p:cNvSpPr/>
          <p:nvPr/>
        </p:nvSpPr>
        <p:spPr>
          <a:xfrm>
            <a:off x="10273636" y="5039227"/>
            <a:ext cx="7046107" cy="219846"/>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425" b="1" dirty="0">
                <a:solidFill>
                  <a:srgbClr val="FFFFFF"/>
                </a:solidFill>
                <a:latin typeface="Oracle Sans Tab" pitchFamily="34" charset="0"/>
                <a:ea typeface="Oracle Sans Tab" pitchFamily="34" charset="-122"/>
                <a:cs typeface="Oracle Sans Tab" pitchFamily="34" charset="-120"/>
              </a:rPr>
              <a:t>Conversational history </a:t>
            </a:r>
            <a:r>
              <a:rPr lang="en-US" sz="1275" dirty="0">
                <a:solidFill>
                  <a:srgbClr val="C3D7DC"/>
                </a:solidFill>
                <a:latin typeface="Oracle Sans Tab" pitchFamily="34" charset="0"/>
                <a:ea typeface="Oracle Sans Tab" pitchFamily="34" charset="-122"/>
                <a:cs typeface="Oracle Sans Tab" pitchFamily="34" charset="-120"/>
              </a:rPr>
              <a:t>every turn, per thread</a:t>
            </a:r>
            <a:endParaRPr lang="en-US" sz="1200" dirty="0"/>
          </a:p>
        </p:txBody>
      </p:sp>
      <p:sp>
        <p:nvSpPr>
          <p:cNvPr id="32" name="Shape 29"/>
          <p:cNvSpPr/>
          <p:nvPr/>
        </p:nvSpPr>
        <p:spPr>
          <a:xfrm>
            <a:off x="10081245" y="5376829"/>
            <a:ext cx="6789404" cy="411448"/>
          </a:xfrm>
          <a:prstGeom prst="roundRect">
            <a:avLst>
              <a:gd name="adj" fmla="val 16668"/>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33" name="Text 30"/>
          <p:cNvSpPr/>
          <p:nvPr/>
        </p:nvSpPr>
        <p:spPr>
          <a:xfrm>
            <a:off x="10273636" y="5491654"/>
            <a:ext cx="7046107" cy="219846"/>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425" b="1" dirty="0">
                <a:solidFill>
                  <a:srgbClr val="FFFFFF"/>
                </a:solidFill>
                <a:latin typeface="Oracle Sans Tab" pitchFamily="34" charset="0"/>
                <a:ea typeface="Oracle Sans Tab" pitchFamily="34" charset="-122"/>
                <a:cs typeface="Oracle Sans Tab" pitchFamily="34" charset="-120"/>
              </a:rPr>
              <a:t>Tool logs (with timestamps) </a:t>
            </a:r>
            <a:r>
              <a:rPr lang="en-US" sz="1275" dirty="0">
                <a:solidFill>
                  <a:srgbClr val="C3D7DC"/>
                </a:solidFill>
                <a:latin typeface="Oracle Sans Tab" pitchFamily="34" charset="0"/>
                <a:ea typeface="Oracle Sans Tab" pitchFamily="34" charset="-122"/>
                <a:cs typeface="Oracle Sans Tab" pitchFamily="34" charset="-120"/>
              </a:rPr>
              <a:t>ordered, replayable</a:t>
            </a:r>
            <a:endParaRPr lang="en-US" sz="1200" dirty="0"/>
          </a:p>
        </p:txBody>
      </p:sp>
      <p:sp>
        <p:nvSpPr>
          <p:cNvPr id="34" name="Shape 31"/>
          <p:cNvSpPr/>
          <p:nvPr/>
        </p:nvSpPr>
        <p:spPr>
          <a:xfrm>
            <a:off x="10081245" y="5829256"/>
            <a:ext cx="6789404" cy="411448"/>
          </a:xfrm>
          <a:prstGeom prst="roundRect">
            <a:avLst>
              <a:gd name="adj" fmla="val 16668"/>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35" name="Text 32"/>
          <p:cNvSpPr/>
          <p:nvPr/>
        </p:nvSpPr>
        <p:spPr>
          <a:xfrm>
            <a:off x="10273636" y="5944081"/>
            <a:ext cx="7046107" cy="219846"/>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425" b="1" dirty="0">
                <a:solidFill>
                  <a:srgbClr val="FFFFFF"/>
                </a:solidFill>
                <a:latin typeface="Oracle Sans Tab" pitchFamily="34" charset="0"/>
                <a:ea typeface="Oracle Sans Tab" pitchFamily="34" charset="-122"/>
                <a:cs typeface="Oracle Sans Tab" pitchFamily="34" charset="-120"/>
              </a:rPr>
              <a:t>Summaries </a:t>
            </a:r>
            <a:r>
              <a:rPr lang="en-US" sz="1275" dirty="0">
                <a:solidFill>
                  <a:srgbClr val="C3D7DC"/>
                </a:solidFill>
                <a:latin typeface="Oracle Sans Tab" pitchFamily="34" charset="0"/>
                <a:ea typeface="Oracle Sans Tab" pitchFamily="34" charset="-122"/>
                <a:cs typeface="Oracle Sans Tab" pitchFamily="34" charset="-120"/>
              </a:rPr>
              <a:t>compacted past episodes</a:t>
            </a:r>
            <a:endParaRPr lang="en-US" sz="1200" dirty="0"/>
          </a:p>
        </p:txBody>
      </p:sp>
      <p:sp>
        <p:nvSpPr>
          <p:cNvPr id="36" name="Shape 33"/>
          <p:cNvSpPr/>
          <p:nvPr/>
        </p:nvSpPr>
        <p:spPr>
          <a:xfrm>
            <a:off x="10081245" y="6281735"/>
            <a:ext cx="6789404" cy="411448"/>
          </a:xfrm>
          <a:prstGeom prst="roundRect">
            <a:avLst>
              <a:gd name="adj" fmla="val 16668"/>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37" name="Text 34"/>
          <p:cNvSpPr/>
          <p:nvPr/>
        </p:nvSpPr>
        <p:spPr>
          <a:xfrm>
            <a:off x="10273636" y="6396560"/>
            <a:ext cx="7046107" cy="219846"/>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425" b="1" dirty="0">
                <a:solidFill>
                  <a:srgbClr val="FFFFFF"/>
                </a:solidFill>
                <a:latin typeface="Oracle Sans Tab" pitchFamily="34" charset="0"/>
                <a:ea typeface="Oracle Sans Tab" pitchFamily="34" charset="-122"/>
                <a:cs typeface="Oracle Sans Tab" pitchFamily="34" charset="-120"/>
              </a:rPr>
              <a:t>Workflow memory </a:t>
            </a:r>
            <a:r>
              <a:rPr lang="en-US" sz="1275" dirty="0">
                <a:solidFill>
                  <a:srgbClr val="C3D7DC"/>
                </a:solidFill>
                <a:latin typeface="Oracle Sans Tab" pitchFamily="34" charset="0"/>
                <a:ea typeface="Oracle Sans Tab" pitchFamily="34" charset="-122"/>
                <a:cs typeface="Oracle Sans Tab" pitchFamily="34" charset="-120"/>
              </a:rPr>
              <a:t>recipes that recorded their outcome</a:t>
            </a:r>
            <a:endParaRPr lang="en-US" sz="1200" dirty="0"/>
          </a:p>
        </p:txBody>
      </p:sp>
      <p:sp>
        <p:nvSpPr>
          <p:cNvPr id="38" name="Shape 35"/>
          <p:cNvSpPr/>
          <p:nvPr/>
        </p:nvSpPr>
        <p:spPr>
          <a:xfrm>
            <a:off x="10081245" y="6734162"/>
            <a:ext cx="6789404" cy="411448"/>
          </a:xfrm>
          <a:prstGeom prst="roundRect">
            <a:avLst>
              <a:gd name="adj" fmla="val 16668"/>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39" name="Text 36"/>
          <p:cNvSpPr/>
          <p:nvPr/>
        </p:nvSpPr>
        <p:spPr>
          <a:xfrm>
            <a:off x="10273636" y="6848987"/>
            <a:ext cx="7046107" cy="219846"/>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425" b="1" dirty="0">
                <a:solidFill>
                  <a:srgbClr val="FFFFFF"/>
                </a:solidFill>
                <a:latin typeface="Oracle Sans Tab" pitchFamily="34" charset="0"/>
                <a:ea typeface="Oracle Sans Tab" pitchFamily="34" charset="-122"/>
                <a:cs typeface="Oracle Sans Tab" pitchFamily="34" charset="-120"/>
              </a:rPr>
              <a:t>Toolbox memory </a:t>
            </a:r>
            <a:r>
              <a:rPr lang="en-US" sz="1275" dirty="0">
                <a:solidFill>
                  <a:srgbClr val="C3D7DC"/>
                </a:solidFill>
                <a:latin typeface="Oracle Sans Tab" pitchFamily="34" charset="0"/>
                <a:ea typeface="Oracle Sans Tab" pitchFamily="34" charset="-122"/>
                <a:cs typeface="Oracle Sans Tab" pitchFamily="34" charset="-120"/>
              </a:rPr>
              <a:t>tools, retrieved by meaning</a:t>
            </a:r>
            <a:endParaRPr lang="en-US" sz="1200" dirty="0"/>
          </a:p>
        </p:txBody>
      </p:sp>
      <p:sp>
        <p:nvSpPr>
          <p:cNvPr id="40" name="Shape 37"/>
          <p:cNvSpPr/>
          <p:nvPr/>
        </p:nvSpPr>
        <p:spPr>
          <a:xfrm>
            <a:off x="10081245" y="7187519"/>
            <a:ext cx="6789404" cy="411448"/>
          </a:xfrm>
          <a:prstGeom prst="roundRect">
            <a:avLst>
              <a:gd name="adj" fmla="val 16668"/>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41" name="Text 38"/>
          <p:cNvSpPr/>
          <p:nvPr/>
        </p:nvSpPr>
        <p:spPr>
          <a:xfrm>
            <a:off x="10273636" y="7302345"/>
            <a:ext cx="7046107" cy="219846"/>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425" b="1" dirty="0" err="1">
                <a:solidFill>
                  <a:srgbClr val="FFFFFF"/>
                </a:solidFill>
                <a:latin typeface="Oracle Sans Tab" pitchFamily="34" charset="0"/>
                <a:ea typeface="Oracle Sans Tab" pitchFamily="34" charset="-122"/>
                <a:cs typeface="Oracle Sans Tab" pitchFamily="34" charset="-120"/>
              </a:rPr>
              <a:t>Skillbox</a:t>
            </a:r>
            <a:r>
              <a:rPr lang="en-US" sz="1425" b="1" dirty="0">
                <a:solidFill>
                  <a:srgbClr val="FFFFFF"/>
                </a:solidFill>
                <a:latin typeface="Oracle Sans Tab" pitchFamily="34" charset="0"/>
                <a:ea typeface="Oracle Sans Tab" pitchFamily="34" charset="-122"/>
                <a:cs typeface="Oracle Sans Tab" pitchFamily="34" charset="-120"/>
              </a:rPr>
              <a:t> memory </a:t>
            </a:r>
            <a:r>
              <a:rPr lang="en-US" sz="1275" dirty="0" err="1">
                <a:solidFill>
                  <a:srgbClr val="C3D7DC"/>
                </a:solidFill>
                <a:latin typeface="Oracle Sans Tab" pitchFamily="34" charset="0"/>
                <a:ea typeface="Oracle Sans Tab" pitchFamily="34" charset="-122"/>
                <a:cs typeface="Oracle Sans Tab" pitchFamily="34" charset="-120"/>
              </a:rPr>
              <a:t>SKILL.md</a:t>
            </a:r>
            <a:r>
              <a:rPr lang="en-US" sz="1275" dirty="0">
                <a:solidFill>
                  <a:srgbClr val="C3D7DC"/>
                </a:solidFill>
                <a:latin typeface="Oracle Sans Tab" pitchFamily="34" charset="0"/>
                <a:ea typeface="Oracle Sans Tab" pitchFamily="34" charset="-122"/>
                <a:cs typeface="Oracle Sans Tab" pitchFamily="34" charset="-120"/>
              </a:rPr>
              <a:t>, versioned by SHA</a:t>
            </a:r>
            <a:endParaRPr lang="en-US" sz="1200" dirty="0"/>
          </a:p>
        </p:txBody>
      </p:sp>
      <p:sp>
        <p:nvSpPr>
          <p:cNvPr id="42" name="Shape 39"/>
          <p:cNvSpPr/>
          <p:nvPr/>
        </p:nvSpPr>
        <p:spPr>
          <a:xfrm>
            <a:off x="10081245" y="7639998"/>
            <a:ext cx="6789404" cy="411448"/>
          </a:xfrm>
          <a:prstGeom prst="roundRect">
            <a:avLst>
              <a:gd name="adj" fmla="val 16668"/>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43" name="Text 40"/>
          <p:cNvSpPr/>
          <p:nvPr/>
        </p:nvSpPr>
        <p:spPr>
          <a:xfrm>
            <a:off x="10273636" y="7754824"/>
            <a:ext cx="7046107" cy="219846"/>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425" b="1" dirty="0">
                <a:solidFill>
                  <a:srgbClr val="FFFFFF"/>
                </a:solidFill>
                <a:latin typeface="Oracle Sans Tab" pitchFamily="34" charset="0"/>
                <a:ea typeface="Oracle Sans Tab" pitchFamily="34" charset="-122"/>
                <a:cs typeface="Oracle Sans Tab" pitchFamily="34" charset="-120"/>
              </a:rPr>
              <a:t>Persona memory </a:t>
            </a:r>
            <a:r>
              <a:rPr lang="en-US" sz="1275" dirty="0">
                <a:solidFill>
                  <a:srgbClr val="C3D7DC"/>
                </a:solidFill>
                <a:latin typeface="Oracle Sans Tab" pitchFamily="34" charset="0"/>
                <a:ea typeface="Oracle Sans Tab" pitchFamily="34" charset="-122"/>
                <a:cs typeface="Oracle Sans Tab" pitchFamily="34" charset="-120"/>
              </a:rPr>
              <a:t>who the agent is, how it behaves</a:t>
            </a:r>
            <a:endParaRPr lang="en-US" sz="1200" dirty="0"/>
          </a:p>
        </p:txBody>
      </p:sp>
      <p:sp>
        <p:nvSpPr>
          <p:cNvPr id="44" name="Shape 41"/>
          <p:cNvSpPr/>
          <p:nvPr/>
        </p:nvSpPr>
        <p:spPr>
          <a:xfrm>
            <a:off x="10081245" y="8092426"/>
            <a:ext cx="6789404" cy="411448"/>
          </a:xfrm>
          <a:prstGeom prst="roundRect">
            <a:avLst>
              <a:gd name="adj" fmla="val 16668"/>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45" name="Text 42"/>
          <p:cNvSpPr/>
          <p:nvPr/>
        </p:nvSpPr>
        <p:spPr>
          <a:xfrm>
            <a:off x="10273636" y="8207251"/>
            <a:ext cx="7046107" cy="219846"/>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425" b="1" dirty="0">
                <a:solidFill>
                  <a:srgbClr val="FFFFFF"/>
                </a:solidFill>
                <a:latin typeface="Oracle Sans Tab" pitchFamily="34" charset="0"/>
                <a:ea typeface="Oracle Sans Tab" pitchFamily="34" charset="-122"/>
                <a:cs typeface="Oracle Sans Tab" pitchFamily="34" charset="-120"/>
              </a:rPr>
              <a:t>Knowledge base </a:t>
            </a:r>
            <a:r>
              <a:rPr lang="en-US" sz="1275" dirty="0">
                <a:solidFill>
                  <a:srgbClr val="C3D7DC"/>
                </a:solidFill>
                <a:latin typeface="Oracle Sans Tab" pitchFamily="34" charset="0"/>
                <a:ea typeface="Oracle Sans Tab" pitchFamily="34" charset="-122"/>
                <a:cs typeface="Oracle Sans Tab" pitchFamily="34" charset="-120"/>
              </a:rPr>
              <a:t>durable domain documents</a:t>
            </a:r>
            <a:endParaRPr lang="en-US" sz="1200" dirty="0"/>
          </a:p>
        </p:txBody>
      </p:sp>
      <p:sp>
        <p:nvSpPr>
          <p:cNvPr id="46" name="Shape 43"/>
          <p:cNvSpPr/>
          <p:nvPr/>
        </p:nvSpPr>
        <p:spPr>
          <a:xfrm>
            <a:off x="10081245" y="8544853"/>
            <a:ext cx="6789404" cy="411448"/>
          </a:xfrm>
          <a:prstGeom prst="roundRect">
            <a:avLst>
              <a:gd name="adj" fmla="val 16668"/>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47" name="Text 44"/>
          <p:cNvSpPr/>
          <p:nvPr/>
        </p:nvSpPr>
        <p:spPr>
          <a:xfrm>
            <a:off x="10273636" y="8659678"/>
            <a:ext cx="7046107" cy="219846"/>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425" b="1" dirty="0">
                <a:solidFill>
                  <a:srgbClr val="FFFFFF"/>
                </a:solidFill>
                <a:latin typeface="Oracle Sans Tab" pitchFamily="34" charset="0"/>
                <a:ea typeface="Oracle Sans Tab" pitchFamily="34" charset="-122"/>
                <a:cs typeface="Oracle Sans Tab" pitchFamily="34" charset="-120"/>
              </a:rPr>
              <a:t>Entity memory </a:t>
            </a:r>
            <a:r>
              <a:rPr lang="en-US" sz="1275" dirty="0">
                <a:solidFill>
                  <a:srgbClr val="C3D7DC"/>
                </a:solidFill>
                <a:latin typeface="Oracle Sans Tab" pitchFamily="34" charset="0"/>
                <a:ea typeface="Oracle Sans Tab" pitchFamily="34" charset="-122"/>
                <a:cs typeface="Oracle Sans Tab" pitchFamily="34" charset="-120"/>
              </a:rPr>
              <a:t>people, things, the schema catalog</a:t>
            </a:r>
            <a:endParaRPr lang="en-US" sz="1200" dirty="0"/>
          </a:p>
        </p:txBody>
      </p:sp>
      <p:sp>
        <p:nvSpPr>
          <p:cNvPr id="48" name="Shape 45"/>
          <p:cNvSpPr/>
          <p:nvPr/>
        </p:nvSpPr>
        <p:spPr>
          <a:xfrm>
            <a:off x="2743192" y="6720830"/>
            <a:ext cx="274299" cy="23151"/>
          </a:xfrm>
          <a:prstGeom prst="rect">
            <a:avLst/>
          </a:prstGeom>
          <a:solidFill>
            <a:srgbClr val="FFFFFF">
              <a:alpha val="34000"/>
            </a:srgbClr>
          </a:solidFill>
          <a:ln/>
        </p:spPr>
        <p:txBody>
          <a:bodyPr/>
          <a:lstStyle/>
          <a:p>
            <a:endParaRPr lang="en-US"/>
          </a:p>
        </p:txBody>
      </p:sp>
      <p:sp>
        <p:nvSpPr>
          <p:cNvPr id="49" name="Shape 46"/>
          <p:cNvSpPr/>
          <p:nvPr/>
        </p:nvSpPr>
        <p:spPr>
          <a:xfrm rot="5400000">
            <a:off x="513077" y="6702071"/>
            <a:ext cx="4981575" cy="23151"/>
          </a:xfrm>
          <a:prstGeom prst="rect">
            <a:avLst/>
          </a:prstGeom>
          <a:solidFill>
            <a:srgbClr val="FFFFFF">
              <a:alpha val="34000"/>
            </a:srgbClr>
          </a:solidFill>
          <a:ln/>
        </p:spPr>
        <p:txBody>
          <a:bodyPr/>
          <a:lstStyle/>
          <a:p>
            <a:endParaRPr lang="en-US"/>
          </a:p>
        </p:txBody>
      </p:sp>
      <p:sp>
        <p:nvSpPr>
          <p:cNvPr id="50" name="Shape 47"/>
          <p:cNvSpPr/>
          <p:nvPr/>
        </p:nvSpPr>
        <p:spPr>
          <a:xfrm>
            <a:off x="3017490" y="4224290"/>
            <a:ext cx="274299" cy="26458"/>
          </a:xfrm>
          <a:prstGeom prst="rect">
            <a:avLst/>
          </a:prstGeom>
          <a:solidFill>
            <a:srgbClr val="FFFFFF">
              <a:alpha val="34000"/>
            </a:srgbClr>
          </a:solidFill>
          <a:ln/>
        </p:spPr>
        <p:txBody>
          <a:bodyPr/>
          <a:lstStyle/>
          <a:p>
            <a:endParaRPr lang="en-US"/>
          </a:p>
        </p:txBody>
      </p:sp>
      <p:sp>
        <p:nvSpPr>
          <p:cNvPr id="51" name="Shape 48"/>
          <p:cNvSpPr/>
          <p:nvPr/>
        </p:nvSpPr>
        <p:spPr>
          <a:xfrm>
            <a:off x="3166111" y="4141607"/>
            <a:ext cx="125677" cy="165365"/>
          </a:xfrm>
          <a:prstGeom prst="rect">
            <a:avLst/>
          </a:prstGeom>
          <a:solidFill>
            <a:srgbClr val="FFFFFF">
              <a:alpha val="34000"/>
            </a:srgbClr>
          </a:solidFill>
          <a:ln/>
        </p:spPr>
        <p:txBody>
          <a:bodyPr/>
          <a:lstStyle/>
          <a:p>
            <a:endParaRPr lang="en-US"/>
          </a:p>
        </p:txBody>
      </p:sp>
      <p:sp>
        <p:nvSpPr>
          <p:cNvPr id="52" name="Shape 49"/>
          <p:cNvSpPr/>
          <p:nvPr/>
        </p:nvSpPr>
        <p:spPr>
          <a:xfrm>
            <a:off x="3017490" y="6939886"/>
            <a:ext cx="274299" cy="26458"/>
          </a:xfrm>
          <a:prstGeom prst="rect">
            <a:avLst/>
          </a:prstGeom>
          <a:solidFill>
            <a:srgbClr val="FFFFFF">
              <a:alpha val="34000"/>
            </a:srgbClr>
          </a:solidFill>
          <a:ln/>
        </p:spPr>
        <p:txBody>
          <a:bodyPr/>
          <a:lstStyle/>
          <a:p>
            <a:endParaRPr lang="en-US"/>
          </a:p>
        </p:txBody>
      </p:sp>
      <p:sp>
        <p:nvSpPr>
          <p:cNvPr id="53" name="Shape 50"/>
          <p:cNvSpPr/>
          <p:nvPr/>
        </p:nvSpPr>
        <p:spPr>
          <a:xfrm>
            <a:off x="3166111" y="6857204"/>
            <a:ext cx="125677" cy="165365"/>
          </a:xfrm>
          <a:prstGeom prst="rect">
            <a:avLst/>
          </a:prstGeom>
          <a:solidFill>
            <a:srgbClr val="FFFFFF">
              <a:alpha val="34000"/>
            </a:srgbClr>
          </a:solidFill>
          <a:ln/>
        </p:spPr>
        <p:txBody>
          <a:bodyPr/>
          <a:lstStyle/>
          <a:p>
            <a:endParaRPr lang="en-US"/>
          </a:p>
        </p:txBody>
      </p:sp>
      <p:sp>
        <p:nvSpPr>
          <p:cNvPr id="54" name="Shape 51"/>
          <p:cNvSpPr/>
          <p:nvPr/>
        </p:nvSpPr>
        <p:spPr>
          <a:xfrm>
            <a:off x="3017490" y="9203004"/>
            <a:ext cx="274299" cy="26458"/>
          </a:xfrm>
          <a:prstGeom prst="rect">
            <a:avLst/>
          </a:prstGeom>
          <a:solidFill>
            <a:srgbClr val="FFFFFF">
              <a:alpha val="34000"/>
            </a:srgbClr>
          </a:solidFill>
          <a:ln/>
        </p:spPr>
        <p:txBody>
          <a:bodyPr/>
          <a:lstStyle/>
          <a:p>
            <a:endParaRPr lang="en-US"/>
          </a:p>
        </p:txBody>
      </p:sp>
      <p:sp>
        <p:nvSpPr>
          <p:cNvPr id="55" name="Shape 52"/>
          <p:cNvSpPr/>
          <p:nvPr/>
        </p:nvSpPr>
        <p:spPr>
          <a:xfrm>
            <a:off x="3166111" y="9120322"/>
            <a:ext cx="125677" cy="165365"/>
          </a:xfrm>
          <a:prstGeom prst="rect">
            <a:avLst/>
          </a:prstGeom>
          <a:solidFill>
            <a:srgbClr val="FFFFFF">
              <a:alpha val="34000"/>
            </a:srgbClr>
          </a:solidFill>
          <a:ln/>
        </p:spPr>
        <p:txBody>
          <a:bodyPr/>
          <a:lstStyle/>
          <a:p>
            <a:endParaRPr lang="en-US"/>
          </a:p>
        </p:txBody>
      </p:sp>
      <p:sp>
        <p:nvSpPr>
          <p:cNvPr id="56" name="Shape 53"/>
          <p:cNvSpPr/>
          <p:nvPr/>
        </p:nvSpPr>
        <p:spPr>
          <a:xfrm>
            <a:off x="5897831" y="4224290"/>
            <a:ext cx="239985" cy="23151"/>
          </a:xfrm>
          <a:prstGeom prst="rect">
            <a:avLst/>
          </a:prstGeom>
          <a:solidFill>
            <a:srgbClr val="FFFFFF">
              <a:alpha val="34000"/>
            </a:srgbClr>
          </a:solidFill>
          <a:ln/>
        </p:spPr>
        <p:txBody>
          <a:bodyPr/>
          <a:lstStyle/>
          <a:p>
            <a:endParaRPr lang="en-US"/>
          </a:p>
        </p:txBody>
      </p:sp>
      <p:sp>
        <p:nvSpPr>
          <p:cNvPr id="57" name="Shape 54"/>
          <p:cNvSpPr/>
          <p:nvPr/>
        </p:nvSpPr>
        <p:spPr>
          <a:xfrm rot="5400000">
            <a:off x="5671804" y="4213179"/>
            <a:ext cx="904875" cy="23151"/>
          </a:xfrm>
          <a:prstGeom prst="rect">
            <a:avLst/>
          </a:prstGeom>
          <a:solidFill>
            <a:srgbClr val="FFFFFF">
              <a:alpha val="34000"/>
            </a:srgbClr>
          </a:solidFill>
          <a:ln/>
        </p:spPr>
        <p:txBody>
          <a:bodyPr/>
          <a:lstStyle/>
          <a:p>
            <a:endParaRPr lang="en-US"/>
          </a:p>
        </p:txBody>
      </p:sp>
      <p:sp>
        <p:nvSpPr>
          <p:cNvPr id="58" name="Shape 55"/>
          <p:cNvSpPr/>
          <p:nvPr/>
        </p:nvSpPr>
        <p:spPr>
          <a:xfrm>
            <a:off x="6137868" y="3771863"/>
            <a:ext cx="239985" cy="26458"/>
          </a:xfrm>
          <a:prstGeom prst="rect">
            <a:avLst/>
          </a:prstGeom>
          <a:solidFill>
            <a:srgbClr val="FFFFFF">
              <a:alpha val="34000"/>
            </a:srgbClr>
          </a:solidFill>
          <a:ln/>
        </p:spPr>
        <p:txBody>
          <a:bodyPr/>
          <a:lstStyle/>
          <a:p>
            <a:endParaRPr lang="en-US"/>
          </a:p>
        </p:txBody>
      </p:sp>
      <p:sp>
        <p:nvSpPr>
          <p:cNvPr id="59" name="Shape 56"/>
          <p:cNvSpPr/>
          <p:nvPr/>
        </p:nvSpPr>
        <p:spPr>
          <a:xfrm>
            <a:off x="6252177" y="3689180"/>
            <a:ext cx="125677" cy="165365"/>
          </a:xfrm>
          <a:prstGeom prst="rect">
            <a:avLst/>
          </a:prstGeom>
          <a:solidFill>
            <a:srgbClr val="FFFFFF">
              <a:alpha val="34000"/>
            </a:srgbClr>
          </a:solidFill>
          <a:ln/>
        </p:spPr>
        <p:txBody>
          <a:bodyPr/>
          <a:lstStyle/>
          <a:p>
            <a:endParaRPr lang="en-US"/>
          </a:p>
        </p:txBody>
      </p:sp>
      <p:sp>
        <p:nvSpPr>
          <p:cNvPr id="60" name="Shape 57"/>
          <p:cNvSpPr/>
          <p:nvPr/>
        </p:nvSpPr>
        <p:spPr>
          <a:xfrm>
            <a:off x="6137868" y="4224290"/>
            <a:ext cx="239985" cy="26458"/>
          </a:xfrm>
          <a:prstGeom prst="rect">
            <a:avLst/>
          </a:prstGeom>
          <a:solidFill>
            <a:srgbClr val="FFFFFF">
              <a:alpha val="34000"/>
            </a:srgbClr>
          </a:solidFill>
          <a:ln/>
        </p:spPr>
        <p:txBody>
          <a:bodyPr/>
          <a:lstStyle/>
          <a:p>
            <a:endParaRPr lang="en-US"/>
          </a:p>
        </p:txBody>
      </p:sp>
      <p:sp>
        <p:nvSpPr>
          <p:cNvPr id="61" name="Shape 58"/>
          <p:cNvSpPr/>
          <p:nvPr/>
        </p:nvSpPr>
        <p:spPr>
          <a:xfrm>
            <a:off x="6252177" y="4141607"/>
            <a:ext cx="125677" cy="165365"/>
          </a:xfrm>
          <a:prstGeom prst="rect">
            <a:avLst/>
          </a:prstGeom>
          <a:solidFill>
            <a:srgbClr val="FFFFFF">
              <a:alpha val="34000"/>
            </a:srgbClr>
          </a:solidFill>
          <a:ln/>
        </p:spPr>
        <p:txBody>
          <a:bodyPr/>
          <a:lstStyle/>
          <a:p>
            <a:endParaRPr lang="en-US"/>
          </a:p>
        </p:txBody>
      </p:sp>
      <p:sp>
        <p:nvSpPr>
          <p:cNvPr id="62" name="Shape 59"/>
          <p:cNvSpPr/>
          <p:nvPr/>
        </p:nvSpPr>
        <p:spPr>
          <a:xfrm>
            <a:off x="6137868" y="4676769"/>
            <a:ext cx="239985" cy="26458"/>
          </a:xfrm>
          <a:prstGeom prst="rect">
            <a:avLst/>
          </a:prstGeom>
          <a:solidFill>
            <a:srgbClr val="FFFFFF">
              <a:alpha val="34000"/>
            </a:srgbClr>
          </a:solidFill>
          <a:ln/>
        </p:spPr>
        <p:txBody>
          <a:bodyPr/>
          <a:lstStyle/>
          <a:p>
            <a:endParaRPr lang="en-US"/>
          </a:p>
        </p:txBody>
      </p:sp>
      <p:sp>
        <p:nvSpPr>
          <p:cNvPr id="63" name="Shape 60"/>
          <p:cNvSpPr/>
          <p:nvPr/>
        </p:nvSpPr>
        <p:spPr>
          <a:xfrm>
            <a:off x="6252177" y="4594086"/>
            <a:ext cx="125677" cy="165365"/>
          </a:xfrm>
          <a:prstGeom prst="rect">
            <a:avLst/>
          </a:prstGeom>
          <a:solidFill>
            <a:srgbClr val="FFFFFF">
              <a:alpha val="34000"/>
            </a:srgbClr>
          </a:solidFill>
          <a:ln/>
        </p:spPr>
        <p:txBody>
          <a:bodyPr/>
          <a:lstStyle/>
          <a:p>
            <a:endParaRPr lang="en-US"/>
          </a:p>
        </p:txBody>
      </p:sp>
      <p:sp>
        <p:nvSpPr>
          <p:cNvPr id="64" name="Shape 61"/>
          <p:cNvSpPr/>
          <p:nvPr/>
        </p:nvSpPr>
        <p:spPr>
          <a:xfrm>
            <a:off x="5897831" y="6939886"/>
            <a:ext cx="239985" cy="23151"/>
          </a:xfrm>
          <a:prstGeom prst="rect">
            <a:avLst/>
          </a:prstGeom>
          <a:solidFill>
            <a:srgbClr val="FFFFFF">
              <a:alpha val="34000"/>
            </a:srgbClr>
          </a:solidFill>
          <a:ln/>
        </p:spPr>
        <p:txBody>
          <a:bodyPr/>
          <a:lstStyle/>
          <a:p>
            <a:endParaRPr lang="en-US"/>
          </a:p>
        </p:txBody>
      </p:sp>
      <p:sp>
        <p:nvSpPr>
          <p:cNvPr id="65" name="Shape 62"/>
          <p:cNvSpPr/>
          <p:nvPr/>
        </p:nvSpPr>
        <p:spPr>
          <a:xfrm rot="5400000">
            <a:off x="4766929" y="6928750"/>
            <a:ext cx="2714625" cy="23151"/>
          </a:xfrm>
          <a:prstGeom prst="rect">
            <a:avLst/>
          </a:prstGeom>
          <a:solidFill>
            <a:srgbClr val="FFFFFF">
              <a:alpha val="34000"/>
            </a:srgbClr>
          </a:solidFill>
          <a:ln/>
        </p:spPr>
        <p:txBody>
          <a:bodyPr/>
          <a:lstStyle/>
          <a:p>
            <a:endParaRPr lang="en-US"/>
          </a:p>
        </p:txBody>
      </p:sp>
      <p:sp>
        <p:nvSpPr>
          <p:cNvPr id="66" name="Shape 63"/>
          <p:cNvSpPr/>
          <p:nvPr/>
        </p:nvSpPr>
        <p:spPr>
          <a:xfrm>
            <a:off x="6137868" y="5582553"/>
            <a:ext cx="239985" cy="26458"/>
          </a:xfrm>
          <a:prstGeom prst="rect">
            <a:avLst/>
          </a:prstGeom>
          <a:solidFill>
            <a:srgbClr val="FFFFFF">
              <a:alpha val="34000"/>
            </a:srgbClr>
          </a:solidFill>
          <a:ln/>
        </p:spPr>
        <p:txBody>
          <a:bodyPr/>
          <a:lstStyle/>
          <a:p>
            <a:endParaRPr lang="en-US"/>
          </a:p>
        </p:txBody>
      </p:sp>
      <p:sp>
        <p:nvSpPr>
          <p:cNvPr id="67" name="Shape 64"/>
          <p:cNvSpPr/>
          <p:nvPr/>
        </p:nvSpPr>
        <p:spPr>
          <a:xfrm>
            <a:off x="6252177" y="5499871"/>
            <a:ext cx="125677" cy="165365"/>
          </a:xfrm>
          <a:prstGeom prst="rect">
            <a:avLst/>
          </a:prstGeom>
          <a:solidFill>
            <a:srgbClr val="FFFFFF">
              <a:alpha val="34000"/>
            </a:srgbClr>
          </a:solidFill>
          <a:ln/>
        </p:spPr>
        <p:txBody>
          <a:bodyPr/>
          <a:lstStyle/>
          <a:p>
            <a:endParaRPr lang="en-US"/>
          </a:p>
        </p:txBody>
      </p:sp>
      <p:sp>
        <p:nvSpPr>
          <p:cNvPr id="68" name="Shape 65"/>
          <p:cNvSpPr/>
          <p:nvPr/>
        </p:nvSpPr>
        <p:spPr>
          <a:xfrm>
            <a:off x="6137868" y="6939886"/>
            <a:ext cx="239985" cy="26458"/>
          </a:xfrm>
          <a:prstGeom prst="rect">
            <a:avLst/>
          </a:prstGeom>
          <a:solidFill>
            <a:srgbClr val="FFFFFF">
              <a:alpha val="34000"/>
            </a:srgbClr>
          </a:solidFill>
          <a:ln/>
        </p:spPr>
        <p:txBody>
          <a:bodyPr/>
          <a:lstStyle/>
          <a:p>
            <a:endParaRPr lang="en-US"/>
          </a:p>
        </p:txBody>
      </p:sp>
      <p:sp>
        <p:nvSpPr>
          <p:cNvPr id="69" name="Shape 66"/>
          <p:cNvSpPr/>
          <p:nvPr/>
        </p:nvSpPr>
        <p:spPr>
          <a:xfrm>
            <a:off x="6252177" y="6857204"/>
            <a:ext cx="125677" cy="165365"/>
          </a:xfrm>
          <a:prstGeom prst="rect">
            <a:avLst/>
          </a:prstGeom>
          <a:solidFill>
            <a:srgbClr val="FFFFFF">
              <a:alpha val="34000"/>
            </a:srgbClr>
          </a:solidFill>
          <a:ln/>
        </p:spPr>
        <p:txBody>
          <a:bodyPr/>
          <a:lstStyle/>
          <a:p>
            <a:endParaRPr lang="en-US"/>
          </a:p>
        </p:txBody>
      </p:sp>
      <p:sp>
        <p:nvSpPr>
          <p:cNvPr id="70" name="Shape 67"/>
          <p:cNvSpPr/>
          <p:nvPr/>
        </p:nvSpPr>
        <p:spPr>
          <a:xfrm>
            <a:off x="6137868" y="8298149"/>
            <a:ext cx="239985" cy="26458"/>
          </a:xfrm>
          <a:prstGeom prst="rect">
            <a:avLst/>
          </a:prstGeom>
          <a:solidFill>
            <a:srgbClr val="FFFFFF">
              <a:alpha val="34000"/>
            </a:srgbClr>
          </a:solidFill>
          <a:ln/>
        </p:spPr>
        <p:txBody>
          <a:bodyPr/>
          <a:lstStyle/>
          <a:p>
            <a:endParaRPr lang="en-US"/>
          </a:p>
        </p:txBody>
      </p:sp>
      <p:sp>
        <p:nvSpPr>
          <p:cNvPr id="71" name="Shape 68"/>
          <p:cNvSpPr/>
          <p:nvPr/>
        </p:nvSpPr>
        <p:spPr>
          <a:xfrm>
            <a:off x="6252177" y="8215467"/>
            <a:ext cx="125677" cy="165365"/>
          </a:xfrm>
          <a:prstGeom prst="rect">
            <a:avLst/>
          </a:prstGeom>
          <a:solidFill>
            <a:srgbClr val="FFFFFF">
              <a:alpha val="34000"/>
            </a:srgbClr>
          </a:solidFill>
          <a:ln/>
        </p:spPr>
        <p:txBody>
          <a:bodyPr/>
          <a:lstStyle/>
          <a:p>
            <a:endParaRPr lang="en-US"/>
          </a:p>
        </p:txBody>
      </p:sp>
      <p:sp>
        <p:nvSpPr>
          <p:cNvPr id="72" name="Shape 69"/>
          <p:cNvSpPr/>
          <p:nvPr/>
        </p:nvSpPr>
        <p:spPr>
          <a:xfrm>
            <a:off x="9601171" y="5582553"/>
            <a:ext cx="239985" cy="23151"/>
          </a:xfrm>
          <a:prstGeom prst="rect">
            <a:avLst/>
          </a:prstGeom>
          <a:solidFill>
            <a:srgbClr val="FFFFFF">
              <a:alpha val="34000"/>
            </a:srgbClr>
          </a:solidFill>
          <a:ln/>
        </p:spPr>
        <p:txBody>
          <a:bodyPr/>
          <a:lstStyle/>
          <a:p>
            <a:endParaRPr lang="en-US"/>
          </a:p>
        </p:txBody>
      </p:sp>
      <p:sp>
        <p:nvSpPr>
          <p:cNvPr id="73" name="Shape 70"/>
          <p:cNvSpPr/>
          <p:nvPr/>
        </p:nvSpPr>
        <p:spPr>
          <a:xfrm rot="5400000">
            <a:off x="9375144" y="5571443"/>
            <a:ext cx="904875" cy="23151"/>
          </a:xfrm>
          <a:prstGeom prst="rect">
            <a:avLst/>
          </a:prstGeom>
          <a:solidFill>
            <a:srgbClr val="FFFFFF">
              <a:alpha val="34000"/>
            </a:srgbClr>
          </a:solidFill>
          <a:ln/>
        </p:spPr>
        <p:txBody>
          <a:bodyPr/>
          <a:lstStyle/>
          <a:p>
            <a:endParaRPr lang="en-US"/>
          </a:p>
        </p:txBody>
      </p:sp>
      <p:sp>
        <p:nvSpPr>
          <p:cNvPr id="74" name="Shape 71"/>
          <p:cNvSpPr/>
          <p:nvPr/>
        </p:nvSpPr>
        <p:spPr>
          <a:xfrm>
            <a:off x="9841207" y="5130126"/>
            <a:ext cx="239985" cy="26458"/>
          </a:xfrm>
          <a:prstGeom prst="rect">
            <a:avLst/>
          </a:prstGeom>
          <a:solidFill>
            <a:srgbClr val="FFFFFF">
              <a:alpha val="34000"/>
            </a:srgbClr>
          </a:solidFill>
          <a:ln/>
        </p:spPr>
        <p:txBody>
          <a:bodyPr/>
          <a:lstStyle/>
          <a:p>
            <a:endParaRPr lang="en-US"/>
          </a:p>
        </p:txBody>
      </p:sp>
      <p:sp>
        <p:nvSpPr>
          <p:cNvPr id="75" name="Shape 72"/>
          <p:cNvSpPr/>
          <p:nvPr/>
        </p:nvSpPr>
        <p:spPr>
          <a:xfrm>
            <a:off x="9955516" y="5047444"/>
            <a:ext cx="125677" cy="165365"/>
          </a:xfrm>
          <a:prstGeom prst="rect">
            <a:avLst/>
          </a:prstGeom>
          <a:solidFill>
            <a:srgbClr val="FFFFFF">
              <a:alpha val="34000"/>
            </a:srgbClr>
          </a:solidFill>
          <a:ln/>
        </p:spPr>
        <p:txBody>
          <a:bodyPr/>
          <a:lstStyle/>
          <a:p>
            <a:endParaRPr lang="en-US"/>
          </a:p>
        </p:txBody>
      </p:sp>
      <p:sp>
        <p:nvSpPr>
          <p:cNvPr id="76" name="Shape 73"/>
          <p:cNvSpPr/>
          <p:nvPr/>
        </p:nvSpPr>
        <p:spPr>
          <a:xfrm>
            <a:off x="9841207" y="5582553"/>
            <a:ext cx="239985" cy="26458"/>
          </a:xfrm>
          <a:prstGeom prst="rect">
            <a:avLst/>
          </a:prstGeom>
          <a:solidFill>
            <a:srgbClr val="FFFFFF">
              <a:alpha val="34000"/>
            </a:srgbClr>
          </a:solidFill>
          <a:ln/>
        </p:spPr>
        <p:txBody>
          <a:bodyPr/>
          <a:lstStyle/>
          <a:p>
            <a:endParaRPr lang="en-US"/>
          </a:p>
        </p:txBody>
      </p:sp>
      <p:sp>
        <p:nvSpPr>
          <p:cNvPr id="77" name="Shape 74"/>
          <p:cNvSpPr/>
          <p:nvPr/>
        </p:nvSpPr>
        <p:spPr>
          <a:xfrm>
            <a:off x="9955516" y="5499871"/>
            <a:ext cx="125677" cy="165365"/>
          </a:xfrm>
          <a:prstGeom prst="rect">
            <a:avLst/>
          </a:prstGeom>
          <a:solidFill>
            <a:srgbClr val="FFFFFF">
              <a:alpha val="34000"/>
            </a:srgbClr>
          </a:solidFill>
          <a:ln/>
        </p:spPr>
        <p:txBody>
          <a:bodyPr/>
          <a:lstStyle/>
          <a:p>
            <a:endParaRPr lang="en-US"/>
          </a:p>
        </p:txBody>
      </p:sp>
      <p:sp>
        <p:nvSpPr>
          <p:cNvPr id="78" name="Shape 75"/>
          <p:cNvSpPr/>
          <p:nvPr/>
        </p:nvSpPr>
        <p:spPr>
          <a:xfrm>
            <a:off x="9841207" y="6035032"/>
            <a:ext cx="239985" cy="26458"/>
          </a:xfrm>
          <a:prstGeom prst="rect">
            <a:avLst/>
          </a:prstGeom>
          <a:solidFill>
            <a:srgbClr val="FFFFFF">
              <a:alpha val="34000"/>
            </a:srgbClr>
          </a:solidFill>
          <a:ln/>
        </p:spPr>
        <p:txBody>
          <a:bodyPr/>
          <a:lstStyle/>
          <a:p>
            <a:endParaRPr lang="en-US"/>
          </a:p>
        </p:txBody>
      </p:sp>
      <p:sp>
        <p:nvSpPr>
          <p:cNvPr id="79" name="Shape 76"/>
          <p:cNvSpPr/>
          <p:nvPr/>
        </p:nvSpPr>
        <p:spPr>
          <a:xfrm>
            <a:off x="9955516" y="5952349"/>
            <a:ext cx="125677" cy="165365"/>
          </a:xfrm>
          <a:prstGeom prst="rect">
            <a:avLst/>
          </a:prstGeom>
          <a:solidFill>
            <a:srgbClr val="FFFFFF">
              <a:alpha val="34000"/>
            </a:srgbClr>
          </a:solidFill>
          <a:ln/>
        </p:spPr>
        <p:txBody>
          <a:bodyPr/>
          <a:lstStyle/>
          <a:p>
            <a:endParaRPr lang="en-US"/>
          </a:p>
        </p:txBody>
      </p:sp>
      <p:sp>
        <p:nvSpPr>
          <p:cNvPr id="80" name="Shape 77"/>
          <p:cNvSpPr/>
          <p:nvPr/>
        </p:nvSpPr>
        <p:spPr>
          <a:xfrm>
            <a:off x="9601171" y="6939886"/>
            <a:ext cx="239985" cy="23151"/>
          </a:xfrm>
          <a:prstGeom prst="rect">
            <a:avLst/>
          </a:prstGeom>
          <a:solidFill>
            <a:srgbClr val="FFFFFF">
              <a:alpha val="34000"/>
            </a:srgbClr>
          </a:solidFill>
          <a:ln/>
        </p:spPr>
        <p:txBody>
          <a:bodyPr/>
          <a:lstStyle/>
          <a:p>
            <a:endParaRPr lang="en-US"/>
          </a:p>
        </p:txBody>
      </p:sp>
      <p:sp>
        <p:nvSpPr>
          <p:cNvPr id="81" name="Shape 78"/>
          <p:cNvSpPr/>
          <p:nvPr/>
        </p:nvSpPr>
        <p:spPr>
          <a:xfrm rot="5400000">
            <a:off x="9375144" y="6928776"/>
            <a:ext cx="904875" cy="23151"/>
          </a:xfrm>
          <a:prstGeom prst="rect">
            <a:avLst/>
          </a:prstGeom>
          <a:solidFill>
            <a:srgbClr val="FFFFFF">
              <a:alpha val="34000"/>
            </a:srgbClr>
          </a:solidFill>
          <a:ln/>
        </p:spPr>
        <p:txBody>
          <a:bodyPr/>
          <a:lstStyle/>
          <a:p>
            <a:endParaRPr lang="en-US"/>
          </a:p>
        </p:txBody>
      </p:sp>
      <p:sp>
        <p:nvSpPr>
          <p:cNvPr id="82" name="Shape 79"/>
          <p:cNvSpPr/>
          <p:nvPr/>
        </p:nvSpPr>
        <p:spPr>
          <a:xfrm>
            <a:off x="9841207" y="6487459"/>
            <a:ext cx="239985" cy="26458"/>
          </a:xfrm>
          <a:prstGeom prst="rect">
            <a:avLst/>
          </a:prstGeom>
          <a:solidFill>
            <a:srgbClr val="FFFFFF">
              <a:alpha val="34000"/>
            </a:srgbClr>
          </a:solidFill>
          <a:ln/>
        </p:spPr>
        <p:txBody>
          <a:bodyPr/>
          <a:lstStyle/>
          <a:p>
            <a:endParaRPr lang="en-US"/>
          </a:p>
        </p:txBody>
      </p:sp>
      <p:sp>
        <p:nvSpPr>
          <p:cNvPr id="83" name="Shape 80"/>
          <p:cNvSpPr/>
          <p:nvPr/>
        </p:nvSpPr>
        <p:spPr>
          <a:xfrm>
            <a:off x="9955516" y="6404777"/>
            <a:ext cx="125677" cy="165365"/>
          </a:xfrm>
          <a:prstGeom prst="rect">
            <a:avLst/>
          </a:prstGeom>
          <a:solidFill>
            <a:srgbClr val="FFFFFF">
              <a:alpha val="34000"/>
            </a:srgbClr>
          </a:solidFill>
          <a:ln/>
        </p:spPr>
        <p:txBody>
          <a:bodyPr/>
          <a:lstStyle/>
          <a:p>
            <a:endParaRPr lang="en-US"/>
          </a:p>
        </p:txBody>
      </p:sp>
      <p:sp>
        <p:nvSpPr>
          <p:cNvPr id="84" name="Shape 81"/>
          <p:cNvSpPr/>
          <p:nvPr/>
        </p:nvSpPr>
        <p:spPr>
          <a:xfrm>
            <a:off x="9841207" y="6939886"/>
            <a:ext cx="239985" cy="26458"/>
          </a:xfrm>
          <a:prstGeom prst="rect">
            <a:avLst/>
          </a:prstGeom>
          <a:solidFill>
            <a:srgbClr val="FFFFFF">
              <a:alpha val="34000"/>
            </a:srgbClr>
          </a:solidFill>
          <a:ln/>
        </p:spPr>
        <p:txBody>
          <a:bodyPr/>
          <a:lstStyle/>
          <a:p>
            <a:endParaRPr lang="en-US"/>
          </a:p>
        </p:txBody>
      </p:sp>
      <p:sp>
        <p:nvSpPr>
          <p:cNvPr id="85" name="Shape 82"/>
          <p:cNvSpPr/>
          <p:nvPr/>
        </p:nvSpPr>
        <p:spPr>
          <a:xfrm>
            <a:off x="9955516" y="6857204"/>
            <a:ext cx="125677" cy="165365"/>
          </a:xfrm>
          <a:prstGeom prst="rect">
            <a:avLst/>
          </a:prstGeom>
          <a:solidFill>
            <a:srgbClr val="FFFFFF">
              <a:alpha val="34000"/>
            </a:srgbClr>
          </a:solidFill>
          <a:ln/>
        </p:spPr>
        <p:txBody>
          <a:bodyPr/>
          <a:lstStyle/>
          <a:p>
            <a:endParaRPr lang="en-US"/>
          </a:p>
        </p:txBody>
      </p:sp>
      <p:sp>
        <p:nvSpPr>
          <p:cNvPr id="86" name="Shape 83"/>
          <p:cNvSpPr/>
          <p:nvPr/>
        </p:nvSpPr>
        <p:spPr>
          <a:xfrm>
            <a:off x="9841207" y="7393295"/>
            <a:ext cx="239985" cy="26458"/>
          </a:xfrm>
          <a:prstGeom prst="rect">
            <a:avLst/>
          </a:prstGeom>
          <a:solidFill>
            <a:srgbClr val="FFFFFF">
              <a:alpha val="34000"/>
            </a:srgbClr>
          </a:solidFill>
          <a:ln/>
        </p:spPr>
        <p:txBody>
          <a:bodyPr/>
          <a:lstStyle/>
          <a:p>
            <a:endParaRPr lang="en-US"/>
          </a:p>
        </p:txBody>
      </p:sp>
      <p:sp>
        <p:nvSpPr>
          <p:cNvPr id="87" name="Shape 84"/>
          <p:cNvSpPr/>
          <p:nvPr/>
        </p:nvSpPr>
        <p:spPr>
          <a:xfrm>
            <a:off x="9955516" y="7310613"/>
            <a:ext cx="125677" cy="165365"/>
          </a:xfrm>
          <a:prstGeom prst="rect">
            <a:avLst/>
          </a:prstGeom>
          <a:solidFill>
            <a:srgbClr val="FFFFFF">
              <a:alpha val="34000"/>
            </a:srgbClr>
          </a:solidFill>
          <a:ln/>
        </p:spPr>
        <p:txBody>
          <a:bodyPr/>
          <a:lstStyle/>
          <a:p>
            <a:endParaRPr lang="en-US"/>
          </a:p>
        </p:txBody>
      </p:sp>
      <p:sp>
        <p:nvSpPr>
          <p:cNvPr id="88" name="Shape 85"/>
          <p:cNvSpPr/>
          <p:nvPr/>
        </p:nvSpPr>
        <p:spPr>
          <a:xfrm>
            <a:off x="9601171" y="8298149"/>
            <a:ext cx="239985" cy="23151"/>
          </a:xfrm>
          <a:prstGeom prst="rect">
            <a:avLst/>
          </a:prstGeom>
          <a:solidFill>
            <a:srgbClr val="FFFFFF">
              <a:alpha val="34000"/>
            </a:srgbClr>
          </a:solidFill>
          <a:ln/>
        </p:spPr>
        <p:txBody>
          <a:bodyPr/>
          <a:lstStyle/>
          <a:p>
            <a:endParaRPr lang="en-US"/>
          </a:p>
        </p:txBody>
      </p:sp>
      <p:sp>
        <p:nvSpPr>
          <p:cNvPr id="89" name="Shape 86"/>
          <p:cNvSpPr/>
          <p:nvPr/>
        </p:nvSpPr>
        <p:spPr>
          <a:xfrm rot="5400000">
            <a:off x="9375144" y="8287039"/>
            <a:ext cx="904875" cy="23151"/>
          </a:xfrm>
          <a:prstGeom prst="rect">
            <a:avLst/>
          </a:prstGeom>
          <a:solidFill>
            <a:srgbClr val="FFFFFF">
              <a:alpha val="34000"/>
            </a:srgbClr>
          </a:solidFill>
          <a:ln/>
        </p:spPr>
        <p:txBody>
          <a:bodyPr/>
          <a:lstStyle/>
          <a:p>
            <a:endParaRPr lang="en-US"/>
          </a:p>
        </p:txBody>
      </p:sp>
      <p:sp>
        <p:nvSpPr>
          <p:cNvPr id="90" name="Shape 87"/>
          <p:cNvSpPr/>
          <p:nvPr/>
        </p:nvSpPr>
        <p:spPr>
          <a:xfrm>
            <a:off x="9841207" y="7845722"/>
            <a:ext cx="239985" cy="26458"/>
          </a:xfrm>
          <a:prstGeom prst="rect">
            <a:avLst/>
          </a:prstGeom>
          <a:solidFill>
            <a:srgbClr val="FFFFFF">
              <a:alpha val="34000"/>
            </a:srgbClr>
          </a:solidFill>
          <a:ln/>
        </p:spPr>
        <p:txBody>
          <a:bodyPr/>
          <a:lstStyle/>
          <a:p>
            <a:endParaRPr lang="en-US"/>
          </a:p>
        </p:txBody>
      </p:sp>
      <p:sp>
        <p:nvSpPr>
          <p:cNvPr id="91" name="Shape 88"/>
          <p:cNvSpPr/>
          <p:nvPr/>
        </p:nvSpPr>
        <p:spPr>
          <a:xfrm>
            <a:off x="9955516" y="7763040"/>
            <a:ext cx="125677" cy="165365"/>
          </a:xfrm>
          <a:prstGeom prst="rect">
            <a:avLst/>
          </a:prstGeom>
          <a:solidFill>
            <a:srgbClr val="FFFFFF">
              <a:alpha val="34000"/>
            </a:srgbClr>
          </a:solidFill>
          <a:ln/>
        </p:spPr>
        <p:txBody>
          <a:bodyPr/>
          <a:lstStyle/>
          <a:p>
            <a:endParaRPr lang="en-US"/>
          </a:p>
        </p:txBody>
      </p:sp>
      <p:sp>
        <p:nvSpPr>
          <p:cNvPr id="92" name="Shape 89"/>
          <p:cNvSpPr/>
          <p:nvPr/>
        </p:nvSpPr>
        <p:spPr>
          <a:xfrm>
            <a:off x="9841207" y="8298149"/>
            <a:ext cx="239985" cy="26458"/>
          </a:xfrm>
          <a:prstGeom prst="rect">
            <a:avLst/>
          </a:prstGeom>
          <a:solidFill>
            <a:srgbClr val="FFFFFF">
              <a:alpha val="34000"/>
            </a:srgbClr>
          </a:solidFill>
          <a:ln/>
        </p:spPr>
        <p:txBody>
          <a:bodyPr/>
          <a:lstStyle/>
          <a:p>
            <a:endParaRPr lang="en-US"/>
          </a:p>
        </p:txBody>
      </p:sp>
      <p:sp>
        <p:nvSpPr>
          <p:cNvPr id="93" name="Shape 90"/>
          <p:cNvSpPr/>
          <p:nvPr/>
        </p:nvSpPr>
        <p:spPr>
          <a:xfrm>
            <a:off x="9955516" y="8215467"/>
            <a:ext cx="125677" cy="165365"/>
          </a:xfrm>
          <a:prstGeom prst="rect">
            <a:avLst/>
          </a:prstGeom>
          <a:solidFill>
            <a:srgbClr val="FFFFFF">
              <a:alpha val="34000"/>
            </a:srgbClr>
          </a:solidFill>
          <a:ln/>
        </p:spPr>
        <p:txBody>
          <a:bodyPr/>
          <a:lstStyle/>
          <a:p>
            <a:endParaRPr lang="en-US"/>
          </a:p>
        </p:txBody>
      </p:sp>
      <p:sp>
        <p:nvSpPr>
          <p:cNvPr id="94" name="Shape 91"/>
          <p:cNvSpPr/>
          <p:nvPr/>
        </p:nvSpPr>
        <p:spPr>
          <a:xfrm>
            <a:off x="9841207" y="8750577"/>
            <a:ext cx="239985" cy="26458"/>
          </a:xfrm>
          <a:prstGeom prst="rect">
            <a:avLst/>
          </a:prstGeom>
          <a:solidFill>
            <a:srgbClr val="FFFFFF">
              <a:alpha val="34000"/>
            </a:srgbClr>
          </a:solidFill>
          <a:ln/>
        </p:spPr>
        <p:txBody>
          <a:bodyPr/>
          <a:lstStyle/>
          <a:p>
            <a:endParaRPr lang="en-US"/>
          </a:p>
        </p:txBody>
      </p:sp>
      <p:sp>
        <p:nvSpPr>
          <p:cNvPr id="95" name="Shape 92"/>
          <p:cNvSpPr/>
          <p:nvPr/>
        </p:nvSpPr>
        <p:spPr>
          <a:xfrm>
            <a:off x="9955516" y="8667894"/>
            <a:ext cx="125677" cy="165365"/>
          </a:xfrm>
          <a:prstGeom prst="rect">
            <a:avLst/>
          </a:prstGeom>
          <a:solidFill>
            <a:srgbClr val="FFFFFF">
              <a:alpha val="34000"/>
            </a:srgbClr>
          </a:solidFill>
          <a:ln/>
        </p:spPr>
        <p:txBody>
          <a:bodyP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KEEP THE WINDOW DENSE</a:t>
            </a:r>
            <a:endParaRPr lang="en-US" sz="1575" dirty="0"/>
          </a:p>
        </p:txBody>
      </p:sp>
      <p:sp>
        <p:nvSpPr>
          <p:cNvPr id="4" name="Shape 1"/>
          <p:cNvSpPr/>
          <p:nvPr/>
        </p:nvSpPr>
        <p:spPr>
          <a:xfrm>
            <a:off x="960096" y="1262042"/>
            <a:ext cx="576244" cy="26458"/>
          </a:xfrm>
          <a:prstGeom prst="rect">
            <a:avLst/>
          </a:prstGeom>
          <a:solidFill>
            <a:srgbClr val="FD6953"/>
          </a:solidFill>
          <a:ln/>
        </p:spPr>
        <p:txBody>
          <a:bodyPr/>
          <a:lstStyle/>
          <a:p>
            <a:endParaRPr lang="en-US"/>
          </a:p>
        </p:txBody>
      </p:sp>
      <p:sp>
        <p:nvSpPr>
          <p:cNvPr id="5" name="Text 2"/>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CONTEXT ENGINEERING</a:t>
            </a:r>
            <a:endParaRPr lang="en-US" sz="1800" dirty="0"/>
          </a:p>
        </p:txBody>
      </p:sp>
      <p:sp>
        <p:nvSpPr>
          <p:cNvPr id="6" name="Text 3"/>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A bigger window is not the </a:t>
            </a:r>
            <a:r>
              <a:rPr lang="en-US" sz="5100" b="1" i="1" dirty="0">
                <a:solidFill>
                  <a:srgbClr val="FD6953"/>
                </a:solidFill>
                <a:latin typeface="Oracle Sans Tab" pitchFamily="34" charset="0"/>
                <a:ea typeface="Oracle Sans Tab" pitchFamily="34" charset="-122"/>
                <a:cs typeface="Oracle Sans Tab" pitchFamily="34" charset="-120"/>
              </a:rPr>
              <a:t>fix.</a:t>
            </a:r>
            <a:endParaRPr lang="en-US" sz="1200" dirty="0"/>
          </a:p>
        </p:txBody>
      </p:sp>
      <p:sp>
        <p:nvSpPr>
          <p:cNvPr id="7" name="Text 4"/>
          <p:cNvSpPr/>
          <p:nvPr/>
        </p:nvSpPr>
        <p:spPr>
          <a:xfrm>
            <a:off x="960096" y="3771863"/>
            <a:ext cx="8052618" cy="1363910"/>
          </a:xfrm>
          <a:prstGeom prst="rect">
            <a:avLst/>
          </a:prstGeom>
          <a:noFill/>
          <a:ln/>
        </p:spPr>
        <p:txBody>
          <a:bodyPr wrap="square" lIns="25400" tIns="25400" rIns="25400" bIns="25400" rtlCol="0" anchor="t">
            <a:normAutofit/>
          </a:bodyPr>
          <a:lstStyle/>
          <a:p>
            <a:pPr marL="0" indent="0" algn="l">
              <a:lnSpc>
                <a:spcPct val="92160"/>
              </a:lnSpc>
              <a:buNone/>
            </a:pPr>
            <a:r>
              <a:rPr lang="en-US" sz="2175" b="1" dirty="0">
                <a:solidFill>
                  <a:srgbClr val="FD6953"/>
                </a:solidFill>
                <a:latin typeface="Oracle Sans Tab" pitchFamily="34" charset="0"/>
                <a:ea typeface="Oracle Sans Tab" pitchFamily="34" charset="-122"/>
                <a:cs typeface="Oracle Sans Tab" pitchFamily="34" charset="-120"/>
              </a:rPr>
              <a:t>Context rot. </a:t>
            </a:r>
            <a:r>
              <a:rPr lang="en-US" sz="2175" dirty="0">
                <a:solidFill>
                  <a:srgbClr val="FFFFFF"/>
                </a:solidFill>
                <a:latin typeface="Oracle Sans Tab" pitchFamily="34" charset="0"/>
                <a:ea typeface="Oracle Sans Tab" pitchFamily="34" charset="-122"/>
                <a:cs typeface="Oracle Sans Tab" pitchFamily="34" charset="-120"/>
              </a:rPr>
              <a:t>Model quality slips before the advertised limit, and the relevant fact gets harder to attend to as inputs grow. Attention, not capacity, is the budget, so you compact </a:t>
            </a:r>
            <a:r>
              <a:rPr lang="en-US" sz="2175" i="1" dirty="0">
                <a:solidFill>
                  <a:srgbClr val="FFFFFF"/>
                </a:solidFill>
                <a:latin typeface="Oracle Sans Tab" pitchFamily="34" charset="0"/>
                <a:ea typeface="Oracle Sans Tab" pitchFamily="34" charset="-122"/>
                <a:cs typeface="Oracle Sans Tab" pitchFamily="34" charset="-120"/>
              </a:rPr>
              <a:t>ahead</a:t>
            </a:r>
            <a:r>
              <a:rPr lang="en-US" sz="2175" dirty="0">
                <a:solidFill>
                  <a:srgbClr val="FFFFFF"/>
                </a:solidFill>
                <a:latin typeface="Oracle Sans Tab" pitchFamily="34" charset="0"/>
                <a:ea typeface="Oracle Sans Tab" pitchFamily="34" charset="-122"/>
                <a:cs typeface="Oracle Sans Tab" pitchFamily="34" charset="-120"/>
              </a:rPr>
              <a:t>of the limit, not at it.</a:t>
            </a:r>
            <a:endParaRPr lang="en-US" sz="1200" dirty="0"/>
          </a:p>
        </p:txBody>
      </p:sp>
      <p:sp>
        <p:nvSpPr>
          <p:cNvPr id="8" name="Shape 5"/>
          <p:cNvSpPr/>
          <p:nvPr/>
        </p:nvSpPr>
        <p:spPr>
          <a:xfrm>
            <a:off x="960096" y="6240756"/>
            <a:ext cx="7818076" cy="1165820"/>
          </a:xfrm>
          <a:prstGeom prst="roundRect">
            <a:avLst>
              <a:gd name="adj" fmla="val 8252"/>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 name="Text 6"/>
          <p:cNvSpPr/>
          <p:nvPr/>
        </p:nvSpPr>
        <p:spPr>
          <a:xfrm>
            <a:off x="1371596" y="6573655"/>
            <a:ext cx="7204982" cy="538121"/>
          </a:xfrm>
          <a:prstGeom prst="rect">
            <a:avLst/>
          </a:prstGeom>
          <a:noFill/>
          <a:ln/>
        </p:spPr>
        <p:txBody>
          <a:bodyPr wrap="square" lIns="25400" tIns="25400" rIns="25400" bIns="25400" rtlCol="0" anchor="t">
            <a:normAutofit/>
          </a:bodyPr>
          <a:lstStyle/>
          <a:p>
            <a:pPr marL="0" indent="0" algn="l">
              <a:lnSpc>
                <a:spcPct val="80640"/>
              </a:lnSpc>
              <a:buNone/>
            </a:pPr>
            <a:r>
              <a:rPr lang="en-US" sz="1875" b="1" dirty="0">
                <a:solidFill>
                  <a:srgbClr val="FFFFFF"/>
                </a:solidFill>
                <a:latin typeface="Oracle Sans Tab" pitchFamily="34" charset="0"/>
                <a:ea typeface="Oracle Sans Tab" pitchFamily="34" charset="-122"/>
                <a:cs typeface="Oracle Sans Tab" pitchFamily="34" charset="-120"/>
              </a:rPr>
              <a:t>Compaction </a:t>
            </a:r>
            <a:r>
              <a:rPr lang="en-US" sz="1875" dirty="0">
                <a:solidFill>
                  <a:srgbClr val="C3D7DC"/>
                </a:solidFill>
                <a:latin typeface="Oracle Sans Tab" pitchFamily="34" charset="0"/>
                <a:ea typeface="Oracle Sans Tab" pitchFamily="34" charset="-122"/>
                <a:cs typeface="Oracle Sans Tab" pitchFamily="34" charset="-120"/>
              </a:rPr>
              <a:t>replace a long history with a faithful summary (the OAMP context card).</a:t>
            </a:r>
            <a:endParaRPr lang="en-US" sz="1200" dirty="0"/>
          </a:p>
        </p:txBody>
      </p:sp>
      <p:sp>
        <p:nvSpPr>
          <p:cNvPr id="10" name="Shape 7"/>
          <p:cNvSpPr/>
          <p:nvPr/>
        </p:nvSpPr>
        <p:spPr>
          <a:xfrm>
            <a:off x="960096" y="7612352"/>
            <a:ext cx="7818076" cy="1302969"/>
          </a:xfrm>
          <a:prstGeom prst="roundRect">
            <a:avLst>
              <a:gd name="adj" fmla="val 738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1" name="Text 8"/>
          <p:cNvSpPr/>
          <p:nvPr/>
        </p:nvSpPr>
        <p:spPr>
          <a:xfrm>
            <a:off x="1371596" y="8013826"/>
            <a:ext cx="7204982" cy="538121"/>
          </a:xfrm>
          <a:prstGeom prst="rect">
            <a:avLst/>
          </a:prstGeom>
          <a:noFill/>
          <a:ln/>
        </p:spPr>
        <p:txBody>
          <a:bodyPr wrap="square" lIns="25400" tIns="25400" rIns="25400" bIns="25400" rtlCol="0" anchor="t">
            <a:normAutofit/>
          </a:bodyPr>
          <a:lstStyle/>
          <a:p>
            <a:pPr marL="0" indent="0" algn="l">
              <a:lnSpc>
                <a:spcPct val="80640"/>
              </a:lnSpc>
              <a:buNone/>
            </a:pPr>
            <a:r>
              <a:rPr lang="en-US" sz="1875" b="1" dirty="0">
                <a:solidFill>
                  <a:srgbClr val="FFFFFF"/>
                </a:solidFill>
                <a:latin typeface="Oracle Sans Tab" pitchFamily="34" charset="0"/>
                <a:ea typeface="Oracle Sans Tab" pitchFamily="34" charset="-122"/>
                <a:cs typeface="Oracle Sans Tab" pitchFamily="34" charset="-120"/>
              </a:rPr>
              <a:t>Offloading </a:t>
            </a:r>
            <a:r>
              <a:rPr lang="en-US" sz="1875" dirty="0">
                <a:solidFill>
                  <a:srgbClr val="C3D7DC"/>
                </a:solidFill>
                <a:latin typeface="Oracle Sans Tab" pitchFamily="34" charset="0"/>
                <a:ea typeface="Oracle Sans Tab" pitchFamily="34" charset="-122"/>
                <a:cs typeface="Oracle Sans Tab" pitchFamily="34" charset="-120"/>
              </a:rPr>
              <a:t>move a large payload out of the window, leave a pointer; substrate-aware (table or file).</a:t>
            </a:r>
            <a:endParaRPr lang="en-US" sz="1200" dirty="0"/>
          </a:p>
        </p:txBody>
      </p:sp>
      <p:pic>
        <p:nvPicPr>
          <p:cNvPr id="12" name="Image 1" descr="preencoded.png"/>
          <p:cNvPicPr>
            <a:picLocks noChangeAspect="1"/>
          </p:cNvPicPr>
          <p:nvPr/>
        </p:nvPicPr>
        <p:blipFill>
          <a:blip r:embed="rId4"/>
          <a:srcRect t="-125" b="-125"/>
          <a:stretch/>
        </p:blipFill>
        <p:spPr>
          <a:xfrm>
            <a:off x="9189671" y="3771863"/>
            <a:ext cx="8161000" cy="4663436"/>
          </a:xfrm>
          <a:prstGeom prst="rect">
            <a:avLst/>
          </a:prstGeom>
        </p:spPr>
      </p:pic>
      <p:sp>
        <p:nvSpPr>
          <p:cNvPr id="13" name="Text 9"/>
          <p:cNvSpPr/>
          <p:nvPr/>
        </p:nvSpPr>
        <p:spPr>
          <a:xfrm>
            <a:off x="9067256" y="8578184"/>
            <a:ext cx="8405830" cy="300926"/>
          </a:xfrm>
          <a:prstGeom prst="rect">
            <a:avLst/>
          </a:prstGeom>
          <a:noFill/>
          <a:ln/>
        </p:spPr>
        <p:txBody>
          <a:bodyPr wrap="square" lIns="25400" tIns="25400" rIns="25400" bIns="25400" rtlCol="0" anchor="t">
            <a:normAutofit/>
          </a:bodyPr>
          <a:lstStyle/>
          <a:p>
            <a:pPr marL="0" indent="0" algn="ctr">
              <a:lnSpc>
                <a:spcPct val="92160"/>
              </a:lnSpc>
              <a:buNone/>
            </a:pPr>
            <a:r>
              <a:rPr lang="en-US" sz="1725" i="1" dirty="0">
                <a:solidFill>
                  <a:srgbClr val="C3D7DC"/>
                </a:solidFill>
                <a:latin typeface="Oracle Sans Tab" pitchFamily="34" charset="0"/>
                <a:ea typeface="Oracle Sans Tab" pitchFamily="34" charset="-122"/>
                <a:cs typeface="Oracle Sans Tab" pitchFamily="34" charset="-120"/>
              </a:rPr>
              <a:t>Measured, not asserted: flat context versus blow-up.</a:t>
            </a:r>
            <a:endParaRPr lang="en-US" sz="17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DEFINITION</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MEMORY ENGINEERING</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MEMORY ENGINEERING</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What is </a:t>
            </a:r>
            <a:r>
              <a:rPr lang="en-US" sz="5100" b="1" dirty="0">
                <a:solidFill>
                  <a:srgbClr val="FD6953"/>
                </a:solidFill>
                <a:latin typeface="Oracle Sans Tab" pitchFamily="34" charset="0"/>
                <a:ea typeface="Oracle Sans Tab" pitchFamily="34" charset="-122"/>
                <a:cs typeface="Oracle Sans Tab" pitchFamily="34" charset="-120"/>
              </a:rPr>
              <a:t>Memory Engineering</a:t>
            </a:r>
            <a:endParaRPr lang="en-US" sz="1200" dirty="0"/>
          </a:p>
        </p:txBody>
      </p:sp>
      <p:sp>
        <p:nvSpPr>
          <p:cNvPr id="8" name="Shape 5"/>
          <p:cNvSpPr/>
          <p:nvPr/>
        </p:nvSpPr>
        <p:spPr>
          <a:xfrm>
            <a:off x="960096" y="4114788"/>
            <a:ext cx="2057394" cy="2057394"/>
          </a:xfrm>
          <a:prstGeom prst="roundRect">
            <a:avLst>
              <a:gd name="adj" fmla="val 467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rcRect/>
          <a:stretch/>
        </p:blipFill>
        <p:spPr>
          <a:xfrm>
            <a:off x="1536340" y="4657700"/>
            <a:ext cx="904854" cy="904854"/>
          </a:xfrm>
          <a:prstGeom prst="rect">
            <a:avLst/>
          </a:prstGeom>
        </p:spPr>
      </p:pic>
      <p:sp>
        <p:nvSpPr>
          <p:cNvPr id="10" name="Text 6"/>
          <p:cNvSpPr/>
          <p:nvPr/>
        </p:nvSpPr>
        <p:spPr>
          <a:xfrm>
            <a:off x="3474672" y="4234780"/>
            <a:ext cx="14268754" cy="1432588"/>
          </a:xfrm>
          <a:prstGeom prst="rect">
            <a:avLst/>
          </a:prstGeom>
          <a:noFill/>
          <a:ln/>
        </p:spPr>
        <p:txBody>
          <a:bodyPr wrap="square" lIns="25400" tIns="25400" rIns="25400" bIns="25400" rtlCol="0" anchor="t">
            <a:normAutofit/>
          </a:bodyPr>
          <a:lstStyle/>
          <a:p>
            <a:pPr marL="0" indent="0" algn="l">
              <a:lnSpc>
                <a:spcPct val="93696"/>
              </a:lnSpc>
              <a:buNone/>
            </a:pPr>
            <a:r>
              <a:rPr lang="en-US" sz="3000" dirty="0">
                <a:solidFill>
                  <a:srgbClr val="FFFFFF"/>
                </a:solidFill>
                <a:latin typeface="Oracle Sans Tab" pitchFamily="34" charset="0"/>
                <a:ea typeface="Oracle Sans Tab" pitchFamily="34" charset="-122"/>
                <a:cs typeface="Oracle Sans Tab" pitchFamily="34" charset="-120"/>
              </a:rPr>
              <a:t>The discipline of </a:t>
            </a:r>
            <a:r>
              <a:rPr lang="en-US" sz="3000" b="1" dirty="0">
                <a:solidFill>
                  <a:srgbClr val="FFFFFF"/>
                </a:solidFill>
                <a:latin typeface="Oracle Sans Tab" pitchFamily="34" charset="0"/>
                <a:ea typeface="Oracle Sans Tab" pitchFamily="34" charset="-122"/>
                <a:cs typeface="Oracle Sans Tab" pitchFamily="34" charset="-120"/>
              </a:rPr>
              <a:t>designing, building, and operating the systems that give an agent memory </a:t>
            </a:r>
            <a:r>
              <a:rPr lang="en-US" sz="3000" dirty="0">
                <a:solidFill>
                  <a:srgbClr val="FFFFFF"/>
                </a:solidFill>
                <a:latin typeface="Oracle Sans Tab" pitchFamily="34" charset="0"/>
                <a:ea typeface="Oracle Sans Tab" pitchFamily="34" charset="-122"/>
                <a:cs typeface="Oracle Sans Tab" pitchFamily="34" charset="-120"/>
              </a:rPr>
              <a:t>: the schemas, indexes, retrieval, lifecycle, and governance that let it </a:t>
            </a:r>
            <a:r>
              <a:rPr lang="en-US" sz="3000" b="1" dirty="0">
                <a:solidFill>
                  <a:srgbClr val="FFFFFF"/>
                </a:solidFill>
                <a:latin typeface="Oracle Sans Tab" pitchFamily="34" charset="0"/>
                <a:ea typeface="Oracle Sans Tab" pitchFamily="34" charset="-122"/>
                <a:cs typeface="Oracle Sans Tab" pitchFamily="34" charset="-120"/>
              </a:rPr>
              <a:t>retain, recall, and refine knowledge reliably at scale</a:t>
            </a:r>
            <a:r>
              <a:rPr lang="en-US" sz="3000" dirty="0">
                <a:solidFill>
                  <a:srgbClr val="FFFFFF"/>
                </a:solidFill>
                <a:latin typeface="Oracle Sans Tab" pitchFamily="34" charset="0"/>
                <a:ea typeface="Oracle Sans Tab" pitchFamily="34" charset="-122"/>
                <a:cs typeface="Oracle Sans Tab" pitchFamily="34" charset="-120"/>
              </a:rPr>
              <a:t>.</a:t>
            </a:r>
            <a:endParaRPr lang="en-US" sz="1200" dirty="0"/>
          </a:p>
        </p:txBody>
      </p:sp>
      <p:sp>
        <p:nvSpPr>
          <p:cNvPr id="11" name="Shape 7"/>
          <p:cNvSpPr/>
          <p:nvPr/>
        </p:nvSpPr>
        <p:spPr>
          <a:xfrm>
            <a:off x="960096" y="7680926"/>
            <a:ext cx="16367735" cy="1302969"/>
          </a:xfrm>
          <a:prstGeom prst="roundRect">
            <a:avLst>
              <a:gd name="adj" fmla="val 7383"/>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12" name="Text 8"/>
          <p:cNvSpPr/>
          <p:nvPr/>
        </p:nvSpPr>
        <p:spPr>
          <a:xfrm>
            <a:off x="1508745" y="8042403"/>
            <a:ext cx="15728550" cy="618116"/>
          </a:xfrm>
          <a:prstGeom prst="rect">
            <a:avLst/>
          </a:prstGeom>
          <a:noFill/>
          <a:ln/>
        </p:spPr>
        <p:txBody>
          <a:bodyPr wrap="square" lIns="25400" tIns="25400" rIns="25400" bIns="25400" rtlCol="0" anchor="t">
            <a:normAutofit/>
          </a:bodyPr>
          <a:lstStyle/>
          <a:p>
            <a:pPr marL="0" indent="0" algn="l">
              <a:lnSpc>
                <a:spcPct val="80640"/>
              </a:lnSpc>
              <a:buNone/>
            </a:pPr>
            <a:r>
              <a:rPr lang="en-US" sz="2175" b="1" dirty="0">
                <a:solidFill>
                  <a:srgbClr val="FD6953"/>
                </a:solidFill>
                <a:latin typeface="Oracle Sans Tab" pitchFamily="34" charset="0"/>
                <a:ea typeface="Oracle Sans Tab" pitchFamily="34" charset="-122"/>
                <a:cs typeface="Oracle Sans Tab" pitchFamily="34" charset="-120"/>
              </a:rPr>
              <a:t>Why it matters </a:t>
            </a:r>
            <a:r>
              <a:rPr lang="en-US" sz="2175" dirty="0">
                <a:solidFill>
                  <a:srgbClr val="FFFFFF"/>
                </a:solidFill>
                <a:latin typeface="Oracle Sans Tab" pitchFamily="34" charset="0"/>
                <a:ea typeface="Oracle Sans Tab" pitchFamily="34" charset="-122"/>
                <a:cs typeface="Oracle Sans Tab" pitchFamily="34" charset="-120"/>
              </a:rPr>
              <a:t>most teams build a model and a prompt, then bolt memory on. Memory engineering treats it as a first-class discipline, not an afterthought.</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Slide 37">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LAYER 4, MEMORY</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MEMORY MANAGER, THE DISCIPLINE</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MEMORY LAYER</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Agent memory is a </a:t>
            </a:r>
            <a:r>
              <a:rPr lang="en-US" sz="5100" b="1" i="1" dirty="0">
                <a:solidFill>
                  <a:srgbClr val="FD6953"/>
                </a:solidFill>
                <a:latin typeface="Oracle Sans Tab" pitchFamily="34" charset="0"/>
                <a:ea typeface="Oracle Sans Tab" pitchFamily="34" charset="-122"/>
                <a:cs typeface="Oracle Sans Tab" pitchFamily="34" charset="-120"/>
              </a:rPr>
              <a:t>discipline.</a:t>
            </a:r>
            <a:endParaRPr lang="en-US" sz="1200" dirty="0"/>
          </a:p>
        </p:txBody>
      </p:sp>
      <p:sp>
        <p:nvSpPr>
          <p:cNvPr id="8" name="Text 5"/>
          <p:cNvSpPr/>
          <p:nvPr/>
        </p:nvSpPr>
        <p:spPr>
          <a:xfrm>
            <a:off x="960096" y="3060847"/>
            <a:ext cx="16387870" cy="335239"/>
          </a:xfrm>
          <a:prstGeom prst="rect">
            <a:avLst/>
          </a:prstGeom>
          <a:noFill/>
          <a:ln/>
        </p:spPr>
        <p:txBody>
          <a:bodyPr wrap="square" lIns="25400" tIns="25400" rIns="25400" bIns="25400" rtlCol="0" anchor="t">
            <a:normAutofit/>
          </a:bodyPr>
          <a:lstStyle/>
          <a:p>
            <a:pPr marL="0" indent="0" algn="l">
              <a:lnSpc>
                <a:spcPct val="92160"/>
              </a:lnSpc>
              <a:buNone/>
            </a:pPr>
            <a:r>
              <a:rPr lang="en-US" sz="1950" i="1" dirty="0">
                <a:solidFill>
                  <a:srgbClr val="C3D7DC"/>
                </a:solidFill>
                <a:latin typeface="Oracle Sans Tab" pitchFamily="34" charset="0"/>
                <a:ea typeface="Oracle Sans Tab" pitchFamily="34" charset="-122"/>
                <a:cs typeface="Oracle Sans Tab" pitchFamily="34" charset="-120"/>
              </a:rPr>
              <a:t>Schemas, indexes, lifecycle, retrieval, governance: the harness manages all of it.</a:t>
            </a:r>
            <a:endParaRPr lang="en-US" sz="1950" dirty="0"/>
          </a:p>
        </p:txBody>
      </p:sp>
      <p:sp>
        <p:nvSpPr>
          <p:cNvPr id="9" name="Shape 6"/>
          <p:cNvSpPr/>
          <p:nvPr/>
        </p:nvSpPr>
        <p:spPr>
          <a:xfrm>
            <a:off x="960096" y="3703288"/>
            <a:ext cx="2999403" cy="2331692"/>
          </a:xfrm>
          <a:prstGeom prst="roundRect">
            <a:avLst>
              <a:gd name="adj" fmla="val 412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0" name="Text 7"/>
          <p:cNvSpPr/>
          <p:nvPr/>
        </p:nvSpPr>
        <p:spPr>
          <a:xfrm>
            <a:off x="1234395" y="4051949"/>
            <a:ext cx="2695830"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FD6953"/>
                </a:solidFill>
                <a:latin typeface="Oracle Sans Tab" pitchFamily="34" charset="0"/>
                <a:ea typeface="Oracle Sans Tab" pitchFamily="34" charset="-122"/>
                <a:cs typeface="Oracle Sans Tab" pitchFamily="34" charset="-120"/>
              </a:rPr>
              <a:t>SCHEMAS</a:t>
            </a:r>
            <a:endParaRPr lang="en-US" sz="1275" dirty="0"/>
          </a:p>
        </p:txBody>
      </p:sp>
      <p:sp>
        <p:nvSpPr>
          <p:cNvPr id="11" name="Text 8"/>
          <p:cNvSpPr/>
          <p:nvPr/>
        </p:nvSpPr>
        <p:spPr>
          <a:xfrm>
            <a:off x="1234395" y="4644109"/>
            <a:ext cx="2526955" cy="282426"/>
          </a:xfrm>
          <a:prstGeom prst="rect">
            <a:avLst/>
          </a:prstGeom>
          <a:noFill/>
          <a:ln/>
        </p:spPr>
        <p:txBody>
          <a:bodyPr wrap="square" lIns="25400" tIns="25400" rIns="25400" bIns="25400" rtlCol="0" anchor="t">
            <a:normAutofit lnSpcReduction="10000"/>
          </a:bodyPr>
          <a:lstStyle/>
          <a:p>
            <a:pPr marL="0" indent="0" algn="l">
              <a:lnSpc>
                <a:spcPct val="72960"/>
              </a:lnSpc>
              <a:buNone/>
            </a:pPr>
            <a:r>
              <a:rPr lang="en-US" sz="2025" b="1" dirty="0">
                <a:solidFill>
                  <a:srgbClr val="FFFFFF"/>
                </a:solidFill>
                <a:latin typeface="Oracle Sans Tab" pitchFamily="34" charset="0"/>
                <a:ea typeface="Oracle Sans Tab" pitchFamily="34" charset="-122"/>
                <a:cs typeface="Oracle Sans Tab" pitchFamily="34" charset="-120"/>
              </a:rPr>
              <a:t>Memory types</a:t>
            </a:r>
            <a:endParaRPr lang="en-US" sz="2025" dirty="0"/>
          </a:p>
        </p:txBody>
      </p:sp>
      <p:sp>
        <p:nvSpPr>
          <p:cNvPr id="12" name="Text 9"/>
          <p:cNvSpPr/>
          <p:nvPr/>
        </p:nvSpPr>
        <p:spPr>
          <a:xfrm>
            <a:off x="1234395" y="5300658"/>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episodic · semantic</a:t>
            </a:r>
            <a:endParaRPr lang="en-US" sz="1650" dirty="0"/>
          </a:p>
        </p:txBody>
      </p:sp>
      <p:sp>
        <p:nvSpPr>
          <p:cNvPr id="13" name="Text 10"/>
          <p:cNvSpPr/>
          <p:nvPr/>
        </p:nvSpPr>
        <p:spPr>
          <a:xfrm>
            <a:off x="1234395" y="5520645"/>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procedural · working</a:t>
            </a:r>
            <a:endParaRPr lang="en-US" sz="1650" dirty="0"/>
          </a:p>
        </p:txBody>
      </p:sp>
      <p:sp>
        <p:nvSpPr>
          <p:cNvPr id="14" name="Shape 11"/>
          <p:cNvSpPr/>
          <p:nvPr/>
        </p:nvSpPr>
        <p:spPr>
          <a:xfrm>
            <a:off x="4302425" y="3703288"/>
            <a:ext cx="2999403" cy="2331692"/>
          </a:xfrm>
          <a:prstGeom prst="roundRect">
            <a:avLst>
              <a:gd name="adj" fmla="val 412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5" name="Text 12"/>
          <p:cNvSpPr/>
          <p:nvPr/>
        </p:nvSpPr>
        <p:spPr>
          <a:xfrm>
            <a:off x="4576723" y="4051949"/>
            <a:ext cx="2695830"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FD6953"/>
                </a:solidFill>
                <a:latin typeface="Oracle Sans Tab" pitchFamily="34" charset="0"/>
                <a:ea typeface="Oracle Sans Tab" pitchFamily="34" charset="-122"/>
                <a:cs typeface="Oracle Sans Tab" pitchFamily="34" charset="-120"/>
              </a:rPr>
              <a:t>INDEXES</a:t>
            </a:r>
            <a:endParaRPr lang="en-US" sz="1275" dirty="0"/>
          </a:p>
        </p:txBody>
      </p:sp>
      <p:sp>
        <p:nvSpPr>
          <p:cNvPr id="16" name="Text 13"/>
          <p:cNvSpPr/>
          <p:nvPr/>
        </p:nvSpPr>
        <p:spPr>
          <a:xfrm>
            <a:off x="4576723" y="4644109"/>
            <a:ext cx="2526955" cy="282426"/>
          </a:xfrm>
          <a:prstGeom prst="rect">
            <a:avLst/>
          </a:prstGeom>
          <a:noFill/>
          <a:ln/>
        </p:spPr>
        <p:txBody>
          <a:bodyPr wrap="square" lIns="25400" tIns="25400" rIns="25400" bIns="25400" rtlCol="0" anchor="t">
            <a:normAutofit lnSpcReduction="10000"/>
          </a:bodyPr>
          <a:lstStyle/>
          <a:p>
            <a:pPr marL="0" indent="0" algn="l">
              <a:lnSpc>
                <a:spcPct val="72960"/>
              </a:lnSpc>
              <a:buNone/>
            </a:pPr>
            <a:r>
              <a:rPr lang="en-US" sz="2025" b="1" dirty="0">
                <a:solidFill>
                  <a:srgbClr val="FFFFFF"/>
                </a:solidFill>
                <a:latin typeface="Oracle Sans Tab" pitchFamily="34" charset="0"/>
                <a:ea typeface="Oracle Sans Tab" pitchFamily="34" charset="-122"/>
                <a:cs typeface="Oracle Sans Tab" pitchFamily="34" charset="-120"/>
              </a:rPr>
              <a:t>Make it findable</a:t>
            </a:r>
            <a:endParaRPr lang="en-US" sz="2025" dirty="0"/>
          </a:p>
        </p:txBody>
      </p:sp>
      <p:sp>
        <p:nvSpPr>
          <p:cNvPr id="17" name="Text 14"/>
          <p:cNvSpPr/>
          <p:nvPr/>
        </p:nvSpPr>
        <p:spPr>
          <a:xfrm>
            <a:off x="4576723" y="5300658"/>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vector · lexical</a:t>
            </a:r>
            <a:endParaRPr lang="en-US" sz="1650" dirty="0"/>
          </a:p>
        </p:txBody>
      </p:sp>
      <p:sp>
        <p:nvSpPr>
          <p:cNvPr id="18" name="Text 15"/>
          <p:cNvSpPr/>
          <p:nvPr/>
        </p:nvSpPr>
        <p:spPr>
          <a:xfrm>
            <a:off x="4576723" y="5520645"/>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graph · hybrid</a:t>
            </a:r>
            <a:endParaRPr lang="en-US" sz="1650" dirty="0"/>
          </a:p>
        </p:txBody>
      </p:sp>
      <p:sp>
        <p:nvSpPr>
          <p:cNvPr id="19" name="Shape 16"/>
          <p:cNvSpPr/>
          <p:nvPr/>
        </p:nvSpPr>
        <p:spPr>
          <a:xfrm>
            <a:off x="7643771" y="3703288"/>
            <a:ext cx="2999403" cy="2331692"/>
          </a:xfrm>
          <a:prstGeom prst="roundRect">
            <a:avLst>
              <a:gd name="adj" fmla="val 412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0" name="Text 17"/>
          <p:cNvSpPr/>
          <p:nvPr/>
        </p:nvSpPr>
        <p:spPr>
          <a:xfrm>
            <a:off x="7918121" y="4051949"/>
            <a:ext cx="2695830"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FD6953"/>
                </a:solidFill>
                <a:latin typeface="Oracle Sans Tab" pitchFamily="34" charset="0"/>
                <a:ea typeface="Oracle Sans Tab" pitchFamily="34" charset="-122"/>
                <a:cs typeface="Oracle Sans Tab" pitchFamily="34" charset="-120"/>
              </a:rPr>
              <a:t>LIFECYCLE</a:t>
            </a:r>
            <a:endParaRPr lang="en-US" sz="1275" dirty="0"/>
          </a:p>
        </p:txBody>
      </p:sp>
      <p:sp>
        <p:nvSpPr>
          <p:cNvPr id="21" name="Text 18"/>
          <p:cNvSpPr/>
          <p:nvPr/>
        </p:nvSpPr>
        <p:spPr>
          <a:xfrm>
            <a:off x="7918121" y="4644109"/>
            <a:ext cx="2526955" cy="282426"/>
          </a:xfrm>
          <a:prstGeom prst="rect">
            <a:avLst/>
          </a:prstGeom>
          <a:noFill/>
          <a:ln/>
        </p:spPr>
        <p:txBody>
          <a:bodyPr wrap="square" lIns="25400" tIns="25400" rIns="25400" bIns="25400" rtlCol="0" anchor="t">
            <a:normAutofit lnSpcReduction="10000"/>
          </a:bodyPr>
          <a:lstStyle/>
          <a:p>
            <a:pPr marL="0" indent="0" algn="l">
              <a:lnSpc>
                <a:spcPct val="72960"/>
              </a:lnSpc>
              <a:buNone/>
            </a:pPr>
            <a:r>
              <a:rPr lang="en-US" sz="2025" b="1" dirty="0">
                <a:solidFill>
                  <a:srgbClr val="FFFFFF"/>
                </a:solidFill>
                <a:latin typeface="Oracle Sans Tab" pitchFamily="34" charset="0"/>
                <a:ea typeface="Oracle Sans Tab" pitchFamily="34" charset="-122"/>
                <a:cs typeface="Oracle Sans Tab" pitchFamily="34" charset="-120"/>
              </a:rPr>
              <a:t>Write, evict, refresh</a:t>
            </a:r>
            <a:endParaRPr lang="en-US" sz="2025" dirty="0"/>
          </a:p>
        </p:txBody>
      </p:sp>
      <p:sp>
        <p:nvSpPr>
          <p:cNvPr id="22" name="Text 19"/>
          <p:cNvSpPr/>
          <p:nvPr/>
        </p:nvSpPr>
        <p:spPr>
          <a:xfrm>
            <a:off x="7918121" y="5300658"/>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expiry · summarisation</a:t>
            </a:r>
            <a:endParaRPr lang="en-US" sz="1650" dirty="0"/>
          </a:p>
        </p:txBody>
      </p:sp>
      <p:sp>
        <p:nvSpPr>
          <p:cNvPr id="23" name="Text 20"/>
          <p:cNvSpPr/>
          <p:nvPr/>
        </p:nvSpPr>
        <p:spPr>
          <a:xfrm>
            <a:off x="7918121" y="5520645"/>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compaction</a:t>
            </a:r>
            <a:endParaRPr lang="en-US" sz="1650" dirty="0"/>
          </a:p>
        </p:txBody>
      </p:sp>
      <p:sp>
        <p:nvSpPr>
          <p:cNvPr id="24" name="Shape 21"/>
          <p:cNvSpPr/>
          <p:nvPr/>
        </p:nvSpPr>
        <p:spPr>
          <a:xfrm>
            <a:off x="10986099" y="3703288"/>
            <a:ext cx="2999403" cy="2331692"/>
          </a:xfrm>
          <a:prstGeom prst="roundRect">
            <a:avLst>
              <a:gd name="adj" fmla="val 412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5" name="Text 22"/>
          <p:cNvSpPr/>
          <p:nvPr/>
        </p:nvSpPr>
        <p:spPr>
          <a:xfrm>
            <a:off x="11260449" y="4051949"/>
            <a:ext cx="2695830"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FD6953"/>
                </a:solidFill>
                <a:latin typeface="Oracle Sans Tab" pitchFamily="34" charset="0"/>
                <a:ea typeface="Oracle Sans Tab" pitchFamily="34" charset="-122"/>
                <a:cs typeface="Oracle Sans Tab" pitchFamily="34" charset="-120"/>
              </a:rPr>
              <a:t>RETRIEVAL</a:t>
            </a:r>
            <a:endParaRPr lang="en-US" sz="1275" dirty="0"/>
          </a:p>
        </p:txBody>
      </p:sp>
      <p:sp>
        <p:nvSpPr>
          <p:cNvPr id="26" name="Text 23"/>
          <p:cNvSpPr/>
          <p:nvPr/>
        </p:nvSpPr>
        <p:spPr>
          <a:xfrm>
            <a:off x="11260449" y="4644109"/>
            <a:ext cx="2526955" cy="282426"/>
          </a:xfrm>
          <a:prstGeom prst="rect">
            <a:avLst/>
          </a:prstGeom>
          <a:noFill/>
          <a:ln/>
        </p:spPr>
        <p:txBody>
          <a:bodyPr wrap="square" lIns="25400" tIns="25400" rIns="25400" bIns="25400" rtlCol="0" anchor="t">
            <a:normAutofit lnSpcReduction="10000"/>
          </a:bodyPr>
          <a:lstStyle/>
          <a:p>
            <a:pPr marL="0" indent="0" algn="l">
              <a:lnSpc>
                <a:spcPct val="72960"/>
              </a:lnSpc>
              <a:buNone/>
            </a:pPr>
            <a:r>
              <a:rPr lang="en-US" sz="2025" b="1" dirty="0">
                <a:solidFill>
                  <a:srgbClr val="FFFFFF"/>
                </a:solidFill>
                <a:latin typeface="Oracle Sans Tab" pitchFamily="34" charset="0"/>
                <a:ea typeface="Oracle Sans Tab" pitchFamily="34" charset="-122"/>
                <a:cs typeface="Oracle Sans Tab" pitchFamily="34" charset="-120"/>
              </a:rPr>
              <a:t>Read in context</a:t>
            </a:r>
            <a:endParaRPr lang="en-US" sz="2025" dirty="0"/>
          </a:p>
        </p:txBody>
      </p:sp>
      <p:sp>
        <p:nvSpPr>
          <p:cNvPr id="27" name="Text 24"/>
          <p:cNvSpPr/>
          <p:nvPr/>
        </p:nvSpPr>
        <p:spPr>
          <a:xfrm>
            <a:off x="11260449" y="5300658"/>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top-k · fusion</a:t>
            </a:r>
            <a:endParaRPr lang="en-US" sz="1650" dirty="0"/>
          </a:p>
        </p:txBody>
      </p:sp>
      <p:sp>
        <p:nvSpPr>
          <p:cNvPr id="28" name="Text 25"/>
          <p:cNvSpPr/>
          <p:nvPr/>
        </p:nvSpPr>
        <p:spPr>
          <a:xfrm>
            <a:off x="11260449" y="5520645"/>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rerank</a:t>
            </a:r>
            <a:endParaRPr lang="en-US" sz="1650" dirty="0"/>
          </a:p>
        </p:txBody>
      </p:sp>
      <p:sp>
        <p:nvSpPr>
          <p:cNvPr id="29" name="Shape 26"/>
          <p:cNvSpPr/>
          <p:nvPr/>
        </p:nvSpPr>
        <p:spPr>
          <a:xfrm>
            <a:off x="14328428" y="3703288"/>
            <a:ext cx="2999403" cy="2331692"/>
          </a:xfrm>
          <a:prstGeom prst="roundRect">
            <a:avLst>
              <a:gd name="adj" fmla="val 412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30" name="Text 27"/>
          <p:cNvSpPr/>
          <p:nvPr/>
        </p:nvSpPr>
        <p:spPr>
          <a:xfrm>
            <a:off x="14602777" y="4051949"/>
            <a:ext cx="2695830"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FD6953"/>
                </a:solidFill>
                <a:latin typeface="Oracle Sans Tab" pitchFamily="34" charset="0"/>
                <a:ea typeface="Oracle Sans Tab" pitchFamily="34" charset="-122"/>
                <a:cs typeface="Oracle Sans Tab" pitchFamily="34" charset="-120"/>
              </a:rPr>
              <a:t>GOVERNANCE</a:t>
            </a:r>
            <a:endParaRPr lang="en-US" sz="1275" dirty="0"/>
          </a:p>
        </p:txBody>
      </p:sp>
      <p:sp>
        <p:nvSpPr>
          <p:cNvPr id="31" name="Text 28"/>
          <p:cNvSpPr/>
          <p:nvPr/>
        </p:nvSpPr>
        <p:spPr>
          <a:xfrm>
            <a:off x="14602777" y="4644109"/>
            <a:ext cx="2526955" cy="282426"/>
          </a:xfrm>
          <a:prstGeom prst="rect">
            <a:avLst/>
          </a:prstGeom>
          <a:noFill/>
          <a:ln/>
        </p:spPr>
        <p:txBody>
          <a:bodyPr wrap="square" lIns="25400" tIns="25400" rIns="25400" bIns="25400" rtlCol="0" anchor="t">
            <a:normAutofit lnSpcReduction="10000"/>
          </a:bodyPr>
          <a:lstStyle/>
          <a:p>
            <a:pPr marL="0" indent="0" algn="l">
              <a:lnSpc>
                <a:spcPct val="72960"/>
              </a:lnSpc>
              <a:buNone/>
            </a:pPr>
            <a:r>
              <a:rPr lang="en-US" sz="2025" b="1" dirty="0">
                <a:solidFill>
                  <a:srgbClr val="FFFFFF"/>
                </a:solidFill>
                <a:latin typeface="Oracle Sans Tab" pitchFamily="34" charset="0"/>
                <a:ea typeface="Oracle Sans Tab" pitchFamily="34" charset="-122"/>
                <a:cs typeface="Oracle Sans Tab" pitchFamily="34" charset="-120"/>
              </a:rPr>
              <a:t>Scope by identity</a:t>
            </a:r>
            <a:endParaRPr lang="en-US" sz="2025" dirty="0"/>
          </a:p>
        </p:txBody>
      </p:sp>
      <p:sp>
        <p:nvSpPr>
          <p:cNvPr id="32" name="Text 29"/>
          <p:cNvSpPr/>
          <p:nvPr/>
        </p:nvSpPr>
        <p:spPr>
          <a:xfrm>
            <a:off x="14602777" y="5300658"/>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user · agent</a:t>
            </a:r>
            <a:endParaRPr lang="en-US" sz="1650" dirty="0"/>
          </a:p>
        </p:txBody>
      </p:sp>
      <p:sp>
        <p:nvSpPr>
          <p:cNvPr id="33" name="Text 30"/>
          <p:cNvSpPr/>
          <p:nvPr/>
        </p:nvSpPr>
        <p:spPr>
          <a:xfrm>
            <a:off x="14602777" y="5520645"/>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thread · RLS</a:t>
            </a:r>
            <a:endParaRPr lang="en-US" sz="16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LAYER 4, MEMORY</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MEMORY MANAGER, THE DISCIPLINE</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MEMORY LAYER</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Agent memory is a </a:t>
            </a:r>
            <a:r>
              <a:rPr lang="en-US" sz="5100" b="1" i="1" dirty="0">
                <a:solidFill>
                  <a:srgbClr val="FD6953"/>
                </a:solidFill>
                <a:latin typeface="Oracle Sans Tab" pitchFamily="34" charset="0"/>
                <a:ea typeface="Oracle Sans Tab" pitchFamily="34" charset="-122"/>
                <a:cs typeface="Oracle Sans Tab" pitchFamily="34" charset="-120"/>
              </a:rPr>
              <a:t>discipline.</a:t>
            </a:r>
            <a:endParaRPr lang="en-US" sz="1200" dirty="0"/>
          </a:p>
        </p:txBody>
      </p:sp>
      <p:sp>
        <p:nvSpPr>
          <p:cNvPr id="8" name="Text 5"/>
          <p:cNvSpPr/>
          <p:nvPr/>
        </p:nvSpPr>
        <p:spPr>
          <a:xfrm>
            <a:off x="960096" y="3060847"/>
            <a:ext cx="16387870" cy="335239"/>
          </a:xfrm>
          <a:prstGeom prst="rect">
            <a:avLst/>
          </a:prstGeom>
          <a:noFill/>
          <a:ln/>
        </p:spPr>
        <p:txBody>
          <a:bodyPr wrap="square" lIns="25400" tIns="25400" rIns="25400" bIns="25400" rtlCol="0" anchor="t">
            <a:normAutofit/>
          </a:bodyPr>
          <a:lstStyle/>
          <a:p>
            <a:pPr marL="0" indent="0" algn="l">
              <a:lnSpc>
                <a:spcPct val="92160"/>
              </a:lnSpc>
              <a:buNone/>
            </a:pPr>
            <a:r>
              <a:rPr lang="en-US" sz="1950" i="1" dirty="0">
                <a:solidFill>
                  <a:srgbClr val="C3D7DC"/>
                </a:solidFill>
                <a:latin typeface="Oracle Sans Tab" pitchFamily="34" charset="0"/>
                <a:ea typeface="Oracle Sans Tab" pitchFamily="34" charset="-122"/>
                <a:cs typeface="Oracle Sans Tab" pitchFamily="34" charset="-120"/>
              </a:rPr>
              <a:t>Schemas, indexes, lifecycle, retrieval, governance: the harness manages all of it.</a:t>
            </a:r>
            <a:endParaRPr lang="en-US" sz="1950" dirty="0"/>
          </a:p>
        </p:txBody>
      </p:sp>
      <p:sp>
        <p:nvSpPr>
          <p:cNvPr id="9" name="Shape 6"/>
          <p:cNvSpPr/>
          <p:nvPr/>
        </p:nvSpPr>
        <p:spPr>
          <a:xfrm>
            <a:off x="960096" y="3703288"/>
            <a:ext cx="2999403" cy="2331692"/>
          </a:xfrm>
          <a:prstGeom prst="roundRect">
            <a:avLst>
              <a:gd name="adj" fmla="val 412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0" name="Text 7"/>
          <p:cNvSpPr/>
          <p:nvPr/>
        </p:nvSpPr>
        <p:spPr>
          <a:xfrm>
            <a:off x="1234395" y="4051949"/>
            <a:ext cx="2695830"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FD6953"/>
                </a:solidFill>
                <a:latin typeface="Oracle Sans Tab" pitchFamily="34" charset="0"/>
                <a:ea typeface="Oracle Sans Tab" pitchFamily="34" charset="-122"/>
                <a:cs typeface="Oracle Sans Tab" pitchFamily="34" charset="-120"/>
              </a:rPr>
              <a:t>SCHEMAS</a:t>
            </a:r>
            <a:endParaRPr lang="en-US" sz="1275" dirty="0"/>
          </a:p>
        </p:txBody>
      </p:sp>
      <p:sp>
        <p:nvSpPr>
          <p:cNvPr id="11" name="Text 8"/>
          <p:cNvSpPr/>
          <p:nvPr/>
        </p:nvSpPr>
        <p:spPr>
          <a:xfrm>
            <a:off x="1234395" y="4644109"/>
            <a:ext cx="2526955" cy="282426"/>
          </a:xfrm>
          <a:prstGeom prst="rect">
            <a:avLst/>
          </a:prstGeom>
          <a:noFill/>
          <a:ln/>
        </p:spPr>
        <p:txBody>
          <a:bodyPr wrap="square" lIns="25400" tIns="25400" rIns="25400" bIns="25400" rtlCol="0" anchor="t">
            <a:normAutofit lnSpcReduction="10000"/>
          </a:bodyPr>
          <a:lstStyle/>
          <a:p>
            <a:pPr marL="0" indent="0" algn="l">
              <a:lnSpc>
                <a:spcPct val="72960"/>
              </a:lnSpc>
              <a:buNone/>
            </a:pPr>
            <a:r>
              <a:rPr lang="en-US" sz="2025" b="1" dirty="0">
                <a:solidFill>
                  <a:srgbClr val="FFFFFF"/>
                </a:solidFill>
                <a:latin typeface="Oracle Sans Tab" pitchFamily="34" charset="0"/>
                <a:ea typeface="Oracle Sans Tab" pitchFamily="34" charset="-122"/>
                <a:cs typeface="Oracle Sans Tab" pitchFamily="34" charset="-120"/>
              </a:rPr>
              <a:t>Memory types</a:t>
            </a:r>
            <a:endParaRPr lang="en-US" sz="2025" dirty="0"/>
          </a:p>
        </p:txBody>
      </p:sp>
      <p:sp>
        <p:nvSpPr>
          <p:cNvPr id="12" name="Text 9"/>
          <p:cNvSpPr/>
          <p:nvPr/>
        </p:nvSpPr>
        <p:spPr>
          <a:xfrm>
            <a:off x="1234395" y="5300658"/>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episodic · semantic</a:t>
            </a:r>
            <a:endParaRPr lang="en-US" sz="1650" dirty="0"/>
          </a:p>
        </p:txBody>
      </p:sp>
      <p:sp>
        <p:nvSpPr>
          <p:cNvPr id="13" name="Text 10"/>
          <p:cNvSpPr/>
          <p:nvPr/>
        </p:nvSpPr>
        <p:spPr>
          <a:xfrm>
            <a:off x="1234395" y="5520645"/>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procedural · working</a:t>
            </a:r>
            <a:endParaRPr lang="en-US" sz="1650" dirty="0"/>
          </a:p>
        </p:txBody>
      </p:sp>
      <p:sp>
        <p:nvSpPr>
          <p:cNvPr id="14" name="Shape 11"/>
          <p:cNvSpPr/>
          <p:nvPr/>
        </p:nvSpPr>
        <p:spPr>
          <a:xfrm>
            <a:off x="4302425" y="3703288"/>
            <a:ext cx="2999403" cy="2331692"/>
          </a:xfrm>
          <a:prstGeom prst="roundRect">
            <a:avLst>
              <a:gd name="adj" fmla="val 412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5" name="Text 12"/>
          <p:cNvSpPr/>
          <p:nvPr/>
        </p:nvSpPr>
        <p:spPr>
          <a:xfrm>
            <a:off x="4576723" y="4051949"/>
            <a:ext cx="2695830"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FD6953"/>
                </a:solidFill>
                <a:latin typeface="Oracle Sans Tab" pitchFamily="34" charset="0"/>
                <a:ea typeface="Oracle Sans Tab" pitchFamily="34" charset="-122"/>
                <a:cs typeface="Oracle Sans Tab" pitchFamily="34" charset="-120"/>
              </a:rPr>
              <a:t>INDEXES</a:t>
            </a:r>
            <a:endParaRPr lang="en-US" sz="1275" dirty="0"/>
          </a:p>
        </p:txBody>
      </p:sp>
      <p:sp>
        <p:nvSpPr>
          <p:cNvPr id="16" name="Text 13"/>
          <p:cNvSpPr/>
          <p:nvPr/>
        </p:nvSpPr>
        <p:spPr>
          <a:xfrm>
            <a:off x="4576723" y="4644109"/>
            <a:ext cx="2526955" cy="282426"/>
          </a:xfrm>
          <a:prstGeom prst="rect">
            <a:avLst/>
          </a:prstGeom>
          <a:noFill/>
          <a:ln/>
        </p:spPr>
        <p:txBody>
          <a:bodyPr wrap="square" lIns="25400" tIns="25400" rIns="25400" bIns="25400" rtlCol="0" anchor="t">
            <a:normAutofit lnSpcReduction="10000"/>
          </a:bodyPr>
          <a:lstStyle/>
          <a:p>
            <a:pPr marL="0" indent="0" algn="l">
              <a:lnSpc>
                <a:spcPct val="72960"/>
              </a:lnSpc>
              <a:buNone/>
            </a:pPr>
            <a:r>
              <a:rPr lang="en-US" sz="2025" b="1" dirty="0">
                <a:solidFill>
                  <a:srgbClr val="FFFFFF"/>
                </a:solidFill>
                <a:latin typeface="Oracle Sans Tab" pitchFamily="34" charset="0"/>
                <a:ea typeface="Oracle Sans Tab" pitchFamily="34" charset="-122"/>
                <a:cs typeface="Oracle Sans Tab" pitchFamily="34" charset="-120"/>
              </a:rPr>
              <a:t>Make it findable</a:t>
            </a:r>
            <a:endParaRPr lang="en-US" sz="2025" dirty="0"/>
          </a:p>
        </p:txBody>
      </p:sp>
      <p:sp>
        <p:nvSpPr>
          <p:cNvPr id="17" name="Text 14"/>
          <p:cNvSpPr/>
          <p:nvPr/>
        </p:nvSpPr>
        <p:spPr>
          <a:xfrm>
            <a:off x="4576723" y="5300658"/>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vector · lexical</a:t>
            </a:r>
            <a:endParaRPr lang="en-US" sz="1650" dirty="0"/>
          </a:p>
        </p:txBody>
      </p:sp>
      <p:sp>
        <p:nvSpPr>
          <p:cNvPr id="18" name="Text 15"/>
          <p:cNvSpPr/>
          <p:nvPr/>
        </p:nvSpPr>
        <p:spPr>
          <a:xfrm>
            <a:off x="4576723" y="5520645"/>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graph · hybrid</a:t>
            </a:r>
            <a:endParaRPr lang="en-US" sz="1650" dirty="0"/>
          </a:p>
        </p:txBody>
      </p:sp>
      <p:sp>
        <p:nvSpPr>
          <p:cNvPr id="19" name="Shape 16"/>
          <p:cNvSpPr/>
          <p:nvPr/>
        </p:nvSpPr>
        <p:spPr>
          <a:xfrm>
            <a:off x="7643771" y="3703288"/>
            <a:ext cx="2999403" cy="2331692"/>
          </a:xfrm>
          <a:prstGeom prst="roundRect">
            <a:avLst>
              <a:gd name="adj" fmla="val 412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0" name="Text 17"/>
          <p:cNvSpPr/>
          <p:nvPr/>
        </p:nvSpPr>
        <p:spPr>
          <a:xfrm>
            <a:off x="7918121" y="4051949"/>
            <a:ext cx="2695830"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FD6953"/>
                </a:solidFill>
                <a:latin typeface="Oracle Sans Tab" pitchFamily="34" charset="0"/>
                <a:ea typeface="Oracle Sans Tab" pitchFamily="34" charset="-122"/>
                <a:cs typeface="Oracle Sans Tab" pitchFamily="34" charset="-120"/>
              </a:rPr>
              <a:t>LIFECYCLE</a:t>
            </a:r>
            <a:endParaRPr lang="en-US" sz="1275" dirty="0"/>
          </a:p>
        </p:txBody>
      </p:sp>
      <p:sp>
        <p:nvSpPr>
          <p:cNvPr id="21" name="Text 18"/>
          <p:cNvSpPr/>
          <p:nvPr/>
        </p:nvSpPr>
        <p:spPr>
          <a:xfrm>
            <a:off x="7918121" y="4644109"/>
            <a:ext cx="2526955" cy="282426"/>
          </a:xfrm>
          <a:prstGeom prst="rect">
            <a:avLst/>
          </a:prstGeom>
          <a:noFill/>
          <a:ln/>
        </p:spPr>
        <p:txBody>
          <a:bodyPr wrap="square" lIns="25400" tIns="25400" rIns="25400" bIns="25400" rtlCol="0" anchor="t">
            <a:normAutofit lnSpcReduction="10000"/>
          </a:bodyPr>
          <a:lstStyle/>
          <a:p>
            <a:pPr marL="0" indent="0" algn="l">
              <a:lnSpc>
                <a:spcPct val="72960"/>
              </a:lnSpc>
              <a:buNone/>
            </a:pPr>
            <a:r>
              <a:rPr lang="en-US" sz="2025" b="1" dirty="0">
                <a:solidFill>
                  <a:srgbClr val="FFFFFF"/>
                </a:solidFill>
                <a:latin typeface="Oracle Sans Tab" pitchFamily="34" charset="0"/>
                <a:ea typeface="Oracle Sans Tab" pitchFamily="34" charset="-122"/>
                <a:cs typeface="Oracle Sans Tab" pitchFamily="34" charset="-120"/>
              </a:rPr>
              <a:t>Write, evict, refresh</a:t>
            </a:r>
            <a:endParaRPr lang="en-US" sz="2025" dirty="0"/>
          </a:p>
        </p:txBody>
      </p:sp>
      <p:sp>
        <p:nvSpPr>
          <p:cNvPr id="22" name="Text 19"/>
          <p:cNvSpPr/>
          <p:nvPr/>
        </p:nvSpPr>
        <p:spPr>
          <a:xfrm>
            <a:off x="7918121" y="5300658"/>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expiry · summarisation</a:t>
            </a:r>
            <a:endParaRPr lang="en-US" sz="1650" dirty="0"/>
          </a:p>
        </p:txBody>
      </p:sp>
      <p:sp>
        <p:nvSpPr>
          <p:cNvPr id="23" name="Text 20"/>
          <p:cNvSpPr/>
          <p:nvPr/>
        </p:nvSpPr>
        <p:spPr>
          <a:xfrm>
            <a:off x="7918121" y="5520645"/>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compaction</a:t>
            </a:r>
            <a:endParaRPr lang="en-US" sz="1650" dirty="0"/>
          </a:p>
        </p:txBody>
      </p:sp>
      <p:sp>
        <p:nvSpPr>
          <p:cNvPr id="24" name="Shape 21"/>
          <p:cNvSpPr/>
          <p:nvPr/>
        </p:nvSpPr>
        <p:spPr>
          <a:xfrm>
            <a:off x="10986099" y="3703288"/>
            <a:ext cx="2999403" cy="2331692"/>
          </a:xfrm>
          <a:prstGeom prst="roundRect">
            <a:avLst>
              <a:gd name="adj" fmla="val 412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5" name="Text 22"/>
          <p:cNvSpPr/>
          <p:nvPr/>
        </p:nvSpPr>
        <p:spPr>
          <a:xfrm>
            <a:off x="11260449" y="4051949"/>
            <a:ext cx="2695830"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FD6953"/>
                </a:solidFill>
                <a:latin typeface="Oracle Sans Tab" pitchFamily="34" charset="0"/>
                <a:ea typeface="Oracle Sans Tab" pitchFamily="34" charset="-122"/>
                <a:cs typeface="Oracle Sans Tab" pitchFamily="34" charset="-120"/>
              </a:rPr>
              <a:t>RETRIEVAL</a:t>
            </a:r>
            <a:endParaRPr lang="en-US" sz="1275" dirty="0"/>
          </a:p>
        </p:txBody>
      </p:sp>
      <p:sp>
        <p:nvSpPr>
          <p:cNvPr id="26" name="Text 23"/>
          <p:cNvSpPr/>
          <p:nvPr/>
        </p:nvSpPr>
        <p:spPr>
          <a:xfrm>
            <a:off x="11260449" y="4644109"/>
            <a:ext cx="2526955" cy="282426"/>
          </a:xfrm>
          <a:prstGeom prst="rect">
            <a:avLst/>
          </a:prstGeom>
          <a:noFill/>
          <a:ln/>
        </p:spPr>
        <p:txBody>
          <a:bodyPr wrap="square" lIns="25400" tIns="25400" rIns="25400" bIns="25400" rtlCol="0" anchor="t">
            <a:normAutofit lnSpcReduction="10000"/>
          </a:bodyPr>
          <a:lstStyle/>
          <a:p>
            <a:pPr marL="0" indent="0" algn="l">
              <a:lnSpc>
                <a:spcPct val="72960"/>
              </a:lnSpc>
              <a:buNone/>
            </a:pPr>
            <a:r>
              <a:rPr lang="en-US" sz="2025" b="1" dirty="0">
                <a:solidFill>
                  <a:srgbClr val="FFFFFF"/>
                </a:solidFill>
                <a:latin typeface="Oracle Sans Tab" pitchFamily="34" charset="0"/>
                <a:ea typeface="Oracle Sans Tab" pitchFamily="34" charset="-122"/>
                <a:cs typeface="Oracle Sans Tab" pitchFamily="34" charset="-120"/>
              </a:rPr>
              <a:t>Read in context</a:t>
            </a:r>
            <a:endParaRPr lang="en-US" sz="2025" dirty="0"/>
          </a:p>
        </p:txBody>
      </p:sp>
      <p:sp>
        <p:nvSpPr>
          <p:cNvPr id="27" name="Text 24"/>
          <p:cNvSpPr/>
          <p:nvPr/>
        </p:nvSpPr>
        <p:spPr>
          <a:xfrm>
            <a:off x="11260449" y="5300658"/>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top-k · fusion</a:t>
            </a:r>
            <a:endParaRPr lang="en-US" sz="1650" dirty="0"/>
          </a:p>
        </p:txBody>
      </p:sp>
      <p:sp>
        <p:nvSpPr>
          <p:cNvPr id="28" name="Text 25"/>
          <p:cNvSpPr/>
          <p:nvPr/>
        </p:nvSpPr>
        <p:spPr>
          <a:xfrm>
            <a:off x="11260449" y="5520645"/>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rerank</a:t>
            </a:r>
            <a:endParaRPr lang="en-US" sz="1650" dirty="0"/>
          </a:p>
        </p:txBody>
      </p:sp>
      <p:sp>
        <p:nvSpPr>
          <p:cNvPr id="29" name="Shape 26"/>
          <p:cNvSpPr/>
          <p:nvPr/>
        </p:nvSpPr>
        <p:spPr>
          <a:xfrm>
            <a:off x="14328428" y="3703288"/>
            <a:ext cx="2999403" cy="2331692"/>
          </a:xfrm>
          <a:prstGeom prst="roundRect">
            <a:avLst>
              <a:gd name="adj" fmla="val 412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30" name="Text 27"/>
          <p:cNvSpPr/>
          <p:nvPr/>
        </p:nvSpPr>
        <p:spPr>
          <a:xfrm>
            <a:off x="14602777" y="4051949"/>
            <a:ext cx="2695830"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FD6953"/>
                </a:solidFill>
                <a:latin typeface="Oracle Sans Tab" pitchFamily="34" charset="0"/>
                <a:ea typeface="Oracle Sans Tab" pitchFamily="34" charset="-122"/>
                <a:cs typeface="Oracle Sans Tab" pitchFamily="34" charset="-120"/>
              </a:rPr>
              <a:t>GOVERNANCE</a:t>
            </a:r>
            <a:endParaRPr lang="en-US" sz="1275" dirty="0"/>
          </a:p>
        </p:txBody>
      </p:sp>
      <p:sp>
        <p:nvSpPr>
          <p:cNvPr id="31" name="Text 28"/>
          <p:cNvSpPr/>
          <p:nvPr/>
        </p:nvSpPr>
        <p:spPr>
          <a:xfrm>
            <a:off x="14602777" y="4644109"/>
            <a:ext cx="2526955" cy="282426"/>
          </a:xfrm>
          <a:prstGeom prst="rect">
            <a:avLst/>
          </a:prstGeom>
          <a:noFill/>
          <a:ln/>
        </p:spPr>
        <p:txBody>
          <a:bodyPr wrap="square" lIns="25400" tIns="25400" rIns="25400" bIns="25400" rtlCol="0" anchor="t">
            <a:normAutofit lnSpcReduction="10000"/>
          </a:bodyPr>
          <a:lstStyle/>
          <a:p>
            <a:pPr marL="0" indent="0" algn="l">
              <a:lnSpc>
                <a:spcPct val="72960"/>
              </a:lnSpc>
              <a:buNone/>
            </a:pPr>
            <a:r>
              <a:rPr lang="en-US" sz="2025" b="1" dirty="0">
                <a:solidFill>
                  <a:srgbClr val="FFFFFF"/>
                </a:solidFill>
                <a:latin typeface="Oracle Sans Tab" pitchFamily="34" charset="0"/>
                <a:ea typeface="Oracle Sans Tab" pitchFamily="34" charset="-122"/>
                <a:cs typeface="Oracle Sans Tab" pitchFamily="34" charset="-120"/>
              </a:rPr>
              <a:t>Scope by identity</a:t>
            </a:r>
            <a:endParaRPr lang="en-US" sz="2025" dirty="0"/>
          </a:p>
        </p:txBody>
      </p:sp>
      <p:sp>
        <p:nvSpPr>
          <p:cNvPr id="32" name="Text 29"/>
          <p:cNvSpPr/>
          <p:nvPr/>
        </p:nvSpPr>
        <p:spPr>
          <a:xfrm>
            <a:off x="14602777" y="5300658"/>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user · agent</a:t>
            </a:r>
            <a:endParaRPr lang="en-US" sz="1650" dirty="0"/>
          </a:p>
        </p:txBody>
      </p:sp>
      <p:sp>
        <p:nvSpPr>
          <p:cNvPr id="33" name="Text 30"/>
          <p:cNvSpPr/>
          <p:nvPr/>
        </p:nvSpPr>
        <p:spPr>
          <a:xfrm>
            <a:off x="14602777" y="5520645"/>
            <a:ext cx="2695830" cy="258087"/>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650" dirty="0">
                <a:solidFill>
                  <a:srgbClr val="C3D7DC"/>
                </a:solidFill>
                <a:latin typeface="Oracle Sans Tab" pitchFamily="34" charset="0"/>
                <a:ea typeface="Oracle Sans Tab" pitchFamily="34" charset="-122"/>
                <a:cs typeface="Oracle Sans Tab" pitchFamily="34" charset="-120"/>
              </a:rPr>
              <a:t>thread · RLS</a:t>
            </a:r>
            <a:endParaRPr lang="en-US" sz="1650" dirty="0"/>
          </a:p>
        </p:txBody>
      </p:sp>
      <p:sp>
        <p:nvSpPr>
          <p:cNvPr id="34" name="Shape 31"/>
          <p:cNvSpPr/>
          <p:nvPr/>
        </p:nvSpPr>
        <p:spPr>
          <a:xfrm>
            <a:off x="960096" y="6789404"/>
            <a:ext cx="16683012" cy="2125968"/>
          </a:xfrm>
          <a:prstGeom prst="roundRect">
            <a:avLst>
              <a:gd name="adj" fmla="val 4525"/>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35" name="Text 32"/>
          <p:cNvSpPr/>
          <p:nvPr/>
        </p:nvSpPr>
        <p:spPr>
          <a:xfrm>
            <a:off x="1508745" y="7204625"/>
            <a:ext cx="7543777"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b="1" dirty="0">
                <a:solidFill>
                  <a:srgbClr val="FD6953"/>
                </a:solidFill>
                <a:latin typeface="Oracle Sans Tab" pitchFamily="34" charset="0"/>
                <a:ea typeface="Oracle Sans Tab" pitchFamily="34" charset="-122"/>
                <a:cs typeface="Oracle Sans Tab" pitchFamily="34" charset="-120"/>
              </a:rPr>
              <a:t>ORACLE'S ANSWER, OAMP</a:t>
            </a:r>
            <a:endParaRPr lang="en-US" sz="1575" dirty="0"/>
          </a:p>
        </p:txBody>
      </p:sp>
      <p:sp>
        <p:nvSpPr>
          <p:cNvPr id="36" name="Text 33"/>
          <p:cNvSpPr/>
          <p:nvPr/>
        </p:nvSpPr>
        <p:spPr>
          <a:xfrm>
            <a:off x="1508745" y="7760456"/>
            <a:ext cx="6216083" cy="345730"/>
          </a:xfrm>
          <a:prstGeom prst="rect">
            <a:avLst/>
          </a:prstGeom>
          <a:noFill/>
          <a:ln/>
        </p:spPr>
        <p:txBody>
          <a:bodyPr wrap="square" lIns="25400" tIns="25400" rIns="25400" bIns="25400" rtlCol="0" anchor="t">
            <a:normAutofit lnSpcReduction="10000"/>
          </a:bodyPr>
          <a:lstStyle/>
          <a:p>
            <a:pPr marL="0" indent="0" algn="l">
              <a:lnSpc>
                <a:spcPct val="72960"/>
              </a:lnSpc>
              <a:buNone/>
            </a:pPr>
            <a:r>
              <a:rPr lang="en-US" sz="2550" b="1" dirty="0">
                <a:solidFill>
                  <a:srgbClr val="FFFFFF"/>
                </a:solidFill>
                <a:latin typeface="Oracle Sans Tab" pitchFamily="34" charset="0"/>
                <a:ea typeface="Oracle Sans Tab" pitchFamily="34" charset="-122"/>
                <a:cs typeface="Oracle Sans Tab" pitchFamily="34" charset="-120"/>
              </a:rPr>
              <a:t>Oracle AI Agent Memory Package</a:t>
            </a:r>
            <a:endParaRPr lang="en-US" sz="2550" dirty="0"/>
          </a:p>
        </p:txBody>
      </p:sp>
      <p:sp>
        <p:nvSpPr>
          <p:cNvPr id="37" name="Text 34"/>
          <p:cNvSpPr/>
          <p:nvPr/>
        </p:nvSpPr>
        <p:spPr>
          <a:xfrm>
            <a:off x="1508745" y="8405792"/>
            <a:ext cx="6216083"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b="1" dirty="0">
                <a:solidFill>
                  <a:srgbClr val="FD6953"/>
                </a:solidFill>
                <a:latin typeface="Menlo" pitchFamily="34" charset="0"/>
                <a:ea typeface="Menlo" pitchFamily="34" charset="-122"/>
                <a:cs typeface="Menlo" pitchFamily="34" charset="-120"/>
              </a:rPr>
              <a:t>pip install oracleagentmemory</a:t>
            </a:r>
            <a:endParaRPr lang="en-US" sz="1650" dirty="0"/>
          </a:p>
        </p:txBody>
      </p:sp>
      <p:sp>
        <p:nvSpPr>
          <p:cNvPr id="38" name="Shape 35"/>
          <p:cNvSpPr/>
          <p:nvPr/>
        </p:nvSpPr>
        <p:spPr>
          <a:xfrm>
            <a:off x="8092426" y="7173257"/>
            <a:ext cx="2849852" cy="1343949"/>
          </a:xfrm>
          <a:prstGeom prst="roundRect">
            <a:avLst>
              <a:gd name="adj" fmla="val 7158"/>
            </a:avLst>
          </a:prstGeom>
          <a:solidFill>
            <a:srgbClr val="0B5060"/>
          </a:solidFill>
          <a:ln w="16536">
            <a:solidFill>
              <a:srgbClr val="FFFFFF">
                <a:alpha val="20000"/>
              </a:srgbClr>
            </a:solidFill>
            <a:prstDash val="solid"/>
          </a:ln>
        </p:spPr>
        <p:txBody>
          <a:bodyPr/>
          <a:lstStyle/>
          <a:p>
            <a:endParaRPr lang="en-US"/>
          </a:p>
        </p:txBody>
      </p:sp>
      <p:sp>
        <p:nvSpPr>
          <p:cNvPr id="39" name="Text 36"/>
          <p:cNvSpPr/>
          <p:nvPr/>
        </p:nvSpPr>
        <p:spPr>
          <a:xfrm>
            <a:off x="8366724" y="7439959"/>
            <a:ext cx="2531323"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C3D7DC"/>
                </a:solidFill>
                <a:latin typeface="Oracle Sans Tab" pitchFamily="34" charset="0"/>
                <a:ea typeface="Oracle Sans Tab" pitchFamily="34" charset="-122"/>
                <a:cs typeface="Oracle Sans Tab" pitchFamily="34" charset="-120"/>
              </a:rPr>
              <a:t>01</a:t>
            </a:r>
            <a:endParaRPr lang="en-US" sz="1275" dirty="0"/>
          </a:p>
        </p:txBody>
      </p:sp>
      <p:sp>
        <p:nvSpPr>
          <p:cNvPr id="40" name="Text 37"/>
          <p:cNvSpPr/>
          <p:nvPr/>
        </p:nvSpPr>
        <p:spPr>
          <a:xfrm>
            <a:off x="8366724" y="7669506"/>
            <a:ext cx="2377403" cy="335239"/>
          </a:xfrm>
          <a:prstGeom prst="rect">
            <a:avLst/>
          </a:prstGeom>
          <a:noFill/>
          <a:ln/>
        </p:spPr>
        <p:txBody>
          <a:bodyPr wrap="square" lIns="25400" tIns="25400" rIns="25400" bIns="25400" rtlCol="0" anchor="t">
            <a:normAutofit/>
          </a:bodyPr>
          <a:lstStyle/>
          <a:p>
            <a:pPr marL="0" indent="0" algn="l">
              <a:lnSpc>
                <a:spcPct val="92160"/>
              </a:lnSpc>
              <a:buNone/>
            </a:pPr>
            <a:r>
              <a:rPr lang="en-US" sz="1950" b="1" dirty="0">
                <a:solidFill>
                  <a:srgbClr val="FFFFFF"/>
                </a:solidFill>
                <a:latin typeface="Oracle Sans Tab" pitchFamily="34" charset="0"/>
                <a:ea typeface="Oracle Sans Tab" pitchFamily="34" charset="-122"/>
                <a:cs typeface="Oracle Sans Tab" pitchFamily="34" charset="-120"/>
              </a:rPr>
              <a:t>memory</a:t>
            </a:r>
            <a:endParaRPr lang="en-US" sz="1950" dirty="0"/>
          </a:p>
        </p:txBody>
      </p:sp>
      <p:sp>
        <p:nvSpPr>
          <p:cNvPr id="41" name="Text 38"/>
          <p:cNvSpPr/>
          <p:nvPr/>
        </p:nvSpPr>
        <p:spPr>
          <a:xfrm>
            <a:off x="8366724" y="8148133"/>
            <a:ext cx="2531323" cy="228579"/>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500" dirty="0">
                <a:solidFill>
                  <a:srgbClr val="C3D7DC"/>
                </a:solidFill>
                <a:latin typeface="Oracle Sans Tab" pitchFamily="34" charset="0"/>
                <a:ea typeface="Oracle Sans Tab" pitchFamily="34" charset="-122"/>
                <a:cs typeface="Oracle Sans Tab" pitchFamily="34" charset="-120"/>
              </a:rPr>
              <a:t>facts, corrections, events</a:t>
            </a:r>
            <a:endParaRPr lang="en-US" sz="1500" dirty="0"/>
          </a:p>
        </p:txBody>
      </p:sp>
      <p:sp>
        <p:nvSpPr>
          <p:cNvPr id="42" name="Shape 39"/>
          <p:cNvSpPr/>
          <p:nvPr/>
        </p:nvSpPr>
        <p:spPr>
          <a:xfrm>
            <a:off x="11285202" y="7173257"/>
            <a:ext cx="2849852" cy="1343949"/>
          </a:xfrm>
          <a:prstGeom prst="roundRect">
            <a:avLst>
              <a:gd name="adj" fmla="val 7158"/>
            </a:avLst>
          </a:prstGeom>
          <a:solidFill>
            <a:srgbClr val="0B5060"/>
          </a:solidFill>
          <a:ln w="16536">
            <a:solidFill>
              <a:srgbClr val="FFFFFF">
                <a:alpha val="20000"/>
              </a:srgbClr>
            </a:solidFill>
            <a:prstDash val="solid"/>
          </a:ln>
        </p:spPr>
        <p:txBody>
          <a:bodyPr/>
          <a:lstStyle/>
          <a:p>
            <a:endParaRPr lang="en-US"/>
          </a:p>
        </p:txBody>
      </p:sp>
      <p:sp>
        <p:nvSpPr>
          <p:cNvPr id="43" name="Text 40"/>
          <p:cNvSpPr/>
          <p:nvPr/>
        </p:nvSpPr>
        <p:spPr>
          <a:xfrm>
            <a:off x="11559500" y="7439959"/>
            <a:ext cx="2531323"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C3D7DC"/>
                </a:solidFill>
                <a:latin typeface="Oracle Sans Tab" pitchFamily="34" charset="0"/>
                <a:ea typeface="Oracle Sans Tab" pitchFamily="34" charset="-122"/>
                <a:cs typeface="Oracle Sans Tab" pitchFamily="34" charset="-120"/>
              </a:rPr>
              <a:t>02</a:t>
            </a:r>
            <a:endParaRPr lang="en-US" sz="1275" dirty="0"/>
          </a:p>
        </p:txBody>
      </p:sp>
      <p:sp>
        <p:nvSpPr>
          <p:cNvPr id="44" name="Text 41"/>
          <p:cNvSpPr/>
          <p:nvPr/>
        </p:nvSpPr>
        <p:spPr>
          <a:xfrm>
            <a:off x="11559500" y="7669506"/>
            <a:ext cx="2377403" cy="335239"/>
          </a:xfrm>
          <a:prstGeom prst="rect">
            <a:avLst/>
          </a:prstGeom>
          <a:noFill/>
          <a:ln/>
        </p:spPr>
        <p:txBody>
          <a:bodyPr wrap="square" lIns="25400" tIns="25400" rIns="25400" bIns="25400" rtlCol="0" anchor="t">
            <a:normAutofit/>
          </a:bodyPr>
          <a:lstStyle/>
          <a:p>
            <a:pPr marL="0" indent="0" algn="l">
              <a:lnSpc>
                <a:spcPct val="92160"/>
              </a:lnSpc>
              <a:buNone/>
            </a:pPr>
            <a:r>
              <a:rPr lang="en-US" sz="1950" b="1" dirty="0">
                <a:solidFill>
                  <a:srgbClr val="FFFFFF"/>
                </a:solidFill>
                <a:latin typeface="Oracle Sans Tab" pitchFamily="34" charset="0"/>
                <a:ea typeface="Oracle Sans Tab" pitchFamily="34" charset="-122"/>
                <a:cs typeface="Oracle Sans Tab" pitchFamily="34" charset="-120"/>
              </a:rPr>
              <a:t>thread</a:t>
            </a:r>
            <a:endParaRPr lang="en-US" sz="1950" dirty="0"/>
          </a:p>
        </p:txBody>
      </p:sp>
      <p:sp>
        <p:nvSpPr>
          <p:cNvPr id="45" name="Text 42"/>
          <p:cNvSpPr/>
          <p:nvPr/>
        </p:nvSpPr>
        <p:spPr>
          <a:xfrm>
            <a:off x="11559500" y="8148133"/>
            <a:ext cx="2531323" cy="228579"/>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500" dirty="0">
                <a:solidFill>
                  <a:srgbClr val="C3D7DC"/>
                </a:solidFill>
                <a:latin typeface="Oracle Sans Tab" pitchFamily="34" charset="0"/>
                <a:ea typeface="Oracle Sans Tab" pitchFamily="34" charset="-122"/>
                <a:cs typeface="Oracle Sans Tab" pitchFamily="34" charset="-120"/>
              </a:rPr>
              <a:t>scoped conversations</a:t>
            </a:r>
            <a:endParaRPr lang="en-US" sz="1500" dirty="0"/>
          </a:p>
        </p:txBody>
      </p:sp>
      <p:sp>
        <p:nvSpPr>
          <p:cNvPr id="46" name="Shape 43"/>
          <p:cNvSpPr/>
          <p:nvPr/>
        </p:nvSpPr>
        <p:spPr>
          <a:xfrm>
            <a:off x="14477979" y="7173257"/>
            <a:ext cx="2849852" cy="1343949"/>
          </a:xfrm>
          <a:prstGeom prst="roundRect">
            <a:avLst>
              <a:gd name="adj" fmla="val 7158"/>
            </a:avLst>
          </a:prstGeom>
          <a:solidFill>
            <a:srgbClr val="0B5060"/>
          </a:solidFill>
          <a:ln w="16536">
            <a:solidFill>
              <a:srgbClr val="FFFFFF">
                <a:alpha val="20000"/>
              </a:srgbClr>
            </a:solidFill>
            <a:prstDash val="solid"/>
          </a:ln>
        </p:spPr>
        <p:txBody>
          <a:bodyPr/>
          <a:lstStyle/>
          <a:p>
            <a:endParaRPr lang="en-US"/>
          </a:p>
        </p:txBody>
      </p:sp>
      <p:sp>
        <p:nvSpPr>
          <p:cNvPr id="47" name="Text 44"/>
          <p:cNvSpPr/>
          <p:nvPr/>
        </p:nvSpPr>
        <p:spPr>
          <a:xfrm>
            <a:off x="14752277" y="7439959"/>
            <a:ext cx="2531323"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C3D7DC"/>
                </a:solidFill>
                <a:latin typeface="Oracle Sans Tab" pitchFamily="34" charset="0"/>
                <a:ea typeface="Oracle Sans Tab" pitchFamily="34" charset="-122"/>
                <a:cs typeface="Oracle Sans Tab" pitchFamily="34" charset="-120"/>
              </a:rPr>
              <a:t>03</a:t>
            </a:r>
            <a:endParaRPr lang="en-US" sz="1275" dirty="0"/>
          </a:p>
        </p:txBody>
      </p:sp>
      <p:sp>
        <p:nvSpPr>
          <p:cNvPr id="48" name="Text 45"/>
          <p:cNvSpPr/>
          <p:nvPr/>
        </p:nvSpPr>
        <p:spPr>
          <a:xfrm>
            <a:off x="14752277" y="7669506"/>
            <a:ext cx="2377403" cy="335239"/>
          </a:xfrm>
          <a:prstGeom prst="rect">
            <a:avLst/>
          </a:prstGeom>
          <a:noFill/>
          <a:ln/>
        </p:spPr>
        <p:txBody>
          <a:bodyPr wrap="square" lIns="25400" tIns="25400" rIns="25400" bIns="25400" rtlCol="0" anchor="t">
            <a:normAutofit/>
          </a:bodyPr>
          <a:lstStyle/>
          <a:p>
            <a:pPr marL="0" indent="0" algn="l">
              <a:lnSpc>
                <a:spcPct val="92160"/>
              </a:lnSpc>
              <a:buNone/>
            </a:pPr>
            <a:r>
              <a:rPr lang="en-US" sz="1950" b="1" dirty="0">
                <a:solidFill>
                  <a:srgbClr val="FFFFFF"/>
                </a:solidFill>
                <a:latin typeface="Oracle Sans Tab" pitchFamily="34" charset="0"/>
                <a:ea typeface="Oracle Sans Tab" pitchFamily="34" charset="-122"/>
                <a:cs typeface="Oracle Sans Tab" pitchFamily="34" charset="-120"/>
              </a:rPr>
              <a:t>scratchpad</a:t>
            </a:r>
            <a:endParaRPr lang="en-US" sz="1950" dirty="0"/>
          </a:p>
        </p:txBody>
      </p:sp>
      <p:sp>
        <p:nvSpPr>
          <p:cNvPr id="49" name="Text 46"/>
          <p:cNvSpPr/>
          <p:nvPr/>
        </p:nvSpPr>
        <p:spPr>
          <a:xfrm>
            <a:off x="14752277" y="8148133"/>
            <a:ext cx="2531323" cy="228579"/>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500" dirty="0">
                <a:solidFill>
                  <a:srgbClr val="C3D7DC"/>
                </a:solidFill>
                <a:latin typeface="Oracle Sans Tab" pitchFamily="34" charset="0"/>
                <a:ea typeface="Oracle Sans Tab" pitchFamily="34" charset="-122"/>
                <a:cs typeface="Oracle Sans Tab" pitchFamily="34" charset="-120"/>
              </a:rPr>
              <a:t>ephemeral working state</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CONTEXT ENGINEERING</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WHAT THE CONTEXT CARD ABSORBS</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WHAT OAMP ABSORBS</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One line instead of a memory </a:t>
            </a:r>
            <a:r>
              <a:rPr lang="en-US" sz="4500" b="1" i="1" dirty="0">
                <a:solidFill>
                  <a:srgbClr val="FD6953"/>
                </a:solidFill>
                <a:latin typeface="Oracle Sans Tab" pitchFamily="34" charset="0"/>
                <a:ea typeface="Oracle Sans Tab" pitchFamily="34" charset="-122"/>
                <a:cs typeface="Oracle Sans Tab" pitchFamily="34" charset="-120"/>
              </a:rPr>
              <a:t>subsystem.</a:t>
            </a:r>
            <a:endParaRPr lang="en-US" sz="1200" dirty="0"/>
          </a:p>
        </p:txBody>
      </p:sp>
      <p:sp>
        <p:nvSpPr>
          <p:cNvPr id="8" name="Shape 5"/>
          <p:cNvSpPr/>
          <p:nvPr/>
        </p:nvSpPr>
        <p:spPr>
          <a:xfrm>
            <a:off x="822947" y="3593734"/>
            <a:ext cx="7132277" cy="4732011"/>
          </a:xfrm>
          <a:prstGeom prst="roundRect">
            <a:avLst>
              <a:gd name="adj" fmla="val 203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 name="Text 6"/>
          <p:cNvSpPr/>
          <p:nvPr/>
        </p:nvSpPr>
        <p:spPr>
          <a:xfrm>
            <a:off x="1234395" y="3881417"/>
            <a:ext cx="6940264" cy="243824"/>
          </a:xfrm>
          <a:prstGeom prst="rect">
            <a:avLst/>
          </a:prstGeom>
          <a:noFill/>
          <a:ln/>
        </p:spPr>
        <p:txBody>
          <a:bodyPr wrap="square" lIns="25400" tIns="25400" rIns="25400" bIns="25400" rtlCol="0" anchor="t">
            <a:normAutofit/>
          </a:bodyPr>
          <a:lstStyle/>
          <a:p>
            <a:pPr marL="0" indent="0" algn="l">
              <a:lnSpc>
                <a:spcPct val="92160"/>
              </a:lnSpc>
              <a:buNone/>
            </a:pPr>
            <a:r>
              <a:rPr lang="en-US" sz="1350" dirty="0">
                <a:solidFill>
                  <a:srgbClr val="C3D7DC"/>
                </a:solidFill>
                <a:latin typeface="Menlo" pitchFamily="34" charset="0"/>
                <a:ea typeface="Menlo" pitchFamily="34" charset="-122"/>
                <a:cs typeface="Menlo" pitchFamily="34" charset="-120"/>
              </a:rPr>
              <a:t>WITHOUT OAMP · YOU CARRY THE LOAD</a:t>
            </a:r>
            <a:endParaRPr lang="en-US" sz="1350" dirty="0"/>
          </a:p>
        </p:txBody>
      </p:sp>
      <p:pic>
        <p:nvPicPr>
          <p:cNvPr id="10" name="Image 1" descr="preencoded.png"/>
          <p:cNvPicPr>
            <a:picLocks noChangeAspect="1"/>
          </p:cNvPicPr>
          <p:nvPr/>
        </p:nvPicPr>
        <p:blipFill>
          <a:blip r:embed="rId4"/>
          <a:srcRect/>
          <a:stretch/>
        </p:blipFill>
        <p:spPr>
          <a:xfrm>
            <a:off x="1262042" y="4457660"/>
            <a:ext cx="356206" cy="356206"/>
          </a:xfrm>
          <a:prstGeom prst="rect">
            <a:avLst/>
          </a:prstGeom>
        </p:spPr>
      </p:pic>
      <p:sp>
        <p:nvSpPr>
          <p:cNvPr id="11" name="Text 7"/>
          <p:cNvSpPr/>
          <p:nvPr/>
        </p:nvSpPr>
        <p:spPr>
          <a:xfrm>
            <a:off x="1810690" y="4599564"/>
            <a:ext cx="6336750" cy="247648"/>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650" dirty="0">
                <a:solidFill>
                  <a:srgbClr val="FFFFFF"/>
                </a:solidFill>
                <a:latin typeface="Oracle Sans Tab" pitchFamily="34" charset="0"/>
                <a:ea typeface="Oracle Sans Tab" pitchFamily="34" charset="-122"/>
                <a:cs typeface="Oracle Sans Tab" pitchFamily="34" charset="-120"/>
              </a:rPr>
              <a:t>Decide when to summarise</a:t>
            </a:r>
            <a:endParaRPr lang="en-US" sz="1650" dirty="0"/>
          </a:p>
        </p:txBody>
      </p:sp>
      <p:sp>
        <p:nvSpPr>
          <p:cNvPr id="12" name="Shape 8"/>
          <p:cNvSpPr/>
          <p:nvPr/>
        </p:nvSpPr>
        <p:spPr>
          <a:xfrm>
            <a:off x="1262042" y="5006309"/>
            <a:ext cx="6254088" cy="13229"/>
          </a:xfrm>
          <a:prstGeom prst="rect">
            <a:avLst/>
          </a:prstGeom>
          <a:solidFill>
            <a:srgbClr val="FFFFFF">
              <a:alpha val="40000"/>
            </a:srgbClr>
          </a:solidFill>
          <a:ln/>
        </p:spPr>
        <p:txBody>
          <a:bodyPr/>
          <a:lstStyle/>
          <a:p>
            <a:endParaRPr lang="en-US"/>
          </a:p>
        </p:txBody>
      </p:sp>
      <p:pic>
        <p:nvPicPr>
          <p:cNvPr id="13" name="Image 2" descr="preencoded.png"/>
          <p:cNvPicPr>
            <a:picLocks noChangeAspect="1"/>
          </p:cNvPicPr>
          <p:nvPr/>
        </p:nvPicPr>
        <p:blipFill>
          <a:blip r:embed="rId5"/>
          <a:srcRect/>
          <a:stretch/>
        </p:blipFill>
        <p:spPr>
          <a:xfrm>
            <a:off x="1262042" y="5088216"/>
            <a:ext cx="356206" cy="356206"/>
          </a:xfrm>
          <a:prstGeom prst="rect">
            <a:avLst/>
          </a:prstGeom>
        </p:spPr>
      </p:pic>
      <p:sp>
        <p:nvSpPr>
          <p:cNvPr id="14" name="Text 9"/>
          <p:cNvSpPr/>
          <p:nvPr/>
        </p:nvSpPr>
        <p:spPr>
          <a:xfrm>
            <a:off x="1810690" y="5230120"/>
            <a:ext cx="6336750" cy="247648"/>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650" dirty="0">
                <a:solidFill>
                  <a:srgbClr val="FFFFFF"/>
                </a:solidFill>
                <a:latin typeface="Oracle Sans Tab" pitchFamily="34" charset="0"/>
                <a:ea typeface="Oracle Sans Tab" pitchFamily="34" charset="-122"/>
                <a:cs typeface="Oracle Sans Tab" pitchFamily="34" charset="-120"/>
              </a:rPr>
              <a:t>Write a summariser: keep signal, drop filler</a:t>
            </a:r>
            <a:endParaRPr lang="en-US" sz="1650" dirty="0"/>
          </a:p>
        </p:txBody>
      </p:sp>
      <p:sp>
        <p:nvSpPr>
          <p:cNvPr id="15" name="Shape 10"/>
          <p:cNvSpPr/>
          <p:nvPr/>
        </p:nvSpPr>
        <p:spPr>
          <a:xfrm>
            <a:off x="1262042" y="5636865"/>
            <a:ext cx="6254088" cy="13229"/>
          </a:xfrm>
          <a:prstGeom prst="rect">
            <a:avLst/>
          </a:prstGeom>
          <a:solidFill>
            <a:srgbClr val="FFFFFF">
              <a:alpha val="40000"/>
            </a:srgbClr>
          </a:solidFill>
          <a:ln/>
        </p:spPr>
        <p:txBody>
          <a:bodyPr/>
          <a:lstStyle/>
          <a:p>
            <a:endParaRPr lang="en-US"/>
          </a:p>
        </p:txBody>
      </p:sp>
      <p:pic>
        <p:nvPicPr>
          <p:cNvPr id="16" name="Image 3" descr="preencoded.png"/>
          <p:cNvPicPr>
            <a:picLocks noChangeAspect="1"/>
          </p:cNvPicPr>
          <p:nvPr/>
        </p:nvPicPr>
        <p:blipFill>
          <a:blip r:embed="rId6"/>
          <a:srcRect/>
          <a:stretch/>
        </p:blipFill>
        <p:spPr>
          <a:xfrm>
            <a:off x="1262042" y="5719754"/>
            <a:ext cx="356206" cy="356206"/>
          </a:xfrm>
          <a:prstGeom prst="rect">
            <a:avLst/>
          </a:prstGeom>
        </p:spPr>
      </p:pic>
      <p:sp>
        <p:nvSpPr>
          <p:cNvPr id="17" name="Text 11"/>
          <p:cNvSpPr/>
          <p:nvPr/>
        </p:nvSpPr>
        <p:spPr>
          <a:xfrm>
            <a:off x="1810690" y="5861657"/>
            <a:ext cx="6336750" cy="247648"/>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650" dirty="0">
                <a:solidFill>
                  <a:srgbClr val="FFFFFF"/>
                </a:solidFill>
                <a:latin typeface="Oracle Sans Tab" pitchFamily="34" charset="0"/>
                <a:ea typeface="Oracle Sans Tab" pitchFamily="34" charset="-122"/>
                <a:cs typeface="Oracle Sans Tab" pitchFamily="34" charset="-120"/>
              </a:rPr>
              <a:t>Rank + retrieve relevant memories per turn</a:t>
            </a:r>
            <a:endParaRPr lang="en-US" sz="1650" dirty="0"/>
          </a:p>
        </p:txBody>
      </p:sp>
      <p:sp>
        <p:nvSpPr>
          <p:cNvPr id="18" name="Shape 12"/>
          <p:cNvSpPr/>
          <p:nvPr/>
        </p:nvSpPr>
        <p:spPr>
          <a:xfrm>
            <a:off x="1262042" y="6268403"/>
            <a:ext cx="6254088" cy="13229"/>
          </a:xfrm>
          <a:prstGeom prst="rect">
            <a:avLst/>
          </a:prstGeom>
          <a:solidFill>
            <a:srgbClr val="FFFFFF">
              <a:alpha val="40000"/>
            </a:srgbClr>
          </a:solidFill>
          <a:ln/>
        </p:spPr>
        <p:txBody>
          <a:bodyPr/>
          <a:lstStyle/>
          <a:p>
            <a:endParaRPr lang="en-US"/>
          </a:p>
        </p:txBody>
      </p:sp>
      <p:pic>
        <p:nvPicPr>
          <p:cNvPr id="19" name="Image 4" descr="preencoded.png"/>
          <p:cNvPicPr>
            <a:picLocks noChangeAspect="1"/>
          </p:cNvPicPr>
          <p:nvPr/>
        </p:nvPicPr>
        <p:blipFill>
          <a:blip r:embed="rId7"/>
          <a:srcRect/>
          <a:stretch/>
        </p:blipFill>
        <p:spPr>
          <a:xfrm>
            <a:off x="1262042" y="6350310"/>
            <a:ext cx="356206" cy="356206"/>
          </a:xfrm>
          <a:prstGeom prst="rect">
            <a:avLst/>
          </a:prstGeom>
        </p:spPr>
      </p:pic>
      <p:sp>
        <p:nvSpPr>
          <p:cNvPr id="20" name="Text 13"/>
          <p:cNvSpPr/>
          <p:nvPr/>
        </p:nvSpPr>
        <p:spPr>
          <a:xfrm>
            <a:off x="1810690" y="6492213"/>
            <a:ext cx="6336750" cy="247648"/>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650" dirty="0">
                <a:solidFill>
                  <a:srgbClr val="FFFFFF"/>
                </a:solidFill>
                <a:latin typeface="Oracle Sans Tab" pitchFamily="34" charset="0"/>
                <a:ea typeface="Oracle Sans Tab" pitchFamily="34" charset="-122"/>
                <a:cs typeface="Oracle Sans Tab" pitchFamily="34" charset="-120"/>
              </a:rPr>
              <a:t>Extract durable facts from chatty turns</a:t>
            </a:r>
            <a:endParaRPr lang="en-US" sz="1650" dirty="0"/>
          </a:p>
        </p:txBody>
      </p:sp>
      <p:sp>
        <p:nvSpPr>
          <p:cNvPr id="21" name="Shape 14"/>
          <p:cNvSpPr/>
          <p:nvPr/>
        </p:nvSpPr>
        <p:spPr>
          <a:xfrm>
            <a:off x="1262042" y="6898907"/>
            <a:ext cx="6254088" cy="13229"/>
          </a:xfrm>
          <a:prstGeom prst="rect">
            <a:avLst/>
          </a:prstGeom>
          <a:solidFill>
            <a:srgbClr val="FFFFFF">
              <a:alpha val="40000"/>
            </a:srgbClr>
          </a:solidFill>
          <a:ln/>
        </p:spPr>
        <p:txBody>
          <a:bodyPr/>
          <a:lstStyle/>
          <a:p>
            <a:endParaRPr lang="en-US"/>
          </a:p>
        </p:txBody>
      </p:sp>
      <p:pic>
        <p:nvPicPr>
          <p:cNvPr id="22" name="Image 5" descr="preencoded.png"/>
          <p:cNvPicPr>
            <a:picLocks noChangeAspect="1"/>
          </p:cNvPicPr>
          <p:nvPr/>
        </p:nvPicPr>
        <p:blipFill>
          <a:blip r:embed="rId8"/>
          <a:srcRect/>
          <a:stretch/>
        </p:blipFill>
        <p:spPr>
          <a:xfrm>
            <a:off x="1262042" y="6981796"/>
            <a:ext cx="356206" cy="356206"/>
          </a:xfrm>
          <a:prstGeom prst="rect">
            <a:avLst/>
          </a:prstGeom>
        </p:spPr>
      </p:pic>
      <p:sp>
        <p:nvSpPr>
          <p:cNvPr id="23" name="Text 15"/>
          <p:cNvSpPr/>
          <p:nvPr/>
        </p:nvSpPr>
        <p:spPr>
          <a:xfrm>
            <a:off x="1810690" y="7123699"/>
            <a:ext cx="6336750" cy="247648"/>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650" dirty="0">
                <a:solidFill>
                  <a:srgbClr val="FFFFFF"/>
                </a:solidFill>
                <a:latin typeface="Oracle Sans Tab" pitchFamily="34" charset="0"/>
                <a:ea typeface="Oracle Sans Tab" pitchFamily="34" charset="-122"/>
                <a:cs typeface="Oracle Sans Tab" pitchFamily="34" charset="-120"/>
              </a:rPr>
              <a:t>Glue summary + memories + recent into a prompt</a:t>
            </a:r>
            <a:endParaRPr lang="en-US" sz="1650" dirty="0"/>
          </a:p>
        </p:txBody>
      </p:sp>
      <p:sp>
        <p:nvSpPr>
          <p:cNvPr id="24" name="Shape 16"/>
          <p:cNvSpPr/>
          <p:nvPr/>
        </p:nvSpPr>
        <p:spPr>
          <a:xfrm>
            <a:off x="1262042" y="7530444"/>
            <a:ext cx="6254088" cy="13229"/>
          </a:xfrm>
          <a:prstGeom prst="rect">
            <a:avLst/>
          </a:prstGeom>
          <a:solidFill>
            <a:srgbClr val="FFFFFF">
              <a:alpha val="40000"/>
            </a:srgbClr>
          </a:solidFill>
          <a:ln/>
        </p:spPr>
        <p:txBody>
          <a:bodyPr/>
          <a:lstStyle/>
          <a:p>
            <a:endParaRPr lang="en-US"/>
          </a:p>
        </p:txBody>
      </p:sp>
      <p:pic>
        <p:nvPicPr>
          <p:cNvPr id="25" name="Image 6" descr="preencoded.png"/>
          <p:cNvPicPr>
            <a:picLocks noChangeAspect="1"/>
          </p:cNvPicPr>
          <p:nvPr/>
        </p:nvPicPr>
        <p:blipFill>
          <a:blip r:embed="rId9"/>
          <a:srcRect/>
          <a:stretch/>
        </p:blipFill>
        <p:spPr>
          <a:xfrm>
            <a:off x="1262042" y="7612352"/>
            <a:ext cx="356206" cy="356206"/>
          </a:xfrm>
          <a:prstGeom prst="rect">
            <a:avLst/>
          </a:prstGeom>
        </p:spPr>
      </p:pic>
      <p:sp>
        <p:nvSpPr>
          <p:cNvPr id="26" name="Text 17"/>
          <p:cNvSpPr/>
          <p:nvPr/>
        </p:nvSpPr>
        <p:spPr>
          <a:xfrm>
            <a:off x="1810690" y="7754255"/>
            <a:ext cx="6336750" cy="247648"/>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650" dirty="0">
                <a:solidFill>
                  <a:srgbClr val="FFFFFF"/>
                </a:solidFill>
                <a:latin typeface="Oracle Sans Tab" pitchFamily="34" charset="0"/>
                <a:ea typeface="Oracle Sans Tab" pitchFamily="34" charset="-122"/>
                <a:cs typeface="Oracle Sans Tab" pitchFamily="34" charset="-120"/>
              </a:rPr>
              <a:t>Bound it all to a token budget</a:t>
            </a:r>
            <a:endParaRPr lang="en-US" sz="1650" dirty="0"/>
          </a:p>
        </p:txBody>
      </p:sp>
      <p:sp>
        <p:nvSpPr>
          <p:cNvPr id="27" name="Text 18"/>
          <p:cNvSpPr/>
          <p:nvPr/>
        </p:nvSpPr>
        <p:spPr>
          <a:xfrm>
            <a:off x="7875906" y="5493205"/>
            <a:ext cx="2353231" cy="202689"/>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350" b="1" dirty="0">
                <a:solidFill>
                  <a:srgbClr val="FD6953"/>
                </a:solidFill>
                <a:latin typeface="Oracle Sans Tab" pitchFamily="34" charset="0"/>
                <a:ea typeface="Oracle Sans Tab" pitchFamily="34" charset="-122"/>
                <a:cs typeface="Oracle Sans Tab" pitchFamily="34" charset="-120"/>
              </a:rPr>
              <a:t>OAMP</a:t>
            </a:r>
            <a:endParaRPr lang="en-US" sz="1350" dirty="0"/>
          </a:p>
        </p:txBody>
      </p:sp>
      <p:sp>
        <p:nvSpPr>
          <p:cNvPr id="28" name="Text 19"/>
          <p:cNvSpPr/>
          <p:nvPr/>
        </p:nvSpPr>
        <p:spPr>
          <a:xfrm>
            <a:off x="7875906" y="5657794"/>
            <a:ext cx="2353231" cy="202689"/>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350" b="1" dirty="0">
                <a:solidFill>
                  <a:srgbClr val="FD6953"/>
                </a:solidFill>
                <a:latin typeface="Oracle Sans Tab" pitchFamily="34" charset="0"/>
                <a:ea typeface="Oracle Sans Tab" pitchFamily="34" charset="-122"/>
                <a:cs typeface="Oracle Sans Tab" pitchFamily="34" charset="-120"/>
              </a:rPr>
              <a:t>absorbs this</a:t>
            </a:r>
            <a:endParaRPr lang="en-US" sz="1350" dirty="0"/>
          </a:p>
        </p:txBody>
      </p:sp>
      <p:sp>
        <p:nvSpPr>
          <p:cNvPr id="29" name="Shape 20"/>
          <p:cNvSpPr/>
          <p:nvPr/>
        </p:nvSpPr>
        <p:spPr>
          <a:xfrm>
            <a:off x="8201928" y="6035032"/>
            <a:ext cx="1701136" cy="26458"/>
          </a:xfrm>
          <a:prstGeom prst="rect">
            <a:avLst/>
          </a:prstGeom>
          <a:solidFill>
            <a:srgbClr val="FD6953"/>
          </a:solidFill>
          <a:ln/>
        </p:spPr>
        <p:txBody>
          <a:bodyPr/>
          <a:lstStyle/>
          <a:p>
            <a:endParaRPr lang="en-US"/>
          </a:p>
        </p:txBody>
      </p:sp>
      <p:sp>
        <p:nvSpPr>
          <p:cNvPr id="30" name="Shape 21"/>
          <p:cNvSpPr/>
          <p:nvPr/>
        </p:nvSpPr>
        <p:spPr>
          <a:xfrm>
            <a:off x="9777387" y="5952349"/>
            <a:ext cx="125677" cy="165365"/>
          </a:xfrm>
          <a:prstGeom prst="rect">
            <a:avLst/>
          </a:prstGeom>
          <a:solidFill>
            <a:srgbClr val="FD6953"/>
          </a:solidFill>
          <a:ln/>
        </p:spPr>
        <p:txBody>
          <a:bodyPr/>
          <a:lstStyle/>
          <a:p>
            <a:endParaRPr lang="en-US"/>
          </a:p>
        </p:txBody>
      </p:sp>
      <p:sp>
        <p:nvSpPr>
          <p:cNvPr id="31" name="Shape 22"/>
          <p:cNvSpPr/>
          <p:nvPr/>
        </p:nvSpPr>
        <p:spPr>
          <a:xfrm>
            <a:off x="10149819" y="3593734"/>
            <a:ext cx="7178011" cy="4732011"/>
          </a:xfrm>
          <a:prstGeom prst="roundRect">
            <a:avLst>
              <a:gd name="adj" fmla="val 2315"/>
            </a:avLst>
          </a:prstGeom>
          <a:solidFill>
            <a:srgbClr val="0B5060"/>
          </a:solidFill>
          <a:ln w="26458">
            <a:solidFill>
              <a:srgbClr val="FD6953"/>
            </a:solidFill>
            <a:prstDash val="solid"/>
          </a:ln>
          <a:effectLst>
            <a:outerShdw blurRad="114300" dist="19050" dir="5400000" algn="bl" rotWithShape="0">
              <a:srgbClr val="000000">
                <a:alpha val="18000"/>
              </a:srgbClr>
            </a:outerShdw>
          </a:effectLst>
        </p:spPr>
        <p:txBody>
          <a:bodyPr/>
          <a:lstStyle/>
          <a:p>
            <a:endParaRPr lang="en-US"/>
          </a:p>
        </p:txBody>
      </p:sp>
      <p:sp>
        <p:nvSpPr>
          <p:cNvPr id="32" name="Text 23"/>
          <p:cNvSpPr/>
          <p:nvPr/>
        </p:nvSpPr>
        <p:spPr>
          <a:xfrm>
            <a:off x="10561319" y="3881417"/>
            <a:ext cx="6990570" cy="243824"/>
          </a:xfrm>
          <a:prstGeom prst="rect">
            <a:avLst/>
          </a:prstGeom>
          <a:noFill/>
          <a:ln/>
        </p:spPr>
        <p:txBody>
          <a:bodyPr wrap="square" lIns="25400" tIns="25400" rIns="25400" bIns="25400" rtlCol="0" anchor="t">
            <a:normAutofit/>
          </a:bodyPr>
          <a:lstStyle/>
          <a:p>
            <a:pPr marL="0" indent="0" algn="l">
              <a:lnSpc>
                <a:spcPct val="92160"/>
              </a:lnSpc>
              <a:buNone/>
            </a:pPr>
            <a:r>
              <a:rPr lang="en-US" sz="1350" dirty="0">
                <a:solidFill>
                  <a:srgbClr val="FD6953"/>
                </a:solidFill>
                <a:latin typeface="Menlo" pitchFamily="34" charset="0"/>
                <a:ea typeface="Menlo" pitchFamily="34" charset="-122"/>
                <a:cs typeface="Menlo" pitchFamily="34" charset="-120"/>
              </a:rPr>
              <a:t>WITH OAMP · ONE CALL</a:t>
            </a:r>
            <a:endParaRPr lang="en-US" sz="1350" dirty="0"/>
          </a:p>
        </p:txBody>
      </p:sp>
      <p:sp>
        <p:nvSpPr>
          <p:cNvPr id="33" name="Shape 24"/>
          <p:cNvSpPr/>
          <p:nvPr/>
        </p:nvSpPr>
        <p:spPr>
          <a:xfrm>
            <a:off x="10561319" y="4279532"/>
            <a:ext cx="6355064" cy="822947"/>
          </a:xfrm>
          <a:prstGeom prst="roundRect">
            <a:avLst>
              <a:gd name="adj" fmla="val 8333"/>
            </a:avLst>
          </a:prstGeom>
          <a:solidFill>
            <a:srgbClr val="04303F"/>
          </a:solidFill>
          <a:ln w="16536">
            <a:solidFill>
              <a:srgbClr val="FFFFFF">
                <a:alpha val="45000"/>
              </a:srgbClr>
            </a:solidFill>
            <a:prstDash val="solid"/>
          </a:ln>
        </p:spPr>
        <p:txBody>
          <a:bodyPr/>
          <a:lstStyle/>
          <a:p>
            <a:endParaRPr lang="en-US"/>
          </a:p>
        </p:txBody>
      </p:sp>
      <p:sp>
        <p:nvSpPr>
          <p:cNvPr id="34" name="Text 25"/>
          <p:cNvSpPr/>
          <p:nvPr/>
        </p:nvSpPr>
        <p:spPr>
          <a:xfrm>
            <a:off x="10465993" y="4548146"/>
            <a:ext cx="6545716" cy="323819"/>
          </a:xfrm>
          <a:prstGeom prst="rect">
            <a:avLst/>
          </a:prstGeom>
          <a:noFill/>
          <a:ln/>
        </p:spPr>
        <p:txBody>
          <a:bodyPr wrap="square" lIns="25400" tIns="25400" rIns="25400" bIns="25400" rtlCol="0" anchor="t">
            <a:normAutofit/>
          </a:bodyPr>
          <a:lstStyle/>
          <a:p>
            <a:pPr marL="0" indent="0" algn="ctr">
              <a:lnSpc>
                <a:spcPct val="92160"/>
              </a:lnSpc>
              <a:buNone/>
            </a:pPr>
            <a:r>
              <a:rPr lang="en-US" sz="1875" b="1" dirty="0">
                <a:solidFill>
                  <a:srgbClr val="FFFFFF"/>
                </a:solidFill>
                <a:latin typeface="Menlo" pitchFamily="34" charset="0"/>
                <a:ea typeface="Menlo" pitchFamily="34" charset="-122"/>
                <a:cs typeface="Menlo" pitchFamily="34" charset="-120"/>
              </a:rPr>
              <a:t>mem.context_card(thread_id)</a:t>
            </a:r>
            <a:endParaRPr lang="en-US" sz="1875" dirty="0"/>
          </a:p>
        </p:txBody>
      </p:sp>
      <p:sp>
        <p:nvSpPr>
          <p:cNvPr id="35" name="Shape 26"/>
          <p:cNvSpPr/>
          <p:nvPr/>
        </p:nvSpPr>
        <p:spPr>
          <a:xfrm rot="5400000">
            <a:off x="13550467" y="5335979"/>
            <a:ext cx="352425" cy="26458"/>
          </a:xfrm>
          <a:prstGeom prst="rect">
            <a:avLst/>
          </a:prstGeom>
          <a:solidFill>
            <a:srgbClr val="FFFFFF">
              <a:alpha val="34000"/>
            </a:srgbClr>
          </a:solidFill>
          <a:ln/>
        </p:spPr>
        <p:txBody>
          <a:bodyPr/>
          <a:lstStyle/>
          <a:p>
            <a:endParaRPr lang="en-US"/>
          </a:p>
        </p:txBody>
      </p:sp>
      <p:sp>
        <p:nvSpPr>
          <p:cNvPr id="36" name="Shape 27"/>
          <p:cNvSpPr/>
          <p:nvPr/>
        </p:nvSpPr>
        <p:spPr>
          <a:xfrm rot="5400000">
            <a:off x="13676013" y="5384436"/>
            <a:ext cx="125677" cy="161925"/>
          </a:xfrm>
          <a:prstGeom prst="rect">
            <a:avLst/>
          </a:prstGeom>
          <a:solidFill>
            <a:srgbClr val="FFFFFF">
              <a:alpha val="34000"/>
            </a:srgbClr>
          </a:solidFill>
          <a:ln/>
        </p:spPr>
        <p:txBody>
          <a:bodyPr/>
          <a:lstStyle/>
          <a:p>
            <a:endParaRPr lang="en-US"/>
          </a:p>
        </p:txBody>
      </p:sp>
      <p:sp>
        <p:nvSpPr>
          <p:cNvPr id="37" name="Shape 28"/>
          <p:cNvSpPr/>
          <p:nvPr/>
        </p:nvSpPr>
        <p:spPr>
          <a:xfrm>
            <a:off x="10561319" y="5595938"/>
            <a:ext cx="6355064" cy="2359339"/>
          </a:xfrm>
          <a:prstGeom prst="roundRect">
            <a:avLst>
              <a:gd name="adj" fmla="val 4078"/>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38" name="Text 29"/>
          <p:cNvSpPr/>
          <p:nvPr/>
        </p:nvSpPr>
        <p:spPr>
          <a:xfrm>
            <a:off x="10835618" y="5847860"/>
            <a:ext cx="6387057" cy="220931"/>
          </a:xfrm>
          <a:prstGeom prst="rect">
            <a:avLst/>
          </a:prstGeom>
          <a:noFill/>
          <a:ln/>
        </p:spPr>
        <p:txBody>
          <a:bodyPr wrap="square" lIns="25400" tIns="25400" rIns="25400" bIns="25400" rtlCol="0" anchor="t">
            <a:normAutofit lnSpcReduction="10000"/>
          </a:bodyPr>
          <a:lstStyle/>
          <a:p>
            <a:pPr marL="0" indent="0" algn="l">
              <a:lnSpc>
                <a:spcPct val="92160"/>
              </a:lnSpc>
              <a:buNone/>
            </a:pPr>
            <a:r>
              <a:rPr lang="en-US" sz="1200" dirty="0">
                <a:solidFill>
                  <a:srgbClr val="9FBBC3"/>
                </a:solidFill>
                <a:latin typeface="Oracle Sans Tab" pitchFamily="34" charset="0"/>
                <a:ea typeface="Oracle Sans Tab" pitchFamily="34" charset="-122"/>
                <a:cs typeface="Oracle Sans Tab" pitchFamily="34" charset="-120"/>
              </a:rPr>
              <a:t>BOUNDED, PROMPT-READY BLOCK</a:t>
            </a:r>
            <a:endParaRPr lang="en-US" sz="1200" dirty="0"/>
          </a:p>
        </p:txBody>
      </p:sp>
      <p:pic>
        <p:nvPicPr>
          <p:cNvPr id="39" name="Image 7" descr="preencoded.png"/>
          <p:cNvPicPr>
            <a:picLocks noChangeAspect="1"/>
          </p:cNvPicPr>
          <p:nvPr/>
        </p:nvPicPr>
        <p:blipFill>
          <a:blip r:embed="rId10"/>
          <a:srcRect/>
          <a:stretch/>
        </p:blipFill>
        <p:spPr>
          <a:xfrm>
            <a:off x="10835618" y="6281735"/>
            <a:ext cx="301894" cy="301894"/>
          </a:xfrm>
          <a:prstGeom prst="rect">
            <a:avLst/>
          </a:prstGeom>
        </p:spPr>
      </p:pic>
      <p:sp>
        <p:nvSpPr>
          <p:cNvPr id="40" name="Text 30"/>
          <p:cNvSpPr/>
          <p:nvPr/>
        </p:nvSpPr>
        <p:spPr>
          <a:xfrm>
            <a:off x="11315692" y="6307418"/>
            <a:ext cx="5698080"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Topics</a:t>
            </a:r>
            <a:endParaRPr lang="en-US" sz="1650" dirty="0"/>
          </a:p>
        </p:txBody>
      </p:sp>
      <p:pic>
        <p:nvPicPr>
          <p:cNvPr id="41" name="Image 8" descr="preencoded.png"/>
          <p:cNvPicPr>
            <a:picLocks noChangeAspect="1"/>
          </p:cNvPicPr>
          <p:nvPr/>
        </p:nvPicPr>
        <p:blipFill>
          <a:blip r:embed="rId11"/>
          <a:srcRect/>
          <a:stretch/>
        </p:blipFill>
        <p:spPr>
          <a:xfrm>
            <a:off x="10835618" y="6693183"/>
            <a:ext cx="301894" cy="301894"/>
          </a:xfrm>
          <a:prstGeom prst="rect">
            <a:avLst/>
          </a:prstGeom>
        </p:spPr>
      </p:pic>
      <p:sp>
        <p:nvSpPr>
          <p:cNvPr id="42" name="Text 31"/>
          <p:cNvSpPr/>
          <p:nvPr/>
        </p:nvSpPr>
        <p:spPr>
          <a:xfrm>
            <a:off x="11315692" y="6718918"/>
            <a:ext cx="5698080"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Summary</a:t>
            </a:r>
            <a:endParaRPr lang="en-US" sz="1650" dirty="0"/>
          </a:p>
        </p:txBody>
      </p:sp>
      <p:pic>
        <p:nvPicPr>
          <p:cNvPr id="43" name="Image 9" descr="preencoded.png"/>
          <p:cNvPicPr>
            <a:picLocks noChangeAspect="1"/>
          </p:cNvPicPr>
          <p:nvPr/>
        </p:nvPicPr>
        <p:blipFill>
          <a:blip r:embed="rId12"/>
          <a:srcRect/>
          <a:stretch/>
        </p:blipFill>
        <p:spPr>
          <a:xfrm>
            <a:off x="10835618" y="7104683"/>
            <a:ext cx="301894" cy="301894"/>
          </a:xfrm>
          <a:prstGeom prst="rect">
            <a:avLst/>
          </a:prstGeom>
        </p:spPr>
      </p:pic>
      <p:sp>
        <p:nvSpPr>
          <p:cNvPr id="44" name="Text 32"/>
          <p:cNvSpPr/>
          <p:nvPr/>
        </p:nvSpPr>
        <p:spPr>
          <a:xfrm>
            <a:off x="11315692" y="7130365"/>
            <a:ext cx="5698080"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Relevant memories</a:t>
            </a:r>
            <a:endParaRPr lang="en-US" sz="1650" dirty="0"/>
          </a:p>
        </p:txBody>
      </p:sp>
      <p:pic>
        <p:nvPicPr>
          <p:cNvPr id="45" name="Image 10" descr="preencoded.png"/>
          <p:cNvPicPr>
            <a:picLocks noChangeAspect="1"/>
          </p:cNvPicPr>
          <p:nvPr/>
        </p:nvPicPr>
        <p:blipFill>
          <a:blip r:embed="rId13"/>
          <a:srcRect/>
          <a:stretch/>
        </p:blipFill>
        <p:spPr>
          <a:xfrm>
            <a:off x="10835618" y="7516130"/>
            <a:ext cx="301894" cy="301894"/>
          </a:xfrm>
          <a:prstGeom prst="rect">
            <a:avLst/>
          </a:prstGeom>
        </p:spPr>
      </p:pic>
      <p:sp>
        <p:nvSpPr>
          <p:cNvPr id="46" name="Text 33"/>
          <p:cNvSpPr/>
          <p:nvPr/>
        </p:nvSpPr>
        <p:spPr>
          <a:xfrm>
            <a:off x="11315692" y="7541865"/>
            <a:ext cx="5698080"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Recent turns</a:t>
            </a:r>
            <a:endParaRPr lang="en-US" sz="1650" dirty="0"/>
          </a:p>
        </p:txBody>
      </p:sp>
      <p:sp>
        <p:nvSpPr>
          <p:cNvPr id="47" name="Shape 34"/>
          <p:cNvSpPr/>
          <p:nvPr/>
        </p:nvSpPr>
        <p:spPr>
          <a:xfrm>
            <a:off x="822947" y="8572499"/>
            <a:ext cx="7978117" cy="1097246"/>
          </a:xfrm>
          <a:prstGeom prst="roundRect">
            <a:avLst>
              <a:gd name="adj" fmla="val 8768"/>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48" name="Text 35"/>
          <p:cNvSpPr/>
          <p:nvPr/>
        </p:nvSpPr>
        <p:spPr>
          <a:xfrm>
            <a:off x="1165820" y="9006117"/>
            <a:ext cx="8021551" cy="268060"/>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725" b="1" dirty="0">
                <a:solidFill>
                  <a:srgbClr val="FD6953"/>
                </a:solidFill>
                <a:latin typeface="Oracle Sans Tab" pitchFamily="34" charset="0"/>
                <a:ea typeface="Oracle Sans Tab" pitchFamily="34" charset="-122"/>
                <a:cs typeface="Oracle Sans Tab" pitchFamily="34" charset="-120"/>
              </a:rPr>
              <a:t>The developer </a:t>
            </a:r>
            <a:r>
              <a:rPr lang="en-US" sz="1725" dirty="0">
                <a:solidFill>
                  <a:srgbClr val="FFFFFF"/>
                </a:solidFill>
                <a:latin typeface="Oracle Sans Tab" pitchFamily="34" charset="0"/>
                <a:ea typeface="Oracle Sans Tab" pitchFamily="34" charset="-122"/>
                <a:cs typeface="Oracle Sans Tab" pitchFamily="34" charset="-120"/>
              </a:rPr>
              <a:t>writes one line instead of a memory subsystem.</a:t>
            </a:r>
            <a:endParaRPr lang="en-US" sz="1200" dirty="0"/>
          </a:p>
        </p:txBody>
      </p:sp>
      <p:sp>
        <p:nvSpPr>
          <p:cNvPr id="49" name="Shape 36"/>
          <p:cNvSpPr/>
          <p:nvPr/>
        </p:nvSpPr>
        <p:spPr>
          <a:xfrm>
            <a:off x="9349713" y="8572499"/>
            <a:ext cx="7978117" cy="1097246"/>
          </a:xfrm>
          <a:prstGeom prst="roundRect">
            <a:avLst>
              <a:gd name="adj" fmla="val 8768"/>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50" name="Text 37"/>
          <p:cNvSpPr/>
          <p:nvPr/>
        </p:nvSpPr>
        <p:spPr>
          <a:xfrm>
            <a:off x="9816741" y="8904469"/>
            <a:ext cx="7511089" cy="498020"/>
          </a:xfrm>
          <a:prstGeom prst="rect">
            <a:avLst/>
          </a:prstGeom>
          <a:noFill/>
          <a:ln/>
        </p:spPr>
        <p:txBody>
          <a:bodyPr wrap="square" lIns="25400" tIns="25400" rIns="25400" bIns="25400" rtlCol="0" anchor="t">
            <a:normAutofit/>
          </a:bodyPr>
          <a:lstStyle/>
          <a:p>
            <a:pPr marL="0" indent="0">
              <a:lnSpc>
                <a:spcPct val="80640"/>
              </a:lnSpc>
              <a:buNone/>
            </a:pPr>
            <a:r>
              <a:rPr lang="en-US" sz="1725" b="1" dirty="0">
                <a:solidFill>
                  <a:srgbClr val="FD6953"/>
                </a:solidFill>
                <a:latin typeface="Oracle Sans Tab" pitchFamily="34" charset="0"/>
                <a:ea typeface="Oracle Sans Tab" pitchFamily="34" charset="-122"/>
                <a:cs typeface="Oracle Sans Tab" pitchFamily="34" charset="-120"/>
              </a:rPr>
              <a:t>The agent </a:t>
            </a:r>
            <a:r>
              <a:rPr lang="en-US" sz="1725" dirty="0">
                <a:solidFill>
                  <a:srgbClr val="FFFFFF"/>
                </a:solidFill>
                <a:latin typeface="Oracle Sans Tab" pitchFamily="34" charset="0"/>
                <a:ea typeface="Oracle Sans Tab" pitchFamily="34" charset="-122"/>
                <a:cs typeface="Oracle Sans Tab" pitchFamily="34" charset="-120"/>
              </a:rPr>
              <a:t>spends attention on the task, not on housekeeping its own memory.</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name="Slide 40">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CONTEXT ENGINEERING</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OAMP WORKING MEMORY</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THE CONTEXT CARD</a:t>
            </a:r>
            <a:endParaRPr lang="en-US" sz="1800" dirty="0"/>
          </a:p>
        </p:txBody>
      </p:sp>
      <p:sp>
        <p:nvSpPr>
          <p:cNvPr id="7" name="Text 4"/>
          <p:cNvSpPr/>
          <p:nvPr/>
        </p:nvSpPr>
        <p:spPr>
          <a:xfrm>
            <a:off x="960096" y="1988819"/>
            <a:ext cx="16952925" cy="769580"/>
          </a:xfrm>
          <a:prstGeom prst="rect">
            <a:avLst/>
          </a:prstGeom>
          <a:noFill/>
          <a:ln/>
        </p:spPr>
        <p:txBody>
          <a:bodyPr wrap="square" lIns="25400" tIns="25400" rIns="25400" bIns="25400" rtlCol="0" anchor="t">
            <a:normAutofit/>
          </a:bodyPr>
          <a:lstStyle/>
          <a:p>
            <a:pPr marL="0" indent="0" algn="l">
              <a:lnSpc>
                <a:spcPct val="92160"/>
              </a:lnSpc>
              <a:buNone/>
            </a:pPr>
            <a:r>
              <a:rPr lang="en-US" sz="4800" b="1" dirty="0">
                <a:solidFill>
                  <a:srgbClr val="FFFFFF"/>
                </a:solidFill>
                <a:latin typeface="Oracle Sans Tab" pitchFamily="34" charset="0"/>
                <a:ea typeface="Oracle Sans Tab" pitchFamily="34" charset="-122"/>
                <a:cs typeface="Oracle Sans Tab" pitchFamily="34" charset="-120"/>
              </a:rPr>
              <a:t>Compaction </a:t>
            </a:r>
            <a:r>
              <a:rPr lang="en-US" sz="4800" b="1" i="1" dirty="0">
                <a:solidFill>
                  <a:srgbClr val="FD6953"/>
                </a:solidFill>
                <a:latin typeface="Oracle Sans Tab" pitchFamily="34" charset="0"/>
                <a:ea typeface="Oracle Sans Tab" pitchFamily="34" charset="-122"/>
                <a:cs typeface="Oracle Sans Tab" pitchFamily="34" charset="-120"/>
              </a:rPr>
              <a:t>by construction.</a:t>
            </a:r>
            <a:endParaRPr lang="en-US" sz="1200" dirty="0"/>
          </a:p>
        </p:txBody>
      </p:sp>
      <p:sp>
        <p:nvSpPr>
          <p:cNvPr id="8" name="Text 5"/>
          <p:cNvSpPr/>
          <p:nvPr/>
        </p:nvSpPr>
        <p:spPr>
          <a:xfrm>
            <a:off x="960096" y="2973152"/>
            <a:ext cx="16387870"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i="1" dirty="0">
                <a:solidFill>
                  <a:srgbClr val="C3D7DC"/>
                </a:solidFill>
                <a:latin typeface="Oracle Sans Tab" pitchFamily="34" charset="0"/>
                <a:ea typeface="Oracle Sans Tab" pitchFamily="34" charset="-122"/>
                <a:cs typeface="Oracle Sans Tab" pitchFamily="34" charset="-120"/>
              </a:rPr>
              <a:t>A capability of the </a:t>
            </a:r>
            <a:r>
              <a:rPr lang="en-US" sz="2025" b="1" i="1" dirty="0">
                <a:solidFill>
                  <a:srgbClr val="FD6953"/>
                </a:solidFill>
                <a:latin typeface="Oracle Sans Tab" pitchFamily="34" charset="0"/>
                <a:ea typeface="Oracle Sans Tab" pitchFamily="34" charset="-122"/>
                <a:cs typeface="Oracle Sans Tab" pitchFamily="34" charset="-120"/>
              </a:rPr>
              <a:t>Oracle AI Agent Memory Package (OAMP)</a:t>
            </a:r>
            <a:endParaRPr lang="en-US" sz="1200" dirty="0"/>
          </a:p>
        </p:txBody>
      </p:sp>
      <p:sp>
        <p:nvSpPr>
          <p:cNvPr id="9" name="Text 6"/>
          <p:cNvSpPr/>
          <p:nvPr/>
        </p:nvSpPr>
        <p:spPr>
          <a:xfrm>
            <a:off x="960096" y="3588980"/>
            <a:ext cx="9052533" cy="266665"/>
          </a:xfrm>
          <a:prstGeom prst="rect">
            <a:avLst/>
          </a:prstGeom>
          <a:noFill/>
          <a:ln/>
        </p:spPr>
        <p:txBody>
          <a:bodyPr wrap="square" lIns="25400" tIns="25400" rIns="25400" bIns="25400" rtlCol="0" anchor="t">
            <a:normAutofit/>
          </a:bodyPr>
          <a:lstStyle/>
          <a:p>
            <a:pPr marL="0" indent="0" algn="l">
              <a:lnSpc>
                <a:spcPct val="92160"/>
              </a:lnSpc>
              <a:buNone/>
            </a:pPr>
            <a:r>
              <a:rPr lang="en-US" sz="1500" dirty="0">
                <a:solidFill>
                  <a:srgbClr val="C3D7DC"/>
                </a:solidFill>
                <a:latin typeface="Oracle Sans Tab" pitchFamily="34" charset="0"/>
                <a:ea typeface="Oracle Sans Tab" pitchFamily="34" charset="-122"/>
                <a:cs typeface="Oracle Sans Tab" pitchFamily="34" charset="-120"/>
              </a:rPr>
              <a:t>ONE CALL RETURNS FOUR PARTS, PROMPT-READY</a:t>
            </a:r>
            <a:endParaRPr lang="en-US" sz="1500" dirty="0"/>
          </a:p>
        </p:txBody>
      </p:sp>
      <p:sp>
        <p:nvSpPr>
          <p:cNvPr id="10" name="Shape 7"/>
          <p:cNvSpPr/>
          <p:nvPr/>
        </p:nvSpPr>
        <p:spPr>
          <a:xfrm>
            <a:off x="960096" y="3977638"/>
            <a:ext cx="7680926" cy="4869160"/>
          </a:xfrm>
          <a:prstGeom prst="roundRect">
            <a:avLst>
              <a:gd name="adj" fmla="val 1976"/>
            </a:avLst>
          </a:prstGeom>
          <a:solidFill>
            <a:srgbClr val="0B5060"/>
          </a:solidFill>
          <a:ln w="26458">
            <a:solidFill>
              <a:srgbClr val="FD6953"/>
            </a:solidFill>
            <a:prstDash val="solid"/>
          </a:ln>
          <a:effectLst>
            <a:outerShdw blurRad="114300" dist="19050" dir="5400000" algn="bl" rotWithShape="0">
              <a:srgbClr val="000000">
                <a:alpha val="18000"/>
              </a:srgbClr>
            </a:outerShdw>
          </a:effectLst>
        </p:spPr>
        <p:txBody>
          <a:bodyPr/>
          <a:lstStyle/>
          <a:p>
            <a:endParaRPr lang="en-US"/>
          </a:p>
        </p:txBody>
      </p:sp>
      <p:sp>
        <p:nvSpPr>
          <p:cNvPr id="11" name="Shape 8"/>
          <p:cNvSpPr/>
          <p:nvPr/>
        </p:nvSpPr>
        <p:spPr>
          <a:xfrm>
            <a:off x="1302969" y="4005233"/>
            <a:ext cx="2674617" cy="576244"/>
          </a:xfrm>
          <a:prstGeom prst="roundRect">
            <a:avLst>
              <a:gd name="adj" fmla="val 11901"/>
            </a:avLst>
          </a:prstGeom>
          <a:solidFill>
            <a:srgbClr val="C74634"/>
          </a:solidFill>
          <a:ln w="16536">
            <a:solidFill>
              <a:srgbClr val="FD6953"/>
            </a:solidFill>
            <a:prstDash val="solid"/>
          </a:ln>
        </p:spPr>
        <p:txBody>
          <a:bodyPr/>
          <a:lstStyle/>
          <a:p>
            <a:endParaRPr lang="en-US"/>
          </a:p>
        </p:txBody>
      </p:sp>
      <p:sp>
        <p:nvSpPr>
          <p:cNvPr id="12" name="Text 9"/>
          <p:cNvSpPr/>
          <p:nvPr/>
        </p:nvSpPr>
        <p:spPr>
          <a:xfrm>
            <a:off x="1169239" y="4184757"/>
            <a:ext cx="2942079" cy="255244"/>
          </a:xfrm>
          <a:prstGeom prst="rect">
            <a:avLst/>
          </a:prstGeom>
          <a:noFill/>
          <a:ln/>
        </p:spPr>
        <p:txBody>
          <a:bodyPr wrap="square" lIns="25400" tIns="25400" rIns="25400" bIns="25400" rtlCol="0" anchor="t">
            <a:normAutofit/>
          </a:bodyPr>
          <a:lstStyle/>
          <a:p>
            <a:pPr marL="0" indent="0" algn="ctr">
              <a:lnSpc>
                <a:spcPct val="92160"/>
              </a:lnSpc>
              <a:buNone/>
            </a:pPr>
            <a:r>
              <a:rPr lang="en-US" sz="1425" b="1" dirty="0">
                <a:solidFill>
                  <a:srgbClr val="FFFFFF"/>
                </a:solidFill>
                <a:latin typeface="Oracle Sans Tab" pitchFamily="34" charset="0"/>
                <a:ea typeface="Oracle Sans Tab" pitchFamily="34" charset="-122"/>
                <a:cs typeface="Oracle Sans Tab" pitchFamily="34" charset="-120"/>
              </a:rPr>
              <a:t>CONTEXT CARD</a:t>
            </a:r>
            <a:endParaRPr lang="en-US" sz="1425" dirty="0"/>
          </a:p>
        </p:txBody>
      </p:sp>
      <p:sp>
        <p:nvSpPr>
          <p:cNvPr id="13" name="Shape 10"/>
          <p:cNvSpPr/>
          <p:nvPr/>
        </p:nvSpPr>
        <p:spPr>
          <a:xfrm>
            <a:off x="1371596" y="4800585"/>
            <a:ext cx="6857979" cy="822947"/>
          </a:xfrm>
          <a:prstGeom prst="roundRect">
            <a:avLst>
              <a:gd name="adj" fmla="val 11690"/>
            </a:avLst>
          </a:prstGeom>
          <a:solidFill>
            <a:srgbClr val="0B5060"/>
          </a:solidFill>
          <a:ln w="16536">
            <a:solidFill>
              <a:srgbClr val="FFFFFF">
                <a:alpha val="20000"/>
              </a:srgbClr>
            </a:solidFill>
            <a:prstDash val="solid"/>
          </a:ln>
        </p:spPr>
        <p:txBody>
          <a:bodyPr/>
          <a:lstStyle/>
          <a:p>
            <a:endParaRPr lang="en-US"/>
          </a:p>
        </p:txBody>
      </p:sp>
      <p:sp>
        <p:nvSpPr>
          <p:cNvPr id="14" name="Text 11"/>
          <p:cNvSpPr/>
          <p:nvPr/>
        </p:nvSpPr>
        <p:spPr>
          <a:xfrm>
            <a:off x="1645894" y="4959129"/>
            <a:ext cx="6498611"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1 Topics</a:t>
            </a:r>
            <a:endParaRPr lang="en-US" sz="1875" dirty="0"/>
          </a:p>
        </p:txBody>
      </p:sp>
      <p:sp>
        <p:nvSpPr>
          <p:cNvPr id="15" name="Text 12"/>
          <p:cNvSpPr/>
          <p:nvPr/>
        </p:nvSpPr>
        <p:spPr>
          <a:xfrm>
            <a:off x="1645894" y="5325359"/>
            <a:ext cx="6940264"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C3D7DC"/>
                </a:solidFill>
                <a:latin typeface="Oracle Sans Tab" pitchFamily="34" charset="0"/>
                <a:ea typeface="Oracle Sans Tab" pitchFamily="34" charset="-122"/>
                <a:cs typeface="Oracle Sans Tab" pitchFamily="34" charset="-120"/>
              </a:rPr>
              <a:t>a semantic fingerprint of the thread</a:t>
            </a:r>
            <a:endParaRPr lang="en-US" sz="1575" dirty="0"/>
          </a:p>
        </p:txBody>
      </p:sp>
      <p:sp>
        <p:nvSpPr>
          <p:cNvPr id="16" name="Shape 13"/>
          <p:cNvSpPr/>
          <p:nvPr/>
        </p:nvSpPr>
        <p:spPr>
          <a:xfrm>
            <a:off x="1371596" y="5788329"/>
            <a:ext cx="6857979" cy="822947"/>
          </a:xfrm>
          <a:prstGeom prst="roundRect">
            <a:avLst>
              <a:gd name="adj" fmla="val 11690"/>
            </a:avLst>
          </a:prstGeom>
          <a:solidFill>
            <a:srgbClr val="0B5060"/>
          </a:solidFill>
          <a:ln w="16536">
            <a:solidFill>
              <a:srgbClr val="FFFFFF">
                <a:alpha val="20000"/>
              </a:srgbClr>
            </a:solidFill>
            <a:prstDash val="solid"/>
          </a:ln>
        </p:spPr>
        <p:txBody>
          <a:bodyPr/>
          <a:lstStyle/>
          <a:p>
            <a:endParaRPr lang="en-US"/>
          </a:p>
        </p:txBody>
      </p:sp>
      <p:sp>
        <p:nvSpPr>
          <p:cNvPr id="17" name="Text 14"/>
          <p:cNvSpPr/>
          <p:nvPr/>
        </p:nvSpPr>
        <p:spPr>
          <a:xfrm>
            <a:off x="1645894" y="5946872"/>
            <a:ext cx="6498611"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2 Summary</a:t>
            </a:r>
            <a:endParaRPr lang="en-US" sz="1875" dirty="0"/>
          </a:p>
        </p:txBody>
      </p:sp>
      <p:sp>
        <p:nvSpPr>
          <p:cNvPr id="18" name="Text 15"/>
          <p:cNvSpPr/>
          <p:nvPr/>
        </p:nvSpPr>
        <p:spPr>
          <a:xfrm>
            <a:off x="1645894" y="6312173"/>
            <a:ext cx="6940264"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C3D7DC"/>
                </a:solidFill>
                <a:latin typeface="Oracle Sans Tab" pitchFamily="34" charset="0"/>
                <a:ea typeface="Oracle Sans Tab" pitchFamily="34" charset="-122"/>
                <a:cs typeface="Oracle Sans Tab" pitchFamily="34" charset="-120"/>
              </a:rPr>
              <a:t>a running recap, plus where it points now</a:t>
            </a:r>
            <a:endParaRPr lang="en-US" sz="1575" dirty="0"/>
          </a:p>
        </p:txBody>
      </p:sp>
      <p:sp>
        <p:nvSpPr>
          <p:cNvPr id="19" name="Shape 16"/>
          <p:cNvSpPr/>
          <p:nvPr/>
        </p:nvSpPr>
        <p:spPr>
          <a:xfrm>
            <a:off x="1371596" y="6776072"/>
            <a:ext cx="6857979" cy="822947"/>
          </a:xfrm>
          <a:prstGeom prst="roundRect">
            <a:avLst>
              <a:gd name="adj" fmla="val 11690"/>
            </a:avLst>
          </a:prstGeom>
          <a:solidFill>
            <a:srgbClr val="0B5060"/>
          </a:solidFill>
          <a:ln w="16536">
            <a:solidFill>
              <a:srgbClr val="FFFFFF">
                <a:alpha val="20000"/>
              </a:srgbClr>
            </a:solidFill>
            <a:prstDash val="solid"/>
          </a:ln>
        </p:spPr>
        <p:txBody>
          <a:bodyPr/>
          <a:lstStyle/>
          <a:p>
            <a:endParaRPr lang="en-US"/>
          </a:p>
        </p:txBody>
      </p:sp>
      <p:sp>
        <p:nvSpPr>
          <p:cNvPr id="20" name="Text 17"/>
          <p:cNvSpPr/>
          <p:nvPr/>
        </p:nvSpPr>
        <p:spPr>
          <a:xfrm>
            <a:off x="1645894" y="6934615"/>
            <a:ext cx="6498611"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3 Relevant information</a:t>
            </a:r>
            <a:endParaRPr lang="en-US" sz="1875" dirty="0"/>
          </a:p>
        </p:txBody>
      </p:sp>
      <p:sp>
        <p:nvSpPr>
          <p:cNvPr id="21" name="Text 18"/>
          <p:cNvSpPr/>
          <p:nvPr/>
        </p:nvSpPr>
        <p:spPr>
          <a:xfrm>
            <a:off x="1645894" y="7299916"/>
            <a:ext cx="6940264"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C3D7DC"/>
                </a:solidFill>
                <a:latin typeface="Oracle Sans Tab" pitchFamily="34" charset="0"/>
                <a:ea typeface="Oracle Sans Tab" pitchFamily="34" charset="-122"/>
                <a:cs typeface="Oracle Sans Tab" pitchFamily="34" charset="-120"/>
              </a:rPr>
              <a:t>typed + timestamped: facts, preferences, memory</a:t>
            </a:r>
            <a:endParaRPr lang="en-US" sz="1575" dirty="0"/>
          </a:p>
        </p:txBody>
      </p:sp>
      <p:sp>
        <p:nvSpPr>
          <p:cNvPr id="22" name="Shape 19"/>
          <p:cNvSpPr/>
          <p:nvPr/>
        </p:nvSpPr>
        <p:spPr>
          <a:xfrm>
            <a:off x="1371596" y="7762833"/>
            <a:ext cx="6857979" cy="822947"/>
          </a:xfrm>
          <a:prstGeom prst="roundRect">
            <a:avLst>
              <a:gd name="adj" fmla="val 11690"/>
            </a:avLst>
          </a:prstGeom>
          <a:solidFill>
            <a:srgbClr val="0B5060"/>
          </a:solidFill>
          <a:ln w="16536">
            <a:solidFill>
              <a:srgbClr val="FFFFFF">
                <a:alpha val="20000"/>
              </a:srgbClr>
            </a:solidFill>
            <a:prstDash val="solid"/>
          </a:ln>
        </p:spPr>
        <p:txBody>
          <a:bodyPr/>
          <a:lstStyle/>
          <a:p>
            <a:endParaRPr lang="en-US"/>
          </a:p>
        </p:txBody>
      </p:sp>
      <p:sp>
        <p:nvSpPr>
          <p:cNvPr id="23" name="Text 20"/>
          <p:cNvSpPr/>
          <p:nvPr/>
        </p:nvSpPr>
        <p:spPr>
          <a:xfrm>
            <a:off x="1645894" y="7922358"/>
            <a:ext cx="6498611"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4 Recent messages</a:t>
            </a:r>
            <a:endParaRPr lang="en-US" sz="1875" dirty="0"/>
          </a:p>
        </p:txBody>
      </p:sp>
      <p:sp>
        <p:nvSpPr>
          <p:cNvPr id="24" name="Text 21"/>
          <p:cNvSpPr/>
          <p:nvPr/>
        </p:nvSpPr>
        <p:spPr>
          <a:xfrm>
            <a:off x="1645894" y="8287659"/>
            <a:ext cx="6940264"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C3D7DC"/>
                </a:solidFill>
                <a:latin typeface="Oracle Sans Tab" pitchFamily="34" charset="0"/>
                <a:ea typeface="Oracle Sans Tab" pitchFamily="34" charset="-122"/>
                <a:cs typeface="Oracle Sans Tab" pitchFamily="34" charset="-120"/>
              </a:rPr>
              <a:t>the last turns, verbatim with role</a:t>
            </a:r>
            <a:endParaRPr lang="en-US" sz="1575" dirty="0"/>
          </a:p>
        </p:txBody>
      </p:sp>
      <p:sp>
        <p:nvSpPr>
          <p:cNvPr id="25" name="Text 22"/>
          <p:cNvSpPr/>
          <p:nvPr/>
        </p:nvSpPr>
        <p:spPr>
          <a:xfrm>
            <a:off x="9189671" y="3588980"/>
            <a:ext cx="9052533" cy="266665"/>
          </a:xfrm>
          <a:prstGeom prst="rect">
            <a:avLst/>
          </a:prstGeom>
          <a:noFill/>
          <a:ln/>
        </p:spPr>
        <p:txBody>
          <a:bodyPr wrap="square" lIns="25400" tIns="25400" rIns="25400" bIns="25400" rtlCol="0" anchor="t">
            <a:normAutofit/>
          </a:bodyPr>
          <a:lstStyle/>
          <a:p>
            <a:pPr marL="0" indent="0" algn="l">
              <a:lnSpc>
                <a:spcPct val="92160"/>
              </a:lnSpc>
              <a:buNone/>
            </a:pPr>
            <a:r>
              <a:rPr lang="en-US" sz="1500" dirty="0">
                <a:solidFill>
                  <a:srgbClr val="FD6953"/>
                </a:solidFill>
                <a:latin typeface="Oracle Sans Tab" pitchFamily="34" charset="0"/>
                <a:ea typeface="Oracle Sans Tab" pitchFamily="34" charset="-122"/>
                <a:cs typeface="Oracle Sans Tab" pitchFamily="34" charset="-120"/>
              </a:rPr>
              <a:t>WHY IT EARNS ITS PLACE</a:t>
            </a:r>
            <a:endParaRPr lang="en-US" sz="1500" dirty="0"/>
          </a:p>
        </p:txBody>
      </p:sp>
      <p:pic>
        <p:nvPicPr>
          <p:cNvPr id="26" name="Image 1" descr="preencoded.png"/>
          <p:cNvPicPr>
            <a:picLocks noChangeAspect="1"/>
          </p:cNvPicPr>
          <p:nvPr/>
        </p:nvPicPr>
        <p:blipFill>
          <a:blip r:embed="rId4"/>
          <a:srcRect/>
          <a:stretch/>
        </p:blipFill>
        <p:spPr>
          <a:xfrm>
            <a:off x="9189671" y="4101455"/>
            <a:ext cx="356206" cy="356206"/>
          </a:xfrm>
          <a:prstGeom prst="rect">
            <a:avLst/>
          </a:prstGeom>
        </p:spPr>
      </p:pic>
      <p:sp>
        <p:nvSpPr>
          <p:cNvPr id="27" name="Text 23"/>
          <p:cNvSpPr/>
          <p:nvPr/>
        </p:nvSpPr>
        <p:spPr>
          <a:xfrm>
            <a:off x="9738320" y="4097631"/>
            <a:ext cx="7817196"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Typed memory</a:t>
            </a:r>
            <a:endParaRPr lang="en-US" sz="2025" dirty="0"/>
          </a:p>
        </p:txBody>
      </p:sp>
      <p:sp>
        <p:nvSpPr>
          <p:cNvPr id="28" name="Text 24"/>
          <p:cNvSpPr/>
          <p:nvPr/>
        </p:nvSpPr>
        <p:spPr>
          <a:xfrm>
            <a:off x="9738320" y="4531971"/>
            <a:ext cx="7817196"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fact, preference and episodic, weighted correctly</a:t>
            </a:r>
            <a:endParaRPr lang="en-US" sz="1725" dirty="0"/>
          </a:p>
        </p:txBody>
      </p:sp>
      <p:pic>
        <p:nvPicPr>
          <p:cNvPr id="29" name="Image 2" descr="preencoded.png"/>
          <p:cNvPicPr>
            <a:picLocks noChangeAspect="1"/>
          </p:cNvPicPr>
          <p:nvPr/>
        </p:nvPicPr>
        <p:blipFill>
          <a:blip r:embed="rId4"/>
          <a:srcRect/>
          <a:stretch/>
        </p:blipFill>
        <p:spPr>
          <a:xfrm>
            <a:off x="9189671" y="5088216"/>
            <a:ext cx="356206" cy="356206"/>
          </a:xfrm>
          <a:prstGeom prst="rect">
            <a:avLst/>
          </a:prstGeom>
        </p:spPr>
      </p:pic>
      <p:sp>
        <p:nvSpPr>
          <p:cNvPr id="30" name="Text 25"/>
          <p:cNvSpPr/>
          <p:nvPr/>
        </p:nvSpPr>
        <p:spPr>
          <a:xfrm>
            <a:off x="9738320" y="5085374"/>
            <a:ext cx="7817196"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Open-loop tracking</a:t>
            </a:r>
            <a:endParaRPr lang="en-US" sz="2025" dirty="0"/>
          </a:p>
        </p:txBody>
      </p:sp>
      <p:sp>
        <p:nvSpPr>
          <p:cNvPr id="31" name="Text 26"/>
          <p:cNvSpPr/>
          <p:nvPr/>
        </p:nvSpPr>
        <p:spPr>
          <a:xfrm>
            <a:off x="9738320" y="5519715"/>
            <a:ext cx="7817196"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it flags the question that is still unanswered</a:t>
            </a:r>
            <a:endParaRPr lang="en-US" sz="1725" dirty="0"/>
          </a:p>
        </p:txBody>
      </p:sp>
      <p:pic>
        <p:nvPicPr>
          <p:cNvPr id="32" name="Image 3" descr="preencoded.png"/>
          <p:cNvPicPr>
            <a:picLocks noChangeAspect="1"/>
          </p:cNvPicPr>
          <p:nvPr/>
        </p:nvPicPr>
        <p:blipFill>
          <a:blip r:embed="rId4"/>
          <a:srcRect/>
          <a:stretch/>
        </p:blipFill>
        <p:spPr>
          <a:xfrm>
            <a:off x="9189671" y="6075959"/>
            <a:ext cx="356206" cy="356206"/>
          </a:xfrm>
          <a:prstGeom prst="rect">
            <a:avLst/>
          </a:prstGeom>
        </p:spPr>
      </p:pic>
      <p:sp>
        <p:nvSpPr>
          <p:cNvPr id="33" name="Text 27"/>
          <p:cNvSpPr/>
          <p:nvPr/>
        </p:nvSpPr>
        <p:spPr>
          <a:xfrm>
            <a:off x="9738320" y="6073118"/>
            <a:ext cx="7817196"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Compaction by construction</a:t>
            </a:r>
            <a:endParaRPr lang="en-US" sz="2025" dirty="0"/>
          </a:p>
        </p:txBody>
      </p:sp>
      <p:sp>
        <p:nvSpPr>
          <p:cNvPr id="34" name="Text 28"/>
          <p:cNvSpPr/>
          <p:nvPr/>
        </p:nvSpPr>
        <p:spPr>
          <a:xfrm>
            <a:off x="9738320" y="6507458"/>
            <a:ext cx="7817196"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never dump the full history into the prompt</a:t>
            </a:r>
            <a:endParaRPr lang="en-US" sz="1725" dirty="0"/>
          </a:p>
        </p:txBody>
      </p:sp>
      <p:pic>
        <p:nvPicPr>
          <p:cNvPr id="35" name="Image 4" descr="preencoded.png"/>
          <p:cNvPicPr>
            <a:picLocks noChangeAspect="1"/>
          </p:cNvPicPr>
          <p:nvPr/>
        </p:nvPicPr>
        <p:blipFill>
          <a:blip r:embed="rId4"/>
          <a:srcRect/>
          <a:stretch/>
        </p:blipFill>
        <p:spPr>
          <a:xfrm>
            <a:off x="9189671" y="7063703"/>
            <a:ext cx="356206" cy="356206"/>
          </a:xfrm>
          <a:prstGeom prst="rect">
            <a:avLst/>
          </a:prstGeom>
        </p:spPr>
      </p:pic>
      <p:sp>
        <p:nvSpPr>
          <p:cNvPr id="36" name="Text 29"/>
          <p:cNvSpPr/>
          <p:nvPr/>
        </p:nvSpPr>
        <p:spPr>
          <a:xfrm>
            <a:off x="9738320" y="7059879"/>
            <a:ext cx="7817196"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Bounded and durable</a:t>
            </a:r>
            <a:endParaRPr lang="en-US" sz="2025" dirty="0"/>
          </a:p>
        </p:txBody>
      </p:sp>
      <p:sp>
        <p:nvSpPr>
          <p:cNvPr id="37" name="Text 30"/>
          <p:cNvSpPr/>
          <p:nvPr/>
        </p:nvSpPr>
        <p:spPr>
          <a:xfrm>
            <a:off x="9738320" y="7494271"/>
            <a:ext cx="7817196"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sized by knobs, stored and governed in Oracle</a:t>
            </a:r>
            <a:endParaRPr lang="en-US" sz="1725" dirty="0"/>
          </a:p>
        </p:txBody>
      </p:sp>
      <p:pic>
        <p:nvPicPr>
          <p:cNvPr id="38" name="Image 5" descr="preencoded.png"/>
          <p:cNvPicPr>
            <a:picLocks noChangeAspect="1"/>
          </p:cNvPicPr>
          <p:nvPr/>
        </p:nvPicPr>
        <p:blipFill>
          <a:blip r:embed="rId4"/>
          <a:srcRect/>
          <a:stretch/>
        </p:blipFill>
        <p:spPr>
          <a:xfrm>
            <a:off x="9189671" y="8051446"/>
            <a:ext cx="356206" cy="356206"/>
          </a:xfrm>
          <a:prstGeom prst="rect">
            <a:avLst/>
          </a:prstGeom>
        </p:spPr>
      </p:pic>
      <p:sp>
        <p:nvSpPr>
          <p:cNvPr id="39" name="Text 31"/>
          <p:cNvSpPr/>
          <p:nvPr/>
        </p:nvSpPr>
        <p:spPr>
          <a:xfrm>
            <a:off x="9738320" y="8047622"/>
            <a:ext cx="7817196"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One call, prompt-ready</a:t>
            </a:r>
            <a:endParaRPr lang="en-US" sz="2025" dirty="0"/>
          </a:p>
        </p:txBody>
      </p:sp>
      <p:sp>
        <p:nvSpPr>
          <p:cNvPr id="40" name="Text 32"/>
          <p:cNvSpPr/>
          <p:nvPr/>
        </p:nvSpPr>
        <p:spPr>
          <a:xfrm>
            <a:off x="9738320" y="8482014"/>
            <a:ext cx="7817196"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dirty="0">
                <a:solidFill>
                  <a:srgbClr val="C3D7DC"/>
                </a:solidFill>
                <a:latin typeface="Oracle Sans Tab" pitchFamily="34" charset="0"/>
                <a:ea typeface="Oracle Sans Tab" pitchFamily="34" charset="-122"/>
                <a:cs typeface="Oracle Sans Tab" pitchFamily="34" charset="-120"/>
              </a:rPr>
              <a:t>assembled once per user turn</a:t>
            </a:r>
            <a:endParaRPr lang="en-US" sz="1725" dirty="0"/>
          </a:p>
        </p:txBody>
      </p:sp>
      <p:sp>
        <p:nvSpPr>
          <p:cNvPr id="41" name="Text 33"/>
          <p:cNvSpPr/>
          <p:nvPr/>
        </p:nvSpPr>
        <p:spPr>
          <a:xfrm>
            <a:off x="960096" y="9132517"/>
            <a:ext cx="16858767"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dirty="0">
                <a:solidFill>
                  <a:srgbClr val="FD6953"/>
                </a:solidFill>
                <a:latin typeface="Menlo" pitchFamily="34" charset="0"/>
                <a:ea typeface="Menlo" pitchFamily="34" charset="-122"/>
                <a:cs typeface="Menlo" pitchFamily="34" charset="-120"/>
              </a:rPr>
              <a:t>mem.context_card(thread, recent=6, relevant=4) # OAMP's prompt-assembly primitive</a:t>
            </a:r>
            <a:endParaRPr lang="en-US" sz="16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CONTEXT ENGINEERING</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A REAL CARD, ANNOTATED</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THE CONTEXT CARD</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What the agent actually </a:t>
            </a:r>
            <a:r>
              <a:rPr lang="en-US" sz="4500" b="1" i="1" dirty="0">
                <a:solidFill>
                  <a:srgbClr val="FD6953"/>
                </a:solidFill>
                <a:latin typeface="Oracle Sans Tab" pitchFamily="34" charset="0"/>
                <a:ea typeface="Oracle Sans Tab" pitchFamily="34" charset="-122"/>
                <a:cs typeface="Oracle Sans Tab" pitchFamily="34" charset="-120"/>
              </a:rPr>
              <a:t>reads.</a:t>
            </a:r>
            <a:endParaRPr lang="en-US" sz="1200" dirty="0"/>
          </a:p>
        </p:txBody>
      </p:sp>
      <p:sp>
        <p:nvSpPr>
          <p:cNvPr id="8" name="Shape 5"/>
          <p:cNvSpPr/>
          <p:nvPr/>
        </p:nvSpPr>
        <p:spPr>
          <a:xfrm>
            <a:off x="960096" y="3566139"/>
            <a:ext cx="8983948" cy="5966457"/>
          </a:xfrm>
          <a:prstGeom prst="roundRect">
            <a:avLst>
              <a:gd name="adj" fmla="val 1612"/>
            </a:avLst>
          </a:prstGeom>
          <a:solidFill>
            <a:srgbClr val="0B5060"/>
          </a:solidFill>
          <a:ln w="19844">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 name="Text 6"/>
          <p:cNvSpPr/>
          <p:nvPr/>
        </p:nvSpPr>
        <p:spPr>
          <a:xfrm>
            <a:off x="1371596" y="3868084"/>
            <a:ext cx="9127964" cy="248010"/>
          </a:xfrm>
          <a:prstGeom prst="rect">
            <a:avLst/>
          </a:prstGeom>
          <a:noFill/>
          <a:ln/>
        </p:spPr>
        <p:txBody>
          <a:bodyPr wrap="square" lIns="25400" tIns="25400" rIns="25400" bIns="25400" rtlCol="0" anchor="t">
            <a:normAutofit/>
          </a:bodyPr>
          <a:lstStyle/>
          <a:p>
            <a:pPr marL="0" indent="0" algn="l">
              <a:lnSpc>
                <a:spcPct val="89088"/>
              </a:lnSpc>
              <a:buNone/>
            </a:pPr>
            <a:r>
              <a:rPr lang="en-US" sz="1425" dirty="0">
                <a:solidFill>
                  <a:srgbClr val="FD6953"/>
                </a:solidFill>
                <a:latin typeface="Menlo" pitchFamily="34" charset="0"/>
                <a:ea typeface="Menlo" pitchFamily="34" charset="-122"/>
                <a:cs typeface="Menlo" pitchFamily="34" charset="-120"/>
              </a:rPr>
              <a:t>&lt;context_card&gt;</a:t>
            </a:r>
            <a:endParaRPr lang="en-US" sz="1425" dirty="0"/>
          </a:p>
        </p:txBody>
      </p:sp>
      <p:sp>
        <p:nvSpPr>
          <p:cNvPr id="10" name="Text 7"/>
          <p:cNvSpPr/>
          <p:nvPr/>
        </p:nvSpPr>
        <p:spPr>
          <a:xfrm>
            <a:off x="1371596" y="4077994"/>
            <a:ext cx="9127964" cy="248010"/>
          </a:xfrm>
          <a:prstGeom prst="rect">
            <a:avLst/>
          </a:prstGeom>
          <a:noFill/>
          <a:ln/>
        </p:spPr>
        <p:txBody>
          <a:bodyPr wrap="square" lIns="25400" tIns="25400" rIns="25400" bIns="25400" rtlCol="0" anchor="t">
            <a:normAutofit/>
          </a:bodyPr>
          <a:lstStyle/>
          <a:p>
            <a:pPr marL="0" indent="0" algn="l">
              <a:lnSpc>
                <a:spcPct val="89088"/>
              </a:lnSpc>
              <a:buNone/>
            </a:pPr>
            <a:r>
              <a:rPr lang="en-US" sz="1425" dirty="0">
                <a:solidFill>
                  <a:srgbClr val="C3D7DC"/>
                </a:solidFill>
                <a:latin typeface="Menlo" pitchFamily="34" charset="0"/>
                <a:ea typeface="Menlo" pitchFamily="34" charset="-122"/>
                <a:cs typeface="Menlo" pitchFamily="34" charset="-120"/>
              </a:rPr>
              <a:t>&lt;topics&gt; q3 growth · outdoors · business risk &lt;/topics&gt;</a:t>
            </a:r>
            <a:endParaRPr lang="en-US" sz="1425" dirty="0"/>
          </a:p>
        </p:txBody>
      </p:sp>
      <p:sp>
        <p:nvSpPr>
          <p:cNvPr id="11" name="Text 8"/>
          <p:cNvSpPr/>
          <p:nvPr/>
        </p:nvSpPr>
        <p:spPr>
          <a:xfrm>
            <a:off x="1371596" y="4287903"/>
            <a:ext cx="9127964" cy="248010"/>
          </a:xfrm>
          <a:prstGeom prst="rect">
            <a:avLst/>
          </a:prstGeom>
          <a:noFill/>
          <a:ln/>
        </p:spPr>
        <p:txBody>
          <a:bodyPr wrap="square" lIns="25400" tIns="25400" rIns="25400" bIns="25400" rtlCol="0" anchor="t">
            <a:normAutofit/>
          </a:bodyPr>
          <a:lstStyle/>
          <a:p>
            <a:pPr marL="0" indent="0" algn="l">
              <a:lnSpc>
                <a:spcPct val="89088"/>
              </a:lnSpc>
              <a:buNone/>
            </a:pPr>
            <a:r>
              <a:rPr lang="en-US" sz="1425" dirty="0">
                <a:solidFill>
                  <a:srgbClr val="FD6953"/>
                </a:solidFill>
                <a:latin typeface="Menlo" pitchFamily="34" charset="0"/>
                <a:ea typeface="Menlo" pitchFamily="34" charset="-122"/>
                <a:cs typeface="Menlo" pitchFamily="34" charset="-120"/>
              </a:rPr>
              <a:t>&lt;summary&gt;</a:t>
            </a:r>
            <a:endParaRPr lang="en-US" sz="1425" dirty="0"/>
          </a:p>
        </p:txBody>
      </p:sp>
      <p:sp>
        <p:nvSpPr>
          <p:cNvPr id="12" name="Text 9"/>
          <p:cNvSpPr/>
          <p:nvPr/>
        </p:nvSpPr>
        <p:spPr>
          <a:xfrm>
            <a:off x="1371596" y="4497813"/>
            <a:ext cx="9127964" cy="248010"/>
          </a:xfrm>
          <a:prstGeom prst="rect">
            <a:avLst/>
          </a:prstGeom>
          <a:noFill/>
          <a:ln/>
        </p:spPr>
        <p:txBody>
          <a:bodyPr wrap="square" lIns="25400" tIns="25400" rIns="25400" bIns="25400" rtlCol="0" anchor="t">
            <a:normAutofit lnSpcReduction="10000"/>
          </a:bodyPr>
          <a:lstStyle/>
          <a:p>
            <a:pPr marL="0" indent="0" algn="l">
              <a:lnSpc>
                <a:spcPct val="89088"/>
              </a:lnSpc>
              <a:buNone/>
            </a:pPr>
            <a:r>
              <a:rPr lang="en-US" sz="1425" dirty="0">
                <a:solidFill>
                  <a:srgbClr val="C3D7DC"/>
                </a:solidFill>
                <a:latin typeface="Oracle Sans Tab" pitchFamily="34" charset="0"/>
                <a:ea typeface="Oracle Sans Tab" pitchFamily="34" charset="-122"/>
                <a:cs typeface="Oracle Sans Tab" pitchFamily="34" charset="-120"/>
              </a:rPr>
              <a:t>Reviewing Q3 performance. Growth driven by</a:t>
            </a:r>
            <a:endParaRPr lang="en-US" sz="1425" dirty="0"/>
          </a:p>
        </p:txBody>
      </p:sp>
      <p:sp>
        <p:nvSpPr>
          <p:cNvPr id="13" name="Text 10"/>
          <p:cNvSpPr/>
          <p:nvPr/>
        </p:nvSpPr>
        <p:spPr>
          <a:xfrm>
            <a:off x="1371596" y="4707723"/>
            <a:ext cx="9127964" cy="248010"/>
          </a:xfrm>
          <a:prstGeom prst="rect">
            <a:avLst/>
          </a:prstGeom>
          <a:noFill/>
          <a:ln/>
        </p:spPr>
        <p:txBody>
          <a:bodyPr wrap="square" lIns="25400" tIns="25400" rIns="25400" bIns="25400" rtlCol="0" anchor="t">
            <a:normAutofit lnSpcReduction="10000"/>
          </a:bodyPr>
          <a:lstStyle/>
          <a:p>
            <a:pPr marL="0" indent="0" algn="l">
              <a:lnSpc>
                <a:spcPct val="89088"/>
              </a:lnSpc>
              <a:buNone/>
            </a:pPr>
            <a:r>
              <a:rPr lang="en-US" sz="1425" dirty="0">
                <a:solidFill>
                  <a:srgbClr val="C3D7DC"/>
                </a:solidFill>
                <a:latin typeface="Oracle Sans Tab" pitchFamily="34" charset="0"/>
                <a:ea typeface="Oracle Sans Tab" pitchFamily="34" charset="-122"/>
                <a:cs typeface="Oracle Sans Tab" pitchFamily="34" charset="-120"/>
              </a:rPr>
              <a:t>Outdoors, +12% QoQ. User now asks the main</a:t>
            </a:r>
            <a:endParaRPr lang="en-US" sz="1425" dirty="0"/>
          </a:p>
        </p:txBody>
      </p:sp>
      <p:sp>
        <p:nvSpPr>
          <p:cNvPr id="14" name="Text 11"/>
          <p:cNvSpPr/>
          <p:nvPr/>
        </p:nvSpPr>
        <p:spPr>
          <a:xfrm>
            <a:off x="1371596" y="4917632"/>
            <a:ext cx="9127964" cy="248010"/>
          </a:xfrm>
          <a:prstGeom prst="rect">
            <a:avLst/>
          </a:prstGeom>
          <a:noFill/>
          <a:ln/>
        </p:spPr>
        <p:txBody>
          <a:bodyPr wrap="square" lIns="25400" tIns="25400" rIns="25400" bIns="25400" rtlCol="0" anchor="t">
            <a:normAutofit lnSpcReduction="10000"/>
          </a:bodyPr>
          <a:lstStyle/>
          <a:p>
            <a:pPr marL="0" indent="0" algn="l">
              <a:lnSpc>
                <a:spcPct val="89088"/>
              </a:lnSpc>
              <a:buNone/>
            </a:pPr>
            <a:r>
              <a:rPr lang="en-US" sz="1425" dirty="0">
                <a:solidFill>
                  <a:srgbClr val="C3D7DC"/>
                </a:solidFill>
                <a:latin typeface="Oracle Sans Tab" pitchFamily="34" charset="0"/>
                <a:ea typeface="Oracle Sans Tab" pitchFamily="34" charset="-122"/>
                <a:cs typeface="Oracle Sans Tab" pitchFamily="34" charset="-120"/>
              </a:rPr>
              <a:t>risk to that driver.</a:t>
            </a:r>
            <a:endParaRPr lang="en-US" sz="1425" dirty="0"/>
          </a:p>
        </p:txBody>
      </p:sp>
      <p:sp>
        <p:nvSpPr>
          <p:cNvPr id="15" name="Text 12"/>
          <p:cNvSpPr/>
          <p:nvPr/>
        </p:nvSpPr>
        <p:spPr>
          <a:xfrm>
            <a:off x="1371596" y="5127542"/>
            <a:ext cx="9127964" cy="248010"/>
          </a:xfrm>
          <a:prstGeom prst="rect">
            <a:avLst/>
          </a:prstGeom>
          <a:noFill/>
          <a:ln/>
        </p:spPr>
        <p:txBody>
          <a:bodyPr wrap="square" lIns="25400" tIns="25400" rIns="25400" bIns="25400" rtlCol="0" anchor="t">
            <a:normAutofit/>
          </a:bodyPr>
          <a:lstStyle/>
          <a:p>
            <a:pPr marL="0" indent="0" algn="l">
              <a:lnSpc>
                <a:spcPct val="89088"/>
              </a:lnSpc>
              <a:buNone/>
            </a:pPr>
            <a:r>
              <a:rPr lang="en-US" sz="1425" dirty="0">
                <a:solidFill>
                  <a:srgbClr val="FD6953"/>
                </a:solidFill>
                <a:latin typeface="Menlo" pitchFamily="34" charset="0"/>
                <a:ea typeface="Menlo" pitchFamily="34" charset="-122"/>
                <a:cs typeface="Menlo" pitchFamily="34" charset="-120"/>
              </a:rPr>
              <a:t>&lt;/summary&gt;</a:t>
            </a:r>
            <a:endParaRPr lang="en-US" sz="1425" dirty="0"/>
          </a:p>
        </p:txBody>
      </p:sp>
      <p:sp>
        <p:nvSpPr>
          <p:cNvPr id="16" name="Text 13"/>
          <p:cNvSpPr/>
          <p:nvPr/>
        </p:nvSpPr>
        <p:spPr>
          <a:xfrm>
            <a:off x="1371596" y="5337452"/>
            <a:ext cx="9127964" cy="248010"/>
          </a:xfrm>
          <a:prstGeom prst="rect">
            <a:avLst/>
          </a:prstGeom>
          <a:noFill/>
          <a:ln/>
        </p:spPr>
        <p:txBody>
          <a:bodyPr wrap="square" lIns="25400" tIns="25400" rIns="25400" bIns="25400" rtlCol="0" anchor="t">
            <a:normAutofit/>
          </a:bodyPr>
          <a:lstStyle/>
          <a:p>
            <a:pPr marL="0" indent="0" algn="l">
              <a:lnSpc>
                <a:spcPct val="89088"/>
              </a:lnSpc>
              <a:buNone/>
            </a:pPr>
            <a:r>
              <a:rPr lang="en-US" sz="1425" dirty="0">
                <a:solidFill>
                  <a:srgbClr val="FD6953"/>
                </a:solidFill>
                <a:latin typeface="Menlo" pitchFamily="34" charset="0"/>
                <a:ea typeface="Menlo" pitchFamily="34" charset="-122"/>
                <a:cs typeface="Menlo" pitchFamily="34" charset="-120"/>
              </a:rPr>
              <a:t>&lt;relevant_information&gt;</a:t>
            </a:r>
            <a:endParaRPr lang="en-US" sz="1425" dirty="0"/>
          </a:p>
        </p:txBody>
      </p:sp>
      <p:sp>
        <p:nvSpPr>
          <p:cNvPr id="17" name="Text 14"/>
          <p:cNvSpPr/>
          <p:nvPr/>
        </p:nvSpPr>
        <p:spPr>
          <a:xfrm>
            <a:off x="1371596" y="5547361"/>
            <a:ext cx="9127964" cy="248010"/>
          </a:xfrm>
          <a:prstGeom prst="rect">
            <a:avLst/>
          </a:prstGeom>
          <a:noFill/>
          <a:ln/>
        </p:spPr>
        <p:txBody>
          <a:bodyPr wrap="square" lIns="25400" tIns="25400" rIns="25400" bIns="25400" rtlCol="0" anchor="t">
            <a:normAutofit/>
          </a:bodyPr>
          <a:lstStyle/>
          <a:p>
            <a:pPr marL="0" indent="0" algn="l">
              <a:lnSpc>
                <a:spcPct val="89088"/>
              </a:lnSpc>
              <a:buNone/>
            </a:pPr>
            <a:r>
              <a:rPr lang="en-US" sz="1425" b="1" dirty="0">
                <a:solidFill>
                  <a:srgbClr val="FFFFFF"/>
                </a:solidFill>
                <a:latin typeface="Menlo" pitchFamily="34" charset="0"/>
                <a:ea typeface="Menlo" pitchFamily="34" charset="-122"/>
                <a:cs typeface="Menlo" pitchFamily="34" charset="-120"/>
              </a:rPr>
              <a:t>&lt;fact&gt; Outdoors drove Q3, +12% QoQ &lt;/fact&gt;</a:t>
            </a:r>
            <a:endParaRPr lang="en-US" sz="1425" dirty="0"/>
          </a:p>
        </p:txBody>
      </p:sp>
      <p:sp>
        <p:nvSpPr>
          <p:cNvPr id="18" name="Text 15"/>
          <p:cNvSpPr/>
          <p:nvPr/>
        </p:nvSpPr>
        <p:spPr>
          <a:xfrm>
            <a:off x="1371596" y="5757271"/>
            <a:ext cx="9127964" cy="248010"/>
          </a:xfrm>
          <a:prstGeom prst="rect">
            <a:avLst/>
          </a:prstGeom>
          <a:noFill/>
          <a:ln/>
        </p:spPr>
        <p:txBody>
          <a:bodyPr wrap="square" lIns="25400" tIns="25400" rIns="25400" bIns="25400" rtlCol="0" anchor="t">
            <a:normAutofit/>
          </a:bodyPr>
          <a:lstStyle/>
          <a:p>
            <a:pPr marL="0" indent="0" algn="l">
              <a:lnSpc>
                <a:spcPct val="89088"/>
              </a:lnSpc>
              <a:buNone/>
            </a:pPr>
            <a:r>
              <a:rPr lang="en-US" sz="1425" b="1" dirty="0">
                <a:solidFill>
                  <a:srgbClr val="FFFFFF"/>
                </a:solidFill>
                <a:latin typeface="Menlo" pitchFamily="34" charset="0"/>
                <a:ea typeface="Menlo" pitchFamily="34" charset="-122"/>
                <a:cs typeface="Menlo" pitchFamily="34" charset="-120"/>
              </a:rPr>
              <a:t>&lt;preference&gt; prefers metric units &lt;/preference&gt;</a:t>
            </a:r>
            <a:endParaRPr lang="en-US" sz="1425" dirty="0"/>
          </a:p>
        </p:txBody>
      </p:sp>
      <p:sp>
        <p:nvSpPr>
          <p:cNvPr id="19" name="Text 16"/>
          <p:cNvSpPr/>
          <p:nvPr/>
        </p:nvSpPr>
        <p:spPr>
          <a:xfrm>
            <a:off x="1371596" y="5967181"/>
            <a:ext cx="9127964" cy="248010"/>
          </a:xfrm>
          <a:prstGeom prst="rect">
            <a:avLst/>
          </a:prstGeom>
          <a:noFill/>
          <a:ln/>
        </p:spPr>
        <p:txBody>
          <a:bodyPr wrap="square" lIns="25400" tIns="25400" rIns="25400" bIns="25400" rtlCol="0" anchor="t">
            <a:normAutofit/>
          </a:bodyPr>
          <a:lstStyle/>
          <a:p>
            <a:pPr marL="0" indent="0" algn="l">
              <a:lnSpc>
                <a:spcPct val="89088"/>
              </a:lnSpc>
              <a:buNone/>
            </a:pPr>
            <a:r>
              <a:rPr lang="en-US" sz="1425" b="1" dirty="0">
                <a:solidFill>
                  <a:srgbClr val="FFFFFF"/>
                </a:solidFill>
                <a:latin typeface="Menlo" pitchFamily="34" charset="0"/>
                <a:ea typeface="Menlo" pitchFamily="34" charset="-122"/>
                <a:cs typeface="Menlo" pitchFamily="34" charset="-120"/>
              </a:rPr>
              <a:t>&lt;memory&gt; risk question asked, unanswered &lt;/memory&gt;</a:t>
            </a:r>
            <a:endParaRPr lang="en-US" sz="1425" dirty="0"/>
          </a:p>
        </p:txBody>
      </p:sp>
      <p:sp>
        <p:nvSpPr>
          <p:cNvPr id="20" name="Text 17"/>
          <p:cNvSpPr/>
          <p:nvPr/>
        </p:nvSpPr>
        <p:spPr>
          <a:xfrm>
            <a:off x="1371596" y="6177090"/>
            <a:ext cx="9127964" cy="248010"/>
          </a:xfrm>
          <a:prstGeom prst="rect">
            <a:avLst/>
          </a:prstGeom>
          <a:noFill/>
          <a:ln/>
        </p:spPr>
        <p:txBody>
          <a:bodyPr wrap="square" lIns="25400" tIns="25400" rIns="25400" bIns="25400" rtlCol="0" anchor="t">
            <a:normAutofit/>
          </a:bodyPr>
          <a:lstStyle/>
          <a:p>
            <a:pPr marL="0" indent="0" algn="l">
              <a:lnSpc>
                <a:spcPct val="89088"/>
              </a:lnSpc>
              <a:buNone/>
            </a:pPr>
            <a:r>
              <a:rPr lang="en-US" sz="1425" dirty="0">
                <a:solidFill>
                  <a:srgbClr val="FD6953"/>
                </a:solidFill>
                <a:latin typeface="Menlo" pitchFamily="34" charset="0"/>
                <a:ea typeface="Menlo" pitchFamily="34" charset="-122"/>
                <a:cs typeface="Menlo" pitchFamily="34" charset="-120"/>
              </a:rPr>
              <a:t>&lt;/relevant_information&gt;</a:t>
            </a:r>
            <a:endParaRPr lang="en-US" sz="1425" dirty="0"/>
          </a:p>
        </p:txBody>
      </p:sp>
      <p:sp>
        <p:nvSpPr>
          <p:cNvPr id="21" name="Text 18"/>
          <p:cNvSpPr/>
          <p:nvPr/>
        </p:nvSpPr>
        <p:spPr>
          <a:xfrm>
            <a:off x="1371596" y="6387000"/>
            <a:ext cx="9127964" cy="248010"/>
          </a:xfrm>
          <a:prstGeom prst="rect">
            <a:avLst/>
          </a:prstGeom>
          <a:noFill/>
          <a:ln/>
        </p:spPr>
        <p:txBody>
          <a:bodyPr wrap="square" lIns="25400" tIns="25400" rIns="25400" bIns="25400" rtlCol="0" anchor="t">
            <a:normAutofit/>
          </a:bodyPr>
          <a:lstStyle/>
          <a:p>
            <a:pPr marL="0" indent="0" algn="l">
              <a:lnSpc>
                <a:spcPct val="89088"/>
              </a:lnSpc>
              <a:buNone/>
            </a:pPr>
            <a:r>
              <a:rPr lang="en-US" sz="1425" dirty="0">
                <a:solidFill>
                  <a:srgbClr val="FD6953"/>
                </a:solidFill>
                <a:latin typeface="Menlo" pitchFamily="34" charset="0"/>
                <a:ea typeface="Menlo" pitchFamily="34" charset="-122"/>
                <a:cs typeface="Menlo" pitchFamily="34" charset="-120"/>
              </a:rPr>
              <a:t>&lt;recent_messages&gt;</a:t>
            </a:r>
            <a:endParaRPr lang="en-US" sz="1425" dirty="0"/>
          </a:p>
        </p:txBody>
      </p:sp>
      <p:sp>
        <p:nvSpPr>
          <p:cNvPr id="22" name="Text 19"/>
          <p:cNvSpPr/>
          <p:nvPr/>
        </p:nvSpPr>
        <p:spPr>
          <a:xfrm>
            <a:off x="1371596" y="6596910"/>
            <a:ext cx="9127964" cy="248010"/>
          </a:xfrm>
          <a:prstGeom prst="rect">
            <a:avLst/>
          </a:prstGeom>
          <a:noFill/>
          <a:ln/>
        </p:spPr>
        <p:txBody>
          <a:bodyPr wrap="square" lIns="25400" tIns="25400" rIns="25400" bIns="25400" rtlCol="0" anchor="t">
            <a:normAutofit lnSpcReduction="10000"/>
          </a:bodyPr>
          <a:lstStyle/>
          <a:p>
            <a:pPr marL="0" indent="0" algn="l">
              <a:lnSpc>
                <a:spcPct val="89088"/>
              </a:lnSpc>
              <a:buNone/>
            </a:pPr>
            <a:r>
              <a:rPr lang="en-US" sz="1425" dirty="0">
                <a:solidFill>
                  <a:srgbClr val="C3D7DC"/>
                </a:solidFill>
                <a:latin typeface="Oracle Sans Tab" pitchFamily="34" charset="0"/>
                <a:ea typeface="Oracle Sans Tab" pitchFamily="34" charset="-122"/>
                <a:cs typeface="Oracle Sans Tab" pitchFamily="34" charset="-120"/>
              </a:rPr>
              <a:t>user What drove Q3 growth?</a:t>
            </a:r>
            <a:endParaRPr lang="en-US" sz="1425" dirty="0"/>
          </a:p>
        </p:txBody>
      </p:sp>
      <p:sp>
        <p:nvSpPr>
          <p:cNvPr id="23" name="Text 20"/>
          <p:cNvSpPr/>
          <p:nvPr/>
        </p:nvSpPr>
        <p:spPr>
          <a:xfrm>
            <a:off x="1371596" y="6806819"/>
            <a:ext cx="9127964" cy="248010"/>
          </a:xfrm>
          <a:prstGeom prst="rect">
            <a:avLst/>
          </a:prstGeom>
          <a:noFill/>
          <a:ln/>
        </p:spPr>
        <p:txBody>
          <a:bodyPr wrap="square" lIns="25400" tIns="25400" rIns="25400" bIns="25400" rtlCol="0" anchor="t">
            <a:normAutofit lnSpcReduction="10000"/>
          </a:bodyPr>
          <a:lstStyle/>
          <a:p>
            <a:pPr marL="0" indent="0" algn="l">
              <a:lnSpc>
                <a:spcPct val="89088"/>
              </a:lnSpc>
              <a:buNone/>
            </a:pPr>
            <a:r>
              <a:rPr lang="en-US" sz="1425" dirty="0">
                <a:solidFill>
                  <a:srgbClr val="C3D7DC"/>
                </a:solidFill>
                <a:latin typeface="Oracle Sans Tab" pitchFamily="34" charset="0"/>
                <a:ea typeface="Oracle Sans Tab" pitchFamily="34" charset="-122"/>
                <a:cs typeface="Oracle Sans Tab" pitchFamily="34" charset="-120"/>
              </a:rPr>
              <a:t>assistant The Outdoors category, +12% QoQ.</a:t>
            </a:r>
            <a:endParaRPr lang="en-US" sz="1425" dirty="0"/>
          </a:p>
        </p:txBody>
      </p:sp>
      <p:sp>
        <p:nvSpPr>
          <p:cNvPr id="24" name="Text 21"/>
          <p:cNvSpPr/>
          <p:nvPr/>
        </p:nvSpPr>
        <p:spPr>
          <a:xfrm>
            <a:off x="1371596" y="7016729"/>
            <a:ext cx="9127964" cy="248010"/>
          </a:xfrm>
          <a:prstGeom prst="rect">
            <a:avLst/>
          </a:prstGeom>
          <a:noFill/>
          <a:ln/>
        </p:spPr>
        <p:txBody>
          <a:bodyPr wrap="square" lIns="25400" tIns="25400" rIns="25400" bIns="25400" rtlCol="0" anchor="t">
            <a:normAutofit lnSpcReduction="10000"/>
          </a:bodyPr>
          <a:lstStyle/>
          <a:p>
            <a:pPr marL="0" indent="0" algn="l">
              <a:lnSpc>
                <a:spcPct val="89088"/>
              </a:lnSpc>
              <a:buNone/>
            </a:pPr>
            <a:r>
              <a:rPr lang="en-US" sz="1425" dirty="0">
                <a:solidFill>
                  <a:srgbClr val="C3D7DC"/>
                </a:solidFill>
                <a:latin typeface="Oracle Sans Tab" pitchFamily="34" charset="0"/>
                <a:ea typeface="Oracle Sans Tab" pitchFamily="34" charset="-122"/>
                <a:cs typeface="Oracle Sans Tab" pitchFamily="34" charset="-120"/>
              </a:rPr>
              <a:t>user What is the main risk to that?</a:t>
            </a:r>
            <a:endParaRPr lang="en-US" sz="1425" dirty="0"/>
          </a:p>
        </p:txBody>
      </p:sp>
      <p:sp>
        <p:nvSpPr>
          <p:cNvPr id="25" name="Text 22"/>
          <p:cNvSpPr/>
          <p:nvPr/>
        </p:nvSpPr>
        <p:spPr>
          <a:xfrm>
            <a:off x="1371596" y="7226639"/>
            <a:ext cx="9127964" cy="248010"/>
          </a:xfrm>
          <a:prstGeom prst="rect">
            <a:avLst/>
          </a:prstGeom>
          <a:noFill/>
          <a:ln/>
        </p:spPr>
        <p:txBody>
          <a:bodyPr wrap="square" lIns="25400" tIns="25400" rIns="25400" bIns="25400" rtlCol="0" anchor="t">
            <a:normAutofit/>
          </a:bodyPr>
          <a:lstStyle/>
          <a:p>
            <a:pPr marL="0" indent="0" algn="l">
              <a:lnSpc>
                <a:spcPct val="89088"/>
              </a:lnSpc>
              <a:buNone/>
            </a:pPr>
            <a:r>
              <a:rPr lang="en-US" sz="1425" dirty="0">
                <a:solidFill>
                  <a:srgbClr val="FD6953"/>
                </a:solidFill>
                <a:latin typeface="Menlo" pitchFamily="34" charset="0"/>
                <a:ea typeface="Menlo" pitchFamily="34" charset="-122"/>
                <a:cs typeface="Menlo" pitchFamily="34" charset="-120"/>
              </a:rPr>
              <a:t>&lt;/recent_messages&gt;</a:t>
            </a:r>
            <a:endParaRPr lang="en-US" sz="1425" dirty="0"/>
          </a:p>
        </p:txBody>
      </p:sp>
      <p:sp>
        <p:nvSpPr>
          <p:cNvPr id="26" name="Text 23"/>
          <p:cNvSpPr/>
          <p:nvPr/>
        </p:nvSpPr>
        <p:spPr>
          <a:xfrm>
            <a:off x="1371596" y="7436548"/>
            <a:ext cx="9127964" cy="248010"/>
          </a:xfrm>
          <a:prstGeom prst="rect">
            <a:avLst/>
          </a:prstGeom>
          <a:noFill/>
          <a:ln/>
        </p:spPr>
        <p:txBody>
          <a:bodyPr wrap="square" lIns="25400" tIns="25400" rIns="25400" bIns="25400" rtlCol="0" anchor="t">
            <a:normAutofit/>
          </a:bodyPr>
          <a:lstStyle/>
          <a:p>
            <a:pPr marL="0" indent="0" algn="l">
              <a:lnSpc>
                <a:spcPct val="89088"/>
              </a:lnSpc>
              <a:buNone/>
            </a:pPr>
            <a:r>
              <a:rPr lang="en-US" sz="1425" dirty="0">
                <a:solidFill>
                  <a:srgbClr val="FD6953"/>
                </a:solidFill>
                <a:latin typeface="Menlo" pitchFamily="34" charset="0"/>
                <a:ea typeface="Menlo" pitchFamily="34" charset="-122"/>
                <a:cs typeface="Menlo" pitchFamily="34" charset="-120"/>
              </a:rPr>
              <a:t>&lt;/context_card&gt;</a:t>
            </a:r>
            <a:endParaRPr lang="en-US" sz="1425" dirty="0"/>
          </a:p>
        </p:txBody>
      </p:sp>
      <p:sp>
        <p:nvSpPr>
          <p:cNvPr id="27" name="Text 24"/>
          <p:cNvSpPr/>
          <p:nvPr/>
        </p:nvSpPr>
        <p:spPr>
          <a:xfrm>
            <a:off x="10355543" y="3588980"/>
            <a:ext cx="7669516" cy="266665"/>
          </a:xfrm>
          <a:prstGeom prst="rect">
            <a:avLst/>
          </a:prstGeom>
          <a:noFill/>
          <a:ln/>
        </p:spPr>
        <p:txBody>
          <a:bodyPr wrap="square" lIns="25400" tIns="25400" rIns="25400" bIns="25400" rtlCol="0" anchor="t">
            <a:normAutofit/>
          </a:bodyPr>
          <a:lstStyle/>
          <a:p>
            <a:pPr marL="0" indent="0" algn="l">
              <a:lnSpc>
                <a:spcPct val="92160"/>
              </a:lnSpc>
              <a:buNone/>
            </a:pPr>
            <a:r>
              <a:rPr lang="en-US" sz="1500" dirty="0">
                <a:solidFill>
                  <a:srgbClr val="FD6953"/>
                </a:solidFill>
                <a:latin typeface="Oracle Sans Tab" pitchFamily="34" charset="0"/>
                <a:ea typeface="Oracle Sans Tab" pitchFamily="34" charset="-122"/>
                <a:cs typeface="Oracle Sans Tab" pitchFamily="34" charset="-120"/>
              </a:rPr>
              <a:t>WHAT EACH PART IS DOING</a:t>
            </a:r>
            <a:endParaRPr lang="en-US" sz="1500" dirty="0"/>
          </a:p>
        </p:txBody>
      </p:sp>
      <p:sp>
        <p:nvSpPr>
          <p:cNvPr id="28" name="Shape 25"/>
          <p:cNvSpPr/>
          <p:nvPr/>
        </p:nvSpPr>
        <p:spPr>
          <a:xfrm>
            <a:off x="10355543" y="3840437"/>
            <a:ext cx="6972287" cy="1302969"/>
          </a:xfrm>
          <a:prstGeom prst="roundRect">
            <a:avLst>
              <a:gd name="adj" fmla="val 738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9" name="Text 26"/>
          <p:cNvSpPr/>
          <p:nvPr/>
        </p:nvSpPr>
        <p:spPr>
          <a:xfrm>
            <a:off x="10698468" y="4085229"/>
            <a:ext cx="6475084"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b="1" dirty="0">
                <a:solidFill>
                  <a:srgbClr val="FD6953"/>
                </a:solidFill>
                <a:latin typeface="Menlo" pitchFamily="34" charset="0"/>
                <a:ea typeface="Menlo" pitchFamily="34" charset="-122"/>
                <a:cs typeface="Menlo" pitchFamily="34" charset="-120"/>
              </a:rPr>
              <a:t>&lt;topics&gt;</a:t>
            </a:r>
            <a:endParaRPr lang="en-US" sz="1650" dirty="0"/>
          </a:p>
        </p:txBody>
      </p:sp>
      <p:sp>
        <p:nvSpPr>
          <p:cNvPr id="30" name="Text 27"/>
          <p:cNvSpPr/>
          <p:nvPr/>
        </p:nvSpPr>
        <p:spPr>
          <a:xfrm>
            <a:off x="10698468" y="4416733"/>
            <a:ext cx="6475084" cy="519931"/>
          </a:xfrm>
          <a:prstGeom prst="rect">
            <a:avLst/>
          </a:prstGeom>
          <a:noFill/>
          <a:ln/>
        </p:spPr>
        <p:txBody>
          <a:bodyPr wrap="square" lIns="25400" tIns="25400" rIns="25400" bIns="25400" rtlCol="0" anchor="t">
            <a:normAutofit/>
          </a:bodyPr>
          <a:lstStyle/>
          <a:p>
            <a:pPr marL="0" indent="0" algn="l">
              <a:lnSpc>
                <a:spcPct val="84480"/>
              </a:lnSpc>
              <a:buNone/>
            </a:pPr>
            <a:r>
              <a:rPr lang="en-US" sz="1725" dirty="0">
                <a:solidFill>
                  <a:srgbClr val="FFFFFF"/>
                </a:solidFill>
                <a:latin typeface="Oracle Sans Tab" pitchFamily="34" charset="0"/>
                <a:ea typeface="Oracle Sans Tab" pitchFamily="34" charset="-122"/>
                <a:cs typeface="Oracle Sans Tab" pitchFamily="34" charset="-120"/>
              </a:rPr>
              <a:t>A semantic fingerprint of the thread: cheap orientation and routing.</a:t>
            </a:r>
            <a:endParaRPr lang="en-US" sz="1725" dirty="0"/>
          </a:p>
        </p:txBody>
      </p:sp>
      <p:sp>
        <p:nvSpPr>
          <p:cNvPr id="31" name="Shape 28"/>
          <p:cNvSpPr/>
          <p:nvPr/>
        </p:nvSpPr>
        <p:spPr>
          <a:xfrm>
            <a:off x="10355543" y="5308254"/>
            <a:ext cx="6972287" cy="1302969"/>
          </a:xfrm>
          <a:prstGeom prst="roundRect">
            <a:avLst>
              <a:gd name="adj" fmla="val 738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32" name="Text 29"/>
          <p:cNvSpPr/>
          <p:nvPr/>
        </p:nvSpPr>
        <p:spPr>
          <a:xfrm>
            <a:off x="10698468" y="5553046"/>
            <a:ext cx="6475084"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b="1" dirty="0">
                <a:solidFill>
                  <a:srgbClr val="FD6953"/>
                </a:solidFill>
                <a:latin typeface="Menlo" pitchFamily="34" charset="0"/>
                <a:ea typeface="Menlo" pitchFamily="34" charset="-122"/>
                <a:cs typeface="Menlo" pitchFamily="34" charset="-120"/>
              </a:rPr>
              <a:t>&lt;summary&gt;</a:t>
            </a:r>
            <a:endParaRPr lang="en-US" sz="1650" dirty="0"/>
          </a:p>
        </p:txBody>
      </p:sp>
      <p:sp>
        <p:nvSpPr>
          <p:cNvPr id="33" name="Text 30"/>
          <p:cNvSpPr/>
          <p:nvPr/>
        </p:nvSpPr>
        <p:spPr>
          <a:xfrm>
            <a:off x="10698468" y="5884498"/>
            <a:ext cx="6475084" cy="519931"/>
          </a:xfrm>
          <a:prstGeom prst="rect">
            <a:avLst/>
          </a:prstGeom>
          <a:noFill/>
          <a:ln/>
        </p:spPr>
        <p:txBody>
          <a:bodyPr wrap="square" lIns="25400" tIns="25400" rIns="25400" bIns="25400" rtlCol="0" anchor="t">
            <a:normAutofit/>
          </a:bodyPr>
          <a:lstStyle/>
          <a:p>
            <a:pPr marL="0" indent="0" algn="l">
              <a:lnSpc>
                <a:spcPct val="84480"/>
              </a:lnSpc>
              <a:buNone/>
            </a:pPr>
            <a:r>
              <a:rPr lang="en-US" sz="1725" dirty="0">
                <a:solidFill>
                  <a:srgbClr val="FFFFFF"/>
                </a:solidFill>
                <a:latin typeface="Oracle Sans Tab" pitchFamily="34" charset="0"/>
                <a:ea typeface="Oracle Sans Tab" pitchFamily="34" charset="-122"/>
                <a:cs typeface="Oracle Sans Tab" pitchFamily="34" charset="-120"/>
              </a:rPr>
              <a:t>A running recap that also captures the current intent, not just history.</a:t>
            </a:r>
            <a:endParaRPr lang="en-US" sz="1725" dirty="0"/>
          </a:p>
        </p:txBody>
      </p:sp>
      <p:sp>
        <p:nvSpPr>
          <p:cNvPr id="34" name="Shape 31"/>
          <p:cNvSpPr/>
          <p:nvPr/>
        </p:nvSpPr>
        <p:spPr>
          <a:xfrm>
            <a:off x="10355543" y="6776072"/>
            <a:ext cx="6972287" cy="1947840"/>
          </a:xfrm>
          <a:prstGeom prst="roundRect">
            <a:avLst>
              <a:gd name="adj" fmla="val 4939"/>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35" name="Text 32"/>
          <p:cNvSpPr/>
          <p:nvPr/>
        </p:nvSpPr>
        <p:spPr>
          <a:xfrm>
            <a:off x="10698468" y="7019881"/>
            <a:ext cx="6475084"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b="1" dirty="0">
                <a:solidFill>
                  <a:srgbClr val="FD6953"/>
                </a:solidFill>
                <a:latin typeface="Menlo" pitchFamily="34" charset="0"/>
                <a:ea typeface="Menlo" pitchFamily="34" charset="-122"/>
                <a:cs typeface="Menlo" pitchFamily="34" charset="-120"/>
              </a:rPr>
              <a:t>&lt;relevant_information&gt;</a:t>
            </a:r>
            <a:endParaRPr lang="en-US" sz="1650" dirty="0"/>
          </a:p>
        </p:txBody>
      </p:sp>
      <p:sp>
        <p:nvSpPr>
          <p:cNvPr id="36" name="Text 33"/>
          <p:cNvSpPr/>
          <p:nvPr/>
        </p:nvSpPr>
        <p:spPr>
          <a:xfrm>
            <a:off x="10698468" y="7351386"/>
            <a:ext cx="6475084" cy="760847"/>
          </a:xfrm>
          <a:prstGeom prst="rect">
            <a:avLst/>
          </a:prstGeom>
          <a:noFill/>
          <a:ln/>
        </p:spPr>
        <p:txBody>
          <a:bodyPr wrap="square" lIns="25400" tIns="25400" rIns="25400" bIns="25400" rtlCol="0" anchor="t">
            <a:normAutofit/>
          </a:bodyPr>
          <a:lstStyle/>
          <a:p>
            <a:pPr marL="0" indent="0" algn="l">
              <a:lnSpc>
                <a:spcPct val="84480"/>
              </a:lnSpc>
              <a:buNone/>
            </a:pPr>
            <a:r>
              <a:rPr lang="en-US" sz="1725" dirty="0">
                <a:solidFill>
                  <a:srgbClr val="FFFFFF"/>
                </a:solidFill>
                <a:latin typeface="Oracle Sans Tab" pitchFamily="34" charset="0"/>
                <a:ea typeface="Oracle Sans Tab" pitchFamily="34" charset="-122"/>
                <a:cs typeface="Oracle Sans Tab" pitchFamily="34" charset="-120"/>
              </a:rPr>
              <a:t>Typed and timestamped. A fact is truth; a preference (metric units) shapes the answer; an episodic memory flags the question is still open.</a:t>
            </a:r>
            <a:endParaRPr lang="en-US" sz="1725" dirty="0"/>
          </a:p>
        </p:txBody>
      </p:sp>
      <p:sp>
        <p:nvSpPr>
          <p:cNvPr id="37" name="Shape 34"/>
          <p:cNvSpPr/>
          <p:nvPr/>
        </p:nvSpPr>
        <p:spPr>
          <a:xfrm>
            <a:off x="10355543" y="8887778"/>
            <a:ext cx="6972287" cy="1069650"/>
          </a:xfrm>
          <a:prstGeom prst="roundRect">
            <a:avLst>
              <a:gd name="adj" fmla="val 8994"/>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38" name="Text 35"/>
          <p:cNvSpPr/>
          <p:nvPr/>
        </p:nvSpPr>
        <p:spPr>
          <a:xfrm>
            <a:off x="10698468" y="9132517"/>
            <a:ext cx="6475084"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b="1" dirty="0">
                <a:solidFill>
                  <a:srgbClr val="FD6953"/>
                </a:solidFill>
                <a:latin typeface="Menlo" pitchFamily="34" charset="0"/>
                <a:ea typeface="Menlo" pitchFamily="34" charset="-122"/>
                <a:cs typeface="Menlo" pitchFamily="34" charset="-120"/>
              </a:rPr>
              <a:t>&lt;recent_messages&gt;</a:t>
            </a:r>
            <a:endParaRPr lang="en-US" sz="1650" dirty="0"/>
          </a:p>
        </p:txBody>
      </p:sp>
      <p:sp>
        <p:nvSpPr>
          <p:cNvPr id="39" name="Text 36"/>
          <p:cNvSpPr/>
          <p:nvPr/>
        </p:nvSpPr>
        <p:spPr>
          <a:xfrm>
            <a:off x="10698468" y="9464021"/>
            <a:ext cx="6915138" cy="279016"/>
          </a:xfrm>
          <a:prstGeom prst="rect">
            <a:avLst/>
          </a:prstGeom>
          <a:noFill/>
          <a:ln/>
        </p:spPr>
        <p:txBody>
          <a:bodyPr wrap="square" lIns="25400" tIns="25400" rIns="25400" bIns="25400" rtlCol="0" anchor="t">
            <a:normAutofit lnSpcReduction="10000"/>
          </a:bodyPr>
          <a:lstStyle/>
          <a:p>
            <a:pPr marL="0" indent="0" algn="l">
              <a:lnSpc>
                <a:spcPct val="84480"/>
              </a:lnSpc>
              <a:buNone/>
            </a:pPr>
            <a:r>
              <a:rPr lang="en-US" sz="1725" dirty="0">
                <a:solidFill>
                  <a:srgbClr val="FFFFFF"/>
                </a:solidFill>
                <a:latin typeface="Oracle Sans Tab" pitchFamily="34" charset="0"/>
                <a:ea typeface="Oracle Sans Tab" pitchFamily="34" charset="-122"/>
                <a:cs typeface="Oracle Sans Tab" pitchFamily="34" charset="-120"/>
              </a:rPr>
              <a:t>The last turns verbatim, with role, for local coherence.</a:t>
            </a:r>
            <a:endParaRPr lang="en-US" sz="172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name="Slide 42">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MEMORY, AND BEYOND</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MEMORY + SEMANTIC, TOGETHER</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THE LAYERS, REVISITED</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Memory and the semantic layer, </a:t>
            </a:r>
            <a:r>
              <a:rPr lang="en-US" sz="4500" b="1" i="1" dirty="0">
                <a:solidFill>
                  <a:srgbClr val="FD6953"/>
                </a:solidFill>
                <a:latin typeface="Oracle Sans Tab" pitchFamily="34" charset="0"/>
                <a:ea typeface="Oracle Sans Tab" pitchFamily="34" charset="-122"/>
                <a:cs typeface="Oracle Sans Tab" pitchFamily="34" charset="-120"/>
              </a:rPr>
              <a:t>together.</a:t>
            </a:r>
            <a:endParaRPr lang="en-US" sz="1200" dirty="0"/>
          </a:p>
        </p:txBody>
      </p:sp>
      <p:sp>
        <p:nvSpPr>
          <p:cNvPr id="8" name="Shape 5"/>
          <p:cNvSpPr/>
          <p:nvPr/>
        </p:nvSpPr>
        <p:spPr>
          <a:xfrm>
            <a:off x="960096" y="3497564"/>
            <a:ext cx="16367735" cy="5074884"/>
          </a:xfrm>
          <a:prstGeom prst="roundRect">
            <a:avLst>
              <a:gd name="adj" fmla="val 2703"/>
            </a:avLst>
          </a:prstGeom>
          <a:solidFill>
            <a:srgbClr val="0B5060"/>
          </a:solidFill>
          <a:ln w="19844">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 name="Shape 6"/>
          <p:cNvSpPr/>
          <p:nvPr/>
        </p:nvSpPr>
        <p:spPr>
          <a:xfrm>
            <a:off x="1440170" y="3497564"/>
            <a:ext cx="3703288" cy="603839"/>
          </a:xfrm>
          <a:prstGeom prst="roundRect">
            <a:avLst>
              <a:gd name="adj" fmla="val 13566"/>
            </a:avLst>
          </a:prstGeom>
          <a:solidFill>
            <a:srgbClr val="04303F"/>
          </a:solidFill>
          <a:ln w="16536">
            <a:solidFill>
              <a:srgbClr val="FFFFFF">
                <a:alpha val="45000"/>
              </a:srgbClr>
            </a:solidFill>
            <a:prstDash val="solid"/>
          </a:ln>
        </p:spPr>
        <p:txBody>
          <a:bodyPr/>
          <a:lstStyle/>
          <a:p>
            <a:endParaRPr lang="en-US"/>
          </a:p>
        </p:txBody>
      </p:sp>
      <p:sp>
        <p:nvSpPr>
          <p:cNvPr id="10" name="Text 7"/>
          <p:cNvSpPr/>
          <p:nvPr/>
        </p:nvSpPr>
        <p:spPr>
          <a:xfrm>
            <a:off x="1255006" y="3679465"/>
            <a:ext cx="4073617" cy="278137"/>
          </a:xfrm>
          <a:prstGeom prst="rect">
            <a:avLst/>
          </a:prstGeom>
          <a:noFill/>
          <a:ln/>
        </p:spPr>
        <p:txBody>
          <a:bodyPr wrap="square" lIns="25400" tIns="25400" rIns="25400" bIns="25400" rtlCol="0" anchor="t">
            <a:normAutofit/>
          </a:bodyPr>
          <a:lstStyle/>
          <a:p>
            <a:pPr marL="0" indent="0" algn="ctr">
              <a:lnSpc>
                <a:spcPct val="92160"/>
              </a:lnSpc>
              <a:buNone/>
            </a:pPr>
            <a:r>
              <a:rPr lang="en-US" sz="1575" b="1" dirty="0">
                <a:solidFill>
                  <a:srgbClr val="FFFFFF"/>
                </a:solidFill>
                <a:latin typeface="Oracle Sans Tab" pitchFamily="34" charset="0"/>
                <a:ea typeface="Oracle Sans Tab" pitchFamily="34" charset="-122"/>
                <a:cs typeface="Oracle Sans Tab" pitchFamily="34" charset="-120"/>
              </a:rPr>
              <a:t>AGENT HARNESS</a:t>
            </a:r>
            <a:endParaRPr lang="en-US" sz="1575" dirty="0"/>
          </a:p>
        </p:txBody>
      </p:sp>
      <p:sp>
        <p:nvSpPr>
          <p:cNvPr id="11" name="Text 8"/>
          <p:cNvSpPr/>
          <p:nvPr/>
        </p:nvSpPr>
        <p:spPr>
          <a:xfrm>
            <a:off x="1714469" y="4348158"/>
            <a:ext cx="761998" cy="358132"/>
          </a:xfrm>
          <a:prstGeom prst="rect">
            <a:avLst/>
          </a:prstGeom>
          <a:noFill/>
          <a:ln/>
        </p:spPr>
        <p:txBody>
          <a:bodyPr wrap="square" lIns="25400" tIns="25400" rIns="25400" bIns="25400" rtlCol="0" anchor="t">
            <a:normAutofit/>
          </a:bodyPr>
          <a:lstStyle/>
          <a:p>
            <a:pPr marL="0" indent="0" algn="l">
              <a:lnSpc>
                <a:spcPct val="92160"/>
              </a:lnSpc>
              <a:buNone/>
            </a:pPr>
            <a:r>
              <a:rPr lang="en-US" sz="2100" dirty="0">
                <a:solidFill>
                  <a:srgbClr val="9FBBC3"/>
                </a:solidFill>
                <a:latin typeface="Oracle Sans Tab" pitchFamily="34" charset="0"/>
                <a:ea typeface="Oracle Sans Tab" pitchFamily="34" charset="-122"/>
                <a:cs typeface="Oracle Sans Tab" pitchFamily="34" charset="-120"/>
              </a:rPr>
              <a:t>1</a:t>
            </a:r>
            <a:endParaRPr lang="en-US" sz="2100" dirty="0"/>
          </a:p>
        </p:txBody>
      </p:sp>
      <p:sp>
        <p:nvSpPr>
          <p:cNvPr id="12" name="Text 9"/>
          <p:cNvSpPr/>
          <p:nvPr/>
        </p:nvSpPr>
        <p:spPr>
          <a:xfrm>
            <a:off x="2537416" y="4375754"/>
            <a:ext cx="6357347" cy="358132"/>
          </a:xfrm>
          <a:prstGeom prst="rect">
            <a:avLst/>
          </a:prstGeom>
          <a:noFill/>
          <a:ln/>
        </p:spPr>
        <p:txBody>
          <a:bodyPr wrap="square" lIns="25400" tIns="25400" rIns="25400" bIns="25400" rtlCol="0" anchor="t">
            <a:normAutofit/>
          </a:bodyPr>
          <a:lstStyle/>
          <a:p>
            <a:pPr marL="0" indent="0" algn="l">
              <a:lnSpc>
                <a:spcPct val="92160"/>
              </a:lnSpc>
              <a:buNone/>
            </a:pPr>
            <a:r>
              <a:rPr lang="en-US" sz="2100" b="1" dirty="0">
                <a:solidFill>
                  <a:srgbClr val="FFFFFF"/>
                </a:solidFill>
                <a:latin typeface="Oracle Sans Tab" pitchFamily="34" charset="0"/>
                <a:ea typeface="Oracle Sans Tab" pitchFamily="34" charset="-122"/>
                <a:cs typeface="Oracle Sans Tab" pitchFamily="34" charset="-120"/>
              </a:rPr>
              <a:t>Model layer</a:t>
            </a:r>
            <a:endParaRPr lang="en-US" sz="2100" dirty="0"/>
          </a:p>
        </p:txBody>
      </p:sp>
      <p:sp>
        <p:nvSpPr>
          <p:cNvPr id="13" name="Text 10"/>
          <p:cNvSpPr/>
          <p:nvPr/>
        </p:nvSpPr>
        <p:spPr>
          <a:xfrm>
            <a:off x="1714469" y="4951067"/>
            <a:ext cx="761998" cy="358132"/>
          </a:xfrm>
          <a:prstGeom prst="rect">
            <a:avLst/>
          </a:prstGeom>
          <a:noFill/>
          <a:ln/>
        </p:spPr>
        <p:txBody>
          <a:bodyPr wrap="square" lIns="25400" tIns="25400" rIns="25400" bIns="25400" rtlCol="0" anchor="t">
            <a:normAutofit/>
          </a:bodyPr>
          <a:lstStyle/>
          <a:p>
            <a:pPr marL="0" indent="0" algn="l">
              <a:lnSpc>
                <a:spcPct val="92160"/>
              </a:lnSpc>
              <a:buNone/>
            </a:pPr>
            <a:r>
              <a:rPr lang="en-US" sz="2100" dirty="0">
                <a:solidFill>
                  <a:srgbClr val="9FBBC3"/>
                </a:solidFill>
                <a:latin typeface="Oracle Sans Tab" pitchFamily="34" charset="0"/>
                <a:ea typeface="Oracle Sans Tab" pitchFamily="34" charset="-122"/>
                <a:cs typeface="Oracle Sans Tab" pitchFamily="34" charset="-120"/>
              </a:rPr>
              <a:t>2</a:t>
            </a:r>
            <a:endParaRPr lang="en-US" sz="2100" dirty="0"/>
          </a:p>
        </p:txBody>
      </p:sp>
      <p:sp>
        <p:nvSpPr>
          <p:cNvPr id="14" name="Text 11"/>
          <p:cNvSpPr/>
          <p:nvPr/>
        </p:nvSpPr>
        <p:spPr>
          <a:xfrm>
            <a:off x="2537416" y="4978714"/>
            <a:ext cx="6357347" cy="358132"/>
          </a:xfrm>
          <a:prstGeom prst="rect">
            <a:avLst/>
          </a:prstGeom>
          <a:noFill/>
          <a:ln/>
        </p:spPr>
        <p:txBody>
          <a:bodyPr wrap="square" lIns="25400" tIns="25400" rIns="25400" bIns="25400" rtlCol="0" anchor="t">
            <a:normAutofit/>
          </a:bodyPr>
          <a:lstStyle/>
          <a:p>
            <a:pPr marL="0" indent="0" algn="l">
              <a:lnSpc>
                <a:spcPct val="92160"/>
              </a:lnSpc>
              <a:buNone/>
            </a:pPr>
            <a:r>
              <a:rPr lang="en-US" sz="2100" b="1" dirty="0">
                <a:solidFill>
                  <a:srgbClr val="FFFFFF"/>
                </a:solidFill>
                <a:latin typeface="Oracle Sans Tab" pitchFamily="34" charset="0"/>
                <a:ea typeface="Oracle Sans Tab" pitchFamily="34" charset="-122"/>
                <a:cs typeface="Oracle Sans Tab" pitchFamily="34" charset="-120"/>
              </a:rPr>
              <a:t>Storage layer</a:t>
            </a:r>
            <a:endParaRPr lang="en-US" sz="2100" dirty="0"/>
          </a:p>
        </p:txBody>
      </p:sp>
      <p:sp>
        <p:nvSpPr>
          <p:cNvPr id="15" name="Text 12"/>
          <p:cNvSpPr/>
          <p:nvPr/>
        </p:nvSpPr>
        <p:spPr>
          <a:xfrm>
            <a:off x="1714469" y="5554958"/>
            <a:ext cx="761998" cy="358132"/>
          </a:xfrm>
          <a:prstGeom prst="rect">
            <a:avLst/>
          </a:prstGeom>
          <a:noFill/>
          <a:ln/>
        </p:spPr>
        <p:txBody>
          <a:bodyPr wrap="square" lIns="25400" tIns="25400" rIns="25400" bIns="25400" rtlCol="0" anchor="t">
            <a:normAutofit/>
          </a:bodyPr>
          <a:lstStyle/>
          <a:p>
            <a:pPr marL="0" indent="0" algn="l">
              <a:lnSpc>
                <a:spcPct val="92160"/>
              </a:lnSpc>
              <a:buNone/>
            </a:pPr>
            <a:r>
              <a:rPr lang="en-US" sz="2100" dirty="0">
                <a:solidFill>
                  <a:srgbClr val="9FBBC3"/>
                </a:solidFill>
                <a:latin typeface="Oracle Sans Tab" pitchFamily="34" charset="0"/>
                <a:ea typeface="Oracle Sans Tab" pitchFamily="34" charset="-122"/>
                <a:cs typeface="Oracle Sans Tab" pitchFamily="34" charset="-120"/>
              </a:rPr>
              <a:t>3</a:t>
            </a:r>
            <a:endParaRPr lang="en-US" sz="2100" dirty="0"/>
          </a:p>
        </p:txBody>
      </p:sp>
      <p:sp>
        <p:nvSpPr>
          <p:cNvPr id="16" name="Text 13"/>
          <p:cNvSpPr/>
          <p:nvPr/>
        </p:nvSpPr>
        <p:spPr>
          <a:xfrm>
            <a:off x="2537416" y="5582553"/>
            <a:ext cx="6357347" cy="358132"/>
          </a:xfrm>
          <a:prstGeom prst="rect">
            <a:avLst/>
          </a:prstGeom>
          <a:noFill/>
          <a:ln/>
        </p:spPr>
        <p:txBody>
          <a:bodyPr wrap="square" lIns="25400" tIns="25400" rIns="25400" bIns="25400" rtlCol="0" anchor="t">
            <a:normAutofit/>
          </a:bodyPr>
          <a:lstStyle/>
          <a:p>
            <a:pPr marL="0" indent="0" algn="l">
              <a:lnSpc>
                <a:spcPct val="92160"/>
              </a:lnSpc>
              <a:buNone/>
            </a:pPr>
            <a:r>
              <a:rPr lang="en-US" sz="2100" b="1" dirty="0">
                <a:solidFill>
                  <a:srgbClr val="FFFFFF"/>
                </a:solidFill>
                <a:latin typeface="Oracle Sans Tab" pitchFamily="34" charset="0"/>
                <a:ea typeface="Oracle Sans Tab" pitchFamily="34" charset="-122"/>
                <a:cs typeface="Oracle Sans Tab" pitchFamily="34" charset="-120"/>
              </a:rPr>
              <a:t>Encoding &amp; retrieval</a:t>
            </a:r>
            <a:endParaRPr lang="en-US" sz="2100" dirty="0"/>
          </a:p>
        </p:txBody>
      </p:sp>
      <p:sp>
        <p:nvSpPr>
          <p:cNvPr id="17" name="Shape 14"/>
          <p:cNvSpPr/>
          <p:nvPr/>
        </p:nvSpPr>
        <p:spPr>
          <a:xfrm>
            <a:off x="1440170" y="6131202"/>
            <a:ext cx="12801595" cy="548597"/>
          </a:xfrm>
          <a:prstGeom prst="roundRect">
            <a:avLst>
              <a:gd name="adj" fmla="val 12501"/>
            </a:avLst>
          </a:prstGeom>
          <a:solidFill>
            <a:srgbClr val="0B5060"/>
          </a:solidFill>
          <a:ln w="16536">
            <a:solidFill>
              <a:srgbClr val="E0836F"/>
            </a:solidFill>
            <a:prstDash val="solid"/>
          </a:ln>
        </p:spPr>
        <p:txBody>
          <a:bodyPr/>
          <a:lstStyle/>
          <a:p>
            <a:endParaRPr lang="en-US"/>
          </a:p>
        </p:txBody>
      </p:sp>
      <p:sp>
        <p:nvSpPr>
          <p:cNvPr id="18" name="Text 15"/>
          <p:cNvSpPr/>
          <p:nvPr/>
        </p:nvSpPr>
        <p:spPr>
          <a:xfrm>
            <a:off x="1714469" y="6158848"/>
            <a:ext cx="761998" cy="358132"/>
          </a:xfrm>
          <a:prstGeom prst="rect">
            <a:avLst/>
          </a:prstGeom>
          <a:noFill/>
          <a:ln/>
        </p:spPr>
        <p:txBody>
          <a:bodyPr wrap="square" lIns="25400" tIns="25400" rIns="25400" bIns="25400" rtlCol="0" anchor="t">
            <a:normAutofit/>
          </a:bodyPr>
          <a:lstStyle/>
          <a:p>
            <a:pPr marL="0" indent="0" algn="l">
              <a:lnSpc>
                <a:spcPct val="92160"/>
              </a:lnSpc>
              <a:buNone/>
            </a:pPr>
            <a:r>
              <a:rPr lang="en-US" sz="2100" dirty="0">
                <a:solidFill>
                  <a:srgbClr val="FD6953"/>
                </a:solidFill>
                <a:latin typeface="Oracle Sans Tab" pitchFamily="34" charset="0"/>
                <a:ea typeface="Oracle Sans Tab" pitchFamily="34" charset="-122"/>
                <a:cs typeface="Oracle Sans Tab" pitchFamily="34" charset="-120"/>
              </a:rPr>
              <a:t>4</a:t>
            </a:r>
            <a:endParaRPr lang="en-US" sz="2100" dirty="0"/>
          </a:p>
        </p:txBody>
      </p:sp>
      <p:sp>
        <p:nvSpPr>
          <p:cNvPr id="19" name="Text 16"/>
          <p:cNvSpPr/>
          <p:nvPr/>
        </p:nvSpPr>
        <p:spPr>
          <a:xfrm>
            <a:off x="2537416" y="6185514"/>
            <a:ext cx="6357347" cy="358132"/>
          </a:xfrm>
          <a:prstGeom prst="rect">
            <a:avLst/>
          </a:prstGeom>
          <a:noFill/>
          <a:ln/>
        </p:spPr>
        <p:txBody>
          <a:bodyPr wrap="square" lIns="25400" tIns="25400" rIns="25400" bIns="25400" rtlCol="0" anchor="t">
            <a:normAutofit/>
          </a:bodyPr>
          <a:lstStyle/>
          <a:p>
            <a:pPr marL="0" indent="0" algn="l">
              <a:lnSpc>
                <a:spcPct val="92160"/>
              </a:lnSpc>
              <a:buNone/>
            </a:pPr>
            <a:r>
              <a:rPr lang="en-US" sz="2100" b="1" dirty="0">
                <a:solidFill>
                  <a:srgbClr val="FD6953"/>
                </a:solidFill>
                <a:latin typeface="Oracle Sans Tab" pitchFamily="34" charset="0"/>
                <a:ea typeface="Oracle Sans Tab" pitchFamily="34" charset="-122"/>
                <a:cs typeface="Oracle Sans Tab" pitchFamily="34" charset="-120"/>
              </a:rPr>
              <a:t>Memory layer</a:t>
            </a:r>
            <a:endParaRPr lang="en-US" sz="2100" dirty="0"/>
          </a:p>
        </p:txBody>
      </p:sp>
      <p:sp>
        <p:nvSpPr>
          <p:cNvPr id="20" name="Shape 17"/>
          <p:cNvSpPr/>
          <p:nvPr/>
        </p:nvSpPr>
        <p:spPr>
          <a:xfrm>
            <a:off x="1440170" y="6734162"/>
            <a:ext cx="12801595" cy="548597"/>
          </a:xfrm>
          <a:prstGeom prst="roundRect">
            <a:avLst>
              <a:gd name="adj" fmla="val 12501"/>
            </a:avLst>
          </a:prstGeom>
          <a:solidFill>
            <a:srgbClr val="0B5060"/>
          </a:solidFill>
          <a:ln w="16536">
            <a:solidFill>
              <a:srgbClr val="E0836F"/>
            </a:solidFill>
            <a:prstDash val="solid"/>
          </a:ln>
        </p:spPr>
        <p:txBody>
          <a:bodyPr/>
          <a:lstStyle/>
          <a:p>
            <a:endParaRPr lang="en-US"/>
          </a:p>
        </p:txBody>
      </p:sp>
      <p:sp>
        <p:nvSpPr>
          <p:cNvPr id="21" name="Text 18"/>
          <p:cNvSpPr/>
          <p:nvPr/>
        </p:nvSpPr>
        <p:spPr>
          <a:xfrm>
            <a:off x="1714469" y="6761758"/>
            <a:ext cx="761998" cy="358132"/>
          </a:xfrm>
          <a:prstGeom prst="rect">
            <a:avLst/>
          </a:prstGeom>
          <a:noFill/>
          <a:ln/>
        </p:spPr>
        <p:txBody>
          <a:bodyPr wrap="square" lIns="25400" tIns="25400" rIns="25400" bIns="25400" rtlCol="0" anchor="t">
            <a:normAutofit/>
          </a:bodyPr>
          <a:lstStyle/>
          <a:p>
            <a:pPr marL="0" indent="0" algn="l">
              <a:lnSpc>
                <a:spcPct val="92160"/>
              </a:lnSpc>
              <a:buNone/>
            </a:pPr>
            <a:r>
              <a:rPr lang="en-US" sz="2100" dirty="0">
                <a:solidFill>
                  <a:srgbClr val="FD6953"/>
                </a:solidFill>
                <a:latin typeface="Oracle Sans Tab" pitchFamily="34" charset="0"/>
                <a:ea typeface="Oracle Sans Tab" pitchFamily="34" charset="-122"/>
                <a:cs typeface="Oracle Sans Tab" pitchFamily="34" charset="-120"/>
              </a:rPr>
              <a:t>5</a:t>
            </a:r>
            <a:endParaRPr lang="en-US" sz="2100" dirty="0"/>
          </a:p>
        </p:txBody>
      </p:sp>
      <p:sp>
        <p:nvSpPr>
          <p:cNvPr id="22" name="Text 19"/>
          <p:cNvSpPr/>
          <p:nvPr/>
        </p:nvSpPr>
        <p:spPr>
          <a:xfrm>
            <a:off x="2537416" y="6789404"/>
            <a:ext cx="6357347" cy="358132"/>
          </a:xfrm>
          <a:prstGeom prst="rect">
            <a:avLst/>
          </a:prstGeom>
          <a:noFill/>
          <a:ln/>
        </p:spPr>
        <p:txBody>
          <a:bodyPr wrap="square" lIns="25400" tIns="25400" rIns="25400" bIns="25400" rtlCol="0" anchor="t">
            <a:normAutofit/>
          </a:bodyPr>
          <a:lstStyle/>
          <a:p>
            <a:pPr marL="0" indent="0" algn="l">
              <a:lnSpc>
                <a:spcPct val="92160"/>
              </a:lnSpc>
              <a:buNone/>
            </a:pPr>
            <a:r>
              <a:rPr lang="en-US" sz="2100" b="1" dirty="0">
                <a:solidFill>
                  <a:srgbClr val="FD6953"/>
                </a:solidFill>
                <a:latin typeface="Oracle Sans Tab" pitchFamily="34" charset="0"/>
                <a:ea typeface="Oracle Sans Tab" pitchFamily="34" charset="-122"/>
                <a:cs typeface="Oracle Sans Tab" pitchFamily="34" charset="-120"/>
              </a:rPr>
              <a:t>Semantic layer</a:t>
            </a:r>
            <a:endParaRPr lang="en-US" sz="2100" dirty="0"/>
          </a:p>
        </p:txBody>
      </p:sp>
      <p:sp>
        <p:nvSpPr>
          <p:cNvPr id="23" name="Text 20"/>
          <p:cNvSpPr/>
          <p:nvPr/>
        </p:nvSpPr>
        <p:spPr>
          <a:xfrm>
            <a:off x="1714469" y="7365648"/>
            <a:ext cx="761998" cy="358132"/>
          </a:xfrm>
          <a:prstGeom prst="rect">
            <a:avLst/>
          </a:prstGeom>
          <a:noFill/>
          <a:ln/>
        </p:spPr>
        <p:txBody>
          <a:bodyPr wrap="square" lIns="25400" tIns="25400" rIns="25400" bIns="25400" rtlCol="0" anchor="t">
            <a:normAutofit/>
          </a:bodyPr>
          <a:lstStyle/>
          <a:p>
            <a:pPr marL="0" indent="0" algn="l">
              <a:lnSpc>
                <a:spcPct val="92160"/>
              </a:lnSpc>
              <a:buNone/>
            </a:pPr>
            <a:r>
              <a:rPr lang="en-US" sz="2100" dirty="0">
                <a:solidFill>
                  <a:srgbClr val="9FBBC3"/>
                </a:solidFill>
                <a:latin typeface="Oracle Sans Tab" pitchFamily="34" charset="0"/>
                <a:ea typeface="Oracle Sans Tab" pitchFamily="34" charset="-122"/>
                <a:cs typeface="Oracle Sans Tab" pitchFamily="34" charset="-120"/>
              </a:rPr>
              <a:t>6</a:t>
            </a:r>
            <a:endParaRPr lang="en-US" sz="2100" dirty="0"/>
          </a:p>
        </p:txBody>
      </p:sp>
      <p:sp>
        <p:nvSpPr>
          <p:cNvPr id="24" name="Text 21"/>
          <p:cNvSpPr/>
          <p:nvPr/>
        </p:nvSpPr>
        <p:spPr>
          <a:xfrm>
            <a:off x="2537416" y="7393295"/>
            <a:ext cx="6357347" cy="358132"/>
          </a:xfrm>
          <a:prstGeom prst="rect">
            <a:avLst/>
          </a:prstGeom>
          <a:noFill/>
          <a:ln/>
        </p:spPr>
        <p:txBody>
          <a:bodyPr wrap="square" lIns="25400" tIns="25400" rIns="25400" bIns="25400" rtlCol="0" anchor="t">
            <a:normAutofit/>
          </a:bodyPr>
          <a:lstStyle/>
          <a:p>
            <a:pPr marL="0" indent="0" algn="l">
              <a:lnSpc>
                <a:spcPct val="92160"/>
              </a:lnSpc>
              <a:buNone/>
            </a:pPr>
            <a:r>
              <a:rPr lang="en-US" sz="2100" b="1" dirty="0">
                <a:solidFill>
                  <a:srgbClr val="FFFFFF"/>
                </a:solidFill>
                <a:latin typeface="Oracle Sans Tab" pitchFamily="34" charset="0"/>
                <a:ea typeface="Oracle Sans Tab" pitchFamily="34" charset="-122"/>
                <a:cs typeface="Oracle Sans Tab" pitchFamily="34" charset="-120"/>
              </a:rPr>
              <a:t>Agent loop</a:t>
            </a:r>
            <a:endParaRPr lang="en-US" sz="2100" dirty="0"/>
          </a:p>
        </p:txBody>
      </p:sp>
      <p:sp>
        <p:nvSpPr>
          <p:cNvPr id="25" name="Text 22"/>
          <p:cNvSpPr/>
          <p:nvPr/>
        </p:nvSpPr>
        <p:spPr>
          <a:xfrm>
            <a:off x="1714469" y="7968609"/>
            <a:ext cx="761998" cy="358132"/>
          </a:xfrm>
          <a:prstGeom prst="rect">
            <a:avLst/>
          </a:prstGeom>
          <a:noFill/>
          <a:ln/>
        </p:spPr>
        <p:txBody>
          <a:bodyPr wrap="square" lIns="25400" tIns="25400" rIns="25400" bIns="25400" rtlCol="0" anchor="t">
            <a:normAutofit/>
          </a:bodyPr>
          <a:lstStyle/>
          <a:p>
            <a:pPr marL="0" indent="0" algn="l">
              <a:lnSpc>
                <a:spcPct val="92160"/>
              </a:lnSpc>
              <a:buNone/>
            </a:pPr>
            <a:r>
              <a:rPr lang="en-US" sz="2100" dirty="0">
                <a:solidFill>
                  <a:srgbClr val="9FBBC3"/>
                </a:solidFill>
                <a:latin typeface="Oracle Sans Tab" pitchFamily="34" charset="0"/>
                <a:ea typeface="Oracle Sans Tab" pitchFamily="34" charset="-122"/>
                <a:cs typeface="Oracle Sans Tab" pitchFamily="34" charset="-120"/>
              </a:rPr>
              <a:t>7</a:t>
            </a:r>
            <a:endParaRPr lang="en-US" sz="2100" dirty="0"/>
          </a:p>
        </p:txBody>
      </p:sp>
      <p:sp>
        <p:nvSpPr>
          <p:cNvPr id="26" name="Text 23"/>
          <p:cNvSpPr/>
          <p:nvPr/>
        </p:nvSpPr>
        <p:spPr>
          <a:xfrm>
            <a:off x="2537416" y="7996204"/>
            <a:ext cx="6357347" cy="358132"/>
          </a:xfrm>
          <a:prstGeom prst="rect">
            <a:avLst/>
          </a:prstGeom>
          <a:noFill/>
          <a:ln/>
        </p:spPr>
        <p:txBody>
          <a:bodyPr wrap="square" lIns="25400" tIns="25400" rIns="25400" bIns="25400" rtlCol="0" anchor="t">
            <a:normAutofit/>
          </a:bodyPr>
          <a:lstStyle/>
          <a:p>
            <a:pPr marL="0" indent="0" algn="l">
              <a:lnSpc>
                <a:spcPct val="92160"/>
              </a:lnSpc>
              <a:buNone/>
            </a:pPr>
            <a:r>
              <a:rPr lang="en-US" sz="2100" b="1" dirty="0">
                <a:solidFill>
                  <a:srgbClr val="FFFFFF"/>
                </a:solidFill>
                <a:latin typeface="Oracle Sans Tab" pitchFamily="34" charset="0"/>
                <a:ea typeface="Oracle Sans Tab" pitchFamily="34" charset="-122"/>
                <a:cs typeface="Oracle Sans Tab" pitchFamily="34" charset="-120"/>
              </a:rPr>
              <a:t>Context engineering</a:t>
            </a:r>
            <a:endParaRPr lang="en-US" sz="2100" dirty="0"/>
          </a:p>
        </p:txBody>
      </p:sp>
      <p:sp>
        <p:nvSpPr>
          <p:cNvPr id="27" name="Shape 24"/>
          <p:cNvSpPr/>
          <p:nvPr/>
        </p:nvSpPr>
        <p:spPr>
          <a:xfrm rot="5400000">
            <a:off x="13817147" y="6721863"/>
            <a:ext cx="1152525" cy="26458"/>
          </a:xfrm>
          <a:prstGeom prst="rect">
            <a:avLst/>
          </a:prstGeom>
          <a:solidFill>
            <a:srgbClr val="FD6953"/>
          </a:solidFill>
          <a:ln/>
        </p:spPr>
        <p:txBody>
          <a:bodyPr/>
          <a:lstStyle/>
          <a:p>
            <a:endParaRPr lang="en-US"/>
          </a:p>
        </p:txBody>
      </p:sp>
      <p:sp>
        <p:nvSpPr>
          <p:cNvPr id="28" name="Shape 25"/>
          <p:cNvSpPr/>
          <p:nvPr/>
        </p:nvSpPr>
        <p:spPr>
          <a:xfrm>
            <a:off x="14405580" y="6158848"/>
            <a:ext cx="192391" cy="26458"/>
          </a:xfrm>
          <a:prstGeom prst="rect">
            <a:avLst/>
          </a:prstGeom>
          <a:solidFill>
            <a:srgbClr val="FD6953"/>
          </a:solidFill>
          <a:ln/>
        </p:spPr>
        <p:txBody>
          <a:bodyPr/>
          <a:lstStyle/>
          <a:p>
            <a:endParaRPr lang="en-US"/>
          </a:p>
        </p:txBody>
      </p:sp>
      <p:sp>
        <p:nvSpPr>
          <p:cNvPr id="29" name="Shape 26"/>
          <p:cNvSpPr/>
          <p:nvPr/>
        </p:nvSpPr>
        <p:spPr>
          <a:xfrm>
            <a:off x="14405580" y="7310406"/>
            <a:ext cx="192391" cy="26458"/>
          </a:xfrm>
          <a:prstGeom prst="rect">
            <a:avLst/>
          </a:prstGeom>
          <a:solidFill>
            <a:srgbClr val="FD6953"/>
          </a:solidFill>
          <a:ln/>
        </p:spPr>
        <p:txBody>
          <a:bodyPr/>
          <a:lstStyle/>
          <a:p>
            <a:endParaRPr lang="en-US"/>
          </a:p>
        </p:txBody>
      </p:sp>
      <p:sp>
        <p:nvSpPr>
          <p:cNvPr id="30" name="Text 27"/>
          <p:cNvSpPr/>
          <p:nvPr/>
        </p:nvSpPr>
        <p:spPr>
          <a:xfrm>
            <a:off x="14735173" y="6512677"/>
            <a:ext cx="2564861" cy="273331"/>
          </a:xfrm>
          <a:prstGeom prst="rect">
            <a:avLst/>
          </a:prstGeom>
          <a:noFill/>
          <a:ln/>
        </p:spPr>
        <p:txBody>
          <a:bodyPr wrap="square" lIns="25400" tIns="25400" rIns="25400" bIns="25400" rtlCol="0" anchor="t">
            <a:normAutofit lnSpcReduction="10000"/>
          </a:bodyPr>
          <a:lstStyle/>
          <a:p>
            <a:pPr marL="0" indent="0" algn="l">
              <a:lnSpc>
                <a:spcPct val="72960"/>
              </a:lnSpc>
              <a:buNone/>
            </a:pPr>
            <a:r>
              <a:rPr lang="en-US" sz="1950" b="1" dirty="0">
                <a:solidFill>
                  <a:srgbClr val="FD6953"/>
                </a:solidFill>
                <a:latin typeface="Oracle Sans Tab" pitchFamily="34" charset="0"/>
                <a:ea typeface="Oracle Sans Tab" pitchFamily="34" charset="-122"/>
                <a:cs typeface="Oracle Sans Tab" pitchFamily="34" charset="-120"/>
              </a:rPr>
              <a:t>work</a:t>
            </a:r>
            <a:endParaRPr lang="en-US" sz="1950" dirty="0"/>
          </a:p>
        </p:txBody>
      </p:sp>
      <p:sp>
        <p:nvSpPr>
          <p:cNvPr id="31" name="Text 28"/>
          <p:cNvSpPr/>
          <p:nvPr/>
        </p:nvSpPr>
        <p:spPr>
          <a:xfrm>
            <a:off x="14735173" y="6747908"/>
            <a:ext cx="2564861" cy="273331"/>
          </a:xfrm>
          <a:prstGeom prst="rect">
            <a:avLst/>
          </a:prstGeom>
          <a:noFill/>
          <a:ln/>
        </p:spPr>
        <p:txBody>
          <a:bodyPr wrap="square" lIns="25400" tIns="25400" rIns="25400" bIns="25400" rtlCol="0" anchor="t">
            <a:normAutofit lnSpcReduction="10000"/>
          </a:bodyPr>
          <a:lstStyle/>
          <a:p>
            <a:pPr marL="0" indent="0" algn="l">
              <a:lnSpc>
                <a:spcPct val="72960"/>
              </a:lnSpc>
              <a:buNone/>
            </a:pPr>
            <a:r>
              <a:rPr lang="en-US" sz="1950" b="1" dirty="0">
                <a:solidFill>
                  <a:srgbClr val="FD6953"/>
                </a:solidFill>
                <a:latin typeface="Oracle Sans Tab" pitchFamily="34" charset="0"/>
                <a:ea typeface="Oracle Sans Tab" pitchFamily="34" charset="-122"/>
                <a:cs typeface="Oracle Sans Tab" pitchFamily="34" charset="-120"/>
              </a:rPr>
              <a:t>together</a:t>
            </a:r>
            <a:endParaRPr lang="en-US" sz="1950" dirty="0"/>
          </a:p>
        </p:txBody>
      </p:sp>
      <p:sp>
        <p:nvSpPr>
          <p:cNvPr id="32" name="Text 29"/>
          <p:cNvSpPr/>
          <p:nvPr/>
        </p:nvSpPr>
        <p:spPr>
          <a:xfrm>
            <a:off x="960096" y="8988237"/>
            <a:ext cx="16858767" cy="578119"/>
          </a:xfrm>
          <a:prstGeom prst="rect">
            <a:avLst/>
          </a:prstGeom>
          <a:noFill/>
          <a:ln/>
        </p:spPr>
        <p:txBody>
          <a:bodyPr wrap="square" lIns="25400" tIns="25400" rIns="25400" bIns="25400" rtlCol="0" anchor="t">
            <a:normAutofit/>
          </a:bodyPr>
          <a:lstStyle/>
          <a:p>
            <a:pPr marL="0" indent="0" algn="l">
              <a:lnSpc>
                <a:spcPct val="80640"/>
              </a:lnSpc>
              <a:buNone/>
            </a:pPr>
            <a:r>
              <a:rPr lang="en-US" sz="2025" b="1" i="1" dirty="0">
                <a:solidFill>
                  <a:srgbClr val="FFFFFF"/>
                </a:solidFill>
                <a:latin typeface="Oracle Sans Tab" pitchFamily="34" charset="0"/>
                <a:ea typeface="Oracle Sans Tab" pitchFamily="34" charset="-122"/>
                <a:cs typeface="Oracle Sans Tab" pitchFamily="34" charset="-120"/>
              </a:rPr>
              <a:t>Memory recalls what happened. </a:t>
            </a:r>
            <a:r>
              <a:rPr lang="en-US" sz="2025" i="1" dirty="0">
                <a:solidFill>
                  <a:srgbClr val="FFFFFF"/>
                </a:solidFill>
                <a:latin typeface="Oracle Sans Tab" pitchFamily="34" charset="0"/>
                <a:ea typeface="Oracle Sans Tab" pitchFamily="34" charset="-122"/>
                <a:cs typeface="Oracle Sans Tab" pitchFamily="34" charset="-120"/>
              </a:rPr>
              <a:t>The semantic layer explains what the data means. Together they ground the agent: the unsaid becomes searchable, and recall lands in context.</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name="Slide 43">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DEFINITION</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SEMANTIC LAYER</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SEMANTIC LAYER</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What is a </a:t>
            </a:r>
            <a:r>
              <a:rPr lang="en-US" sz="5100" b="1" dirty="0">
                <a:solidFill>
                  <a:srgbClr val="FD6953"/>
                </a:solidFill>
                <a:latin typeface="Oracle Sans Tab" pitchFamily="34" charset="0"/>
                <a:ea typeface="Oracle Sans Tab" pitchFamily="34" charset="-122"/>
                <a:cs typeface="Oracle Sans Tab" pitchFamily="34" charset="-120"/>
              </a:rPr>
              <a:t>semantic layer</a:t>
            </a:r>
            <a:endParaRPr lang="en-US" sz="1200" dirty="0"/>
          </a:p>
        </p:txBody>
      </p:sp>
      <p:sp>
        <p:nvSpPr>
          <p:cNvPr id="8" name="Shape 5"/>
          <p:cNvSpPr/>
          <p:nvPr/>
        </p:nvSpPr>
        <p:spPr>
          <a:xfrm>
            <a:off x="960096" y="4594810"/>
            <a:ext cx="2057394" cy="2057394"/>
          </a:xfrm>
          <a:prstGeom prst="roundRect">
            <a:avLst>
              <a:gd name="adj" fmla="val 467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rcRect/>
          <a:stretch/>
        </p:blipFill>
        <p:spPr>
          <a:xfrm>
            <a:off x="1536340" y="5019642"/>
            <a:ext cx="904854" cy="904854"/>
          </a:xfrm>
          <a:prstGeom prst="rect">
            <a:avLst/>
          </a:prstGeom>
        </p:spPr>
      </p:pic>
      <p:sp>
        <p:nvSpPr>
          <p:cNvPr id="10" name="Text 6"/>
          <p:cNvSpPr/>
          <p:nvPr/>
        </p:nvSpPr>
        <p:spPr>
          <a:xfrm>
            <a:off x="3497564" y="4320511"/>
            <a:ext cx="14268754" cy="1866826"/>
          </a:xfrm>
          <a:prstGeom prst="rect">
            <a:avLst/>
          </a:prstGeom>
          <a:noFill/>
          <a:ln/>
        </p:spPr>
        <p:txBody>
          <a:bodyPr wrap="square" lIns="25400" tIns="25400" rIns="25400" bIns="25400" rtlCol="0" anchor="t">
            <a:normAutofit/>
          </a:bodyPr>
          <a:lstStyle/>
          <a:p>
            <a:pPr marL="0" indent="0" algn="l">
              <a:lnSpc>
                <a:spcPct val="92160"/>
              </a:lnSpc>
              <a:buNone/>
            </a:pPr>
            <a:r>
              <a:rPr lang="en-US" sz="3000" dirty="0">
                <a:solidFill>
                  <a:srgbClr val="FFFFFF"/>
                </a:solidFill>
                <a:latin typeface="Oracle Sans Tab" pitchFamily="34" charset="0"/>
                <a:ea typeface="Oracle Sans Tab" pitchFamily="34" charset="-122"/>
                <a:cs typeface="Oracle Sans Tab" pitchFamily="34" charset="-120"/>
              </a:rPr>
              <a:t>A </a:t>
            </a:r>
            <a:r>
              <a:rPr lang="en-US" sz="3000" b="1" dirty="0">
                <a:solidFill>
                  <a:srgbClr val="FFFFFF"/>
                </a:solidFill>
                <a:latin typeface="Oracle Sans Tab" pitchFamily="34" charset="0"/>
                <a:ea typeface="Oracle Sans Tab" pitchFamily="34" charset="-122"/>
                <a:cs typeface="Oracle Sans Tab" pitchFamily="34" charset="-120"/>
              </a:rPr>
              <a:t>machine-readable description of what your data means </a:t>
            </a:r>
            <a:r>
              <a:rPr lang="en-US" sz="3000" dirty="0">
                <a:solidFill>
                  <a:srgbClr val="FFFFFF"/>
                </a:solidFill>
                <a:latin typeface="Oracle Sans Tab" pitchFamily="34" charset="0"/>
                <a:ea typeface="Oracle Sans Tab" pitchFamily="34" charset="-122"/>
                <a:cs typeface="Oracle Sans Tab" pitchFamily="34" charset="-120"/>
              </a:rPr>
              <a:t>: comments, annotations, trusted joins, business views and real workload, scanned into a </a:t>
            </a:r>
            <a:r>
              <a:rPr lang="en-US" sz="3000" b="1" dirty="0">
                <a:solidFill>
                  <a:srgbClr val="FFFFFF"/>
                </a:solidFill>
                <a:latin typeface="Oracle Sans Tab" pitchFamily="34" charset="0"/>
                <a:ea typeface="Oracle Sans Tab" pitchFamily="34" charset="-122"/>
                <a:cs typeface="Oracle Sans Tab" pitchFamily="34" charset="-120"/>
              </a:rPr>
              <a:t>searchable catalog </a:t>
            </a:r>
            <a:r>
              <a:rPr lang="en-US" sz="3000" dirty="0">
                <a:solidFill>
                  <a:srgbClr val="FFFFFF"/>
                </a:solidFill>
                <a:latin typeface="Oracle Sans Tab" pitchFamily="34" charset="0"/>
                <a:ea typeface="Oracle Sans Tab" pitchFamily="34" charset="-122"/>
                <a:cs typeface="Oracle Sans Tab" pitchFamily="34" charset="-120"/>
              </a:rPr>
              <a:t>so the agent reasons about your schema instead of guessing column names.</a:t>
            </a:r>
            <a:endParaRPr lang="en-US" sz="1200" dirty="0"/>
          </a:p>
        </p:txBody>
      </p:sp>
      <p:sp>
        <p:nvSpPr>
          <p:cNvPr id="11" name="Shape 7"/>
          <p:cNvSpPr/>
          <p:nvPr/>
        </p:nvSpPr>
        <p:spPr>
          <a:xfrm>
            <a:off x="960096" y="7680926"/>
            <a:ext cx="16367735" cy="1302969"/>
          </a:xfrm>
          <a:prstGeom prst="roundRect">
            <a:avLst>
              <a:gd name="adj" fmla="val 7383"/>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12" name="Text 8"/>
          <p:cNvSpPr/>
          <p:nvPr/>
        </p:nvSpPr>
        <p:spPr>
          <a:xfrm>
            <a:off x="1508745" y="8187407"/>
            <a:ext cx="15728550" cy="328108"/>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2175" b="1" dirty="0">
                <a:solidFill>
                  <a:srgbClr val="FD6953"/>
                </a:solidFill>
                <a:latin typeface="Oracle Sans Tab" pitchFamily="34" charset="0"/>
                <a:ea typeface="Oracle Sans Tab" pitchFamily="34" charset="-122"/>
                <a:cs typeface="Oracle Sans Tab" pitchFamily="34" charset="-120"/>
              </a:rPr>
              <a:t>Why it matters </a:t>
            </a:r>
            <a:r>
              <a:rPr lang="en-US" sz="2175" dirty="0">
                <a:solidFill>
                  <a:srgbClr val="FFFFFF"/>
                </a:solidFill>
                <a:latin typeface="Oracle Sans Tab" pitchFamily="34" charset="0"/>
                <a:ea typeface="Oracle Sans Tab" pitchFamily="34" charset="-122"/>
                <a:cs typeface="Oracle Sans Tab" pitchFamily="34" charset="-120"/>
              </a:rPr>
              <a:t>it is the agent's map of the territory, and it is kept fresh on a schedule so it tracks drift.</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name="Slide 44">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MEMORY, AND BEYOND</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UMWELT, VON UEXKÜLL</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GROUNDING</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Grounding: the agent's</a:t>
            </a:r>
            <a:r>
              <a:rPr lang="en-US" sz="4500" b="1" i="1" dirty="0">
                <a:solidFill>
                  <a:srgbClr val="FD6953"/>
                </a:solidFill>
                <a:latin typeface="Oracle Sans Tab" pitchFamily="34" charset="0"/>
                <a:ea typeface="Oracle Sans Tab" pitchFamily="34" charset="-122"/>
                <a:cs typeface="Oracle Sans Tab" pitchFamily="34" charset="-120"/>
              </a:rPr>
              <a:t>Umwelt.</a:t>
            </a:r>
            <a:endParaRPr lang="en-US" sz="1200" dirty="0"/>
          </a:p>
        </p:txBody>
      </p:sp>
      <p:sp>
        <p:nvSpPr>
          <p:cNvPr id="8" name="Shape 5"/>
          <p:cNvSpPr/>
          <p:nvPr/>
        </p:nvSpPr>
        <p:spPr>
          <a:xfrm>
            <a:off x="960096" y="3977638"/>
            <a:ext cx="4526235" cy="1920193"/>
          </a:xfrm>
          <a:prstGeom prst="roundRect">
            <a:avLst>
              <a:gd name="adj" fmla="val 501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rcRect/>
          <a:stretch/>
        </p:blipFill>
        <p:spPr>
          <a:xfrm>
            <a:off x="1371596" y="4416733"/>
            <a:ext cx="685798" cy="685798"/>
          </a:xfrm>
          <a:prstGeom prst="rect">
            <a:avLst/>
          </a:prstGeom>
        </p:spPr>
      </p:pic>
      <p:sp>
        <p:nvSpPr>
          <p:cNvPr id="10" name="Text 6"/>
          <p:cNvSpPr/>
          <p:nvPr/>
        </p:nvSpPr>
        <p:spPr>
          <a:xfrm>
            <a:off x="2331692" y="4539516"/>
            <a:ext cx="2825487" cy="381025"/>
          </a:xfrm>
          <a:prstGeom prst="rect">
            <a:avLst/>
          </a:prstGeom>
          <a:noFill/>
          <a:ln/>
        </p:spPr>
        <p:txBody>
          <a:bodyPr wrap="square" lIns="25400" tIns="25400" rIns="25400" bIns="25400" rtlCol="0" anchor="t">
            <a:normAutofit/>
          </a:bodyPr>
          <a:lstStyle/>
          <a:p>
            <a:pPr marL="0" indent="0" algn="l">
              <a:lnSpc>
                <a:spcPct val="92160"/>
              </a:lnSpc>
              <a:buNone/>
            </a:pPr>
            <a:r>
              <a:rPr lang="en-US" sz="2250" b="1" dirty="0">
                <a:solidFill>
                  <a:srgbClr val="FFFFFF"/>
                </a:solidFill>
                <a:latin typeface="Oracle Sans Tab" pitchFamily="34" charset="0"/>
                <a:ea typeface="Oracle Sans Tab" pitchFamily="34" charset="-122"/>
                <a:cs typeface="Oracle Sans Tab" pitchFamily="34" charset="-120"/>
              </a:rPr>
              <a:t>Reality</a:t>
            </a:r>
            <a:endParaRPr lang="en-US" sz="2250" dirty="0"/>
          </a:p>
        </p:txBody>
      </p:sp>
      <p:sp>
        <p:nvSpPr>
          <p:cNvPr id="11" name="Text 7"/>
          <p:cNvSpPr/>
          <p:nvPr/>
        </p:nvSpPr>
        <p:spPr>
          <a:xfrm>
            <a:off x="1371596" y="5394916"/>
            <a:ext cx="4096967"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dirty="0">
                <a:solidFill>
                  <a:srgbClr val="C3D7DC"/>
                </a:solidFill>
                <a:latin typeface="Oracle Sans Tab" pitchFamily="34" charset="0"/>
                <a:ea typeface="Oracle Sans Tab" pitchFamily="34" charset="-122"/>
                <a:cs typeface="Oracle Sans Tab" pitchFamily="34" charset="-120"/>
              </a:rPr>
              <a:t>all the data, all the detail</a:t>
            </a:r>
            <a:endParaRPr lang="en-US" sz="1650" dirty="0"/>
          </a:p>
        </p:txBody>
      </p:sp>
      <p:sp>
        <p:nvSpPr>
          <p:cNvPr id="12" name="Shape 8"/>
          <p:cNvSpPr/>
          <p:nvPr/>
        </p:nvSpPr>
        <p:spPr>
          <a:xfrm>
            <a:off x="5486383" y="4937735"/>
            <a:ext cx="754373" cy="26458"/>
          </a:xfrm>
          <a:prstGeom prst="rect">
            <a:avLst/>
          </a:prstGeom>
          <a:solidFill>
            <a:srgbClr val="FFFFFF">
              <a:alpha val="34000"/>
            </a:srgbClr>
          </a:solidFill>
          <a:ln/>
        </p:spPr>
        <p:txBody>
          <a:bodyPr/>
          <a:lstStyle/>
          <a:p>
            <a:endParaRPr lang="en-US"/>
          </a:p>
        </p:txBody>
      </p:sp>
      <p:sp>
        <p:nvSpPr>
          <p:cNvPr id="13" name="Shape 9"/>
          <p:cNvSpPr/>
          <p:nvPr/>
        </p:nvSpPr>
        <p:spPr>
          <a:xfrm>
            <a:off x="6115078" y="4855052"/>
            <a:ext cx="125677" cy="165365"/>
          </a:xfrm>
          <a:prstGeom prst="rect">
            <a:avLst/>
          </a:prstGeom>
          <a:solidFill>
            <a:srgbClr val="FFFFFF">
              <a:alpha val="34000"/>
            </a:srgbClr>
          </a:solidFill>
          <a:ln/>
        </p:spPr>
        <p:txBody>
          <a:bodyPr/>
          <a:lstStyle/>
          <a:p>
            <a:endParaRPr lang="en-US"/>
          </a:p>
        </p:txBody>
      </p:sp>
      <p:sp>
        <p:nvSpPr>
          <p:cNvPr id="14" name="Shape 10"/>
          <p:cNvSpPr/>
          <p:nvPr/>
        </p:nvSpPr>
        <p:spPr>
          <a:xfrm>
            <a:off x="6240756" y="3977638"/>
            <a:ext cx="3566139" cy="1920193"/>
          </a:xfrm>
          <a:prstGeom prst="roundRect">
            <a:avLst>
              <a:gd name="adj" fmla="val 5010"/>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pic>
        <p:nvPicPr>
          <p:cNvPr id="15" name="Image 2" descr="preencoded.png"/>
          <p:cNvPicPr>
            <a:picLocks noChangeAspect="1"/>
          </p:cNvPicPr>
          <p:nvPr/>
        </p:nvPicPr>
        <p:blipFill>
          <a:blip r:embed="rId5"/>
          <a:srcRect/>
          <a:stretch/>
        </p:blipFill>
        <p:spPr>
          <a:xfrm>
            <a:off x="7680926" y="4307179"/>
            <a:ext cx="685798" cy="685798"/>
          </a:xfrm>
          <a:prstGeom prst="rect">
            <a:avLst/>
          </a:prstGeom>
        </p:spPr>
      </p:pic>
      <p:sp>
        <p:nvSpPr>
          <p:cNvPr id="16" name="Text 11"/>
          <p:cNvSpPr/>
          <p:nvPr/>
        </p:nvSpPr>
        <p:spPr>
          <a:xfrm>
            <a:off x="6187264" y="5167746"/>
            <a:ext cx="3673123" cy="346712"/>
          </a:xfrm>
          <a:prstGeom prst="rect">
            <a:avLst/>
          </a:prstGeom>
          <a:noFill/>
          <a:ln/>
        </p:spPr>
        <p:txBody>
          <a:bodyPr wrap="square" lIns="25400" tIns="25400" rIns="25400" bIns="25400" rtlCol="0" anchor="t">
            <a:normAutofit/>
          </a:bodyPr>
          <a:lstStyle/>
          <a:p>
            <a:pPr marL="0" indent="0" algn="ctr">
              <a:lnSpc>
                <a:spcPct val="92160"/>
              </a:lnSpc>
              <a:buNone/>
            </a:pPr>
            <a:r>
              <a:rPr lang="en-US" sz="2025" b="1" dirty="0">
                <a:solidFill>
                  <a:srgbClr val="FD6953"/>
                </a:solidFill>
                <a:latin typeface="Oracle Sans Tab" pitchFamily="34" charset="0"/>
                <a:ea typeface="Oracle Sans Tab" pitchFamily="34" charset="-122"/>
                <a:cs typeface="Oracle Sans Tab" pitchFamily="34" charset="-120"/>
              </a:rPr>
              <a:t>Semantic lens</a:t>
            </a:r>
            <a:endParaRPr lang="en-US" sz="2025" dirty="0"/>
          </a:p>
        </p:txBody>
      </p:sp>
      <p:sp>
        <p:nvSpPr>
          <p:cNvPr id="17" name="Text 12"/>
          <p:cNvSpPr/>
          <p:nvPr/>
        </p:nvSpPr>
        <p:spPr>
          <a:xfrm>
            <a:off x="6062449" y="5585860"/>
            <a:ext cx="3922753" cy="278137"/>
          </a:xfrm>
          <a:prstGeom prst="rect">
            <a:avLst/>
          </a:prstGeom>
          <a:noFill/>
          <a:ln/>
        </p:spPr>
        <p:txBody>
          <a:bodyPr wrap="square" lIns="25400" tIns="25400" rIns="25400" bIns="25400" rtlCol="0" anchor="t">
            <a:normAutofit/>
          </a:bodyPr>
          <a:lstStyle/>
          <a:p>
            <a:pPr marL="0" indent="0" algn="ctr">
              <a:lnSpc>
                <a:spcPct val="92160"/>
              </a:lnSpc>
              <a:buNone/>
            </a:pPr>
            <a:r>
              <a:rPr lang="en-US" sz="1575" dirty="0">
                <a:solidFill>
                  <a:srgbClr val="C3D7DC"/>
                </a:solidFill>
                <a:latin typeface="Oracle Sans Tab" pitchFamily="34" charset="0"/>
                <a:ea typeface="Oracle Sans Tab" pitchFamily="34" charset="-122"/>
                <a:cs typeface="Oracle Sans Tab" pitchFamily="34" charset="-120"/>
              </a:rPr>
              <a:t>filter to what matters</a:t>
            </a:r>
            <a:endParaRPr lang="en-US" sz="1575" dirty="0"/>
          </a:p>
        </p:txBody>
      </p:sp>
      <p:sp>
        <p:nvSpPr>
          <p:cNvPr id="18" name="Shape 13"/>
          <p:cNvSpPr/>
          <p:nvPr/>
        </p:nvSpPr>
        <p:spPr>
          <a:xfrm>
            <a:off x="9806894" y="4937735"/>
            <a:ext cx="754373" cy="26458"/>
          </a:xfrm>
          <a:prstGeom prst="rect">
            <a:avLst/>
          </a:prstGeom>
          <a:solidFill>
            <a:srgbClr val="FD6953"/>
          </a:solidFill>
          <a:ln/>
        </p:spPr>
        <p:txBody>
          <a:bodyPr/>
          <a:lstStyle/>
          <a:p>
            <a:endParaRPr lang="en-US"/>
          </a:p>
        </p:txBody>
      </p:sp>
      <p:sp>
        <p:nvSpPr>
          <p:cNvPr id="19" name="Shape 14"/>
          <p:cNvSpPr/>
          <p:nvPr/>
        </p:nvSpPr>
        <p:spPr>
          <a:xfrm>
            <a:off x="10435590" y="4855052"/>
            <a:ext cx="125677" cy="165365"/>
          </a:xfrm>
          <a:prstGeom prst="rect">
            <a:avLst/>
          </a:prstGeom>
          <a:solidFill>
            <a:srgbClr val="FD6953"/>
          </a:solidFill>
          <a:ln/>
        </p:spPr>
        <p:txBody>
          <a:bodyPr/>
          <a:lstStyle/>
          <a:p>
            <a:endParaRPr lang="en-US"/>
          </a:p>
        </p:txBody>
      </p:sp>
      <p:sp>
        <p:nvSpPr>
          <p:cNvPr id="20" name="Shape 15"/>
          <p:cNvSpPr/>
          <p:nvPr/>
        </p:nvSpPr>
        <p:spPr>
          <a:xfrm>
            <a:off x="10561319" y="3977638"/>
            <a:ext cx="6766512" cy="1920193"/>
          </a:xfrm>
          <a:prstGeom prst="roundRect">
            <a:avLst>
              <a:gd name="adj" fmla="val 501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21" name="Image 3" descr="preencoded.png"/>
          <p:cNvPicPr>
            <a:picLocks noChangeAspect="1"/>
          </p:cNvPicPr>
          <p:nvPr/>
        </p:nvPicPr>
        <p:blipFill>
          <a:blip r:embed="rId6"/>
          <a:srcRect/>
          <a:stretch/>
        </p:blipFill>
        <p:spPr>
          <a:xfrm>
            <a:off x="10972766" y="4416733"/>
            <a:ext cx="685798" cy="685798"/>
          </a:xfrm>
          <a:prstGeom prst="rect">
            <a:avLst/>
          </a:prstGeom>
        </p:spPr>
      </p:pic>
      <p:sp>
        <p:nvSpPr>
          <p:cNvPr id="22" name="Text 16"/>
          <p:cNvSpPr/>
          <p:nvPr/>
        </p:nvSpPr>
        <p:spPr>
          <a:xfrm>
            <a:off x="11932915" y="4539516"/>
            <a:ext cx="5415500" cy="381025"/>
          </a:xfrm>
          <a:prstGeom prst="rect">
            <a:avLst/>
          </a:prstGeom>
          <a:noFill/>
          <a:ln/>
        </p:spPr>
        <p:txBody>
          <a:bodyPr wrap="square" lIns="25400" tIns="25400" rIns="25400" bIns="25400" rtlCol="0" anchor="t">
            <a:normAutofit/>
          </a:bodyPr>
          <a:lstStyle/>
          <a:p>
            <a:pPr marL="0" indent="0" algn="l">
              <a:lnSpc>
                <a:spcPct val="92160"/>
              </a:lnSpc>
              <a:buNone/>
            </a:pPr>
            <a:r>
              <a:rPr lang="en-US" sz="2250" b="1" dirty="0">
                <a:solidFill>
                  <a:srgbClr val="FFFFFF"/>
                </a:solidFill>
                <a:latin typeface="Oracle Sans Tab" pitchFamily="34" charset="0"/>
                <a:ea typeface="Oracle Sans Tab" pitchFamily="34" charset="-122"/>
                <a:cs typeface="Oracle Sans Tab" pitchFamily="34" charset="-120"/>
              </a:rPr>
              <a:t>The agent's Umwelt</a:t>
            </a:r>
            <a:endParaRPr lang="en-US" sz="2250" dirty="0"/>
          </a:p>
        </p:txBody>
      </p:sp>
      <p:sp>
        <p:nvSpPr>
          <p:cNvPr id="23" name="Text 17"/>
          <p:cNvSpPr/>
          <p:nvPr/>
        </p:nvSpPr>
        <p:spPr>
          <a:xfrm>
            <a:off x="10972766" y="5394916"/>
            <a:ext cx="6121871"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dirty="0">
                <a:solidFill>
                  <a:srgbClr val="C3D7DC"/>
                </a:solidFill>
                <a:latin typeface="Oracle Sans Tab" pitchFamily="34" charset="0"/>
                <a:ea typeface="Oracle Sans Tab" pitchFamily="34" charset="-122"/>
                <a:cs typeface="Oracle Sans Tab" pitchFamily="34" charset="-120"/>
              </a:rPr>
              <a:t>only what is relevant, seen as it is meant to be seen</a:t>
            </a:r>
            <a:endParaRPr lang="en-US" sz="1650" dirty="0"/>
          </a:p>
        </p:txBody>
      </p:sp>
      <p:sp>
        <p:nvSpPr>
          <p:cNvPr id="24" name="Text 18"/>
          <p:cNvSpPr/>
          <p:nvPr/>
        </p:nvSpPr>
        <p:spPr>
          <a:xfrm>
            <a:off x="960096" y="6540324"/>
            <a:ext cx="16858767" cy="673307"/>
          </a:xfrm>
          <a:prstGeom prst="rect">
            <a:avLst/>
          </a:prstGeom>
          <a:noFill/>
          <a:ln/>
        </p:spPr>
        <p:txBody>
          <a:bodyPr wrap="square" lIns="25400" tIns="25400" rIns="25400" bIns="25400" rtlCol="0" anchor="t">
            <a:normAutofit/>
          </a:bodyPr>
          <a:lstStyle/>
          <a:p>
            <a:pPr marL="0" indent="0" algn="l">
              <a:lnSpc>
                <a:spcPct val="88320"/>
              </a:lnSpc>
              <a:buNone/>
            </a:pPr>
            <a:r>
              <a:rPr lang="en-US" sz="2175" b="1" dirty="0">
                <a:solidFill>
                  <a:srgbClr val="FFFFFF"/>
                </a:solidFill>
                <a:latin typeface="Oracle Sans Tab" pitchFamily="34" charset="0"/>
                <a:ea typeface="Oracle Sans Tab" pitchFamily="34" charset="-122"/>
                <a:cs typeface="Oracle Sans Tab" pitchFamily="34" charset="-120"/>
              </a:rPr>
              <a:t>Humans do not see the world as it is. </a:t>
            </a:r>
            <a:r>
              <a:rPr lang="en-US" sz="2175" dirty="0">
                <a:solidFill>
                  <a:srgbClr val="FFFFFF"/>
                </a:solidFill>
                <a:latin typeface="Oracle Sans Tab" pitchFamily="34" charset="0"/>
                <a:ea typeface="Oracle Sans Tab" pitchFamily="34" charset="-122"/>
                <a:cs typeface="Oracle Sans Tab" pitchFamily="34" charset="-120"/>
              </a:rPr>
              <a:t>The brain filters perception by experience and relevance, so we act on what matters, not on everything at once.</a:t>
            </a:r>
            <a:endParaRPr lang="en-US" sz="1200" dirty="0"/>
          </a:p>
        </p:txBody>
      </p:sp>
      <p:sp>
        <p:nvSpPr>
          <p:cNvPr id="25" name="Shape 19"/>
          <p:cNvSpPr/>
          <p:nvPr/>
        </p:nvSpPr>
        <p:spPr>
          <a:xfrm>
            <a:off x="960096" y="7543777"/>
            <a:ext cx="16367735" cy="1440170"/>
          </a:xfrm>
          <a:prstGeom prst="roundRect">
            <a:avLst>
              <a:gd name="adj" fmla="val 6680"/>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26" name="Text 20"/>
          <p:cNvSpPr/>
          <p:nvPr/>
        </p:nvSpPr>
        <p:spPr>
          <a:xfrm>
            <a:off x="1508745" y="7996411"/>
            <a:ext cx="15728550" cy="572951"/>
          </a:xfrm>
          <a:prstGeom prst="rect">
            <a:avLst/>
          </a:prstGeom>
          <a:noFill/>
          <a:ln/>
        </p:spPr>
        <p:txBody>
          <a:bodyPr wrap="square" lIns="25400" tIns="25400" rIns="25400" bIns="25400" rtlCol="0" anchor="t">
            <a:normAutofit/>
          </a:bodyPr>
          <a:lstStyle/>
          <a:p>
            <a:pPr marL="0" indent="0" algn="l">
              <a:lnSpc>
                <a:spcPct val="82944"/>
              </a:lnSpc>
              <a:buNone/>
            </a:pPr>
            <a:r>
              <a:rPr lang="en-US" sz="1950" b="1" dirty="0">
                <a:solidFill>
                  <a:srgbClr val="FD6953"/>
                </a:solidFill>
                <a:latin typeface="Oracle Sans Tab" pitchFamily="34" charset="0"/>
                <a:ea typeface="Oracle Sans Tab" pitchFamily="34" charset="-122"/>
                <a:cs typeface="Oracle Sans Tab" pitchFamily="34" charset="-120"/>
              </a:rPr>
              <a:t>Umwelt </a:t>
            </a:r>
            <a:r>
              <a:rPr lang="en-US" sz="1950" dirty="0">
                <a:solidFill>
                  <a:srgbClr val="FFFFFF"/>
                </a:solidFill>
                <a:latin typeface="Oracle Sans Tab" pitchFamily="34" charset="0"/>
                <a:ea typeface="Oracle Sans Tab" pitchFamily="34" charset="-122"/>
                <a:cs typeface="Oracle Sans Tab" pitchFamily="34" charset="-120"/>
              </a:rPr>
              <a:t>(Jakob von Uexküll). Every organism perceives only its own subjective slice of reality, shaped by its senses; vast parts of the objective world simply do not exist for it. The semantic layer is the agent's Umwelt: its lens onto your data.</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name="Slide 45">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MEMORY, AND BEYOND</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WHAT MEMORY CAPTURES</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THE UNSAID</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Memory captures the said. But the</a:t>
            </a:r>
            <a:r>
              <a:rPr lang="en-US" sz="4500" b="1" i="1" dirty="0">
                <a:solidFill>
                  <a:srgbClr val="FD6953"/>
                </a:solidFill>
                <a:latin typeface="Oracle Sans Tab" pitchFamily="34" charset="0"/>
                <a:ea typeface="Oracle Sans Tab" pitchFamily="34" charset="-122"/>
                <a:cs typeface="Oracle Sans Tab" pitchFamily="34" charset="-120"/>
              </a:rPr>
              <a:t>unsaid?</a:t>
            </a:r>
            <a:endParaRPr lang="en-US" sz="1200" dirty="0"/>
          </a:p>
        </p:txBody>
      </p:sp>
      <p:sp>
        <p:nvSpPr>
          <p:cNvPr id="8" name="Shape 5"/>
          <p:cNvSpPr/>
          <p:nvPr/>
        </p:nvSpPr>
        <p:spPr>
          <a:xfrm>
            <a:off x="960096" y="4046213"/>
            <a:ext cx="7749501" cy="3497564"/>
          </a:xfrm>
          <a:prstGeom prst="roundRect">
            <a:avLst>
              <a:gd name="adj" fmla="val 2751"/>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rcRect/>
          <a:stretch/>
        </p:blipFill>
        <p:spPr>
          <a:xfrm>
            <a:off x="1440170" y="4457660"/>
            <a:ext cx="685798" cy="685798"/>
          </a:xfrm>
          <a:prstGeom prst="rect">
            <a:avLst/>
          </a:prstGeom>
        </p:spPr>
      </p:pic>
      <p:sp>
        <p:nvSpPr>
          <p:cNvPr id="10" name="Text 6"/>
          <p:cNvSpPr/>
          <p:nvPr/>
        </p:nvSpPr>
        <p:spPr>
          <a:xfrm>
            <a:off x="2331692" y="4619563"/>
            <a:ext cx="6286715" cy="426707"/>
          </a:xfrm>
          <a:prstGeom prst="rect">
            <a:avLst/>
          </a:prstGeom>
          <a:noFill/>
          <a:ln/>
        </p:spPr>
        <p:txBody>
          <a:bodyPr wrap="square" lIns="25400" tIns="25400" rIns="25400" bIns="25400" rtlCol="0" anchor="t">
            <a:normAutofit/>
          </a:bodyPr>
          <a:lstStyle/>
          <a:p>
            <a:pPr marL="0" indent="0" algn="l">
              <a:lnSpc>
                <a:spcPct val="92160"/>
              </a:lnSpc>
              <a:buNone/>
            </a:pPr>
            <a:r>
              <a:rPr lang="en-US" sz="2550" b="1" dirty="0">
                <a:solidFill>
                  <a:srgbClr val="FFFFFF"/>
                </a:solidFill>
                <a:latin typeface="Oracle Sans Tab" pitchFamily="34" charset="0"/>
                <a:ea typeface="Oracle Sans Tab" pitchFamily="34" charset="-122"/>
                <a:cs typeface="Oracle Sans Tab" pitchFamily="34" charset="-120"/>
              </a:rPr>
              <a:t>The said</a:t>
            </a:r>
            <a:endParaRPr lang="en-US" sz="2550" dirty="0"/>
          </a:p>
        </p:txBody>
      </p:sp>
      <p:sp>
        <p:nvSpPr>
          <p:cNvPr id="11" name="Text 7"/>
          <p:cNvSpPr/>
          <p:nvPr/>
        </p:nvSpPr>
        <p:spPr>
          <a:xfrm>
            <a:off x="1440170" y="5897831"/>
            <a:ext cx="6993086" cy="998196"/>
          </a:xfrm>
          <a:prstGeom prst="rect">
            <a:avLst/>
          </a:prstGeom>
          <a:noFill/>
          <a:ln/>
        </p:spPr>
        <p:txBody>
          <a:bodyPr wrap="square" lIns="25400" tIns="25400" rIns="25400" bIns="25400" rtlCol="0" anchor="t">
            <a:normAutofit/>
          </a:bodyPr>
          <a:lstStyle/>
          <a:p>
            <a:pPr marL="0" indent="0" algn="l">
              <a:lnSpc>
                <a:spcPct val="92160"/>
              </a:lnSpc>
              <a:buNone/>
            </a:pPr>
            <a:r>
              <a:rPr lang="en-US" sz="2100" dirty="0">
                <a:solidFill>
                  <a:srgbClr val="C3D7DC"/>
                </a:solidFill>
                <a:latin typeface="Oracle Sans Tab" pitchFamily="34" charset="0"/>
                <a:ea typeface="Oracle Sans Tab" pitchFamily="34" charset="-122"/>
                <a:cs typeface="Oracle Sans Tab" pitchFamily="34" charset="-120"/>
              </a:rPr>
              <a:t>Every interaction with the agent: what was asked, answered, corrected, and preferred. All of it captured in memory.</a:t>
            </a:r>
            <a:endParaRPr lang="en-US" sz="2100" dirty="0"/>
          </a:p>
        </p:txBody>
      </p:sp>
      <p:sp>
        <p:nvSpPr>
          <p:cNvPr id="12" name="Shape 8"/>
          <p:cNvSpPr/>
          <p:nvPr/>
        </p:nvSpPr>
        <p:spPr>
          <a:xfrm>
            <a:off x="9532596" y="4046213"/>
            <a:ext cx="7749501" cy="3497564"/>
          </a:xfrm>
          <a:prstGeom prst="roundRect">
            <a:avLst>
              <a:gd name="adj" fmla="val 2751"/>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pic>
        <p:nvPicPr>
          <p:cNvPr id="13" name="Image 2" descr="preencoded.png"/>
          <p:cNvPicPr>
            <a:picLocks noChangeAspect="1"/>
          </p:cNvPicPr>
          <p:nvPr/>
        </p:nvPicPr>
        <p:blipFill>
          <a:blip r:embed="rId5"/>
          <a:srcRect/>
          <a:stretch/>
        </p:blipFill>
        <p:spPr>
          <a:xfrm>
            <a:off x="10012670" y="4457660"/>
            <a:ext cx="685798" cy="685798"/>
          </a:xfrm>
          <a:prstGeom prst="rect">
            <a:avLst/>
          </a:prstGeom>
        </p:spPr>
      </p:pic>
      <p:sp>
        <p:nvSpPr>
          <p:cNvPr id="14" name="Text 9"/>
          <p:cNvSpPr/>
          <p:nvPr/>
        </p:nvSpPr>
        <p:spPr>
          <a:xfrm>
            <a:off x="10904191" y="4619563"/>
            <a:ext cx="6286715" cy="426707"/>
          </a:xfrm>
          <a:prstGeom prst="rect">
            <a:avLst/>
          </a:prstGeom>
          <a:noFill/>
          <a:ln/>
        </p:spPr>
        <p:txBody>
          <a:bodyPr wrap="square" lIns="25400" tIns="25400" rIns="25400" bIns="25400" rtlCol="0" anchor="t">
            <a:normAutofit/>
          </a:bodyPr>
          <a:lstStyle/>
          <a:p>
            <a:pPr marL="0" indent="0" algn="l">
              <a:lnSpc>
                <a:spcPct val="92160"/>
              </a:lnSpc>
              <a:buNone/>
            </a:pPr>
            <a:r>
              <a:rPr lang="en-US" sz="2550" b="1" dirty="0">
                <a:solidFill>
                  <a:srgbClr val="FD6953"/>
                </a:solidFill>
                <a:latin typeface="Oracle Sans Tab" pitchFamily="34" charset="0"/>
                <a:ea typeface="Oracle Sans Tab" pitchFamily="34" charset="-122"/>
                <a:cs typeface="Oracle Sans Tab" pitchFamily="34" charset="-120"/>
              </a:rPr>
              <a:t>The unsaid</a:t>
            </a:r>
            <a:endParaRPr lang="en-US" sz="2550" dirty="0"/>
          </a:p>
        </p:txBody>
      </p:sp>
      <p:sp>
        <p:nvSpPr>
          <p:cNvPr id="15" name="Text 10"/>
          <p:cNvSpPr/>
          <p:nvPr/>
        </p:nvSpPr>
        <p:spPr>
          <a:xfrm>
            <a:off x="10012670" y="5897831"/>
            <a:ext cx="6993086" cy="998196"/>
          </a:xfrm>
          <a:prstGeom prst="rect">
            <a:avLst/>
          </a:prstGeom>
          <a:noFill/>
          <a:ln/>
        </p:spPr>
        <p:txBody>
          <a:bodyPr wrap="square" lIns="25400" tIns="25400" rIns="25400" bIns="25400" rtlCol="0" anchor="t">
            <a:normAutofit/>
          </a:bodyPr>
          <a:lstStyle/>
          <a:p>
            <a:pPr marL="0" indent="0" algn="l">
              <a:lnSpc>
                <a:spcPct val="92160"/>
              </a:lnSpc>
              <a:buNone/>
            </a:pPr>
            <a:r>
              <a:rPr lang="en-US" sz="2100" dirty="0">
                <a:solidFill>
                  <a:srgbClr val="FFFFFF"/>
                </a:solidFill>
                <a:latin typeface="Oracle Sans Tab" pitchFamily="34" charset="0"/>
                <a:ea typeface="Oracle Sans Tab" pitchFamily="34" charset="-122"/>
                <a:cs typeface="Oracle Sans Tab" pitchFamily="34" charset="-120"/>
              </a:rPr>
              <a:t>But most of what your organisation knows was never typed into a chat. It lives in the systems, not the conversation.</a:t>
            </a:r>
            <a:endParaRPr lang="en-US" sz="2100" dirty="0"/>
          </a:p>
        </p:txBody>
      </p:sp>
      <p:sp>
        <p:nvSpPr>
          <p:cNvPr id="16" name="Text 11"/>
          <p:cNvSpPr/>
          <p:nvPr/>
        </p:nvSpPr>
        <p:spPr>
          <a:xfrm>
            <a:off x="714580" y="8332411"/>
            <a:ext cx="16858767" cy="381025"/>
          </a:xfrm>
          <a:prstGeom prst="rect">
            <a:avLst/>
          </a:prstGeom>
          <a:noFill/>
          <a:ln/>
        </p:spPr>
        <p:txBody>
          <a:bodyPr wrap="square" lIns="25400" tIns="25400" rIns="25400" bIns="25400" rtlCol="0" anchor="t">
            <a:normAutofit/>
          </a:bodyPr>
          <a:lstStyle/>
          <a:p>
            <a:pPr marL="0" indent="0" algn="ctr">
              <a:lnSpc>
                <a:spcPct val="92160"/>
              </a:lnSpc>
              <a:buNone/>
            </a:pPr>
            <a:r>
              <a:rPr lang="en-US" sz="2250" i="1" dirty="0">
                <a:solidFill>
                  <a:srgbClr val="FFFFFF"/>
                </a:solidFill>
                <a:latin typeface="Oracle Sans Tab" pitchFamily="34" charset="0"/>
                <a:ea typeface="Oracle Sans Tab" pitchFamily="34" charset="-122"/>
                <a:cs typeface="Oracle Sans Tab" pitchFamily="34" charset="-120"/>
              </a:rPr>
              <a:t>The hard part is not remembering the conversation. It is everything the conversation assumes.</a:t>
            </a:r>
            <a:endParaRPr lang="en-US" sz="2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name="Slide 46">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MEMORY, AND BEYOND</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INSTITUTIONAL, TRIBAL, DOMAIN</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THE UNSAID</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The unsaid is your</a:t>
            </a:r>
            <a:r>
              <a:rPr lang="en-US" sz="4500" b="1" i="1" dirty="0">
                <a:solidFill>
                  <a:srgbClr val="FD6953"/>
                </a:solidFill>
                <a:latin typeface="Oracle Sans Tab" pitchFamily="34" charset="0"/>
                <a:ea typeface="Oracle Sans Tab" pitchFamily="34" charset="-122"/>
                <a:cs typeface="Oracle Sans Tab" pitchFamily="34" charset="-120"/>
              </a:rPr>
              <a:t>real</a:t>
            </a:r>
            <a:r>
              <a:rPr lang="en-US" sz="4500" b="1" dirty="0">
                <a:solidFill>
                  <a:srgbClr val="FFFFFF"/>
                </a:solidFill>
                <a:latin typeface="Oracle Sans Tab" pitchFamily="34" charset="0"/>
                <a:ea typeface="Oracle Sans Tab" pitchFamily="34" charset="-122"/>
                <a:cs typeface="Oracle Sans Tab" pitchFamily="34" charset="-120"/>
              </a:rPr>
              <a:t>knowledge.</a:t>
            </a:r>
            <a:endParaRPr lang="en-US" sz="1200" dirty="0"/>
          </a:p>
        </p:txBody>
      </p:sp>
      <p:sp>
        <p:nvSpPr>
          <p:cNvPr id="8" name="Shape 5"/>
          <p:cNvSpPr/>
          <p:nvPr/>
        </p:nvSpPr>
        <p:spPr>
          <a:xfrm>
            <a:off x="960096" y="3909012"/>
            <a:ext cx="5181596" cy="2743192"/>
          </a:xfrm>
          <a:prstGeom prst="roundRect">
            <a:avLst>
              <a:gd name="adj" fmla="val 3507"/>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rcRect/>
          <a:stretch/>
        </p:blipFill>
        <p:spPr>
          <a:xfrm>
            <a:off x="1371596" y="4292916"/>
            <a:ext cx="685798" cy="685798"/>
          </a:xfrm>
          <a:prstGeom prst="rect">
            <a:avLst/>
          </a:prstGeom>
        </p:spPr>
      </p:pic>
      <p:sp>
        <p:nvSpPr>
          <p:cNvPr id="10" name="Text 6"/>
          <p:cNvSpPr/>
          <p:nvPr/>
        </p:nvSpPr>
        <p:spPr>
          <a:xfrm>
            <a:off x="1371596" y="5382824"/>
            <a:ext cx="4489355" cy="300461"/>
          </a:xfrm>
          <a:prstGeom prst="rect">
            <a:avLst/>
          </a:prstGeom>
          <a:noFill/>
          <a:ln/>
        </p:spPr>
        <p:txBody>
          <a:bodyPr wrap="square" lIns="25400" tIns="25400" rIns="25400" bIns="25400" rtlCol="0" anchor="t">
            <a:normAutofit lnSpcReduction="10000"/>
          </a:bodyPr>
          <a:lstStyle/>
          <a:p>
            <a:pPr marL="0" indent="0" algn="l">
              <a:lnSpc>
                <a:spcPct val="72960"/>
              </a:lnSpc>
              <a:buNone/>
            </a:pPr>
            <a:r>
              <a:rPr lang="en-US" sz="2175" b="1" dirty="0">
                <a:solidFill>
                  <a:srgbClr val="FFFFFF"/>
                </a:solidFill>
                <a:latin typeface="Oracle Sans Tab" pitchFamily="34" charset="0"/>
                <a:ea typeface="Oracle Sans Tab" pitchFamily="34" charset="-122"/>
                <a:cs typeface="Oracle Sans Tab" pitchFamily="34" charset="-120"/>
              </a:rPr>
              <a:t>Institutional knowledge</a:t>
            </a:r>
            <a:endParaRPr lang="en-US" sz="2175" dirty="0"/>
          </a:p>
        </p:txBody>
      </p:sp>
      <p:sp>
        <p:nvSpPr>
          <p:cNvPr id="11" name="Text 7"/>
          <p:cNvSpPr/>
          <p:nvPr/>
        </p:nvSpPr>
        <p:spPr>
          <a:xfrm>
            <a:off x="1371596" y="5958861"/>
            <a:ext cx="4489355" cy="519931"/>
          </a:xfrm>
          <a:prstGeom prst="rect">
            <a:avLst/>
          </a:prstGeom>
          <a:noFill/>
          <a:ln/>
        </p:spPr>
        <p:txBody>
          <a:bodyPr wrap="square" lIns="25400" tIns="25400" rIns="25400" bIns="25400" rtlCol="0" anchor="t">
            <a:normAutofit/>
          </a:bodyPr>
          <a:lstStyle/>
          <a:p>
            <a:pPr marL="0" indent="0" algn="l">
              <a:lnSpc>
                <a:spcPct val="84480"/>
              </a:lnSpc>
              <a:buNone/>
            </a:pPr>
            <a:r>
              <a:rPr lang="en-US" sz="1725" dirty="0">
                <a:solidFill>
                  <a:srgbClr val="C3D7DC"/>
                </a:solidFill>
                <a:latin typeface="Oracle Sans Tab" pitchFamily="34" charset="0"/>
                <a:ea typeface="Oracle Sans Tab" pitchFamily="34" charset="-122"/>
                <a:cs typeface="Oracle Sans Tab" pitchFamily="34" charset="-120"/>
              </a:rPr>
              <a:t>the rules, definitions and decisions the organisation runs on</a:t>
            </a:r>
            <a:endParaRPr lang="en-US" sz="1725" dirty="0"/>
          </a:p>
        </p:txBody>
      </p:sp>
      <p:sp>
        <p:nvSpPr>
          <p:cNvPr id="12" name="Shape 8"/>
          <p:cNvSpPr/>
          <p:nvPr/>
        </p:nvSpPr>
        <p:spPr>
          <a:xfrm>
            <a:off x="6553191" y="3909012"/>
            <a:ext cx="5181596" cy="2743192"/>
          </a:xfrm>
          <a:prstGeom prst="roundRect">
            <a:avLst>
              <a:gd name="adj" fmla="val 3507"/>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13" name="Image 2" descr="preencoded.png"/>
          <p:cNvPicPr>
            <a:picLocks noChangeAspect="1"/>
          </p:cNvPicPr>
          <p:nvPr/>
        </p:nvPicPr>
        <p:blipFill>
          <a:blip r:embed="rId5"/>
          <a:srcRect/>
          <a:stretch/>
        </p:blipFill>
        <p:spPr>
          <a:xfrm>
            <a:off x="6964639" y="4292916"/>
            <a:ext cx="685798" cy="685798"/>
          </a:xfrm>
          <a:prstGeom prst="rect">
            <a:avLst/>
          </a:prstGeom>
        </p:spPr>
      </p:pic>
      <p:sp>
        <p:nvSpPr>
          <p:cNvPr id="14" name="Text 9"/>
          <p:cNvSpPr/>
          <p:nvPr/>
        </p:nvSpPr>
        <p:spPr>
          <a:xfrm>
            <a:off x="6964639" y="5382824"/>
            <a:ext cx="4489355" cy="300461"/>
          </a:xfrm>
          <a:prstGeom prst="rect">
            <a:avLst/>
          </a:prstGeom>
          <a:noFill/>
          <a:ln/>
        </p:spPr>
        <p:txBody>
          <a:bodyPr wrap="square" lIns="25400" tIns="25400" rIns="25400" bIns="25400" rtlCol="0" anchor="t">
            <a:normAutofit lnSpcReduction="10000"/>
          </a:bodyPr>
          <a:lstStyle/>
          <a:p>
            <a:pPr marL="0" indent="0" algn="l">
              <a:lnSpc>
                <a:spcPct val="72960"/>
              </a:lnSpc>
              <a:buNone/>
            </a:pPr>
            <a:r>
              <a:rPr lang="en-US" sz="2175" b="1" dirty="0">
                <a:solidFill>
                  <a:srgbClr val="FFFFFF"/>
                </a:solidFill>
                <a:latin typeface="Oracle Sans Tab" pitchFamily="34" charset="0"/>
                <a:ea typeface="Oracle Sans Tab" pitchFamily="34" charset="-122"/>
                <a:cs typeface="Oracle Sans Tab" pitchFamily="34" charset="-120"/>
              </a:rPr>
              <a:t>Tribal knowledge</a:t>
            </a:r>
            <a:endParaRPr lang="en-US" sz="2175" dirty="0"/>
          </a:p>
        </p:txBody>
      </p:sp>
      <p:sp>
        <p:nvSpPr>
          <p:cNvPr id="15" name="Text 10"/>
          <p:cNvSpPr/>
          <p:nvPr/>
        </p:nvSpPr>
        <p:spPr>
          <a:xfrm>
            <a:off x="6964639" y="5958861"/>
            <a:ext cx="4489355" cy="519931"/>
          </a:xfrm>
          <a:prstGeom prst="rect">
            <a:avLst/>
          </a:prstGeom>
          <a:noFill/>
          <a:ln/>
        </p:spPr>
        <p:txBody>
          <a:bodyPr wrap="square" lIns="25400" tIns="25400" rIns="25400" bIns="25400" rtlCol="0" anchor="t">
            <a:normAutofit/>
          </a:bodyPr>
          <a:lstStyle/>
          <a:p>
            <a:pPr marL="0" indent="0" algn="l">
              <a:lnSpc>
                <a:spcPct val="84480"/>
              </a:lnSpc>
              <a:buNone/>
            </a:pPr>
            <a:r>
              <a:rPr lang="en-US" sz="1725" dirty="0">
                <a:solidFill>
                  <a:srgbClr val="C3D7DC"/>
                </a:solidFill>
                <a:latin typeface="Oracle Sans Tab" pitchFamily="34" charset="0"/>
                <a:ea typeface="Oracle Sans Tab" pitchFamily="34" charset="-122"/>
                <a:cs typeface="Oracle Sans Tab" pitchFamily="34" charset="-120"/>
              </a:rPr>
              <a:t>what the team just knows, rarely written down anywhere</a:t>
            </a:r>
            <a:endParaRPr lang="en-US" sz="1725" dirty="0"/>
          </a:p>
        </p:txBody>
      </p:sp>
      <p:sp>
        <p:nvSpPr>
          <p:cNvPr id="16" name="Shape 11"/>
          <p:cNvSpPr/>
          <p:nvPr/>
        </p:nvSpPr>
        <p:spPr>
          <a:xfrm>
            <a:off x="12146235" y="3909012"/>
            <a:ext cx="5181596" cy="2743192"/>
          </a:xfrm>
          <a:prstGeom prst="roundRect">
            <a:avLst>
              <a:gd name="adj" fmla="val 3507"/>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17" name="Image 3" descr="preencoded.png"/>
          <p:cNvPicPr>
            <a:picLocks noChangeAspect="1"/>
          </p:cNvPicPr>
          <p:nvPr/>
        </p:nvPicPr>
        <p:blipFill>
          <a:blip r:embed="rId6"/>
          <a:srcRect/>
          <a:stretch/>
        </p:blipFill>
        <p:spPr>
          <a:xfrm>
            <a:off x="12557735" y="4292916"/>
            <a:ext cx="685798" cy="685798"/>
          </a:xfrm>
          <a:prstGeom prst="rect">
            <a:avLst/>
          </a:prstGeom>
        </p:spPr>
      </p:pic>
      <p:sp>
        <p:nvSpPr>
          <p:cNvPr id="18" name="Text 12"/>
          <p:cNvSpPr/>
          <p:nvPr/>
        </p:nvSpPr>
        <p:spPr>
          <a:xfrm>
            <a:off x="12557735" y="5382824"/>
            <a:ext cx="4489355" cy="300461"/>
          </a:xfrm>
          <a:prstGeom prst="rect">
            <a:avLst/>
          </a:prstGeom>
          <a:noFill/>
          <a:ln/>
        </p:spPr>
        <p:txBody>
          <a:bodyPr wrap="square" lIns="25400" tIns="25400" rIns="25400" bIns="25400" rtlCol="0" anchor="t">
            <a:normAutofit lnSpcReduction="10000"/>
          </a:bodyPr>
          <a:lstStyle/>
          <a:p>
            <a:pPr marL="0" indent="0" algn="l">
              <a:lnSpc>
                <a:spcPct val="72960"/>
              </a:lnSpc>
              <a:buNone/>
            </a:pPr>
            <a:r>
              <a:rPr lang="en-US" sz="2175" b="1" dirty="0">
                <a:solidFill>
                  <a:srgbClr val="FFFFFF"/>
                </a:solidFill>
                <a:latin typeface="Oracle Sans Tab" pitchFamily="34" charset="0"/>
                <a:ea typeface="Oracle Sans Tab" pitchFamily="34" charset="-122"/>
                <a:cs typeface="Oracle Sans Tab" pitchFamily="34" charset="-120"/>
              </a:rPr>
              <a:t>Domain context</a:t>
            </a:r>
            <a:endParaRPr lang="en-US" sz="2175" dirty="0"/>
          </a:p>
        </p:txBody>
      </p:sp>
      <p:sp>
        <p:nvSpPr>
          <p:cNvPr id="19" name="Text 13"/>
          <p:cNvSpPr/>
          <p:nvPr/>
        </p:nvSpPr>
        <p:spPr>
          <a:xfrm>
            <a:off x="12557735" y="5958861"/>
            <a:ext cx="4489355" cy="519931"/>
          </a:xfrm>
          <a:prstGeom prst="rect">
            <a:avLst/>
          </a:prstGeom>
          <a:noFill/>
          <a:ln/>
        </p:spPr>
        <p:txBody>
          <a:bodyPr wrap="square" lIns="25400" tIns="25400" rIns="25400" bIns="25400" rtlCol="0" anchor="t">
            <a:normAutofit/>
          </a:bodyPr>
          <a:lstStyle/>
          <a:p>
            <a:pPr marL="0" indent="0" algn="l">
              <a:lnSpc>
                <a:spcPct val="84480"/>
              </a:lnSpc>
              <a:buNone/>
            </a:pPr>
            <a:r>
              <a:rPr lang="en-US" sz="1725" dirty="0">
                <a:solidFill>
                  <a:srgbClr val="C3D7DC"/>
                </a:solidFill>
                <a:latin typeface="Oracle Sans Tab" pitchFamily="34" charset="0"/>
                <a:ea typeface="Oracle Sans Tab" pitchFamily="34" charset="-122"/>
                <a:cs typeface="Oracle Sans Tab" pitchFamily="34" charset="-120"/>
              </a:rPr>
              <a:t>what the numbers and entities actually mean in your business</a:t>
            </a:r>
            <a:endParaRPr lang="en-US" sz="1725" dirty="0"/>
          </a:p>
        </p:txBody>
      </p:sp>
      <p:sp>
        <p:nvSpPr>
          <p:cNvPr id="20" name="Text 14"/>
          <p:cNvSpPr/>
          <p:nvPr/>
        </p:nvSpPr>
        <p:spPr>
          <a:xfrm>
            <a:off x="960096" y="7258006"/>
            <a:ext cx="7063718" cy="335239"/>
          </a:xfrm>
          <a:prstGeom prst="rect">
            <a:avLst/>
          </a:prstGeom>
          <a:noFill/>
          <a:ln/>
        </p:spPr>
        <p:txBody>
          <a:bodyPr wrap="square" lIns="25400" tIns="25400" rIns="25400" bIns="25400" rtlCol="0" anchor="t">
            <a:normAutofit/>
          </a:bodyPr>
          <a:lstStyle/>
          <a:p>
            <a:pPr marL="0" indent="0" algn="l">
              <a:lnSpc>
                <a:spcPct val="92160"/>
              </a:lnSpc>
              <a:buNone/>
            </a:pPr>
            <a:r>
              <a:rPr lang="en-US" sz="1950" b="1" dirty="0">
                <a:solidFill>
                  <a:srgbClr val="FFFFFF"/>
                </a:solidFill>
                <a:latin typeface="Oracle Sans Tab" pitchFamily="34" charset="0"/>
                <a:ea typeface="Oracle Sans Tab" pitchFamily="34" charset="-122"/>
                <a:cs typeface="Oracle Sans Tab" pitchFamily="34" charset="-120"/>
              </a:rPr>
              <a:t>It lives where the data does:</a:t>
            </a:r>
            <a:endParaRPr lang="en-US" sz="1950" dirty="0"/>
          </a:p>
        </p:txBody>
      </p:sp>
      <p:sp>
        <p:nvSpPr>
          <p:cNvPr id="21" name="Shape 15"/>
          <p:cNvSpPr/>
          <p:nvPr/>
        </p:nvSpPr>
        <p:spPr>
          <a:xfrm>
            <a:off x="960096" y="7749501"/>
            <a:ext cx="5227277" cy="850542"/>
          </a:xfrm>
          <a:prstGeom prst="roundRect">
            <a:avLst>
              <a:gd name="adj" fmla="val 11311"/>
            </a:avLst>
          </a:prstGeom>
          <a:solidFill>
            <a:srgbClr val="0B5060"/>
          </a:solidFill>
          <a:ln w="16536">
            <a:solidFill>
              <a:srgbClr val="E0836F"/>
            </a:solidFill>
            <a:prstDash val="solid"/>
          </a:ln>
        </p:spPr>
        <p:txBody>
          <a:bodyPr/>
          <a:lstStyle/>
          <a:p>
            <a:endParaRPr lang="en-US"/>
          </a:p>
        </p:txBody>
      </p:sp>
      <p:sp>
        <p:nvSpPr>
          <p:cNvPr id="22" name="Text 16"/>
          <p:cNvSpPr/>
          <p:nvPr/>
        </p:nvSpPr>
        <p:spPr>
          <a:xfrm>
            <a:off x="1302969" y="8043333"/>
            <a:ext cx="4748356"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b="1" dirty="0">
                <a:solidFill>
                  <a:srgbClr val="FD6953"/>
                </a:solidFill>
                <a:latin typeface="Oracle Sans Tab" pitchFamily="34" charset="0"/>
                <a:ea typeface="Oracle Sans Tab" pitchFamily="34" charset="-122"/>
                <a:cs typeface="Oracle Sans Tab" pitchFamily="34" charset="-120"/>
              </a:rPr>
              <a:t>how data is modelled</a:t>
            </a:r>
            <a:endParaRPr lang="en-US" sz="1725" dirty="0"/>
          </a:p>
        </p:txBody>
      </p:sp>
      <p:sp>
        <p:nvSpPr>
          <p:cNvPr id="23" name="Shape 17"/>
          <p:cNvSpPr/>
          <p:nvPr/>
        </p:nvSpPr>
        <p:spPr>
          <a:xfrm>
            <a:off x="6530299" y="7749501"/>
            <a:ext cx="5227277" cy="850542"/>
          </a:xfrm>
          <a:prstGeom prst="roundRect">
            <a:avLst>
              <a:gd name="adj" fmla="val 11311"/>
            </a:avLst>
          </a:prstGeom>
          <a:solidFill>
            <a:srgbClr val="0B5060"/>
          </a:solidFill>
          <a:ln w="16536">
            <a:solidFill>
              <a:srgbClr val="E0836F"/>
            </a:solidFill>
            <a:prstDash val="solid"/>
          </a:ln>
        </p:spPr>
        <p:txBody>
          <a:bodyPr/>
          <a:lstStyle/>
          <a:p>
            <a:endParaRPr lang="en-US"/>
          </a:p>
        </p:txBody>
      </p:sp>
      <p:sp>
        <p:nvSpPr>
          <p:cNvPr id="24" name="Text 18"/>
          <p:cNvSpPr/>
          <p:nvPr/>
        </p:nvSpPr>
        <p:spPr>
          <a:xfrm>
            <a:off x="6873223" y="8043333"/>
            <a:ext cx="4748356"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b="1" dirty="0">
                <a:solidFill>
                  <a:srgbClr val="FD6953"/>
                </a:solidFill>
                <a:latin typeface="Oracle Sans Tab" pitchFamily="34" charset="0"/>
                <a:ea typeface="Oracle Sans Tab" pitchFamily="34" charset="-122"/>
                <a:cs typeface="Oracle Sans Tab" pitchFamily="34" charset="-120"/>
              </a:rPr>
              <a:t>how queries are executed</a:t>
            </a:r>
            <a:endParaRPr lang="en-US" sz="1725" dirty="0"/>
          </a:p>
        </p:txBody>
      </p:sp>
      <p:sp>
        <p:nvSpPr>
          <p:cNvPr id="25" name="Shape 19"/>
          <p:cNvSpPr/>
          <p:nvPr/>
        </p:nvSpPr>
        <p:spPr>
          <a:xfrm>
            <a:off x="12100553" y="7749501"/>
            <a:ext cx="5227277" cy="850542"/>
          </a:xfrm>
          <a:prstGeom prst="roundRect">
            <a:avLst>
              <a:gd name="adj" fmla="val 11311"/>
            </a:avLst>
          </a:prstGeom>
          <a:solidFill>
            <a:srgbClr val="0B5060"/>
          </a:solidFill>
          <a:ln w="16536">
            <a:solidFill>
              <a:srgbClr val="E0836F"/>
            </a:solidFill>
            <a:prstDash val="solid"/>
          </a:ln>
        </p:spPr>
        <p:txBody>
          <a:bodyPr/>
          <a:lstStyle/>
          <a:p>
            <a:endParaRPr lang="en-US"/>
          </a:p>
        </p:txBody>
      </p:sp>
      <p:sp>
        <p:nvSpPr>
          <p:cNvPr id="26" name="Text 20"/>
          <p:cNvSpPr/>
          <p:nvPr/>
        </p:nvSpPr>
        <p:spPr>
          <a:xfrm>
            <a:off x="12443427" y="8043333"/>
            <a:ext cx="4748356"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b="1" dirty="0">
                <a:solidFill>
                  <a:srgbClr val="FD6953"/>
                </a:solidFill>
                <a:latin typeface="Oracle Sans Tab" pitchFamily="34" charset="0"/>
                <a:ea typeface="Oracle Sans Tab" pitchFamily="34" charset="-122"/>
                <a:cs typeface="Oracle Sans Tab" pitchFamily="34" charset="-120"/>
              </a:rPr>
              <a:t>metadata in infrastructure artefacts</a:t>
            </a:r>
            <a:endParaRPr lang="en-US" sz="1725" dirty="0"/>
          </a:p>
        </p:txBody>
      </p:sp>
      <p:sp>
        <p:nvSpPr>
          <p:cNvPr id="27" name="Text 21"/>
          <p:cNvSpPr/>
          <p:nvPr/>
        </p:nvSpPr>
        <p:spPr>
          <a:xfrm>
            <a:off x="960096" y="8915373"/>
            <a:ext cx="16858767"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i="1" dirty="0">
                <a:solidFill>
                  <a:srgbClr val="C3D7DC"/>
                </a:solidFill>
                <a:latin typeface="Oracle Sans Tab" pitchFamily="34" charset="0"/>
                <a:ea typeface="Oracle Sans Tab" pitchFamily="34" charset="-122"/>
                <a:cs typeface="Oracle Sans Tab" pitchFamily="34" charset="-120"/>
              </a:rPr>
              <a:t>Schemas, views, comments, query logs, annotations: the unsaid is already in your database, waiting to be read.</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name="Slide 47">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THE SEMANTIC LAYER</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GROUNDING THE AGENT</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WHERE GROUNDING COMES FROM</a:t>
            </a:r>
            <a:endParaRPr lang="en-US" sz="1800" dirty="0"/>
          </a:p>
        </p:txBody>
      </p:sp>
      <p:sp>
        <p:nvSpPr>
          <p:cNvPr id="7" name="Text 4"/>
          <p:cNvSpPr/>
          <p:nvPr/>
        </p:nvSpPr>
        <p:spPr>
          <a:xfrm>
            <a:off x="960096" y="1988819"/>
            <a:ext cx="16952925" cy="678164"/>
          </a:xfrm>
          <a:prstGeom prst="rect">
            <a:avLst/>
          </a:prstGeom>
          <a:noFill/>
          <a:ln/>
        </p:spPr>
        <p:txBody>
          <a:bodyPr wrap="square" lIns="25400" tIns="25400" rIns="25400" bIns="25400" rtlCol="0" anchor="t">
            <a:normAutofit/>
          </a:bodyPr>
          <a:lstStyle/>
          <a:p>
            <a:pPr marL="0" indent="0" algn="l">
              <a:lnSpc>
                <a:spcPct val="92160"/>
              </a:lnSpc>
              <a:buNone/>
            </a:pPr>
            <a:r>
              <a:rPr lang="en-US" sz="4200" b="1" dirty="0">
                <a:solidFill>
                  <a:srgbClr val="FFFFFF"/>
                </a:solidFill>
                <a:latin typeface="Oracle Sans Tab" pitchFamily="34" charset="0"/>
                <a:ea typeface="Oracle Sans Tab" pitchFamily="34" charset="-122"/>
                <a:cs typeface="Oracle Sans Tab" pitchFamily="34" charset="-120"/>
              </a:rPr>
              <a:t>Meaning the agent can </a:t>
            </a:r>
            <a:r>
              <a:rPr lang="en-US" sz="4200" b="1" i="1" dirty="0">
                <a:solidFill>
                  <a:srgbClr val="FD6953"/>
                </a:solidFill>
                <a:latin typeface="Oracle Sans Tab" pitchFamily="34" charset="0"/>
                <a:ea typeface="Oracle Sans Tab" pitchFamily="34" charset="-122"/>
                <a:cs typeface="Oracle Sans Tab" pitchFamily="34" charset="-120"/>
              </a:rPr>
              <a:t>trust.</a:t>
            </a:r>
            <a:endParaRPr lang="en-US" sz="1200" dirty="0"/>
          </a:p>
        </p:txBody>
      </p:sp>
      <p:sp>
        <p:nvSpPr>
          <p:cNvPr id="8" name="Text 5"/>
          <p:cNvSpPr/>
          <p:nvPr/>
        </p:nvSpPr>
        <p:spPr>
          <a:xfrm>
            <a:off x="960096" y="2817502"/>
            <a:ext cx="17094241"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i="1" dirty="0">
                <a:solidFill>
                  <a:srgbClr val="C3D7DC"/>
                </a:solidFill>
                <a:latin typeface="Oracle Sans Tab" pitchFamily="34" charset="0"/>
                <a:ea typeface="Oracle Sans Tab" pitchFamily="34" charset="-122"/>
                <a:cs typeface="Oracle Sans Tab" pitchFamily="34" charset="-120"/>
              </a:rPr>
              <a:t>The schema's own meaning, both declared and observed, becomes a searchable catalog. Joined with memory, it grounds every answer.</a:t>
            </a:r>
            <a:endParaRPr lang="en-US" sz="1725" dirty="0"/>
          </a:p>
        </p:txBody>
      </p:sp>
      <p:sp>
        <p:nvSpPr>
          <p:cNvPr id="9" name="Shape 6"/>
          <p:cNvSpPr/>
          <p:nvPr/>
        </p:nvSpPr>
        <p:spPr>
          <a:xfrm>
            <a:off x="685798" y="3593734"/>
            <a:ext cx="4183362" cy="5349234"/>
          </a:xfrm>
          <a:prstGeom prst="roundRect">
            <a:avLst>
              <a:gd name="adj" fmla="val 230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0" name="Text 7"/>
          <p:cNvSpPr/>
          <p:nvPr/>
        </p:nvSpPr>
        <p:spPr>
          <a:xfrm>
            <a:off x="932449" y="3792792"/>
            <a:ext cx="4149049" cy="243824"/>
          </a:xfrm>
          <a:prstGeom prst="rect">
            <a:avLst/>
          </a:prstGeom>
          <a:noFill/>
          <a:ln/>
        </p:spPr>
        <p:txBody>
          <a:bodyPr wrap="square" lIns="25400" tIns="25400" rIns="25400" bIns="25400" rtlCol="0" anchor="t">
            <a:normAutofit/>
          </a:bodyPr>
          <a:lstStyle/>
          <a:p>
            <a:pPr marL="0" indent="0" algn="l">
              <a:lnSpc>
                <a:spcPct val="92160"/>
              </a:lnSpc>
              <a:buNone/>
            </a:pPr>
            <a:r>
              <a:rPr lang="en-US" sz="1350" dirty="0">
                <a:solidFill>
                  <a:srgbClr val="FD6953"/>
                </a:solidFill>
                <a:latin typeface="Oracle Sans Tab" pitchFamily="34" charset="0"/>
                <a:ea typeface="Oracle Sans Tab" pitchFamily="34" charset="-122"/>
                <a:cs typeface="Oracle Sans Tab" pitchFamily="34" charset="-120"/>
              </a:rPr>
              <a:t>IN THE DATABASE</a:t>
            </a:r>
            <a:endParaRPr lang="en-US" sz="1350" dirty="0"/>
          </a:p>
        </p:txBody>
      </p:sp>
      <p:sp>
        <p:nvSpPr>
          <p:cNvPr id="11" name="Text 8"/>
          <p:cNvSpPr/>
          <p:nvPr/>
        </p:nvSpPr>
        <p:spPr>
          <a:xfrm>
            <a:off x="932449" y="4200105"/>
            <a:ext cx="4149049" cy="224549"/>
          </a:xfrm>
          <a:prstGeom prst="rect">
            <a:avLst/>
          </a:prstGeom>
          <a:noFill/>
          <a:ln/>
        </p:spPr>
        <p:txBody>
          <a:bodyPr wrap="square" lIns="25400" tIns="25400" rIns="25400" bIns="25400" rtlCol="0" anchor="t">
            <a:normAutofit/>
          </a:bodyPr>
          <a:lstStyle/>
          <a:p>
            <a:pPr marL="0" indent="0" algn="l">
              <a:lnSpc>
                <a:spcPct val="92160"/>
              </a:lnSpc>
              <a:buNone/>
            </a:pPr>
            <a:r>
              <a:rPr lang="en-US" sz="1050" dirty="0">
                <a:solidFill>
                  <a:srgbClr val="9FBBC3"/>
                </a:solidFill>
                <a:latin typeface="Menlo" pitchFamily="34" charset="0"/>
                <a:ea typeface="Menlo" pitchFamily="34" charset="-122"/>
                <a:cs typeface="Menlo" pitchFamily="34" charset="-120"/>
              </a:rPr>
              <a:t>INSTITUTIONAL · DECLARED, SHARED</a:t>
            </a:r>
            <a:endParaRPr lang="en-US" sz="1050" dirty="0"/>
          </a:p>
        </p:txBody>
      </p:sp>
      <p:sp>
        <p:nvSpPr>
          <p:cNvPr id="12" name="Shape 9"/>
          <p:cNvSpPr/>
          <p:nvPr/>
        </p:nvSpPr>
        <p:spPr>
          <a:xfrm>
            <a:off x="891522" y="4470993"/>
            <a:ext cx="3771863" cy="576244"/>
          </a:xfrm>
          <a:prstGeom prst="roundRect">
            <a:avLst>
              <a:gd name="adj" fmla="val 16695"/>
            </a:avLst>
          </a:prstGeom>
          <a:solidFill>
            <a:srgbClr val="0B5060"/>
          </a:solidFill>
          <a:ln w="16536">
            <a:solidFill>
              <a:srgbClr val="FFFFFF">
                <a:alpha val="20000"/>
              </a:srgbClr>
            </a:solidFill>
            <a:prstDash val="solid"/>
          </a:ln>
        </p:spPr>
        <p:txBody>
          <a:bodyPr/>
          <a:lstStyle/>
          <a:p>
            <a:endParaRPr lang="en-US"/>
          </a:p>
        </p:txBody>
      </p:sp>
      <p:pic>
        <p:nvPicPr>
          <p:cNvPr id="13" name="Image 1" descr="preencoded.png"/>
          <p:cNvPicPr>
            <a:picLocks noChangeAspect="1"/>
          </p:cNvPicPr>
          <p:nvPr/>
        </p:nvPicPr>
        <p:blipFill>
          <a:blip r:embed="rId4"/>
          <a:srcRect/>
          <a:stretch/>
        </p:blipFill>
        <p:spPr>
          <a:xfrm>
            <a:off x="1056318" y="4594810"/>
            <a:ext cx="329541" cy="329541"/>
          </a:xfrm>
          <a:prstGeom prst="rect">
            <a:avLst/>
          </a:prstGeom>
        </p:spPr>
      </p:pic>
      <p:sp>
        <p:nvSpPr>
          <p:cNvPr id="14" name="Text 10"/>
          <p:cNvSpPr/>
          <p:nvPr/>
        </p:nvSpPr>
        <p:spPr>
          <a:xfrm>
            <a:off x="1522078" y="4650517"/>
            <a:ext cx="3333905"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b="1" dirty="0">
                <a:solidFill>
                  <a:srgbClr val="FFFFFF"/>
                </a:solidFill>
                <a:latin typeface="Oracle Sans Tab" pitchFamily="34" charset="0"/>
                <a:ea typeface="Oracle Sans Tab" pitchFamily="34" charset="-122"/>
                <a:cs typeface="Oracle Sans Tab" pitchFamily="34" charset="-120"/>
              </a:rPr>
              <a:t>Views</a:t>
            </a:r>
            <a:r>
              <a:rPr lang="en-US" sz="1125" dirty="0">
                <a:solidFill>
                  <a:srgbClr val="C3D7DC"/>
                </a:solidFill>
                <a:latin typeface="Oracle Sans Tab" pitchFamily="34" charset="0"/>
                <a:ea typeface="Oracle Sans Tab" pitchFamily="34" charset="-122"/>
                <a:cs typeface="Oracle Sans Tab" pitchFamily="34" charset="-120"/>
              </a:rPr>
              <a:t>correct joins, pre-named</a:t>
            </a:r>
            <a:endParaRPr lang="en-US" sz="1200" dirty="0"/>
          </a:p>
        </p:txBody>
      </p:sp>
      <p:sp>
        <p:nvSpPr>
          <p:cNvPr id="15" name="Shape 11"/>
          <p:cNvSpPr/>
          <p:nvPr/>
        </p:nvSpPr>
        <p:spPr>
          <a:xfrm>
            <a:off x="891522" y="5074884"/>
            <a:ext cx="3771863" cy="576244"/>
          </a:xfrm>
          <a:prstGeom prst="roundRect">
            <a:avLst>
              <a:gd name="adj" fmla="val 16695"/>
            </a:avLst>
          </a:prstGeom>
          <a:solidFill>
            <a:srgbClr val="0B5060"/>
          </a:solidFill>
          <a:ln w="16536">
            <a:solidFill>
              <a:srgbClr val="FFFFFF">
                <a:alpha val="20000"/>
              </a:srgbClr>
            </a:solidFill>
            <a:prstDash val="solid"/>
          </a:ln>
        </p:spPr>
        <p:txBody>
          <a:bodyPr/>
          <a:lstStyle/>
          <a:p>
            <a:endParaRPr lang="en-US"/>
          </a:p>
        </p:txBody>
      </p:sp>
      <p:pic>
        <p:nvPicPr>
          <p:cNvPr id="16" name="Image 2" descr="preencoded.png"/>
          <p:cNvPicPr>
            <a:picLocks noChangeAspect="1"/>
          </p:cNvPicPr>
          <p:nvPr/>
        </p:nvPicPr>
        <p:blipFill>
          <a:blip r:embed="rId5"/>
          <a:srcRect/>
          <a:stretch/>
        </p:blipFill>
        <p:spPr>
          <a:xfrm>
            <a:off x="1056318" y="5198701"/>
            <a:ext cx="329541" cy="329541"/>
          </a:xfrm>
          <a:prstGeom prst="rect">
            <a:avLst/>
          </a:prstGeom>
        </p:spPr>
      </p:pic>
      <p:sp>
        <p:nvSpPr>
          <p:cNvPr id="17" name="Text 12"/>
          <p:cNvSpPr/>
          <p:nvPr/>
        </p:nvSpPr>
        <p:spPr>
          <a:xfrm>
            <a:off x="1522078" y="5254408"/>
            <a:ext cx="3333905"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b="1" dirty="0">
                <a:solidFill>
                  <a:srgbClr val="FFFFFF"/>
                </a:solidFill>
                <a:latin typeface="Oracle Sans Tab" pitchFamily="34" charset="0"/>
                <a:ea typeface="Oracle Sans Tab" pitchFamily="34" charset="-122"/>
                <a:cs typeface="Oracle Sans Tab" pitchFamily="34" charset="-120"/>
              </a:rPr>
              <a:t>Comments</a:t>
            </a:r>
            <a:r>
              <a:rPr lang="en-US" sz="1125" dirty="0">
                <a:solidFill>
                  <a:srgbClr val="C3D7DC"/>
                </a:solidFill>
                <a:latin typeface="Oracle Sans Tab" pitchFamily="34" charset="0"/>
                <a:ea typeface="Oracle Sans Tab" pitchFamily="34" charset="-122"/>
                <a:cs typeface="Oracle Sans Tab" pitchFamily="34" charset="-120"/>
              </a:rPr>
              <a:t>free-text meaning</a:t>
            </a:r>
            <a:endParaRPr lang="en-US" sz="1200" dirty="0"/>
          </a:p>
        </p:txBody>
      </p:sp>
      <p:sp>
        <p:nvSpPr>
          <p:cNvPr id="18" name="Shape 13"/>
          <p:cNvSpPr/>
          <p:nvPr/>
        </p:nvSpPr>
        <p:spPr>
          <a:xfrm>
            <a:off x="891522" y="5678775"/>
            <a:ext cx="3771863" cy="576244"/>
          </a:xfrm>
          <a:prstGeom prst="roundRect">
            <a:avLst>
              <a:gd name="adj" fmla="val 16695"/>
            </a:avLst>
          </a:prstGeom>
          <a:solidFill>
            <a:srgbClr val="0B5060"/>
          </a:solidFill>
          <a:ln w="16536">
            <a:solidFill>
              <a:srgbClr val="FFFFFF">
                <a:alpha val="20000"/>
              </a:srgbClr>
            </a:solidFill>
            <a:prstDash val="solid"/>
          </a:ln>
        </p:spPr>
        <p:txBody>
          <a:bodyPr/>
          <a:lstStyle/>
          <a:p>
            <a:endParaRPr lang="en-US"/>
          </a:p>
        </p:txBody>
      </p:sp>
      <p:pic>
        <p:nvPicPr>
          <p:cNvPr id="19" name="Image 3" descr="preencoded.png"/>
          <p:cNvPicPr>
            <a:picLocks noChangeAspect="1"/>
          </p:cNvPicPr>
          <p:nvPr/>
        </p:nvPicPr>
        <p:blipFill>
          <a:blip r:embed="rId6"/>
          <a:srcRect/>
          <a:stretch/>
        </p:blipFill>
        <p:spPr>
          <a:xfrm>
            <a:off x="1056318" y="5801661"/>
            <a:ext cx="329541" cy="329541"/>
          </a:xfrm>
          <a:prstGeom prst="rect">
            <a:avLst/>
          </a:prstGeom>
        </p:spPr>
      </p:pic>
      <p:sp>
        <p:nvSpPr>
          <p:cNvPr id="20" name="Text 14"/>
          <p:cNvSpPr/>
          <p:nvPr/>
        </p:nvSpPr>
        <p:spPr>
          <a:xfrm>
            <a:off x="1522078" y="5858299"/>
            <a:ext cx="3333905"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b="1" dirty="0">
                <a:solidFill>
                  <a:srgbClr val="FFFFFF"/>
                </a:solidFill>
                <a:latin typeface="Oracle Sans Tab" pitchFamily="34" charset="0"/>
                <a:ea typeface="Oracle Sans Tab" pitchFamily="34" charset="-122"/>
                <a:cs typeface="Oracle Sans Tab" pitchFamily="34" charset="-120"/>
              </a:rPr>
              <a:t>Annotations</a:t>
            </a:r>
            <a:r>
              <a:rPr lang="en-US" sz="1125" dirty="0">
                <a:solidFill>
                  <a:srgbClr val="C3D7DC"/>
                </a:solidFill>
                <a:latin typeface="Oracle Sans Tab" pitchFamily="34" charset="0"/>
                <a:ea typeface="Oracle Sans Tab" pitchFamily="34" charset="-122"/>
                <a:cs typeface="Oracle Sans Tab" pitchFamily="34" charset="-120"/>
              </a:rPr>
              <a:t>machine-readable intent</a:t>
            </a:r>
            <a:endParaRPr lang="en-US" sz="1200" dirty="0"/>
          </a:p>
        </p:txBody>
      </p:sp>
      <p:sp>
        <p:nvSpPr>
          <p:cNvPr id="21" name="Shape 15"/>
          <p:cNvSpPr/>
          <p:nvPr/>
        </p:nvSpPr>
        <p:spPr>
          <a:xfrm>
            <a:off x="891522" y="6281735"/>
            <a:ext cx="3771863" cy="576244"/>
          </a:xfrm>
          <a:prstGeom prst="roundRect">
            <a:avLst>
              <a:gd name="adj" fmla="val 16695"/>
            </a:avLst>
          </a:prstGeom>
          <a:solidFill>
            <a:srgbClr val="0B5060"/>
          </a:solidFill>
          <a:ln w="16536">
            <a:solidFill>
              <a:srgbClr val="FFFFFF">
                <a:alpha val="20000"/>
              </a:srgbClr>
            </a:solidFill>
            <a:prstDash val="solid"/>
          </a:ln>
        </p:spPr>
        <p:txBody>
          <a:bodyPr/>
          <a:lstStyle/>
          <a:p>
            <a:endParaRPr lang="en-US"/>
          </a:p>
        </p:txBody>
      </p:sp>
      <p:pic>
        <p:nvPicPr>
          <p:cNvPr id="22" name="Image 4" descr="preencoded.png"/>
          <p:cNvPicPr>
            <a:picLocks noChangeAspect="1"/>
          </p:cNvPicPr>
          <p:nvPr/>
        </p:nvPicPr>
        <p:blipFill>
          <a:blip r:embed="rId7"/>
          <a:srcRect/>
          <a:stretch/>
        </p:blipFill>
        <p:spPr>
          <a:xfrm>
            <a:off x="1056318" y="6405552"/>
            <a:ext cx="329541" cy="329541"/>
          </a:xfrm>
          <a:prstGeom prst="rect">
            <a:avLst/>
          </a:prstGeom>
        </p:spPr>
      </p:pic>
      <p:sp>
        <p:nvSpPr>
          <p:cNvPr id="23" name="Text 16"/>
          <p:cNvSpPr/>
          <p:nvPr/>
        </p:nvSpPr>
        <p:spPr>
          <a:xfrm>
            <a:off x="1522078" y="6461259"/>
            <a:ext cx="3333905"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b="1" dirty="0">
                <a:solidFill>
                  <a:srgbClr val="FFFFFF"/>
                </a:solidFill>
                <a:latin typeface="Oracle Sans Tab" pitchFamily="34" charset="0"/>
                <a:ea typeface="Oracle Sans Tab" pitchFamily="34" charset="-122"/>
                <a:cs typeface="Oracle Sans Tab" pitchFamily="34" charset="-120"/>
              </a:rPr>
              <a:t>Domains</a:t>
            </a:r>
            <a:r>
              <a:rPr lang="en-US" sz="1125" dirty="0">
                <a:solidFill>
                  <a:srgbClr val="C3D7DC"/>
                </a:solidFill>
                <a:latin typeface="Oracle Sans Tab" pitchFamily="34" charset="0"/>
                <a:ea typeface="Oracle Sans Tab" pitchFamily="34" charset="-122"/>
                <a:cs typeface="Oracle Sans Tab" pitchFamily="34" charset="-120"/>
              </a:rPr>
              <a:t>value-type contracts</a:t>
            </a:r>
            <a:endParaRPr lang="en-US" sz="1200" dirty="0"/>
          </a:p>
        </p:txBody>
      </p:sp>
      <p:sp>
        <p:nvSpPr>
          <p:cNvPr id="24" name="Shape 17"/>
          <p:cNvSpPr/>
          <p:nvPr/>
        </p:nvSpPr>
        <p:spPr>
          <a:xfrm>
            <a:off x="891522" y="6885574"/>
            <a:ext cx="3771863" cy="576244"/>
          </a:xfrm>
          <a:prstGeom prst="roundRect">
            <a:avLst>
              <a:gd name="adj" fmla="val 16695"/>
            </a:avLst>
          </a:prstGeom>
          <a:solidFill>
            <a:srgbClr val="0B5060"/>
          </a:solidFill>
          <a:ln w="16536">
            <a:solidFill>
              <a:srgbClr val="FFFFFF">
                <a:alpha val="20000"/>
              </a:srgbClr>
            </a:solidFill>
            <a:prstDash val="solid"/>
          </a:ln>
        </p:spPr>
        <p:txBody>
          <a:bodyPr/>
          <a:lstStyle/>
          <a:p>
            <a:endParaRPr lang="en-US"/>
          </a:p>
        </p:txBody>
      </p:sp>
      <p:pic>
        <p:nvPicPr>
          <p:cNvPr id="25" name="Image 5" descr="preencoded.png"/>
          <p:cNvPicPr>
            <a:picLocks noChangeAspect="1"/>
          </p:cNvPicPr>
          <p:nvPr/>
        </p:nvPicPr>
        <p:blipFill>
          <a:blip r:embed="rId8"/>
          <a:srcRect/>
          <a:stretch/>
        </p:blipFill>
        <p:spPr>
          <a:xfrm>
            <a:off x="1056318" y="7008461"/>
            <a:ext cx="329541" cy="329541"/>
          </a:xfrm>
          <a:prstGeom prst="rect">
            <a:avLst/>
          </a:prstGeom>
        </p:spPr>
      </p:pic>
      <p:sp>
        <p:nvSpPr>
          <p:cNvPr id="26" name="Text 18"/>
          <p:cNvSpPr/>
          <p:nvPr/>
        </p:nvSpPr>
        <p:spPr>
          <a:xfrm>
            <a:off x="1522078" y="7065098"/>
            <a:ext cx="3333905"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b="1" dirty="0">
                <a:solidFill>
                  <a:srgbClr val="FFFFFF"/>
                </a:solidFill>
                <a:latin typeface="Oracle Sans Tab" pitchFamily="34" charset="0"/>
                <a:ea typeface="Oracle Sans Tab" pitchFamily="34" charset="-122"/>
                <a:cs typeface="Oracle Sans Tab" pitchFamily="34" charset="-120"/>
              </a:rPr>
              <a:t>Foreign keys</a:t>
            </a:r>
            <a:r>
              <a:rPr lang="en-US" sz="1125" dirty="0">
                <a:solidFill>
                  <a:srgbClr val="C3D7DC"/>
                </a:solidFill>
                <a:latin typeface="Oracle Sans Tab" pitchFamily="34" charset="0"/>
                <a:ea typeface="Oracle Sans Tab" pitchFamily="34" charset="-122"/>
                <a:cs typeface="Oracle Sans Tab" pitchFamily="34" charset="-120"/>
              </a:rPr>
              <a:t>joins to trust</a:t>
            </a:r>
            <a:endParaRPr lang="en-US" sz="1200" dirty="0"/>
          </a:p>
        </p:txBody>
      </p:sp>
      <p:sp>
        <p:nvSpPr>
          <p:cNvPr id="27" name="Text 19"/>
          <p:cNvSpPr/>
          <p:nvPr/>
        </p:nvSpPr>
        <p:spPr>
          <a:xfrm>
            <a:off x="932449" y="7629095"/>
            <a:ext cx="4149049" cy="224549"/>
          </a:xfrm>
          <a:prstGeom prst="rect">
            <a:avLst/>
          </a:prstGeom>
          <a:noFill/>
          <a:ln/>
        </p:spPr>
        <p:txBody>
          <a:bodyPr wrap="square" lIns="25400" tIns="25400" rIns="25400" bIns="25400" rtlCol="0" anchor="t">
            <a:normAutofit/>
          </a:bodyPr>
          <a:lstStyle/>
          <a:p>
            <a:pPr marL="0" indent="0" algn="l">
              <a:lnSpc>
                <a:spcPct val="92160"/>
              </a:lnSpc>
              <a:buNone/>
            </a:pPr>
            <a:r>
              <a:rPr lang="en-US" sz="1050" dirty="0">
                <a:solidFill>
                  <a:srgbClr val="9FBBC3"/>
                </a:solidFill>
                <a:latin typeface="Menlo" pitchFamily="34" charset="0"/>
                <a:ea typeface="Menlo" pitchFamily="34" charset="-122"/>
                <a:cs typeface="Menlo" pitchFamily="34" charset="-120"/>
              </a:rPr>
              <a:t>TRIBAL · OBSERVED IN V$SQL</a:t>
            </a:r>
            <a:endParaRPr lang="en-US" sz="1050" dirty="0"/>
          </a:p>
        </p:txBody>
      </p:sp>
      <p:sp>
        <p:nvSpPr>
          <p:cNvPr id="28" name="Shape 20"/>
          <p:cNvSpPr/>
          <p:nvPr/>
        </p:nvSpPr>
        <p:spPr>
          <a:xfrm>
            <a:off x="891522" y="7900034"/>
            <a:ext cx="3771863" cy="576244"/>
          </a:xfrm>
          <a:prstGeom prst="roundRect">
            <a:avLst>
              <a:gd name="adj" fmla="val 16695"/>
            </a:avLst>
          </a:prstGeom>
          <a:solidFill>
            <a:srgbClr val="0B5060"/>
          </a:solidFill>
          <a:ln w="16536">
            <a:solidFill>
              <a:srgbClr val="E0836F"/>
            </a:solidFill>
            <a:prstDash val="solid"/>
          </a:ln>
        </p:spPr>
        <p:txBody>
          <a:bodyPr/>
          <a:lstStyle/>
          <a:p>
            <a:endParaRPr lang="en-US"/>
          </a:p>
        </p:txBody>
      </p:sp>
      <p:pic>
        <p:nvPicPr>
          <p:cNvPr id="29" name="Image 6" descr="preencoded.png"/>
          <p:cNvPicPr>
            <a:picLocks noChangeAspect="1"/>
          </p:cNvPicPr>
          <p:nvPr/>
        </p:nvPicPr>
        <p:blipFill>
          <a:blip r:embed="rId9"/>
          <a:srcRect/>
          <a:stretch/>
        </p:blipFill>
        <p:spPr>
          <a:xfrm>
            <a:off x="1056318" y="8023851"/>
            <a:ext cx="329541" cy="329541"/>
          </a:xfrm>
          <a:prstGeom prst="rect">
            <a:avLst/>
          </a:prstGeom>
        </p:spPr>
      </p:pic>
      <p:sp>
        <p:nvSpPr>
          <p:cNvPr id="30" name="Text 21"/>
          <p:cNvSpPr/>
          <p:nvPr/>
        </p:nvSpPr>
        <p:spPr>
          <a:xfrm>
            <a:off x="1522078" y="8079558"/>
            <a:ext cx="3333905"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b="1" dirty="0">
                <a:solidFill>
                  <a:srgbClr val="FFFFFF"/>
                </a:solidFill>
                <a:latin typeface="Oracle Sans Tab" pitchFamily="34" charset="0"/>
                <a:ea typeface="Oracle Sans Tab" pitchFamily="34" charset="-122"/>
                <a:cs typeface="Oracle Sans Tab" pitchFamily="34" charset="-120"/>
              </a:rPr>
              <a:t>V$SQL workload</a:t>
            </a:r>
            <a:r>
              <a:rPr lang="en-US" sz="1125" dirty="0">
                <a:solidFill>
                  <a:srgbClr val="C3D7DC"/>
                </a:solidFill>
                <a:latin typeface="Oracle Sans Tab" pitchFamily="34" charset="0"/>
                <a:ea typeface="Oracle Sans Tab" pitchFamily="34" charset="-122"/>
                <a:cs typeface="Oracle Sans Tab" pitchFamily="34" charset="-120"/>
              </a:rPr>
              <a:t>what's really queried</a:t>
            </a:r>
            <a:endParaRPr lang="en-US" sz="1200" dirty="0"/>
          </a:p>
        </p:txBody>
      </p:sp>
      <p:sp>
        <p:nvSpPr>
          <p:cNvPr id="31" name="Shape 22"/>
          <p:cNvSpPr/>
          <p:nvPr/>
        </p:nvSpPr>
        <p:spPr>
          <a:xfrm>
            <a:off x="5280660" y="3868084"/>
            <a:ext cx="4732011" cy="2222138"/>
          </a:xfrm>
          <a:prstGeom prst="roundRect">
            <a:avLst>
              <a:gd name="adj" fmla="val 4329"/>
            </a:avLst>
          </a:prstGeom>
          <a:solidFill>
            <a:srgbClr val="0B5060"/>
          </a:solidFill>
          <a:ln w="23151">
            <a:solidFill>
              <a:srgbClr val="FD6953"/>
            </a:solidFill>
            <a:prstDash val="solid"/>
          </a:ln>
          <a:effectLst>
            <a:outerShdw blurRad="114300" dist="19050" dir="5400000" algn="bl" rotWithShape="0">
              <a:srgbClr val="000000">
                <a:alpha val="18000"/>
              </a:srgbClr>
            </a:outerShdw>
          </a:effectLst>
        </p:spPr>
        <p:txBody>
          <a:bodyPr/>
          <a:lstStyle/>
          <a:p>
            <a:endParaRPr lang="en-US"/>
          </a:p>
        </p:txBody>
      </p:sp>
      <p:sp>
        <p:nvSpPr>
          <p:cNvPr id="32" name="Text 23"/>
          <p:cNvSpPr/>
          <p:nvPr/>
        </p:nvSpPr>
        <p:spPr>
          <a:xfrm>
            <a:off x="5554958" y="4052827"/>
            <a:ext cx="4601698" cy="243824"/>
          </a:xfrm>
          <a:prstGeom prst="rect">
            <a:avLst/>
          </a:prstGeom>
          <a:noFill/>
          <a:ln/>
        </p:spPr>
        <p:txBody>
          <a:bodyPr wrap="square" lIns="25400" tIns="25400" rIns="25400" bIns="25400" rtlCol="0" anchor="t">
            <a:normAutofit/>
          </a:bodyPr>
          <a:lstStyle/>
          <a:p>
            <a:pPr marL="0" indent="0" algn="l">
              <a:lnSpc>
                <a:spcPct val="92160"/>
              </a:lnSpc>
              <a:buNone/>
            </a:pPr>
            <a:r>
              <a:rPr lang="en-US" sz="1350" dirty="0">
                <a:solidFill>
                  <a:srgbClr val="FD6953"/>
                </a:solidFill>
                <a:latin typeface="Oracle Sans Tab" pitchFamily="34" charset="0"/>
                <a:ea typeface="Oracle Sans Tab" pitchFamily="34" charset="-122"/>
                <a:cs typeface="Oracle Sans Tab" pitchFamily="34" charset="-120"/>
              </a:rPr>
              <a:t>THE SEMANTIC LAYER</a:t>
            </a:r>
            <a:endParaRPr lang="en-US" sz="1350" dirty="0"/>
          </a:p>
        </p:txBody>
      </p:sp>
      <p:pic>
        <p:nvPicPr>
          <p:cNvPr id="33" name="Image 7" descr="preencoded.png"/>
          <p:cNvPicPr>
            <a:picLocks noChangeAspect="1"/>
          </p:cNvPicPr>
          <p:nvPr/>
        </p:nvPicPr>
        <p:blipFill>
          <a:blip r:embed="rId10"/>
          <a:srcRect/>
          <a:stretch/>
        </p:blipFill>
        <p:spPr>
          <a:xfrm>
            <a:off x="5554958" y="4416733"/>
            <a:ext cx="439095" cy="439095"/>
          </a:xfrm>
          <a:prstGeom prst="rect">
            <a:avLst/>
          </a:prstGeom>
        </p:spPr>
      </p:pic>
      <p:sp>
        <p:nvSpPr>
          <p:cNvPr id="34" name="Text 24"/>
          <p:cNvSpPr/>
          <p:nvPr/>
        </p:nvSpPr>
        <p:spPr>
          <a:xfrm>
            <a:off x="6158848" y="4361491"/>
            <a:ext cx="3715278" cy="723950"/>
          </a:xfrm>
          <a:prstGeom prst="rect">
            <a:avLst/>
          </a:prstGeom>
          <a:noFill/>
          <a:ln/>
        </p:spPr>
        <p:txBody>
          <a:bodyPr wrap="square" lIns="25400" tIns="25400" rIns="25400" bIns="25400" rtlCol="0" anchor="t">
            <a:normAutofit/>
          </a:bodyPr>
          <a:lstStyle/>
          <a:p>
            <a:pPr marL="0" indent="0" algn="l">
              <a:lnSpc>
                <a:spcPct val="76800"/>
              </a:lnSpc>
              <a:buNone/>
            </a:pPr>
            <a:r>
              <a:rPr lang="en-US" sz="1350" dirty="0">
                <a:solidFill>
                  <a:srgbClr val="FFFFFF"/>
                </a:solidFill>
                <a:latin typeface="Oracle Sans Tab" pitchFamily="34" charset="0"/>
                <a:ea typeface="Oracle Sans Tab" pitchFamily="34" charset="-122"/>
                <a:cs typeface="Oracle Sans Tab" pitchFamily="34" charset="-120"/>
              </a:rPr>
              <a:t>A scanner runs on a schedule, inside the database, reading the dictionary, the foreign keys and the live V$SQL workload, and embedding each finding.</a:t>
            </a:r>
            <a:endParaRPr lang="en-US" sz="1350" dirty="0"/>
          </a:p>
        </p:txBody>
      </p:sp>
      <p:sp>
        <p:nvSpPr>
          <p:cNvPr id="35" name="Text 25"/>
          <p:cNvSpPr/>
          <p:nvPr/>
        </p:nvSpPr>
        <p:spPr>
          <a:xfrm>
            <a:off x="5554958" y="5458737"/>
            <a:ext cx="4601698" cy="243824"/>
          </a:xfrm>
          <a:prstGeom prst="rect">
            <a:avLst/>
          </a:prstGeom>
          <a:noFill/>
          <a:ln/>
        </p:spPr>
        <p:txBody>
          <a:bodyPr wrap="square" lIns="25400" tIns="25400" rIns="25400" bIns="25400" rtlCol="0" anchor="t">
            <a:normAutofit/>
          </a:bodyPr>
          <a:lstStyle/>
          <a:p>
            <a:pPr marL="0" indent="0" algn="l">
              <a:lnSpc>
                <a:spcPct val="92160"/>
              </a:lnSpc>
              <a:buNone/>
            </a:pPr>
            <a:r>
              <a:rPr lang="en-US" sz="1350" i="1" dirty="0">
                <a:solidFill>
                  <a:srgbClr val="C3D7DC"/>
                </a:solidFill>
                <a:latin typeface="Oracle Sans Tab" pitchFamily="34" charset="0"/>
                <a:ea typeface="Oracle Sans Tab" pitchFamily="34" charset="-122"/>
                <a:cs typeface="Oracle Sans Tab" pitchFamily="34" charset="-120"/>
              </a:rPr>
              <a:t>→ a searchable catalog:</a:t>
            </a:r>
            <a:r>
              <a:rPr lang="en-US" sz="1350" b="1" dirty="0">
                <a:solidFill>
                  <a:srgbClr val="FD6953"/>
                </a:solidFill>
                <a:latin typeface="Oracle Sans Tab" pitchFamily="34" charset="0"/>
                <a:ea typeface="Oracle Sans Tab" pitchFamily="34" charset="-122"/>
                <a:cs typeface="Oracle Sans Tab" pitchFamily="34" charset="-120"/>
              </a:rPr>
              <a:t>the agent's entity memory</a:t>
            </a:r>
            <a:endParaRPr lang="en-US" sz="1200" dirty="0"/>
          </a:p>
        </p:txBody>
      </p:sp>
      <p:sp>
        <p:nvSpPr>
          <p:cNvPr id="36" name="Shape 26"/>
          <p:cNvSpPr/>
          <p:nvPr/>
        </p:nvSpPr>
        <p:spPr>
          <a:xfrm>
            <a:off x="5280660" y="6748425"/>
            <a:ext cx="4732011" cy="2194543"/>
          </a:xfrm>
          <a:prstGeom prst="roundRect">
            <a:avLst>
              <a:gd name="adj" fmla="val 4384"/>
            </a:avLst>
          </a:prstGeom>
          <a:solidFill>
            <a:srgbClr val="0B5060"/>
          </a:solidFill>
          <a:ln w="23151">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37" name="Text 27"/>
          <p:cNvSpPr/>
          <p:nvPr/>
        </p:nvSpPr>
        <p:spPr>
          <a:xfrm>
            <a:off x="5554958" y="6933168"/>
            <a:ext cx="4601698" cy="243824"/>
          </a:xfrm>
          <a:prstGeom prst="rect">
            <a:avLst/>
          </a:prstGeom>
          <a:noFill/>
          <a:ln/>
        </p:spPr>
        <p:txBody>
          <a:bodyPr wrap="square" lIns="25400" tIns="25400" rIns="25400" bIns="25400" rtlCol="0" anchor="t">
            <a:normAutofit/>
          </a:bodyPr>
          <a:lstStyle/>
          <a:p>
            <a:pPr marL="0" indent="0" algn="l">
              <a:lnSpc>
                <a:spcPct val="92160"/>
              </a:lnSpc>
              <a:buNone/>
            </a:pPr>
            <a:r>
              <a:rPr lang="en-US" sz="1350" dirty="0">
                <a:solidFill>
                  <a:srgbClr val="FD6953"/>
                </a:solidFill>
                <a:latin typeface="Menlo" pitchFamily="34" charset="0"/>
                <a:ea typeface="Menlo" pitchFamily="34" charset="-122"/>
                <a:cs typeface="Menlo" pitchFamily="34" charset="-120"/>
              </a:rPr>
              <a:t>THE MEMORY LAYER · OAMP</a:t>
            </a:r>
            <a:endParaRPr lang="en-US" sz="1350" dirty="0"/>
          </a:p>
        </p:txBody>
      </p:sp>
      <p:pic>
        <p:nvPicPr>
          <p:cNvPr id="38" name="Image 8" descr="preencoded.png"/>
          <p:cNvPicPr>
            <a:picLocks noChangeAspect="1"/>
          </p:cNvPicPr>
          <p:nvPr/>
        </p:nvPicPr>
        <p:blipFill>
          <a:blip r:embed="rId11"/>
          <a:srcRect/>
          <a:stretch/>
        </p:blipFill>
        <p:spPr>
          <a:xfrm>
            <a:off x="5554958" y="7324720"/>
            <a:ext cx="439095" cy="439095"/>
          </a:xfrm>
          <a:prstGeom prst="rect">
            <a:avLst/>
          </a:prstGeom>
        </p:spPr>
      </p:pic>
      <p:sp>
        <p:nvSpPr>
          <p:cNvPr id="39" name="Text 28"/>
          <p:cNvSpPr/>
          <p:nvPr/>
        </p:nvSpPr>
        <p:spPr>
          <a:xfrm>
            <a:off x="6158848" y="7269478"/>
            <a:ext cx="3715278" cy="778107"/>
          </a:xfrm>
          <a:prstGeom prst="rect">
            <a:avLst/>
          </a:prstGeom>
          <a:noFill/>
          <a:ln/>
        </p:spPr>
        <p:txBody>
          <a:bodyPr wrap="square" lIns="25400" tIns="25400" rIns="25400" bIns="25400" rtlCol="0" anchor="t">
            <a:normAutofit/>
          </a:bodyPr>
          <a:lstStyle/>
          <a:p>
            <a:pPr marL="0" indent="0" algn="l">
              <a:lnSpc>
                <a:spcPct val="80640"/>
              </a:lnSpc>
              <a:buNone/>
            </a:pPr>
            <a:r>
              <a:rPr lang="en-US" sz="1425" b="1" dirty="0">
                <a:solidFill>
                  <a:srgbClr val="FFFFFF"/>
                </a:solidFill>
                <a:latin typeface="Oracle Sans Tab" pitchFamily="34" charset="0"/>
                <a:ea typeface="Oracle Sans Tab" pitchFamily="34" charset="-122"/>
                <a:cs typeface="Oracle Sans Tab" pitchFamily="34" charset="-120"/>
              </a:rPr>
              <a:t>episodic · semantic facts · working memory </a:t>
            </a:r>
            <a:r>
              <a:rPr lang="en-US" sz="1350" dirty="0">
                <a:solidFill>
                  <a:srgbClr val="C3D7DC"/>
                </a:solidFill>
                <a:latin typeface="Oracle Sans Tab" pitchFamily="34" charset="0"/>
                <a:ea typeface="Oracle Sans Tab" pitchFamily="34" charset="-122"/>
                <a:cs typeface="Oracle Sans Tab" pitchFamily="34" charset="-120"/>
              </a:rPr>
              <a:t>what the agent already knows about the user, the domain and the live task</a:t>
            </a:r>
            <a:endParaRPr lang="en-US" sz="1200" dirty="0"/>
          </a:p>
        </p:txBody>
      </p:sp>
      <p:sp>
        <p:nvSpPr>
          <p:cNvPr id="40" name="Shape 29"/>
          <p:cNvSpPr/>
          <p:nvPr/>
        </p:nvSpPr>
        <p:spPr>
          <a:xfrm>
            <a:off x="10492692" y="4869160"/>
            <a:ext cx="3223214" cy="2811766"/>
          </a:xfrm>
          <a:prstGeom prst="roundRect">
            <a:avLst>
              <a:gd name="adj" fmla="val 3421"/>
            </a:avLst>
          </a:prstGeom>
          <a:solidFill>
            <a:srgbClr val="04303F"/>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41" name="Text 30"/>
          <p:cNvSpPr/>
          <p:nvPr/>
        </p:nvSpPr>
        <p:spPr>
          <a:xfrm>
            <a:off x="10767043" y="5125371"/>
            <a:ext cx="2942079" cy="266665"/>
          </a:xfrm>
          <a:prstGeom prst="rect">
            <a:avLst/>
          </a:prstGeom>
          <a:noFill/>
          <a:ln/>
        </p:spPr>
        <p:txBody>
          <a:bodyPr wrap="square" lIns="25400" tIns="25400" rIns="25400" bIns="25400" rtlCol="0" anchor="t">
            <a:normAutofit/>
          </a:bodyPr>
          <a:lstStyle/>
          <a:p>
            <a:pPr marL="0" indent="0" algn="l">
              <a:lnSpc>
                <a:spcPct val="92160"/>
              </a:lnSpc>
              <a:buNone/>
            </a:pPr>
            <a:r>
              <a:rPr lang="en-US" sz="1500" dirty="0">
                <a:solidFill>
                  <a:srgbClr val="FFFFFF"/>
                </a:solidFill>
                <a:latin typeface="Oracle Sans Tab" pitchFamily="34" charset="0"/>
                <a:ea typeface="Oracle Sans Tab" pitchFamily="34" charset="-122"/>
                <a:cs typeface="Oracle Sans Tab" pitchFamily="34" charset="-120"/>
              </a:rPr>
              <a:t>THE AGENT</a:t>
            </a:r>
            <a:endParaRPr lang="en-US" sz="1500" dirty="0"/>
          </a:p>
        </p:txBody>
      </p:sp>
      <p:sp>
        <p:nvSpPr>
          <p:cNvPr id="42" name="Shape 31"/>
          <p:cNvSpPr/>
          <p:nvPr/>
        </p:nvSpPr>
        <p:spPr>
          <a:xfrm>
            <a:off x="11651898" y="5513979"/>
            <a:ext cx="905784" cy="905784"/>
          </a:xfrm>
          <a:prstGeom prst="roundRect">
            <a:avLst>
              <a:gd name="adj" fmla="val 12093"/>
            </a:avLst>
          </a:prstGeom>
          <a:solidFill>
            <a:srgbClr val="0B5060"/>
          </a:solidFill>
          <a:ln w="16536">
            <a:solidFill>
              <a:srgbClr val="FFFFFF">
                <a:alpha val="20000"/>
              </a:srgbClr>
            </a:solidFill>
            <a:prstDash val="solid"/>
          </a:ln>
        </p:spPr>
        <p:txBody>
          <a:bodyPr/>
          <a:lstStyle/>
          <a:p>
            <a:endParaRPr lang="en-US"/>
          </a:p>
        </p:txBody>
      </p:sp>
      <p:pic>
        <p:nvPicPr>
          <p:cNvPr id="43" name="Image 9" descr="preencoded.png"/>
          <p:cNvPicPr>
            <a:picLocks noChangeAspect="1"/>
          </p:cNvPicPr>
          <p:nvPr/>
        </p:nvPicPr>
        <p:blipFill>
          <a:blip r:embed="rId12"/>
          <a:srcRect/>
          <a:stretch/>
        </p:blipFill>
        <p:spPr>
          <a:xfrm>
            <a:off x="11802380" y="5664512"/>
            <a:ext cx="603839" cy="603839"/>
          </a:xfrm>
          <a:prstGeom prst="rect">
            <a:avLst/>
          </a:prstGeom>
        </p:spPr>
      </p:pic>
      <p:sp>
        <p:nvSpPr>
          <p:cNvPr id="44" name="Text 32"/>
          <p:cNvSpPr/>
          <p:nvPr/>
        </p:nvSpPr>
        <p:spPr>
          <a:xfrm>
            <a:off x="10755333" y="6611276"/>
            <a:ext cx="2698914" cy="608143"/>
          </a:xfrm>
          <a:prstGeom prst="rect">
            <a:avLst/>
          </a:prstGeom>
          <a:noFill/>
          <a:ln/>
        </p:spPr>
        <p:txBody>
          <a:bodyPr wrap="square" lIns="25400" tIns="25400" rIns="25400" bIns="25400" rtlCol="0" anchor="t">
            <a:normAutofit/>
          </a:bodyPr>
          <a:lstStyle/>
          <a:p>
            <a:pPr marL="0" indent="0" algn="ctr">
              <a:lnSpc>
                <a:spcPct val="80640"/>
              </a:lnSpc>
              <a:buNone/>
            </a:pPr>
            <a:r>
              <a:rPr lang="en-US" sz="1425" dirty="0">
                <a:solidFill>
                  <a:srgbClr val="FFFFFF"/>
                </a:solidFill>
                <a:latin typeface="Oracle Sans Tab" pitchFamily="34" charset="0"/>
                <a:ea typeface="Oracle Sans Tab" pitchFamily="34" charset="-122"/>
                <a:cs typeface="Oracle Sans Tab" pitchFamily="34" charset="-120"/>
              </a:rPr>
              <a:t>assembles the catalog and memory into one context window, then reasons over both</a:t>
            </a:r>
            <a:endParaRPr lang="en-US" sz="1425" dirty="0"/>
          </a:p>
        </p:txBody>
      </p:sp>
      <p:sp>
        <p:nvSpPr>
          <p:cNvPr id="45" name="Shape 33"/>
          <p:cNvSpPr/>
          <p:nvPr/>
        </p:nvSpPr>
        <p:spPr>
          <a:xfrm>
            <a:off x="14196032" y="5486383"/>
            <a:ext cx="3086065" cy="1645894"/>
          </a:xfrm>
          <a:prstGeom prst="roundRect">
            <a:avLst>
              <a:gd name="adj" fmla="val 5845"/>
            </a:avLst>
          </a:prstGeom>
          <a:solidFill>
            <a:srgbClr val="0B5060"/>
          </a:solidFill>
          <a:ln w="23151">
            <a:solidFill>
              <a:srgbClr val="86B596"/>
            </a:solidFill>
            <a:prstDash val="solid"/>
          </a:ln>
          <a:effectLst>
            <a:outerShdw blurRad="114300" dist="19050" dir="5400000" algn="bl" rotWithShape="0">
              <a:srgbClr val="000000">
                <a:alpha val="18000"/>
              </a:srgbClr>
            </a:outerShdw>
          </a:effectLst>
        </p:spPr>
        <p:txBody>
          <a:bodyPr/>
          <a:lstStyle/>
          <a:p>
            <a:endParaRPr lang="en-US"/>
          </a:p>
        </p:txBody>
      </p:sp>
      <p:sp>
        <p:nvSpPr>
          <p:cNvPr id="46" name="Text 34"/>
          <p:cNvSpPr/>
          <p:nvPr/>
        </p:nvSpPr>
        <p:spPr>
          <a:xfrm>
            <a:off x="14401756" y="5691177"/>
            <a:ext cx="2942079"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86B596"/>
                </a:solidFill>
                <a:latin typeface="Oracle Sans Tab" pitchFamily="34" charset="0"/>
                <a:ea typeface="Oracle Sans Tab" pitchFamily="34" charset="-122"/>
                <a:cs typeface="Oracle Sans Tab" pitchFamily="34" charset="-120"/>
              </a:rPr>
              <a:t>GROUNDED RESPONSE</a:t>
            </a:r>
            <a:endParaRPr lang="en-US" sz="1275" dirty="0"/>
          </a:p>
        </p:txBody>
      </p:sp>
      <p:sp>
        <p:nvSpPr>
          <p:cNvPr id="47" name="Text 35"/>
          <p:cNvSpPr/>
          <p:nvPr/>
        </p:nvSpPr>
        <p:spPr>
          <a:xfrm>
            <a:off x="14401756" y="5979790"/>
            <a:ext cx="2754855" cy="552487"/>
          </a:xfrm>
          <a:prstGeom prst="rect">
            <a:avLst/>
          </a:prstGeom>
          <a:noFill/>
          <a:ln/>
        </p:spPr>
        <p:txBody>
          <a:bodyPr wrap="square" lIns="25400" tIns="25400" rIns="25400" bIns="25400" rtlCol="0" anchor="t">
            <a:normAutofit/>
          </a:bodyPr>
          <a:lstStyle/>
          <a:p>
            <a:pPr marL="0" indent="0" algn="l">
              <a:lnSpc>
                <a:spcPct val="76800"/>
              </a:lnSpc>
              <a:buNone/>
            </a:pPr>
            <a:r>
              <a:rPr lang="en-US" sz="1350" dirty="0">
                <a:solidFill>
                  <a:srgbClr val="FFFFFF"/>
                </a:solidFill>
                <a:latin typeface="Oracle Sans Tab" pitchFamily="34" charset="0"/>
                <a:ea typeface="Oracle Sans Tab" pitchFamily="34" charset="-122"/>
                <a:cs typeface="Oracle Sans Tab" pitchFamily="34" charset="-120"/>
              </a:rPr>
              <a:t>correct joins and formulas, real column meaning, anchored in what it remembers</a:t>
            </a:r>
            <a:endParaRPr lang="en-US" sz="1350" dirty="0"/>
          </a:p>
        </p:txBody>
      </p:sp>
      <p:sp>
        <p:nvSpPr>
          <p:cNvPr id="48" name="Shape 36"/>
          <p:cNvSpPr/>
          <p:nvPr/>
        </p:nvSpPr>
        <p:spPr>
          <a:xfrm>
            <a:off x="4869160" y="4965381"/>
            <a:ext cx="411448" cy="26458"/>
          </a:xfrm>
          <a:prstGeom prst="rect">
            <a:avLst/>
          </a:prstGeom>
          <a:solidFill>
            <a:srgbClr val="FD6953"/>
          </a:solidFill>
          <a:ln/>
        </p:spPr>
        <p:txBody>
          <a:bodyPr/>
          <a:lstStyle/>
          <a:p>
            <a:endParaRPr lang="en-US"/>
          </a:p>
        </p:txBody>
      </p:sp>
      <p:sp>
        <p:nvSpPr>
          <p:cNvPr id="49" name="Shape 37"/>
          <p:cNvSpPr/>
          <p:nvPr/>
        </p:nvSpPr>
        <p:spPr>
          <a:xfrm>
            <a:off x="5154931" y="4882699"/>
            <a:ext cx="125677" cy="165365"/>
          </a:xfrm>
          <a:prstGeom prst="rect">
            <a:avLst/>
          </a:prstGeom>
          <a:solidFill>
            <a:srgbClr val="FD6953"/>
          </a:solidFill>
          <a:ln/>
        </p:spPr>
        <p:txBody>
          <a:bodyPr/>
          <a:lstStyle/>
          <a:p>
            <a:endParaRPr lang="en-US"/>
          </a:p>
        </p:txBody>
      </p:sp>
      <p:sp>
        <p:nvSpPr>
          <p:cNvPr id="50" name="Text 38"/>
          <p:cNvSpPr/>
          <p:nvPr/>
        </p:nvSpPr>
        <p:spPr>
          <a:xfrm>
            <a:off x="4762485" y="4600029"/>
            <a:ext cx="624797" cy="220931"/>
          </a:xfrm>
          <a:prstGeom prst="rect">
            <a:avLst/>
          </a:prstGeom>
          <a:noFill/>
          <a:ln/>
        </p:spPr>
        <p:txBody>
          <a:bodyPr wrap="square" lIns="25400" tIns="25400" rIns="25400" bIns="25400" rtlCol="0" anchor="t">
            <a:normAutofit/>
          </a:bodyPr>
          <a:lstStyle/>
          <a:p>
            <a:pPr marL="0" indent="0" algn="ctr">
              <a:lnSpc>
                <a:spcPct val="92160"/>
              </a:lnSpc>
              <a:buNone/>
            </a:pPr>
            <a:r>
              <a:rPr lang="en-US" sz="1125" i="1" dirty="0">
                <a:solidFill>
                  <a:srgbClr val="FD6953"/>
                </a:solidFill>
                <a:latin typeface="Oracle Sans Tab" pitchFamily="34" charset="0"/>
                <a:ea typeface="Oracle Sans Tab" pitchFamily="34" charset="-122"/>
                <a:cs typeface="Oracle Sans Tab" pitchFamily="34" charset="-120"/>
              </a:rPr>
              <a:t>scan</a:t>
            </a:r>
            <a:endParaRPr lang="en-US" sz="1125" dirty="0"/>
          </a:p>
        </p:txBody>
      </p:sp>
      <p:sp>
        <p:nvSpPr>
          <p:cNvPr id="51" name="Shape 39"/>
          <p:cNvSpPr/>
          <p:nvPr/>
        </p:nvSpPr>
        <p:spPr>
          <a:xfrm rot="1632001">
            <a:off x="9975796" y="5470250"/>
            <a:ext cx="542925" cy="26458"/>
          </a:xfrm>
          <a:prstGeom prst="rect">
            <a:avLst/>
          </a:prstGeom>
          <a:solidFill>
            <a:srgbClr val="FD6953"/>
          </a:solidFill>
          <a:ln/>
        </p:spPr>
        <p:txBody>
          <a:bodyPr/>
          <a:lstStyle/>
          <a:p>
            <a:endParaRPr lang="en-US"/>
          </a:p>
        </p:txBody>
      </p:sp>
      <p:sp>
        <p:nvSpPr>
          <p:cNvPr id="52" name="Shape 40"/>
          <p:cNvSpPr/>
          <p:nvPr/>
        </p:nvSpPr>
        <p:spPr>
          <a:xfrm rot="1632001">
            <a:off x="10374788" y="5486623"/>
            <a:ext cx="125677" cy="161925"/>
          </a:xfrm>
          <a:prstGeom prst="rect">
            <a:avLst/>
          </a:prstGeom>
          <a:solidFill>
            <a:srgbClr val="FD6953"/>
          </a:solidFill>
          <a:ln/>
        </p:spPr>
        <p:txBody>
          <a:bodyPr/>
          <a:lstStyle/>
          <a:p>
            <a:endParaRPr lang="en-US"/>
          </a:p>
        </p:txBody>
      </p:sp>
      <p:sp>
        <p:nvSpPr>
          <p:cNvPr id="53" name="Shape 41"/>
          <p:cNvSpPr/>
          <p:nvPr/>
        </p:nvSpPr>
        <p:spPr>
          <a:xfrm rot="9015599">
            <a:off x="9983362" y="7405935"/>
            <a:ext cx="552450" cy="26458"/>
          </a:xfrm>
          <a:prstGeom prst="rect">
            <a:avLst/>
          </a:prstGeom>
          <a:solidFill>
            <a:srgbClr val="FD6953"/>
          </a:solidFill>
          <a:ln/>
        </p:spPr>
        <p:txBody>
          <a:bodyPr/>
          <a:lstStyle/>
          <a:p>
            <a:endParaRPr lang="en-US"/>
          </a:p>
        </p:txBody>
      </p:sp>
      <p:sp>
        <p:nvSpPr>
          <p:cNvPr id="54" name="Shape 42"/>
          <p:cNvSpPr/>
          <p:nvPr/>
        </p:nvSpPr>
        <p:spPr>
          <a:xfrm rot="9015599">
            <a:off x="10374489" y="7220147"/>
            <a:ext cx="125677" cy="161925"/>
          </a:xfrm>
          <a:prstGeom prst="rect">
            <a:avLst/>
          </a:prstGeom>
          <a:solidFill>
            <a:srgbClr val="FD6953"/>
          </a:solidFill>
          <a:ln/>
        </p:spPr>
        <p:txBody>
          <a:bodyPr/>
          <a:lstStyle/>
          <a:p>
            <a:endParaRPr lang="en-US"/>
          </a:p>
        </p:txBody>
      </p:sp>
      <p:sp>
        <p:nvSpPr>
          <p:cNvPr id="55" name="Shape 43"/>
          <p:cNvSpPr/>
          <p:nvPr/>
        </p:nvSpPr>
        <p:spPr>
          <a:xfrm>
            <a:off x="13715958" y="6281735"/>
            <a:ext cx="480022" cy="26458"/>
          </a:xfrm>
          <a:prstGeom prst="rect">
            <a:avLst/>
          </a:prstGeom>
          <a:solidFill>
            <a:srgbClr val="86B596"/>
          </a:solidFill>
          <a:ln/>
        </p:spPr>
        <p:txBody>
          <a:bodyPr/>
          <a:lstStyle/>
          <a:p>
            <a:endParaRPr lang="en-US"/>
          </a:p>
        </p:txBody>
      </p:sp>
      <p:sp>
        <p:nvSpPr>
          <p:cNvPr id="56" name="Shape 44"/>
          <p:cNvSpPr/>
          <p:nvPr/>
        </p:nvSpPr>
        <p:spPr>
          <a:xfrm>
            <a:off x="14070304" y="6199053"/>
            <a:ext cx="125677" cy="165365"/>
          </a:xfrm>
          <a:prstGeom prst="rect">
            <a:avLst/>
          </a:prstGeom>
          <a:solidFill>
            <a:srgbClr val="86B596"/>
          </a:solidFill>
          <a:ln/>
        </p:spPr>
        <p:txBody>
          <a:bodyPr/>
          <a:lstStyle/>
          <a:p>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DEFINITION</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AGENT LOOP</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AGENT LOOP</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What is the </a:t>
            </a:r>
            <a:r>
              <a:rPr lang="en-US" sz="5100" b="1" dirty="0">
                <a:solidFill>
                  <a:srgbClr val="FD6953"/>
                </a:solidFill>
                <a:latin typeface="Oracle Sans Tab" pitchFamily="34" charset="0"/>
                <a:ea typeface="Oracle Sans Tab" pitchFamily="34" charset="-122"/>
                <a:cs typeface="Oracle Sans Tab" pitchFamily="34" charset="-120"/>
              </a:rPr>
              <a:t>agent loop</a:t>
            </a:r>
            <a:endParaRPr lang="en-US" sz="1200" dirty="0"/>
          </a:p>
        </p:txBody>
      </p:sp>
      <p:sp>
        <p:nvSpPr>
          <p:cNvPr id="8" name="Shape 5"/>
          <p:cNvSpPr/>
          <p:nvPr/>
        </p:nvSpPr>
        <p:spPr>
          <a:xfrm>
            <a:off x="960096" y="4594810"/>
            <a:ext cx="2057394" cy="2057394"/>
          </a:xfrm>
          <a:prstGeom prst="roundRect">
            <a:avLst>
              <a:gd name="adj" fmla="val 467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rcRect/>
          <a:stretch/>
        </p:blipFill>
        <p:spPr>
          <a:xfrm>
            <a:off x="1536340" y="5019642"/>
            <a:ext cx="904854" cy="904854"/>
          </a:xfrm>
          <a:prstGeom prst="rect">
            <a:avLst/>
          </a:prstGeom>
        </p:spPr>
      </p:pic>
      <p:sp>
        <p:nvSpPr>
          <p:cNvPr id="10" name="Text 6"/>
          <p:cNvSpPr/>
          <p:nvPr/>
        </p:nvSpPr>
        <p:spPr>
          <a:xfrm>
            <a:off x="3497564" y="4320511"/>
            <a:ext cx="14268754" cy="1409644"/>
          </a:xfrm>
          <a:prstGeom prst="rect">
            <a:avLst/>
          </a:prstGeom>
          <a:noFill/>
          <a:ln/>
        </p:spPr>
        <p:txBody>
          <a:bodyPr wrap="square" lIns="25400" tIns="25400" rIns="25400" bIns="25400" rtlCol="0" anchor="t">
            <a:normAutofit/>
          </a:bodyPr>
          <a:lstStyle/>
          <a:p>
            <a:pPr marL="0" indent="0" algn="l">
              <a:lnSpc>
                <a:spcPct val="92160"/>
              </a:lnSpc>
              <a:buNone/>
            </a:pPr>
            <a:r>
              <a:rPr lang="en-US" sz="3000" dirty="0">
                <a:solidFill>
                  <a:srgbClr val="FFFFFF"/>
                </a:solidFill>
                <a:latin typeface="Oracle Sans Tab" pitchFamily="34" charset="0"/>
                <a:ea typeface="Oracle Sans Tab" pitchFamily="34" charset="-122"/>
                <a:cs typeface="Oracle Sans Tab" pitchFamily="34" charset="-120"/>
              </a:rPr>
              <a:t>The control structure that drives an agent: </a:t>
            </a:r>
            <a:r>
              <a:rPr lang="en-US" sz="3000" b="1" dirty="0">
                <a:solidFill>
                  <a:srgbClr val="FFFFFF"/>
                </a:solidFill>
                <a:latin typeface="Oracle Sans Tab" pitchFamily="34" charset="0"/>
                <a:ea typeface="Oracle Sans Tab" pitchFamily="34" charset="-122"/>
                <a:cs typeface="Oracle Sans Tab" pitchFamily="34" charset="-120"/>
              </a:rPr>
              <a:t>assemble context, call the model, run the tools it asks for, persist what happened, and decide whether to continue </a:t>
            </a:r>
            <a:r>
              <a:rPr lang="en-US" sz="3000" dirty="0">
                <a:solidFill>
                  <a:srgbClr val="FFFFFF"/>
                </a:solidFill>
                <a:latin typeface="Oracle Sans Tab" pitchFamily="34" charset="0"/>
                <a:ea typeface="Oracle Sans Tab" pitchFamily="34" charset="-122"/>
                <a:cs typeface="Oracle Sans Tab" pitchFamily="34" charset="-120"/>
              </a:rPr>
              <a:t>, under an explicit budget.</a:t>
            </a:r>
            <a:endParaRPr lang="en-US" sz="1200" dirty="0"/>
          </a:p>
        </p:txBody>
      </p:sp>
      <p:sp>
        <p:nvSpPr>
          <p:cNvPr id="11" name="Shape 7"/>
          <p:cNvSpPr/>
          <p:nvPr/>
        </p:nvSpPr>
        <p:spPr>
          <a:xfrm>
            <a:off x="960096" y="7680926"/>
            <a:ext cx="16367735" cy="1302969"/>
          </a:xfrm>
          <a:prstGeom prst="roundRect">
            <a:avLst>
              <a:gd name="adj" fmla="val 7383"/>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12" name="Text 8"/>
          <p:cNvSpPr/>
          <p:nvPr/>
        </p:nvSpPr>
        <p:spPr>
          <a:xfrm>
            <a:off x="1508745" y="8187407"/>
            <a:ext cx="15728550" cy="328108"/>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2175" b="1" dirty="0">
                <a:solidFill>
                  <a:srgbClr val="FD6953"/>
                </a:solidFill>
                <a:latin typeface="Oracle Sans Tab" pitchFamily="34" charset="0"/>
                <a:ea typeface="Oracle Sans Tab" pitchFamily="34" charset="-122"/>
                <a:cs typeface="Oracle Sans Tab" pitchFamily="34" charset="-120"/>
              </a:rPr>
              <a:t>Why it matters </a:t>
            </a:r>
            <a:r>
              <a:rPr lang="en-US" sz="2175" dirty="0">
                <a:solidFill>
                  <a:srgbClr val="FFFFFF"/>
                </a:solidFill>
                <a:latin typeface="Oracle Sans Tab" pitchFamily="34" charset="0"/>
                <a:ea typeface="Oracle Sans Tab" pitchFamily="34" charset="-122"/>
                <a:cs typeface="Oracle Sans Tab" pitchFamily="34" charset="-120"/>
              </a:rPr>
              <a:t>the loop is the component that turns a frozen model into something that acts, recovers, and improves.</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LAYER 6, AGENT LOOP</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THE DRIVER</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AGENT LOOP</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The graph that </a:t>
            </a:r>
            <a:r>
              <a:rPr lang="en-US" sz="5100" b="1" i="1" dirty="0">
                <a:solidFill>
                  <a:srgbClr val="FD6953"/>
                </a:solidFill>
                <a:latin typeface="Oracle Sans Tab" pitchFamily="34" charset="0"/>
                <a:ea typeface="Oracle Sans Tab" pitchFamily="34" charset="-122"/>
                <a:cs typeface="Oracle Sans Tab" pitchFamily="34" charset="-120"/>
              </a:rPr>
              <a:t>drives </a:t>
            </a:r>
            <a:r>
              <a:rPr lang="en-US" sz="5100" b="1" dirty="0">
                <a:solidFill>
                  <a:srgbClr val="FFFFFF"/>
                </a:solidFill>
                <a:latin typeface="Oracle Sans Tab" pitchFamily="34" charset="0"/>
                <a:ea typeface="Oracle Sans Tab" pitchFamily="34" charset="-122"/>
                <a:cs typeface="Oracle Sans Tab" pitchFamily="34" charset="-120"/>
              </a:rPr>
              <a:t>every layer.</a:t>
            </a:r>
            <a:endParaRPr lang="en-US" sz="1200" dirty="0"/>
          </a:p>
        </p:txBody>
      </p:sp>
      <p:sp>
        <p:nvSpPr>
          <p:cNvPr id="8" name="Shape 5"/>
          <p:cNvSpPr/>
          <p:nvPr/>
        </p:nvSpPr>
        <p:spPr>
          <a:xfrm>
            <a:off x="754373" y="4361491"/>
            <a:ext cx="1645894" cy="630504"/>
          </a:xfrm>
          <a:prstGeom prst="roundRect">
            <a:avLst>
              <a:gd name="adj" fmla="val 47889"/>
            </a:avLst>
          </a:prstGeom>
          <a:solidFill>
            <a:srgbClr val="0B5060"/>
          </a:solidFill>
          <a:ln w="16536">
            <a:solidFill>
              <a:srgbClr val="FFFFFF">
                <a:alpha val="30000"/>
              </a:srgbClr>
            </a:solidFill>
            <a:prstDash val="solid"/>
          </a:ln>
        </p:spPr>
        <p:txBody>
          <a:bodyPr/>
          <a:lstStyle/>
          <a:p>
            <a:endParaRPr lang="en-US"/>
          </a:p>
        </p:txBody>
      </p:sp>
      <p:sp>
        <p:nvSpPr>
          <p:cNvPr id="9" name="Text 6"/>
          <p:cNvSpPr/>
          <p:nvPr/>
        </p:nvSpPr>
        <p:spPr>
          <a:xfrm>
            <a:off x="716273" y="4550988"/>
            <a:ext cx="1722094"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b="1" dirty="0">
                <a:solidFill>
                  <a:srgbClr val="C3D7DC"/>
                </a:solidFill>
                <a:latin typeface="Menlo" pitchFamily="34" charset="0"/>
                <a:ea typeface="Menlo" pitchFamily="34" charset="-122"/>
                <a:cs typeface="Menlo" pitchFamily="34" charset="-120"/>
              </a:rPr>
              <a:t>__start__</a:t>
            </a:r>
            <a:endParaRPr lang="en-US" sz="1650" dirty="0"/>
          </a:p>
        </p:txBody>
      </p:sp>
      <p:sp>
        <p:nvSpPr>
          <p:cNvPr id="10" name="Shape 7"/>
          <p:cNvSpPr/>
          <p:nvPr/>
        </p:nvSpPr>
        <p:spPr>
          <a:xfrm>
            <a:off x="2400267" y="4745343"/>
            <a:ext cx="274299" cy="26458"/>
          </a:xfrm>
          <a:prstGeom prst="rect">
            <a:avLst/>
          </a:prstGeom>
          <a:solidFill>
            <a:srgbClr val="FFFFFF">
              <a:alpha val="34000"/>
            </a:srgbClr>
          </a:solidFill>
          <a:ln/>
        </p:spPr>
        <p:txBody>
          <a:bodyPr/>
          <a:lstStyle/>
          <a:p>
            <a:endParaRPr lang="en-US"/>
          </a:p>
        </p:txBody>
      </p:sp>
      <p:sp>
        <p:nvSpPr>
          <p:cNvPr id="11" name="Shape 8"/>
          <p:cNvSpPr/>
          <p:nvPr/>
        </p:nvSpPr>
        <p:spPr>
          <a:xfrm>
            <a:off x="2548888" y="4662661"/>
            <a:ext cx="125677" cy="165365"/>
          </a:xfrm>
          <a:prstGeom prst="rect">
            <a:avLst/>
          </a:prstGeom>
          <a:solidFill>
            <a:srgbClr val="FFFFFF">
              <a:alpha val="34000"/>
            </a:srgbClr>
          </a:solidFill>
          <a:ln/>
        </p:spPr>
        <p:txBody>
          <a:bodyPr/>
          <a:lstStyle/>
          <a:p>
            <a:endParaRPr lang="en-US"/>
          </a:p>
        </p:txBody>
      </p:sp>
      <p:sp>
        <p:nvSpPr>
          <p:cNvPr id="12" name="Shape 9"/>
          <p:cNvSpPr/>
          <p:nvPr/>
        </p:nvSpPr>
        <p:spPr>
          <a:xfrm>
            <a:off x="2674617" y="4183362"/>
            <a:ext cx="2948916" cy="1124893"/>
          </a:xfrm>
          <a:prstGeom prst="roundRect">
            <a:avLst>
              <a:gd name="adj" fmla="val 8552"/>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13" name="Text 10"/>
          <p:cNvSpPr/>
          <p:nvPr/>
        </p:nvSpPr>
        <p:spPr>
          <a:xfrm>
            <a:off x="2630383" y="4608659"/>
            <a:ext cx="3037383" cy="312399"/>
          </a:xfrm>
          <a:prstGeom prst="rect">
            <a:avLst/>
          </a:prstGeom>
          <a:noFill/>
          <a:ln/>
        </p:spPr>
        <p:txBody>
          <a:bodyPr wrap="square" lIns="25400" tIns="25400" rIns="25400" bIns="25400" rtlCol="0" anchor="t">
            <a:normAutofit/>
          </a:bodyPr>
          <a:lstStyle/>
          <a:p>
            <a:pPr marL="0" indent="0" algn="ctr">
              <a:lnSpc>
                <a:spcPct val="92160"/>
              </a:lnSpc>
              <a:buNone/>
            </a:pPr>
            <a:r>
              <a:rPr lang="en-US" sz="1800" b="1" dirty="0">
                <a:solidFill>
                  <a:srgbClr val="FD6953"/>
                </a:solidFill>
                <a:latin typeface="Menlo" pitchFamily="34" charset="0"/>
                <a:ea typeface="Menlo" pitchFamily="34" charset="-122"/>
                <a:cs typeface="Menlo" pitchFamily="34" charset="-120"/>
              </a:rPr>
              <a:t>assemble_context</a:t>
            </a:r>
            <a:endParaRPr lang="en-US" sz="1800" dirty="0"/>
          </a:p>
        </p:txBody>
      </p:sp>
      <p:sp>
        <p:nvSpPr>
          <p:cNvPr id="14" name="Shape 11"/>
          <p:cNvSpPr/>
          <p:nvPr/>
        </p:nvSpPr>
        <p:spPr>
          <a:xfrm>
            <a:off x="5623532" y="4745343"/>
            <a:ext cx="342873" cy="26458"/>
          </a:xfrm>
          <a:prstGeom prst="rect">
            <a:avLst/>
          </a:prstGeom>
          <a:solidFill>
            <a:srgbClr val="FD6953"/>
          </a:solidFill>
          <a:ln/>
        </p:spPr>
        <p:txBody>
          <a:bodyPr/>
          <a:lstStyle/>
          <a:p>
            <a:endParaRPr lang="en-US"/>
          </a:p>
        </p:txBody>
      </p:sp>
      <p:sp>
        <p:nvSpPr>
          <p:cNvPr id="15" name="Shape 12"/>
          <p:cNvSpPr/>
          <p:nvPr/>
        </p:nvSpPr>
        <p:spPr>
          <a:xfrm>
            <a:off x="5840728" y="4662661"/>
            <a:ext cx="125677" cy="165365"/>
          </a:xfrm>
          <a:prstGeom prst="rect">
            <a:avLst/>
          </a:prstGeom>
          <a:solidFill>
            <a:srgbClr val="FD6953"/>
          </a:solidFill>
          <a:ln/>
        </p:spPr>
        <p:txBody>
          <a:bodyPr/>
          <a:lstStyle/>
          <a:p>
            <a:endParaRPr lang="en-US"/>
          </a:p>
        </p:txBody>
      </p:sp>
      <p:sp>
        <p:nvSpPr>
          <p:cNvPr id="16" name="Shape 13"/>
          <p:cNvSpPr/>
          <p:nvPr/>
        </p:nvSpPr>
        <p:spPr>
          <a:xfrm>
            <a:off x="5966457" y="4183362"/>
            <a:ext cx="2674617" cy="1124893"/>
          </a:xfrm>
          <a:prstGeom prst="roundRect">
            <a:avLst>
              <a:gd name="adj" fmla="val 8552"/>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7" name="Text 14"/>
          <p:cNvSpPr/>
          <p:nvPr/>
        </p:nvSpPr>
        <p:spPr>
          <a:xfrm>
            <a:off x="5926338" y="4608659"/>
            <a:ext cx="2754855" cy="312399"/>
          </a:xfrm>
          <a:prstGeom prst="rect">
            <a:avLst/>
          </a:prstGeom>
          <a:noFill/>
          <a:ln/>
        </p:spPr>
        <p:txBody>
          <a:bodyPr wrap="square" lIns="25400" tIns="25400" rIns="25400" bIns="25400" rtlCol="0" anchor="t">
            <a:normAutofit/>
          </a:bodyPr>
          <a:lstStyle/>
          <a:p>
            <a:pPr marL="0" indent="0" algn="ctr">
              <a:lnSpc>
                <a:spcPct val="92160"/>
              </a:lnSpc>
              <a:buNone/>
            </a:pPr>
            <a:r>
              <a:rPr lang="en-US" sz="1800" b="1" dirty="0">
                <a:solidFill>
                  <a:srgbClr val="FFFFFF"/>
                </a:solidFill>
                <a:latin typeface="Menlo" pitchFamily="34" charset="0"/>
                <a:ea typeface="Menlo" pitchFamily="34" charset="-122"/>
                <a:cs typeface="Menlo" pitchFamily="34" charset="-120"/>
              </a:rPr>
              <a:t>call_model</a:t>
            </a:r>
            <a:endParaRPr lang="en-US" sz="1800" dirty="0"/>
          </a:p>
        </p:txBody>
      </p:sp>
      <p:sp>
        <p:nvSpPr>
          <p:cNvPr id="18" name="Shape 15"/>
          <p:cNvSpPr/>
          <p:nvPr/>
        </p:nvSpPr>
        <p:spPr>
          <a:xfrm>
            <a:off x="8641074" y="4745343"/>
            <a:ext cx="342873" cy="26458"/>
          </a:xfrm>
          <a:prstGeom prst="rect">
            <a:avLst/>
          </a:prstGeom>
          <a:solidFill>
            <a:srgbClr val="FD6953"/>
          </a:solidFill>
          <a:ln/>
        </p:spPr>
        <p:txBody>
          <a:bodyPr/>
          <a:lstStyle/>
          <a:p>
            <a:endParaRPr lang="en-US"/>
          </a:p>
        </p:txBody>
      </p:sp>
      <p:sp>
        <p:nvSpPr>
          <p:cNvPr id="19" name="Shape 16"/>
          <p:cNvSpPr/>
          <p:nvPr/>
        </p:nvSpPr>
        <p:spPr>
          <a:xfrm>
            <a:off x="8858270" y="4662661"/>
            <a:ext cx="125677" cy="165365"/>
          </a:xfrm>
          <a:prstGeom prst="rect">
            <a:avLst/>
          </a:prstGeom>
          <a:solidFill>
            <a:srgbClr val="FD6953"/>
          </a:solidFill>
          <a:ln/>
        </p:spPr>
        <p:txBody>
          <a:bodyPr/>
          <a:lstStyle/>
          <a:p>
            <a:endParaRPr lang="en-US"/>
          </a:p>
        </p:txBody>
      </p:sp>
      <p:sp>
        <p:nvSpPr>
          <p:cNvPr id="20" name="Shape 17"/>
          <p:cNvSpPr/>
          <p:nvPr/>
        </p:nvSpPr>
        <p:spPr>
          <a:xfrm>
            <a:off x="8983948" y="4183362"/>
            <a:ext cx="2468841" cy="1124893"/>
          </a:xfrm>
          <a:prstGeom prst="roundRect">
            <a:avLst>
              <a:gd name="adj" fmla="val 8552"/>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1" name="Text 18"/>
          <p:cNvSpPr/>
          <p:nvPr/>
        </p:nvSpPr>
        <p:spPr>
          <a:xfrm>
            <a:off x="8945848" y="4608659"/>
            <a:ext cx="2545041" cy="312399"/>
          </a:xfrm>
          <a:prstGeom prst="rect">
            <a:avLst/>
          </a:prstGeom>
          <a:noFill/>
          <a:ln/>
        </p:spPr>
        <p:txBody>
          <a:bodyPr wrap="square" lIns="25400" tIns="25400" rIns="25400" bIns="25400" rtlCol="0" anchor="t">
            <a:normAutofit/>
          </a:bodyPr>
          <a:lstStyle/>
          <a:p>
            <a:pPr marL="0" indent="0" algn="ctr">
              <a:lnSpc>
                <a:spcPct val="92160"/>
              </a:lnSpc>
              <a:buNone/>
            </a:pPr>
            <a:r>
              <a:rPr lang="en-US" sz="1800" b="1" dirty="0">
                <a:solidFill>
                  <a:srgbClr val="FFFFFF"/>
                </a:solidFill>
                <a:latin typeface="Oracle Sans Tab" pitchFamily="34" charset="0"/>
                <a:ea typeface="Oracle Sans Tab" pitchFamily="34" charset="-122"/>
                <a:cs typeface="Oracle Sans Tab" pitchFamily="34" charset="-120"/>
              </a:rPr>
              <a:t>persist</a:t>
            </a:r>
            <a:endParaRPr lang="en-US" sz="1800" dirty="0"/>
          </a:p>
        </p:txBody>
      </p:sp>
      <p:sp>
        <p:nvSpPr>
          <p:cNvPr id="22" name="Shape 19"/>
          <p:cNvSpPr/>
          <p:nvPr/>
        </p:nvSpPr>
        <p:spPr>
          <a:xfrm>
            <a:off x="11452840" y="4745343"/>
            <a:ext cx="891522" cy="26458"/>
          </a:xfrm>
          <a:prstGeom prst="rect">
            <a:avLst/>
          </a:prstGeom>
          <a:solidFill>
            <a:srgbClr val="FFFFFF">
              <a:alpha val="34000"/>
            </a:srgbClr>
          </a:solidFill>
          <a:ln/>
        </p:spPr>
        <p:txBody>
          <a:bodyPr/>
          <a:lstStyle/>
          <a:p>
            <a:endParaRPr lang="en-US"/>
          </a:p>
        </p:txBody>
      </p:sp>
      <p:sp>
        <p:nvSpPr>
          <p:cNvPr id="23" name="Shape 20"/>
          <p:cNvSpPr/>
          <p:nvPr/>
        </p:nvSpPr>
        <p:spPr>
          <a:xfrm>
            <a:off x="12218686" y="4662661"/>
            <a:ext cx="125677" cy="165365"/>
          </a:xfrm>
          <a:prstGeom prst="rect">
            <a:avLst/>
          </a:prstGeom>
          <a:solidFill>
            <a:srgbClr val="FFFFFF">
              <a:alpha val="34000"/>
            </a:srgbClr>
          </a:solidFill>
          <a:ln/>
        </p:spPr>
        <p:txBody>
          <a:bodyPr/>
          <a:lstStyle/>
          <a:p>
            <a:endParaRPr lang="en-US"/>
          </a:p>
        </p:txBody>
      </p:sp>
      <p:sp>
        <p:nvSpPr>
          <p:cNvPr id="24" name="Shape 21"/>
          <p:cNvSpPr/>
          <p:nvPr/>
        </p:nvSpPr>
        <p:spPr>
          <a:xfrm>
            <a:off x="12344363" y="4361491"/>
            <a:ext cx="1645894" cy="630504"/>
          </a:xfrm>
          <a:prstGeom prst="roundRect">
            <a:avLst>
              <a:gd name="adj" fmla="val 47889"/>
            </a:avLst>
          </a:prstGeom>
          <a:solidFill>
            <a:srgbClr val="0B5060"/>
          </a:solidFill>
          <a:ln w="16536">
            <a:solidFill>
              <a:srgbClr val="FFFFFF">
                <a:alpha val="30000"/>
              </a:srgbClr>
            </a:solidFill>
            <a:prstDash val="solid"/>
          </a:ln>
        </p:spPr>
        <p:txBody>
          <a:bodyPr/>
          <a:lstStyle/>
          <a:p>
            <a:endParaRPr lang="en-US"/>
          </a:p>
        </p:txBody>
      </p:sp>
      <p:sp>
        <p:nvSpPr>
          <p:cNvPr id="25" name="Text 22"/>
          <p:cNvSpPr/>
          <p:nvPr/>
        </p:nvSpPr>
        <p:spPr>
          <a:xfrm>
            <a:off x="12306263" y="4550988"/>
            <a:ext cx="1722094"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b="1" dirty="0">
                <a:solidFill>
                  <a:srgbClr val="C3D7DC"/>
                </a:solidFill>
                <a:latin typeface="Menlo" pitchFamily="34" charset="0"/>
                <a:ea typeface="Menlo" pitchFamily="34" charset="-122"/>
                <a:cs typeface="Menlo" pitchFamily="34" charset="-120"/>
              </a:rPr>
              <a:t>__end__</a:t>
            </a:r>
            <a:endParaRPr lang="en-US" sz="1650" dirty="0"/>
          </a:p>
        </p:txBody>
      </p:sp>
      <p:sp>
        <p:nvSpPr>
          <p:cNvPr id="26" name="Text 23"/>
          <p:cNvSpPr/>
          <p:nvPr/>
        </p:nvSpPr>
        <p:spPr>
          <a:xfrm>
            <a:off x="11414740" y="4429083"/>
            <a:ext cx="967722" cy="232352"/>
          </a:xfrm>
          <a:prstGeom prst="rect">
            <a:avLst/>
          </a:prstGeom>
          <a:noFill/>
          <a:ln/>
        </p:spPr>
        <p:txBody>
          <a:bodyPr wrap="square" lIns="25400" tIns="25400" rIns="25400" bIns="25400" rtlCol="0" anchor="t">
            <a:normAutofit/>
          </a:bodyPr>
          <a:lstStyle/>
          <a:p>
            <a:pPr marL="0" indent="0" algn="ctr">
              <a:lnSpc>
                <a:spcPct val="92160"/>
              </a:lnSpc>
              <a:buNone/>
            </a:pPr>
            <a:r>
              <a:rPr lang="en-US" sz="1275" i="1" dirty="0">
                <a:solidFill>
                  <a:srgbClr val="C3D7DC"/>
                </a:solidFill>
                <a:latin typeface="Oracle Sans Tab" pitchFamily="34" charset="0"/>
                <a:ea typeface="Oracle Sans Tab" pitchFamily="34" charset="-122"/>
                <a:cs typeface="Oracle Sans Tab" pitchFamily="34" charset="-120"/>
              </a:rPr>
              <a:t>stop</a:t>
            </a:r>
            <a:endParaRPr lang="en-US" sz="1275" dirty="0"/>
          </a:p>
        </p:txBody>
      </p:sp>
      <p:sp>
        <p:nvSpPr>
          <p:cNvPr id="27" name="Text 24"/>
          <p:cNvSpPr/>
          <p:nvPr/>
        </p:nvSpPr>
        <p:spPr>
          <a:xfrm>
            <a:off x="2630383" y="3675641"/>
            <a:ext cx="3037383" cy="312399"/>
          </a:xfrm>
          <a:prstGeom prst="rect">
            <a:avLst/>
          </a:prstGeom>
          <a:noFill/>
          <a:ln/>
        </p:spPr>
        <p:txBody>
          <a:bodyPr wrap="square" lIns="25400" tIns="25400" rIns="25400" bIns="25400" rtlCol="0" anchor="t">
            <a:normAutofit/>
          </a:bodyPr>
          <a:lstStyle/>
          <a:p>
            <a:pPr marL="0" indent="0" algn="ctr">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OBSERVE</a:t>
            </a:r>
            <a:endParaRPr lang="en-US" sz="1800" dirty="0"/>
          </a:p>
        </p:txBody>
      </p:sp>
      <p:sp>
        <p:nvSpPr>
          <p:cNvPr id="28" name="Shape 25"/>
          <p:cNvSpPr/>
          <p:nvPr/>
        </p:nvSpPr>
        <p:spPr>
          <a:xfrm rot="5400000">
            <a:off x="4075363" y="4106519"/>
            <a:ext cx="133350" cy="16536"/>
          </a:xfrm>
          <a:prstGeom prst="rect">
            <a:avLst/>
          </a:prstGeom>
          <a:solidFill>
            <a:srgbClr val="E0836F"/>
          </a:solidFill>
          <a:ln/>
        </p:spPr>
        <p:txBody>
          <a:bodyPr/>
          <a:lstStyle/>
          <a:p>
            <a:endParaRPr lang="en-US"/>
          </a:p>
        </p:txBody>
      </p:sp>
      <p:sp>
        <p:nvSpPr>
          <p:cNvPr id="29" name="Text 26"/>
          <p:cNvSpPr/>
          <p:nvPr/>
        </p:nvSpPr>
        <p:spPr>
          <a:xfrm>
            <a:off x="5926338" y="3675641"/>
            <a:ext cx="2754855" cy="312399"/>
          </a:xfrm>
          <a:prstGeom prst="rect">
            <a:avLst/>
          </a:prstGeom>
          <a:noFill/>
          <a:ln/>
        </p:spPr>
        <p:txBody>
          <a:bodyPr wrap="square" lIns="25400" tIns="25400" rIns="25400" bIns="25400" rtlCol="0" anchor="t">
            <a:normAutofit/>
          </a:bodyPr>
          <a:lstStyle/>
          <a:p>
            <a:pPr marL="0" indent="0" algn="ctr">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REASON</a:t>
            </a:r>
            <a:endParaRPr lang="en-US" sz="1800" dirty="0"/>
          </a:p>
        </p:txBody>
      </p:sp>
      <p:sp>
        <p:nvSpPr>
          <p:cNvPr id="30" name="Shape 27"/>
          <p:cNvSpPr/>
          <p:nvPr/>
        </p:nvSpPr>
        <p:spPr>
          <a:xfrm rot="5400000">
            <a:off x="7230053" y="4106519"/>
            <a:ext cx="133350" cy="16536"/>
          </a:xfrm>
          <a:prstGeom prst="rect">
            <a:avLst/>
          </a:prstGeom>
          <a:solidFill>
            <a:srgbClr val="E0836F"/>
          </a:solidFill>
          <a:ln/>
        </p:spPr>
        <p:txBody>
          <a:bodyPr/>
          <a:lstStyle/>
          <a:p>
            <a:endParaRPr lang="en-US"/>
          </a:p>
        </p:txBody>
      </p:sp>
      <p:sp>
        <p:nvSpPr>
          <p:cNvPr id="31" name="Shape 28"/>
          <p:cNvSpPr/>
          <p:nvPr/>
        </p:nvSpPr>
        <p:spPr>
          <a:xfrm rot="5400000">
            <a:off x="9429936" y="6069862"/>
            <a:ext cx="1552575" cy="26458"/>
          </a:xfrm>
          <a:prstGeom prst="rect">
            <a:avLst/>
          </a:prstGeom>
          <a:solidFill>
            <a:srgbClr val="FFFFFF">
              <a:alpha val="34000"/>
            </a:srgbClr>
          </a:solidFill>
          <a:ln/>
        </p:spPr>
        <p:txBody>
          <a:bodyPr/>
          <a:lstStyle/>
          <a:p>
            <a:endParaRPr lang="en-US"/>
          </a:p>
        </p:txBody>
      </p:sp>
      <p:sp>
        <p:nvSpPr>
          <p:cNvPr id="32" name="Shape 29"/>
          <p:cNvSpPr/>
          <p:nvPr/>
        </p:nvSpPr>
        <p:spPr>
          <a:xfrm rot="5400000">
            <a:off x="10155556" y="6715052"/>
            <a:ext cx="125677" cy="161925"/>
          </a:xfrm>
          <a:prstGeom prst="rect">
            <a:avLst/>
          </a:prstGeom>
          <a:solidFill>
            <a:srgbClr val="FFFFFF">
              <a:alpha val="34000"/>
            </a:srgbClr>
          </a:solidFill>
          <a:ln/>
        </p:spPr>
        <p:txBody>
          <a:bodyPr/>
          <a:lstStyle/>
          <a:p>
            <a:endParaRPr lang="en-US"/>
          </a:p>
        </p:txBody>
      </p:sp>
      <p:sp>
        <p:nvSpPr>
          <p:cNvPr id="33" name="Text 30"/>
          <p:cNvSpPr/>
          <p:nvPr/>
        </p:nvSpPr>
        <p:spPr>
          <a:xfrm>
            <a:off x="10383191" y="5972607"/>
            <a:ext cx="1173446"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i="1" dirty="0">
                <a:solidFill>
                  <a:srgbClr val="C3D7DC"/>
                </a:solidFill>
                <a:latin typeface="Oracle Sans Tab" pitchFamily="34" charset="0"/>
                <a:ea typeface="Oracle Sans Tab" pitchFamily="34" charset="-122"/>
                <a:cs typeface="Oracle Sans Tab" pitchFamily="34" charset="-120"/>
              </a:rPr>
              <a:t>tools</a:t>
            </a:r>
            <a:endParaRPr lang="en-US" sz="1275" dirty="0"/>
          </a:p>
        </p:txBody>
      </p:sp>
      <p:sp>
        <p:nvSpPr>
          <p:cNvPr id="34" name="Shape 31"/>
          <p:cNvSpPr/>
          <p:nvPr/>
        </p:nvSpPr>
        <p:spPr>
          <a:xfrm>
            <a:off x="8846798" y="6857979"/>
            <a:ext cx="2743192" cy="1124893"/>
          </a:xfrm>
          <a:prstGeom prst="roundRect">
            <a:avLst>
              <a:gd name="adj" fmla="val 8552"/>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35" name="Text 32"/>
          <p:cNvSpPr/>
          <p:nvPr/>
        </p:nvSpPr>
        <p:spPr>
          <a:xfrm>
            <a:off x="8805650" y="7283276"/>
            <a:ext cx="2825487" cy="312399"/>
          </a:xfrm>
          <a:prstGeom prst="rect">
            <a:avLst/>
          </a:prstGeom>
          <a:noFill/>
          <a:ln/>
        </p:spPr>
        <p:txBody>
          <a:bodyPr wrap="square" lIns="25400" tIns="25400" rIns="25400" bIns="25400" rtlCol="0" anchor="t">
            <a:normAutofit/>
          </a:bodyPr>
          <a:lstStyle/>
          <a:p>
            <a:pPr marL="0" indent="0" algn="ctr">
              <a:lnSpc>
                <a:spcPct val="92160"/>
              </a:lnSpc>
              <a:buNone/>
            </a:pPr>
            <a:r>
              <a:rPr lang="en-US" sz="1800" b="1" dirty="0">
                <a:solidFill>
                  <a:srgbClr val="FFFFFF"/>
                </a:solidFill>
                <a:latin typeface="Menlo" pitchFamily="34" charset="0"/>
                <a:ea typeface="Menlo" pitchFamily="34" charset="-122"/>
                <a:cs typeface="Menlo" pitchFamily="34" charset="-120"/>
              </a:rPr>
              <a:t>dispatch_tools</a:t>
            </a:r>
            <a:endParaRPr lang="en-US" sz="1800" dirty="0"/>
          </a:p>
        </p:txBody>
      </p:sp>
      <p:sp>
        <p:nvSpPr>
          <p:cNvPr id="36" name="Text 33"/>
          <p:cNvSpPr/>
          <p:nvPr/>
        </p:nvSpPr>
        <p:spPr>
          <a:xfrm>
            <a:off x="11795714" y="7282760"/>
            <a:ext cx="1310595"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ACT</a:t>
            </a:r>
            <a:endParaRPr lang="en-US" sz="1800" dirty="0"/>
          </a:p>
        </p:txBody>
      </p:sp>
      <p:sp>
        <p:nvSpPr>
          <p:cNvPr id="37" name="Shape 34"/>
          <p:cNvSpPr/>
          <p:nvPr/>
        </p:nvSpPr>
        <p:spPr>
          <a:xfrm rot="5400000">
            <a:off x="10001436" y="8175366"/>
            <a:ext cx="409575" cy="26458"/>
          </a:xfrm>
          <a:prstGeom prst="rect">
            <a:avLst/>
          </a:prstGeom>
          <a:solidFill>
            <a:srgbClr val="FD6953"/>
          </a:solidFill>
          <a:ln/>
        </p:spPr>
        <p:txBody>
          <a:bodyPr/>
          <a:lstStyle/>
          <a:p>
            <a:endParaRPr lang="en-US"/>
          </a:p>
        </p:txBody>
      </p:sp>
      <p:sp>
        <p:nvSpPr>
          <p:cNvPr id="38" name="Shape 35"/>
          <p:cNvSpPr/>
          <p:nvPr/>
        </p:nvSpPr>
        <p:spPr>
          <a:xfrm>
            <a:off x="4149049" y="8394371"/>
            <a:ext cx="6069293" cy="26458"/>
          </a:xfrm>
          <a:prstGeom prst="rect">
            <a:avLst/>
          </a:prstGeom>
          <a:solidFill>
            <a:srgbClr val="FD6953"/>
          </a:solidFill>
          <a:ln/>
        </p:spPr>
        <p:txBody>
          <a:bodyPr/>
          <a:lstStyle/>
          <a:p>
            <a:endParaRPr lang="en-US"/>
          </a:p>
        </p:txBody>
      </p:sp>
      <p:sp>
        <p:nvSpPr>
          <p:cNvPr id="39" name="Shape 36"/>
          <p:cNvSpPr/>
          <p:nvPr/>
        </p:nvSpPr>
        <p:spPr>
          <a:xfrm rot="5400000">
            <a:off x="2629795" y="6838058"/>
            <a:ext cx="3086100" cy="26458"/>
          </a:xfrm>
          <a:prstGeom prst="rect">
            <a:avLst/>
          </a:prstGeom>
          <a:solidFill>
            <a:srgbClr val="FD6953"/>
          </a:solidFill>
          <a:ln/>
        </p:spPr>
        <p:txBody>
          <a:bodyPr/>
          <a:lstStyle/>
          <a:p>
            <a:endParaRPr lang="en-US"/>
          </a:p>
        </p:txBody>
      </p:sp>
      <p:sp>
        <p:nvSpPr>
          <p:cNvPr id="40" name="Shape 37"/>
          <p:cNvSpPr/>
          <p:nvPr/>
        </p:nvSpPr>
        <p:spPr>
          <a:xfrm rot="5400000">
            <a:off x="4095719" y="5291056"/>
            <a:ext cx="125677" cy="161925"/>
          </a:xfrm>
          <a:prstGeom prst="rect">
            <a:avLst/>
          </a:prstGeom>
          <a:solidFill>
            <a:srgbClr val="FD6953"/>
          </a:solidFill>
          <a:ln/>
        </p:spPr>
        <p:txBody>
          <a:bodyPr/>
          <a:lstStyle/>
          <a:p>
            <a:endParaRPr lang="en-US"/>
          </a:p>
        </p:txBody>
      </p:sp>
      <p:sp>
        <p:nvSpPr>
          <p:cNvPr id="41" name="Text 38"/>
          <p:cNvSpPr/>
          <p:nvPr/>
        </p:nvSpPr>
        <p:spPr>
          <a:xfrm>
            <a:off x="2674617" y="8498137"/>
            <a:ext cx="11315665"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i="1" dirty="0">
                <a:solidFill>
                  <a:srgbClr val="C3D7DC"/>
                </a:solidFill>
                <a:latin typeface="Oracle Sans Tab" pitchFamily="34" charset="0"/>
                <a:ea typeface="Oracle Sans Tab" pitchFamily="34" charset="-122"/>
                <a:cs typeface="Oracle Sans Tab" pitchFamily="34" charset="-120"/>
              </a:rPr>
              <a:t>tool results re-enter context · loops under an iteration + wall-clock budget</a:t>
            </a:r>
            <a:endParaRPr lang="en-US" sz="1425" dirty="0"/>
          </a:p>
        </p:txBody>
      </p:sp>
      <p:sp>
        <p:nvSpPr>
          <p:cNvPr id="42" name="Shape 39"/>
          <p:cNvSpPr/>
          <p:nvPr/>
        </p:nvSpPr>
        <p:spPr>
          <a:xfrm>
            <a:off x="960096" y="8846798"/>
            <a:ext cx="5181596" cy="850542"/>
          </a:xfrm>
          <a:prstGeom prst="roundRect">
            <a:avLst>
              <a:gd name="adj" fmla="val 11311"/>
            </a:avLst>
          </a:prstGeom>
          <a:solidFill>
            <a:srgbClr val="0B5060"/>
          </a:solidFill>
          <a:ln w="16536">
            <a:solidFill>
              <a:srgbClr val="E0836F"/>
            </a:solidFill>
            <a:prstDash val="solid"/>
          </a:ln>
        </p:spPr>
        <p:txBody>
          <a:bodyPr/>
          <a:lstStyle/>
          <a:p>
            <a:endParaRPr lang="en-US"/>
          </a:p>
        </p:txBody>
      </p:sp>
      <p:sp>
        <p:nvSpPr>
          <p:cNvPr id="43" name="Text 40"/>
          <p:cNvSpPr/>
          <p:nvPr/>
        </p:nvSpPr>
        <p:spPr>
          <a:xfrm>
            <a:off x="1234395" y="9181558"/>
            <a:ext cx="5096242" cy="219071"/>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425" b="1" dirty="0">
                <a:solidFill>
                  <a:srgbClr val="FD6953"/>
                </a:solidFill>
                <a:latin typeface="Oracle Sans Tab" pitchFamily="34" charset="0"/>
                <a:ea typeface="Oracle Sans Tab" pitchFamily="34" charset="-122"/>
                <a:cs typeface="Oracle Sans Tab" pitchFamily="34" charset="-120"/>
              </a:rPr>
              <a:t>Dynamic recall </a:t>
            </a:r>
            <a:r>
              <a:rPr lang="en-US" sz="1425" dirty="0">
                <a:solidFill>
                  <a:srgbClr val="FFFFFF"/>
                </a:solidFill>
                <a:latin typeface="Oracle Sans Tab" pitchFamily="34" charset="0"/>
                <a:ea typeface="Oracle Sans Tab" pitchFamily="34" charset="-122"/>
                <a:cs typeface="Oracle Sans Tab" pitchFamily="34" charset="-120"/>
              </a:rPr>
              <a:t>skills + recipes pulled in every turn</a:t>
            </a:r>
            <a:endParaRPr lang="en-US" sz="1200" dirty="0"/>
          </a:p>
        </p:txBody>
      </p:sp>
      <p:sp>
        <p:nvSpPr>
          <p:cNvPr id="44" name="Shape 41"/>
          <p:cNvSpPr/>
          <p:nvPr/>
        </p:nvSpPr>
        <p:spPr>
          <a:xfrm>
            <a:off x="6553191" y="8846798"/>
            <a:ext cx="5181596" cy="850542"/>
          </a:xfrm>
          <a:prstGeom prst="roundRect">
            <a:avLst>
              <a:gd name="adj" fmla="val 11311"/>
            </a:avLst>
          </a:prstGeom>
          <a:solidFill>
            <a:srgbClr val="0B5060"/>
          </a:solidFill>
          <a:ln w="16536">
            <a:solidFill>
              <a:srgbClr val="E0836F"/>
            </a:solidFill>
            <a:prstDash val="solid"/>
          </a:ln>
        </p:spPr>
        <p:txBody>
          <a:bodyPr/>
          <a:lstStyle/>
          <a:p>
            <a:endParaRPr lang="en-US"/>
          </a:p>
        </p:txBody>
      </p:sp>
      <p:sp>
        <p:nvSpPr>
          <p:cNvPr id="45" name="Text 42"/>
          <p:cNvSpPr/>
          <p:nvPr/>
        </p:nvSpPr>
        <p:spPr>
          <a:xfrm>
            <a:off x="6827490" y="9181558"/>
            <a:ext cx="5096242" cy="219071"/>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425" b="1" dirty="0">
                <a:solidFill>
                  <a:srgbClr val="FD6953"/>
                </a:solidFill>
                <a:latin typeface="Oracle Sans Tab" pitchFamily="34" charset="0"/>
                <a:ea typeface="Oracle Sans Tab" pitchFamily="34" charset="-122"/>
                <a:cs typeface="Oracle Sans Tab" pitchFamily="34" charset="-120"/>
              </a:rPr>
              <a:t>Failure recovery </a:t>
            </a:r>
            <a:r>
              <a:rPr lang="en-US" sz="1425" dirty="0">
                <a:solidFill>
                  <a:srgbClr val="FFFFFF"/>
                </a:solidFill>
                <a:latin typeface="Oracle Sans Tab" pitchFamily="34" charset="0"/>
                <a:ea typeface="Oracle Sans Tab" pitchFamily="34" charset="-122"/>
                <a:cs typeface="Oracle Sans Tab" pitchFamily="34" charset="-120"/>
              </a:rPr>
              <a:t>transient errors retried, not fatal</a:t>
            </a:r>
            <a:endParaRPr lang="en-US" sz="1200" dirty="0"/>
          </a:p>
        </p:txBody>
      </p:sp>
      <p:sp>
        <p:nvSpPr>
          <p:cNvPr id="46" name="Shape 43"/>
          <p:cNvSpPr/>
          <p:nvPr/>
        </p:nvSpPr>
        <p:spPr>
          <a:xfrm>
            <a:off x="12146235" y="8846798"/>
            <a:ext cx="5181596" cy="850542"/>
          </a:xfrm>
          <a:prstGeom prst="roundRect">
            <a:avLst>
              <a:gd name="adj" fmla="val 11311"/>
            </a:avLst>
          </a:prstGeom>
          <a:solidFill>
            <a:srgbClr val="0B5060"/>
          </a:solidFill>
          <a:ln w="16536">
            <a:solidFill>
              <a:srgbClr val="E0836F"/>
            </a:solidFill>
            <a:prstDash val="solid"/>
          </a:ln>
        </p:spPr>
        <p:txBody>
          <a:bodyPr/>
          <a:lstStyle/>
          <a:p>
            <a:endParaRPr lang="en-US"/>
          </a:p>
        </p:txBody>
      </p:sp>
      <p:sp>
        <p:nvSpPr>
          <p:cNvPr id="47" name="Text 44"/>
          <p:cNvSpPr/>
          <p:nvPr/>
        </p:nvSpPr>
        <p:spPr>
          <a:xfrm>
            <a:off x="12420585" y="9181558"/>
            <a:ext cx="5096242" cy="219071"/>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425" b="1" dirty="0">
                <a:solidFill>
                  <a:srgbClr val="FD6953"/>
                </a:solidFill>
                <a:latin typeface="Oracle Sans Tab" pitchFamily="34" charset="0"/>
                <a:ea typeface="Oracle Sans Tab" pitchFamily="34" charset="-122"/>
                <a:cs typeface="Oracle Sans Tab" pitchFamily="34" charset="-120"/>
              </a:rPr>
              <a:t>Human gate </a:t>
            </a:r>
            <a:r>
              <a:rPr lang="en-US" sz="1425" dirty="0">
                <a:solidFill>
                  <a:srgbClr val="FFFFFF"/>
                </a:solidFill>
                <a:latin typeface="Oracle Sans Tab" pitchFamily="34" charset="0"/>
                <a:ea typeface="Oracle Sans Tab" pitchFamily="34" charset="-122"/>
                <a:cs typeface="Oracle Sans Tab" pitchFamily="34" charset="-120"/>
              </a:rPr>
              <a:t>side-effecting tools need approval</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CONTEXT ENGINEERING</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TOOLS AS SEARCHABLE MEMORY</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THE TOOLBOX PATTERN</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Only the tools that </a:t>
            </a:r>
            <a:r>
              <a:rPr lang="en-US" sz="4500" b="1" i="1" dirty="0">
                <a:solidFill>
                  <a:srgbClr val="FD6953"/>
                </a:solidFill>
                <a:latin typeface="Oracle Sans Tab" pitchFamily="34" charset="0"/>
                <a:ea typeface="Oracle Sans Tab" pitchFamily="34" charset="-122"/>
                <a:cs typeface="Oracle Sans Tab" pitchFamily="34" charset="-120"/>
              </a:rPr>
              <a:t>fit the turn.</a:t>
            </a:r>
            <a:endParaRPr lang="en-US" sz="1200" dirty="0"/>
          </a:p>
        </p:txBody>
      </p:sp>
      <p:sp>
        <p:nvSpPr>
          <p:cNvPr id="8" name="Text 5"/>
          <p:cNvSpPr/>
          <p:nvPr/>
        </p:nvSpPr>
        <p:spPr>
          <a:xfrm>
            <a:off x="960096" y="3594716"/>
            <a:ext cx="9052533"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FD6953"/>
                </a:solidFill>
                <a:latin typeface="Oracle Sans Tab" pitchFamily="34" charset="0"/>
                <a:ea typeface="Oracle Sans Tab" pitchFamily="34" charset="-122"/>
                <a:cs typeface="Oracle Sans Tab" pitchFamily="34" charset="-120"/>
              </a:rPr>
              <a:t>WRITE PATH, REGISTER A TOOL</a:t>
            </a:r>
            <a:endParaRPr lang="en-US" sz="1425" dirty="0"/>
          </a:p>
        </p:txBody>
      </p:sp>
      <p:sp>
        <p:nvSpPr>
          <p:cNvPr id="9" name="Shape 6"/>
          <p:cNvSpPr/>
          <p:nvPr/>
        </p:nvSpPr>
        <p:spPr>
          <a:xfrm>
            <a:off x="960096" y="3949991"/>
            <a:ext cx="3497564" cy="1262042"/>
          </a:xfrm>
          <a:prstGeom prst="roundRect">
            <a:avLst>
              <a:gd name="adj" fmla="val 762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10" name="Image 1" descr="preencoded.png"/>
          <p:cNvPicPr>
            <a:picLocks noChangeAspect="1"/>
          </p:cNvPicPr>
          <p:nvPr/>
        </p:nvPicPr>
        <p:blipFill>
          <a:blip r:embed="rId4"/>
          <a:srcRect/>
          <a:stretch/>
        </p:blipFill>
        <p:spPr>
          <a:xfrm>
            <a:off x="2393601" y="4142383"/>
            <a:ext cx="630504" cy="630504"/>
          </a:xfrm>
          <a:prstGeom prst="rect">
            <a:avLst/>
          </a:prstGeom>
        </p:spPr>
      </p:pic>
      <p:sp>
        <p:nvSpPr>
          <p:cNvPr id="11" name="Text 7"/>
          <p:cNvSpPr/>
          <p:nvPr/>
        </p:nvSpPr>
        <p:spPr>
          <a:xfrm>
            <a:off x="905728" y="4800585"/>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Tool fn</a:t>
            </a:r>
            <a:endParaRPr lang="en-US" sz="1425" dirty="0"/>
          </a:p>
        </p:txBody>
      </p:sp>
      <p:sp>
        <p:nvSpPr>
          <p:cNvPr id="12" name="Text 8"/>
          <p:cNvSpPr/>
          <p:nvPr/>
        </p:nvSpPr>
        <p:spPr>
          <a:xfrm>
            <a:off x="905728" y="4972461"/>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 metadata</a:t>
            </a:r>
            <a:endParaRPr lang="en-US" sz="1425" dirty="0"/>
          </a:p>
        </p:txBody>
      </p:sp>
      <p:sp>
        <p:nvSpPr>
          <p:cNvPr id="13" name="Shape 9"/>
          <p:cNvSpPr/>
          <p:nvPr/>
        </p:nvSpPr>
        <p:spPr>
          <a:xfrm>
            <a:off x="4457660" y="4581477"/>
            <a:ext cx="383853" cy="26458"/>
          </a:xfrm>
          <a:prstGeom prst="rect">
            <a:avLst/>
          </a:prstGeom>
          <a:solidFill>
            <a:srgbClr val="FFFFFF">
              <a:alpha val="34000"/>
            </a:srgbClr>
          </a:solidFill>
          <a:ln/>
        </p:spPr>
        <p:txBody>
          <a:bodyPr/>
          <a:lstStyle/>
          <a:p>
            <a:endParaRPr lang="en-US"/>
          </a:p>
        </p:txBody>
      </p:sp>
      <p:sp>
        <p:nvSpPr>
          <p:cNvPr id="14" name="Shape 10"/>
          <p:cNvSpPr/>
          <p:nvPr/>
        </p:nvSpPr>
        <p:spPr>
          <a:xfrm>
            <a:off x="4715836" y="4498795"/>
            <a:ext cx="125677" cy="165365"/>
          </a:xfrm>
          <a:prstGeom prst="rect">
            <a:avLst/>
          </a:prstGeom>
          <a:solidFill>
            <a:srgbClr val="FFFFFF">
              <a:alpha val="34000"/>
            </a:srgbClr>
          </a:solidFill>
          <a:ln/>
        </p:spPr>
        <p:txBody>
          <a:bodyPr/>
          <a:lstStyle/>
          <a:p>
            <a:endParaRPr lang="en-US"/>
          </a:p>
        </p:txBody>
      </p:sp>
      <p:sp>
        <p:nvSpPr>
          <p:cNvPr id="15" name="Shape 11"/>
          <p:cNvSpPr/>
          <p:nvPr/>
        </p:nvSpPr>
        <p:spPr>
          <a:xfrm>
            <a:off x="4841513" y="3949991"/>
            <a:ext cx="3497564" cy="1262042"/>
          </a:xfrm>
          <a:prstGeom prst="roundRect">
            <a:avLst>
              <a:gd name="adj" fmla="val 762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16" name="Image 2" descr="preencoded.png"/>
          <p:cNvPicPr>
            <a:picLocks noChangeAspect="1"/>
          </p:cNvPicPr>
          <p:nvPr/>
        </p:nvPicPr>
        <p:blipFill>
          <a:blip r:embed="rId5"/>
          <a:srcRect/>
          <a:stretch/>
        </p:blipFill>
        <p:spPr>
          <a:xfrm>
            <a:off x="6275069" y="4056652"/>
            <a:ext cx="630504" cy="630504"/>
          </a:xfrm>
          <a:prstGeom prst="rect">
            <a:avLst/>
          </a:prstGeom>
        </p:spPr>
      </p:pic>
      <p:sp>
        <p:nvSpPr>
          <p:cNvPr id="17" name="Text 12"/>
          <p:cNvSpPr/>
          <p:nvPr/>
        </p:nvSpPr>
        <p:spPr>
          <a:xfrm>
            <a:off x="4787144" y="4714854"/>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Enrich</a:t>
            </a:r>
            <a:endParaRPr lang="en-US" sz="1425" dirty="0"/>
          </a:p>
        </p:txBody>
      </p:sp>
      <p:sp>
        <p:nvSpPr>
          <p:cNvPr id="18" name="Text 13"/>
          <p:cNvSpPr/>
          <p:nvPr/>
        </p:nvSpPr>
        <p:spPr>
          <a:xfrm>
            <a:off x="4787144" y="4886730"/>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syn · when · examples</a:t>
            </a:r>
            <a:endParaRPr lang="en-US" sz="1425" dirty="0"/>
          </a:p>
        </p:txBody>
      </p:sp>
      <p:sp>
        <p:nvSpPr>
          <p:cNvPr id="19" name="Shape 14"/>
          <p:cNvSpPr/>
          <p:nvPr/>
        </p:nvSpPr>
        <p:spPr>
          <a:xfrm>
            <a:off x="8339129" y="4581477"/>
            <a:ext cx="383853" cy="26458"/>
          </a:xfrm>
          <a:prstGeom prst="rect">
            <a:avLst/>
          </a:prstGeom>
          <a:solidFill>
            <a:srgbClr val="FFFFFF">
              <a:alpha val="34000"/>
            </a:srgbClr>
          </a:solidFill>
          <a:ln/>
        </p:spPr>
        <p:txBody>
          <a:bodyPr/>
          <a:lstStyle/>
          <a:p>
            <a:endParaRPr lang="en-US"/>
          </a:p>
        </p:txBody>
      </p:sp>
      <p:sp>
        <p:nvSpPr>
          <p:cNvPr id="20" name="Shape 15"/>
          <p:cNvSpPr/>
          <p:nvPr/>
        </p:nvSpPr>
        <p:spPr>
          <a:xfrm>
            <a:off x="8597304" y="4498795"/>
            <a:ext cx="125677" cy="165365"/>
          </a:xfrm>
          <a:prstGeom prst="rect">
            <a:avLst/>
          </a:prstGeom>
          <a:solidFill>
            <a:srgbClr val="FFFFFF">
              <a:alpha val="34000"/>
            </a:srgbClr>
          </a:solidFill>
          <a:ln/>
        </p:spPr>
        <p:txBody>
          <a:bodyPr/>
          <a:lstStyle/>
          <a:p>
            <a:endParaRPr lang="en-US"/>
          </a:p>
        </p:txBody>
      </p:sp>
      <p:sp>
        <p:nvSpPr>
          <p:cNvPr id="21" name="Shape 16"/>
          <p:cNvSpPr/>
          <p:nvPr/>
        </p:nvSpPr>
        <p:spPr>
          <a:xfrm>
            <a:off x="8722982" y="3949991"/>
            <a:ext cx="3497564" cy="1262042"/>
          </a:xfrm>
          <a:prstGeom prst="roundRect">
            <a:avLst>
              <a:gd name="adj" fmla="val 762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22" name="Image 3" descr="preencoded.png"/>
          <p:cNvPicPr>
            <a:picLocks noChangeAspect="1"/>
          </p:cNvPicPr>
          <p:nvPr/>
        </p:nvPicPr>
        <p:blipFill>
          <a:blip r:embed="rId6"/>
          <a:srcRect/>
          <a:stretch/>
        </p:blipFill>
        <p:spPr>
          <a:xfrm>
            <a:off x="10156486" y="4099543"/>
            <a:ext cx="630504" cy="630504"/>
          </a:xfrm>
          <a:prstGeom prst="rect">
            <a:avLst/>
          </a:prstGeom>
        </p:spPr>
      </p:pic>
      <p:sp>
        <p:nvSpPr>
          <p:cNvPr id="23" name="Text 17"/>
          <p:cNvSpPr/>
          <p:nvPr/>
        </p:nvSpPr>
        <p:spPr>
          <a:xfrm>
            <a:off x="8669543" y="4757694"/>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VECTOR_</a:t>
            </a:r>
            <a:endParaRPr lang="en-US" sz="1425" dirty="0"/>
          </a:p>
        </p:txBody>
      </p:sp>
      <p:sp>
        <p:nvSpPr>
          <p:cNvPr id="24" name="Text 18"/>
          <p:cNvSpPr/>
          <p:nvPr/>
        </p:nvSpPr>
        <p:spPr>
          <a:xfrm>
            <a:off x="8669543" y="4929569"/>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EMBEDDING</a:t>
            </a:r>
            <a:endParaRPr lang="en-US" sz="1425" dirty="0"/>
          </a:p>
        </p:txBody>
      </p:sp>
      <p:sp>
        <p:nvSpPr>
          <p:cNvPr id="25" name="Shape 19"/>
          <p:cNvSpPr/>
          <p:nvPr/>
        </p:nvSpPr>
        <p:spPr>
          <a:xfrm>
            <a:off x="12220546" y="4581477"/>
            <a:ext cx="383853" cy="26458"/>
          </a:xfrm>
          <a:prstGeom prst="rect">
            <a:avLst/>
          </a:prstGeom>
          <a:solidFill>
            <a:srgbClr val="FFFFFF">
              <a:alpha val="34000"/>
            </a:srgbClr>
          </a:solidFill>
          <a:ln/>
        </p:spPr>
        <p:txBody>
          <a:bodyPr/>
          <a:lstStyle/>
          <a:p>
            <a:endParaRPr lang="en-US"/>
          </a:p>
        </p:txBody>
      </p:sp>
      <p:sp>
        <p:nvSpPr>
          <p:cNvPr id="26" name="Shape 20"/>
          <p:cNvSpPr/>
          <p:nvPr/>
        </p:nvSpPr>
        <p:spPr>
          <a:xfrm>
            <a:off x="12478721" y="4498795"/>
            <a:ext cx="125677" cy="165365"/>
          </a:xfrm>
          <a:prstGeom prst="rect">
            <a:avLst/>
          </a:prstGeom>
          <a:solidFill>
            <a:srgbClr val="FFFFFF">
              <a:alpha val="34000"/>
            </a:srgbClr>
          </a:solidFill>
          <a:ln/>
        </p:spPr>
        <p:txBody>
          <a:bodyPr/>
          <a:lstStyle/>
          <a:p>
            <a:endParaRPr lang="en-US"/>
          </a:p>
        </p:txBody>
      </p:sp>
      <p:sp>
        <p:nvSpPr>
          <p:cNvPr id="27" name="Shape 21"/>
          <p:cNvSpPr/>
          <p:nvPr/>
        </p:nvSpPr>
        <p:spPr>
          <a:xfrm>
            <a:off x="12605379" y="3949991"/>
            <a:ext cx="3497564" cy="1262042"/>
          </a:xfrm>
          <a:prstGeom prst="roundRect">
            <a:avLst>
              <a:gd name="adj" fmla="val 7623"/>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pic>
        <p:nvPicPr>
          <p:cNvPr id="28" name="Image 4" descr="preencoded.png"/>
          <p:cNvPicPr>
            <a:picLocks noChangeAspect="1"/>
          </p:cNvPicPr>
          <p:nvPr/>
        </p:nvPicPr>
        <p:blipFill>
          <a:blip r:embed="rId7"/>
          <a:srcRect/>
          <a:stretch/>
        </p:blipFill>
        <p:spPr>
          <a:xfrm>
            <a:off x="14037902" y="4077632"/>
            <a:ext cx="630504" cy="630504"/>
          </a:xfrm>
          <a:prstGeom prst="rect">
            <a:avLst/>
          </a:prstGeom>
        </p:spPr>
      </p:pic>
      <p:sp>
        <p:nvSpPr>
          <p:cNvPr id="29" name="Text 22"/>
          <p:cNvSpPr/>
          <p:nvPr/>
        </p:nvSpPr>
        <p:spPr>
          <a:xfrm>
            <a:off x="12550959" y="4736765"/>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agent_tools</a:t>
            </a:r>
            <a:endParaRPr lang="en-US" sz="1425" dirty="0"/>
          </a:p>
        </p:txBody>
      </p:sp>
      <p:sp>
        <p:nvSpPr>
          <p:cNvPr id="30" name="Text 23"/>
          <p:cNvSpPr/>
          <p:nvPr/>
        </p:nvSpPr>
        <p:spPr>
          <a:xfrm>
            <a:off x="12550959" y="4908640"/>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(HNSW)</a:t>
            </a:r>
            <a:endParaRPr lang="en-US" sz="1425" dirty="0"/>
          </a:p>
        </p:txBody>
      </p:sp>
      <p:sp>
        <p:nvSpPr>
          <p:cNvPr id="31" name="Text 24"/>
          <p:cNvSpPr/>
          <p:nvPr/>
        </p:nvSpPr>
        <p:spPr>
          <a:xfrm>
            <a:off x="960096" y="5926408"/>
            <a:ext cx="9052533"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FD6953"/>
                </a:solidFill>
                <a:latin typeface="Oracle Sans Tab" pitchFamily="34" charset="0"/>
                <a:ea typeface="Oracle Sans Tab" pitchFamily="34" charset="-122"/>
                <a:cs typeface="Oracle Sans Tab" pitchFamily="34" charset="-120"/>
              </a:rPr>
              <a:t>READ PATH, EVERY USER TURN</a:t>
            </a:r>
            <a:endParaRPr lang="en-US" sz="1425" dirty="0"/>
          </a:p>
        </p:txBody>
      </p:sp>
      <p:sp>
        <p:nvSpPr>
          <p:cNvPr id="32" name="Shape 25"/>
          <p:cNvSpPr/>
          <p:nvPr/>
        </p:nvSpPr>
        <p:spPr>
          <a:xfrm>
            <a:off x="960096" y="6281735"/>
            <a:ext cx="3497564" cy="1262042"/>
          </a:xfrm>
          <a:prstGeom prst="roundRect">
            <a:avLst>
              <a:gd name="adj" fmla="val 762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33" name="Image 5" descr="preencoded.png"/>
          <p:cNvPicPr>
            <a:picLocks noChangeAspect="1"/>
          </p:cNvPicPr>
          <p:nvPr/>
        </p:nvPicPr>
        <p:blipFill>
          <a:blip r:embed="rId8"/>
          <a:srcRect/>
          <a:stretch/>
        </p:blipFill>
        <p:spPr>
          <a:xfrm>
            <a:off x="2393601" y="6474126"/>
            <a:ext cx="630504" cy="630504"/>
          </a:xfrm>
          <a:prstGeom prst="rect">
            <a:avLst/>
          </a:prstGeom>
        </p:spPr>
      </p:pic>
      <p:sp>
        <p:nvSpPr>
          <p:cNvPr id="34" name="Text 26"/>
          <p:cNvSpPr/>
          <p:nvPr/>
        </p:nvSpPr>
        <p:spPr>
          <a:xfrm>
            <a:off x="905728" y="7132277"/>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User turn</a:t>
            </a:r>
            <a:endParaRPr lang="en-US" sz="1425" dirty="0"/>
          </a:p>
        </p:txBody>
      </p:sp>
      <p:sp>
        <p:nvSpPr>
          <p:cNvPr id="35" name="Shape 27"/>
          <p:cNvSpPr/>
          <p:nvPr/>
        </p:nvSpPr>
        <p:spPr>
          <a:xfrm>
            <a:off x="4457660" y="6913221"/>
            <a:ext cx="383853" cy="26458"/>
          </a:xfrm>
          <a:prstGeom prst="rect">
            <a:avLst/>
          </a:prstGeom>
          <a:solidFill>
            <a:srgbClr val="FFFFFF">
              <a:alpha val="34000"/>
            </a:srgbClr>
          </a:solidFill>
          <a:ln/>
        </p:spPr>
        <p:txBody>
          <a:bodyPr/>
          <a:lstStyle/>
          <a:p>
            <a:endParaRPr lang="en-US"/>
          </a:p>
        </p:txBody>
      </p:sp>
      <p:sp>
        <p:nvSpPr>
          <p:cNvPr id="36" name="Shape 28"/>
          <p:cNvSpPr/>
          <p:nvPr/>
        </p:nvSpPr>
        <p:spPr>
          <a:xfrm>
            <a:off x="4715836" y="6830539"/>
            <a:ext cx="125677" cy="165365"/>
          </a:xfrm>
          <a:prstGeom prst="rect">
            <a:avLst/>
          </a:prstGeom>
          <a:solidFill>
            <a:srgbClr val="FFFFFF">
              <a:alpha val="34000"/>
            </a:srgbClr>
          </a:solidFill>
          <a:ln/>
        </p:spPr>
        <p:txBody>
          <a:bodyPr/>
          <a:lstStyle/>
          <a:p>
            <a:endParaRPr lang="en-US"/>
          </a:p>
        </p:txBody>
      </p:sp>
      <p:sp>
        <p:nvSpPr>
          <p:cNvPr id="37" name="Shape 29"/>
          <p:cNvSpPr/>
          <p:nvPr/>
        </p:nvSpPr>
        <p:spPr>
          <a:xfrm>
            <a:off x="4841513" y="6281735"/>
            <a:ext cx="3497564" cy="1262042"/>
          </a:xfrm>
          <a:prstGeom prst="roundRect">
            <a:avLst>
              <a:gd name="adj" fmla="val 762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38" name="Image 6" descr="preencoded.png"/>
          <p:cNvPicPr>
            <a:picLocks noChangeAspect="1"/>
          </p:cNvPicPr>
          <p:nvPr/>
        </p:nvPicPr>
        <p:blipFill>
          <a:blip r:embed="rId6"/>
          <a:srcRect/>
          <a:stretch/>
        </p:blipFill>
        <p:spPr>
          <a:xfrm>
            <a:off x="6275069" y="6409324"/>
            <a:ext cx="630504" cy="630504"/>
          </a:xfrm>
          <a:prstGeom prst="rect">
            <a:avLst/>
          </a:prstGeom>
        </p:spPr>
      </p:pic>
      <p:sp>
        <p:nvSpPr>
          <p:cNvPr id="39" name="Text 30"/>
          <p:cNvSpPr/>
          <p:nvPr/>
        </p:nvSpPr>
        <p:spPr>
          <a:xfrm>
            <a:off x="4787144" y="7068457"/>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Embed</a:t>
            </a:r>
            <a:endParaRPr lang="en-US" sz="1425" dirty="0"/>
          </a:p>
        </p:txBody>
      </p:sp>
      <p:sp>
        <p:nvSpPr>
          <p:cNvPr id="40" name="Text 31"/>
          <p:cNvSpPr/>
          <p:nvPr/>
        </p:nvSpPr>
        <p:spPr>
          <a:xfrm>
            <a:off x="4787144" y="7240333"/>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query</a:t>
            </a:r>
            <a:endParaRPr lang="en-US" sz="1425" dirty="0"/>
          </a:p>
        </p:txBody>
      </p:sp>
      <p:sp>
        <p:nvSpPr>
          <p:cNvPr id="41" name="Shape 32"/>
          <p:cNvSpPr/>
          <p:nvPr/>
        </p:nvSpPr>
        <p:spPr>
          <a:xfrm>
            <a:off x="8339129" y="6913221"/>
            <a:ext cx="383853" cy="26458"/>
          </a:xfrm>
          <a:prstGeom prst="rect">
            <a:avLst/>
          </a:prstGeom>
          <a:solidFill>
            <a:srgbClr val="FFFFFF">
              <a:alpha val="34000"/>
            </a:srgbClr>
          </a:solidFill>
          <a:ln/>
        </p:spPr>
        <p:txBody>
          <a:bodyPr/>
          <a:lstStyle/>
          <a:p>
            <a:endParaRPr lang="en-US"/>
          </a:p>
        </p:txBody>
      </p:sp>
      <p:sp>
        <p:nvSpPr>
          <p:cNvPr id="42" name="Shape 33"/>
          <p:cNvSpPr/>
          <p:nvPr/>
        </p:nvSpPr>
        <p:spPr>
          <a:xfrm>
            <a:off x="8597304" y="6830539"/>
            <a:ext cx="125677" cy="165365"/>
          </a:xfrm>
          <a:prstGeom prst="rect">
            <a:avLst/>
          </a:prstGeom>
          <a:solidFill>
            <a:srgbClr val="FFFFFF">
              <a:alpha val="34000"/>
            </a:srgbClr>
          </a:solidFill>
          <a:ln/>
        </p:spPr>
        <p:txBody>
          <a:bodyPr/>
          <a:lstStyle/>
          <a:p>
            <a:endParaRPr lang="en-US"/>
          </a:p>
        </p:txBody>
      </p:sp>
      <p:sp>
        <p:nvSpPr>
          <p:cNvPr id="43" name="Shape 34"/>
          <p:cNvSpPr/>
          <p:nvPr/>
        </p:nvSpPr>
        <p:spPr>
          <a:xfrm>
            <a:off x="8722982" y="6281735"/>
            <a:ext cx="3497564" cy="1262042"/>
          </a:xfrm>
          <a:prstGeom prst="roundRect">
            <a:avLst>
              <a:gd name="adj" fmla="val 762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44" name="Image 7" descr="preencoded.png"/>
          <p:cNvPicPr>
            <a:picLocks noChangeAspect="1"/>
          </p:cNvPicPr>
          <p:nvPr/>
        </p:nvPicPr>
        <p:blipFill>
          <a:blip r:embed="rId9"/>
          <a:srcRect/>
          <a:stretch/>
        </p:blipFill>
        <p:spPr>
          <a:xfrm>
            <a:off x="10156486" y="6409324"/>
            <a:ext cx="630504" cy="630504"/>
          </a:xfrm>
          <a:prstGeom prst="rect">
            <a:avLst/>
          </a:prstGeom>
        </p:spPr>
      </p:pic>
      <p:sp>
        <p:nvSpPr>
          <p:cNvPr id="45" name="Text 35"/>
          <p:cNvSpPr/>
          <p:nvPr/>
        </p:nvSpPr>
        <p:spPr>
          <a:xfrm>
            <a:off x="8669543" y="7068457"/>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Top-k by</a:t>
            </a:r>
            <a:endParaRPr lang="en-US" sz="1425" dirty="0"/>
          </a:p>
        </p:txBody>
      </p:sp>
      <p:sp>
        <p:nvSpPr>
          <p:cNvPr id="46" name="Text 36"/>
          <p:cNvSpPr/>
          <p:nvPr/>
        </p:nvSpPr>
        <p:spPr>
          <a:xfrm>
            <a:off x="8669543" y="7240333"/>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cosine</a:t>
            </a:r>
            <a:endParaRPr lang="en-US" sz="1425" dirty="0"/>
          </a:p>
        </p:txBody>
      </p:sp>
      <p:sp>
        <p:nvSpPr>
          <p:cNvPr id="47" name="Shape 37"/>
          <p:cNvSpPr/>
          <p:nvPr/>
        </p:nvSpPr>
        <p:spPr>
          <a:xfrm>
            <a:off x="12220546" y="6913221"/>
            <a:ext cx="383853" cy="26458"/>
          </a:xfrm>
          <a:prstGeom prst="rect">
            <a:avLst/>
          </a:prstGeom>
          <a:solidFill>
            <a:srgbClr val="FFFFFF">
              <a:alpha val="34000"/>
            </a:srgbClr>
          </a:solidFill>
          <a:ln/>
        </p:spPr>
        <p:txBody>
          <a:bodyPr/>
          <a:lstStyle/>
          <a:p>
            <a:endParaRPr lang="en-US"/>
          </a:p>
        </p:txBody>
      </p:sp>
      <p:sp>
        <p:nvSpPr>
          <p:cNvPr id="48" name="Shape 38"/>
          <p:cNvSpPr/>
          <p:nvPr/>
        </p:nvSpPr>
        <p:spPr>
          <a:xfrm>
            <a:off x="12478721" y="6830539"/>
            <a:ext cx="125677" cy="165365"/>
          </a:xfrm>
          <a:prstGeom prst="rect">
            <a:avLst/>
          </a:prstGeom>
          <a:solidFill>
            <a:srgbClr val="FFFFFF">
              <a:alpha val="34000"/>
            </a:srgbClr>
          </a:solidFill>
          <a:ln/>
        </p:spPr>
        <p:txBody>
          <a:bodyPr/>
          <a:lstStyle/>
          <a:p>
            <a:endParaRPr lang="en-US"/>
          </a:p>
        </p:txBody>
      </p:sp>
      <p:sp>
        <p:nvSpPr>
          <p:cNvPr id="49" name="Shape 39"/>
          <p:cNvSpPr/>
          <p:nvPr/>
        </p:nvSpPr>
        <p:spPr>
          <a:xfrm>
            <a:off x="12605379" y="6281735"/>
            <a:ext cx="3497564" cy="1262042"/>
          </a:xfrm>
          <a:prstGeom prst="roundRect">
            <a:avLst>
              <a:gd name="adj" fmla="val 7623"/>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pic>
        <p:nvPicPr>
          <p:cNvPr id="50" name="Image 8" descr="preencoded.png"/>
          <p:cNvPicPr>
            <a:picLocks noChangeAspect="1"/>
          </p:cNvPicPr>
          <p:nvPr/>
        </p:nvPicPr>
        <p:blipFill>
          <a:blip r:embed="rId4"/>
          <a:srcRect/>
          <a:stretch/>
        </p:blipFill>
        <p:spPr>
          <a:xfrm>
            <a:off x="14037902" y="6409324"/>
            <a:ext cx="630504" cy="630504"/>
          </a:xfrm>
          <a:prstGeom prst="rect">
            <a:avLst/>
          </a:prstGeom>
        </p:spPr>
      </p:pic>
      <p:sp>
        <p:nvSpPr>
          <p:cNvPr id="51" name="Text 40"/>
          <p:cNvSpPr/>
          <p:nvPr/>
        </p:nvSpPr>
        <p:spPr>
          <a:xfrm>
            <a:off x="12550959" y="7068457"/>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k tool schemas</a:t>
            </a:r>
            <a:endParaRPr lang="en-US" sz="1425" dirty="0"/>
          </a:p>
        </p:txBody>
      </p:sp>
      <p:sp>
        <p:nvSpPr>
          <p:cNvPr id="52" name="Text 41"/>
          <p:cNvSpPr/>
          <p:nvPr/>
        </p:nvSpPr>
        <p:spPr>
          <a:xfrm>
            <a:off x="12550959" y="7240333"/>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to the model</a:t>
            </a:r>
            <a:endParaRPr lang="en-US" sz="1425" dirty="0"/>
          </a:p>
        </p:txBody>
      </p:sp>
      <p:sp>
        <p:nvSpPr>
          <p:cNvPr id="53" name="Shape 42"/>
          <p:cNvSpPr/>
          <p:nvPr/>
        </p:nvSpPr>
        <p:spPr>
          <a:xfrm>
            <a:off x="960096" y="8023851"/>
            <a:ext cx="16367735" cy="1371596"/>
          </a:xfrm>
          <a:prstGeom prst="roundRect">
            <a:avLst>
              <a:gd name="adj" fmla="val 7014"/>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54" name="Text 43"/>
          <p:cNvSpPr/>
          <p:nvPr/>
        </p:nvSpPr>
        <p:spPr>
          <a:xfrm>
            <a:off x="1508745" y="8460465"/>
            <a:ext cx="15728550" cy="563029"/>
          </a:xfrm>
          <a:prstGeom prst="rect">
            <a:avLst/>
          </a:prstGeom>
          <a:noFill/>
          <a:ln/>
        </p:spPr>
        <p:txBody>
          <a:bodyPr wrap="square" lIns="25400" tIns="25400" rIns="25400" bIns="25400" rtlCol="0" anchor="t">
            <a:normAutofit/>
          </a:bodyPr>
          <a:lstStyle/>
          <a:p>
            <a:pPr marL="0" indent="0" algn="l">
              <a:lnSpc>
                <a:spcPct val="81408"/>
              </a:lnSpc>
              <a:buNone/>
            </a:pPr>
            <a:r>
              <a:rPr lang="en-US" sz="1950" b="1" dirty="0">
                <a:solidFill>
                  <a:srgbClr val="FD6953"/>
                </a:solidFill>
                <a:latin typeface="Oracle Sans Tab" pitchFamily="34" charset="0"/>
                <a:ea typeface="Oracle Sans Tab" pitchFamily="34" charset="-122"/>
                <a:cs typeface="Oracle Sans Tab" pitchFamily="34" charset="-120"/>
              </a:rPr>
              <a:t>The registry grows past 30 tools without bloating the prompt. </a:t>
            </a:r>
            <a:r>
              <a:rPr lang="en-US" sz="1950" dirty="0">
                <a:solidFill>
                  <a:srgbClr val="FFFFFF"/>
                </a:solidFill>
                <a:latin typeface="Oracle Sans Tab" pitchFamily="34" charset="0"/>
                <a:ea typeface="Oracle Sans Tab" pitchFamily="34" charset="-122"/>
                <a:cs typeface="Oracle Sans Tab" pitchFamily="34" charset="-120"/>
              </a:rPr>
              <a:t>Each tool is stored with an enriched document (synonyms, when-to-use, examples) and its embedding; the callable stays in Python, only the schema and vector live in the database.</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57254" y="616810"/>
            <a:ext cx="2795194" cy="299376"/>
          </a:xfrm>
          <a:prstGeom prst="rect">
            <a:avLst/>
          </a:prstGeom>
          <a:noFill/>
          <a:ln/>
        </p:spPr>
        <p:txBody>
          <a:bodyPr wrap="square" lIns="25400" tIns="25400" rIns="25400" bIns="25400" rtlCol="0" anchor="t">
            <a:normAutofit/>
          </a:bodyPr>
          <a:lstStyle/>
          <a:p>
            <a:pPr marL="0" indent="0" algn="l">
              <a:lnSpc>
                <a:spcPct val="91868"/>
              </a:lnSpc>
              <a:buNone/>
            </a:pPr>
            <a:r>
              <a:rPr lang="en-US" sz="1575" kern="0" spc="120" dirty="0">
                <a:solidFill>
                  <a:srgbClr val="FD6953"/>
                </a:solidFill>
                <a:latin typeface="Oracle Sans Tab" pitchFamily="34" charset="0"/>
                <a:ea typeface="Oracle Sans Tab" pitchFamily="34" charset="-122"/>
                <a:cs typeface="Oracle Sans Tab" pitchFamily="34" charset="-120"/>
              </a:rPr>
              <a:t>CONTEXT ENGINEERING</a:t>
            </a:r>
            <a:endParaRPr lang="en-US" sz="1575" dirty="0"/>
          </a:p>
        </p:txBody>
      </p:sp>
      <p:sp>
        <p:nvSpPr>
          <p:cNvPr id="4" name="Text 1"/>
          <p:cNvSpPr/>
          <p:nvPr/>
        </p:nvSpPr>
        <p:spPr>
          <a:xfrm>
            <a:off x="13942425" y="616810"/>
            <a:ext cx="3388248" cy="299376"/>
          </a:xfrm>
          <a:prstGeom prst="rect">
            <a:avLst/>
          </a:prstGeom>
          <a:noFill/>
          <a:ln/>
        </p:spPr>
        <p:txBody>
          <a:bodyPr wrap="square" lIns="25400" tIns="25400" rIns="25400" bIns="25400" rtlCol="0" anchor="t">
            <a:normAutofit/>
          </a:bodyPr>
          <a:lstStyle/>
          <a:p>
            <a:pPr marL="0" indent="0" algn="r">
              <a:lnSpc>
                <a:spcPct val="91868"/>
              </a:lnSpc>
              <a:buNone/>
            </a:pPr>
            <a:r>
              <a:rPr lang="en-US" sz="1575" kern="0" spc="120" dirty="0">
                <a:solidFill>
                  <a:srgbClr val="9FBBC3"/>
                </a:solidFill>
                <a:latin typeface="Oracle Sans Tab" pitchFamily="34" charset="0"/>
                <a:ea typeface="Oracle Sans Tab" pitchFamily="34" charset="-122"/>
                <a:cs typeface="Oracle Sans Tab" pitchFamily="34" charset="-120"/>
              </a:rPr>
              <a:t>MODEL CONTEXT PROTOCOL</a:t>
            </a:r>
            <a:endParaRPr lang="en-US" sz="1575" dirty="0"/>
          </a:p>
        </p:txBody>
      </p:sp>
      <p:sp>
        <p:nvSpPr>
          <p:cNvPr id="5" name="Shape 2"/>
          <p:cNvSpPr/>
          <p:nvPr/>
        </p:nvSpPr>
        <p:spPr>
          <a:xfrm>
            <a:off x="957254" y="1257288"/>
            <a:ext cx="571490" cy="42840"/>
          </a:xfrm>
          <a:prstGeom prst="rect">
            <a:avLst/>
          </a:prstGeom>
          <a:solidFill>
            <a:srgbClr val="C74634"/>
          </a:solidFill>
          <a:ln/>
        </p:spPr>
        <p:txBody>
          <a:bodyPr/>
          <a:lstStyle/>
          <a:p>
            <a:endParaRPr lang="en-US"/>
          </a:p>
        </p:txBody>
      </p:sp>
      <p:sp>
        <p:nvSpPr>
          <p:cNvPr id="6" name="Text 3"/>
          <p:cNvSpPr/>
          <p:nvPr/>
        </p:nvSpPr>
        <p:spPr>
          <a:xfrm>
            <a:off x="957254" y="1634422"/>
            <a:ext cx="10301288"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ORACLE MCP SERVERS</a:t>
            </a:r>
            <a:endParaRPr lang="en-US" sz="1800" dirty="0"/>
          </a:p>
        </p:txBody>
      </p:sp>
      <p:sp>
        <p:nvSpPr>
          <p:cNvPr id="7" name="Text 4"/>
          <p:cNvSpPr/>
          <p:nvPr/>
        </p:nvSpPr>
        <p:spPr>
          <a:xfrm>
            <a:off x="957254" y="2308297"/>
            <a:ext cx="18010817" cy="233230"/>
          </a:xfrm>
          <a:prstGeom prst="rect">
            <a:avLst/>
          </a:prstGeom>
          <a:noFill/>
          <a:ln/>
        </p:spPr>
        <p:txBody>
          <a:bodyPr wrap="square" lIns="25400" tIns="25400" rIns="25400" bIns="25400" rtlCol="0" anchor="t">
            <a:noAutofit/>
          </a:bodyPr>
          <a:lstStyle/>
          <a:p>
            <a:pPr marL="0" indent="0" algn="l">
              <a:buNone/>
            </a:pPr>
            <a:r>
              <a:rPr lang="en-US" sz="4000" b="1" dirty="0">
                <a:solidFill>
                  <a:srgbClr val="FFFFFF"/>
                </a:solidFill>
                <a:latin typeface="Oracle Sans Tab" pitchFamily="34" charset="0"/>
                <a:ea typeface="Oracle Sans Tab" pitchFamily="34" charset="-122"/>
                <a:cs typeface="Oracle Sans Tab" pitchFamily="34" charset="-120"/>
              </a:rPr>
              <a:t>Tools and MCP </a:t>
            </a:r>
            <a:r>
              <a:rPr lang="en-US" sz="4000" b="1" dirty="0">
                <a:solidFill>
                  <a:srgbClr val="FD6953"/>
                </a:solidFill>
                <a:latin typeface="Oracle Sans Tab" pitchFamily="34" charset="0"/>
                <a:ea typeface="Oracle Sans Tab" pitchFamily="34" charset="-122"/>
                <a:cs typeface="Oracle Sans Tab" pitchFamily="34" charset="-120"/>
              </a:rPr>
              <a:t>servers</a:t>
            </a:r>
            <a:endParaRPr lang="en-US" sz="4000" dirty="0"/>
          </a:p>
        </p:txBody>
      </p:sp>
      <p:sp>
        <p:nvSpPr>
          <p:cNvPr id="8" name="Shape 5"/>
          <p:cNvSpPr/>
          <p:nvPr/>
        </p:nvSpPr>
        <p:spPr>
          <a:xfrm>
            <a:off x="957254" y="3743285"/>
            <a:ext cx="16373470" cy="1014408"/>
          </a:xfrm>
          <a:prstGeom prst="roundRect">
            <a:avLst>
              <a:gd name="adj" fmla="val 19718"/>
            </a:avLst>
          </a:prstGeom>
          <a:solidFill>
            <a:srgbClr val="0B5060"/>
          </a:solidFill>
          <a:ln w="13229">
            <a:solidFill>
              <a:srgbClr val="FFFFFF">
                <a:alpha val="20000"/>
              </a:srgbClr>
            </a:solidFill>
            <a:prstDash val="solid"/>
          </a:ln>
        </p:spPr>
        <p:txBody>
          <a:bodyPr/>
          <a:lstStyle/>
          <a:p>
            <a:endParaRPr lang="en-US"/>
          </a:p>
        </p:txBody>
      </p:sp>
      <p:pic>
        <p:nvPicPr>
          <p:cNvPr id="9" name="Image 1" descr="preencoded.png"/>
          <p:cNvPicPr>
            <a:picLocks noChangeAspect="1"/>
          </p:cNvPicPr>
          <p:nvPr/>
        </p:nvPicPr>
        <p:blipFill>
          <a:blip r:embed="rId4"/>
          <a:srcRect/>
          <a:stretch/>
        </p:blipFill>
        <p:spPr>
          <a:xfrm>
            <a:off x="1443013" y="3971902"/>
            <a:ext cx="571490" cy="571490"/>
          </a:xfrm>
          <a:prstGeom prst="rect">
            <a:avLst/>
          </a:prstGeom>
        </p:spPr>
      </p:pic>
      <p:sp>
        <p:nvSpPr>
          <p:cNvPr id="10" name="Text 6"/>
          <p:cNvSpPr/>
          <p:nvPr/>
        </p:nvSpPr>
        <p:spPr>
          <a:xfrm>
            <a:off x="2300273" y="4070449"/>
            <a:ext cx="4120493" cy="398130"/>
          </a:xfrm>
          <a:prstGeom prst="rect">
            <a:avLst/>
          </a:prstGeom>
          <a:noFill/>
          <a:ln/>
        </p:spPr>
        <p:txBody>
          <a:bodyPr wrap="square" lIns="25400" tIns="25400" rIns="25400" bIns="25400" rtlCol="0" anchor="t">
            <a:normAutofit/>
          </a:bodyPr>
          <a:lstStyle/>
          <a:p>
            <a:pPr marL="0" indent="0" algn="l">
              <a:lnSpc>
                <a:spcPct val="92160"/>
              </a:lnSpc>
              <a:buNone/>
            </a:pPr>
            <a:r>
              <a:rPr lang="en-US" sz="2363" b="1" dirty="0">
                <a:solidFill>
                  <a:srgbClr val="FFFFFF"/>
                </a:solidFill>
                <a:latin typeface="Oracle Sans Tab" pitchFamily="34" charset="0"/>
                <a:ea typeface="Oracle Sans Tab" pitchFamily="34" charset="-122"/>
                <a:cs typeface="Oracle Sans Tab" pitchFamily="34" charset="-120"/>
              </a:rPr>
              <a:t>July 2026</a:t>
            </a:r>
            <a:endParaRPr lang="en-US" sz="2363" dirty="0"/>
          </a:p>
        </p:txBody>
      </p:sp>
      <p:sp>
        <p:nvSpPr>
          <p:cNvPr id="11" name="Text 7"/>
          <p:cNvSpPr/>
          <p:nvPr/>
        </p:nvSpPr>
        <p:spPr>
          <a:xfrm>
            <a:off x="6443638" y="4104762"/>
            <a:ext cx="7122587" cy="329555"/>
          </a:xfrm>
          <a:prstGeom prst="rect">
            <a:avLst/>
          </a:prstGeom>
          <a:noFill/>
          <a:ln/>
        </p:spPr>
        <p:txBody>
          <a:bodyPr wrap="square" lIns="25400" tIns="25400" rIns="25400" bIns="25400" rtlCol="0" anchor="t">
            <a:normAutofit/>
          </a:bodyPr>
          <a:lstStyle/>
          <a:p>
            <a:pPr marL="0" indent="0" algn="l">
              <a:lnSpc>
                <a:spcPct val="92160"/>
              </a:lnSpc>
              <a:buNone/>
            </a:pPr>
            <a:r>
              <a:rPr lang="en-US" sz="1913" dirty="0">
                <a:solidFill>
                  <a:srgbClr val="C3D7DC"/>
                </a:solidFill>
                <a:latin typeface="Oracle Sans Tab" pitchFamily="34" charset="0"/>
                <a:ea typeface="Oracle Sans Tab" pitchFamily="34" charset="-122"/>
                <a:cs typeface="Oracle Sans Tab" pitchFamily="34" charset="-120"/>
              </a:rPr>
              <a:t>Oracle's first MCP server, shipped in July</a:t>
            </a:r>
            <a:endParaRPr lang="en-US" sz="1913" dirty="0"/>
          </a:p>
        </p:txBody>
      </p:sp>
      <p:sp>
        <p:nvSpPr>
          <p:cNvPr id="12" name="Text 8"/>
          <p:cNvSpPr/>
          <p:nvPr/>
        </p:nvSpPr>
        <p:spPr>
          <a:xfrm>
            <a:off x="15484749" y="4117216"/>
            <a:ext cx="1360165" cy="299376"/>
          </a:xfrm>
          <a:prstGeom prst="rect">
            <a:avLst/>
          </a:prstGeom>
          <a:noFill/>
          <a:ln/>
        </p:spPr>
        <p:txBody>
          <a:bodyPr wrap="square" lIns="25400" tIns="25400" rIns="25400" bIns="25400" rtlCol="0" anchor="t">
            <a:normAutofit/>
          </a:bodyPr>
          <a:lstStyle/>
          <a:p>
            <a:pPr marL="0" indent="0" algn="r">
              <a:lnSpc>
                <a:spcPct val="91868"/>
              </a:lnSpc>
              <a:buNone/>
            </a:pPr>
            <a:r>
              <a:rPr lang="en-US" sz="1575" kern="0" spc="120" dirty="0">
                <a:solidFill>
                  <a:srgbClr val="9FBBC3"/>
                </a:solidFill>
                <a:latin typeface="Oracle Sans Tab" pitchFamily="34" charset="0"/>
                <a:ea typeface="Oracle Sans Tab" pitchFamily="34" charset="-122"/>
                <a:cs typeface="Oracle Sans Tab" pitchFamily="34" charset="-120"/>
              </a:rPr>
              <a:t>MILESTONE</a:t>
            </a:r>
            <a:endParaRPr lang="en-US" sz="1575" dirty="0"/>
          </a:p>
        </p:txBody>
      </p:sp>
      <p:sp>
        <p:nvSpPr>
          <p:cNvPr id="13" name="Shape 9"/>
          <p:cNvSpPr/>
          <p:nvPr/>
        </p:nvSpPr>
        <p:spPr>
          <a:xfrm>
            <a:off x="957254" y="4929156"/>
            <a:ext cx="16373470" cy="1014408"/>
          </a:xfrm>
          <a:prstGeom prst="roundRect">
            <a:avLst>
              <a:gd name="adj" fmla="val 19718"/>
            </a:avLst>
          </a:prstGeom>
          <a:solidFill>
            <a:srgbClr val="0B5060"/>
          </a:solidFill>
          <a:ln w="13229">
            <a:solidFill>
              <a:srgbClr val="FFFFFF">
                <a:alpha val="20000"/>
              </a:srgbClr>
            </a:solidFill>
            <a:prstDash val="solid"/>
          </a:ln>
        </p:spPr>
        <p:txBody>
          <a:bodyPr/>
          <a:lstStyle/>
          <a:p>
            <a:endParaRPr lang="en-US"/>
          </a:p>
        </p:txBody>
      </p:sp>
      <p:pic>
        <p:nvPicPr>
          <p:cNvPr id="14" name="Image 2" descr="preencoded.png"/>
          <p:cNvPicPr>
            <a:picLocks noChangeAspect="1"/>
          </p:cNvPicPr>
          <p:nvPr/>
        </p:nvPicPr>
        <p:blipFill>
          <a:blip r:embed="rId5"/>
          <a:srcRect/>
          <a:stretch/>
        </p:blipFill>
        <p:spPr>
          <a:xfrm>
            <a:off x="1443013" y="5157773"/>
            <a:ext cx="571490" cy="571490"/>
          </a:xfrm>
          <a:prstGeom prst="rect">
            <a:avLst/>
          </a:prstGeom>
        </p:spPr>
      </p:pic>
      <p:sp>
        <p:nvSpPr>
          <p:cNvPr id="15" name="Text 10"/>
          <p:cNvSpPr/>
          <p:nvPr/>
        </p:nvSpPr>
        <p:spPr>
          <a:xfrm>
            <a:off x="2300273" y="5256320"/>
            <a:ext cx="4120493" cy="398130"/>
          </a:xfrm>
          <a:prstGeom prst="rect">
            <a:avLst/>
          </a:prstGeom>
          <a:noFill/>
          <a:ln/>
        </p:spPr>
        <p:txBody>
          <a:bodyPr wrap="square" lIns="25400" tIns="25400" rIns="25400" bIns="25400" rtlCol="0" anchor="t">
            <a:normAutofit/>
          </a:bodyPr>
          <a:lstStyle/>
          <a:p>
            <a:pPr marL="0" indent="0" algn="l">
              <a:lnSpc>
                <a:spcPct val="92160"/>
              </a:lnSpc>
              <a:buNone/>
            </a:pPr>
            <a:r>
              <a:rPr lang="en-US" sz="2363" b="1" dirty="0">
                <a:solidFill>
                  <a:srgbClr val="FFFFFF"/>
                </a:solidFill>
                <a:latin typeface="Oracle Sans Tab" pitchFamily="34" charset="0"/>
                <a:ea typeface="Oracle Sans Tab" pitchFamily="34" charset="-122"/>
                <a:cs typeface="Oracle Sans Tab" pitchFamily="34" charset="-120"/>
              </a:rPr>
              <a:t>~30 sample servers</a:t>
            </a:r>
            <a:endParaRPr lang="en-US" sz="2363" dirty="0"/>
          </a:p>
        </p:txBody>
      </p:sp>
      <p:sp>
        <p:nvSpPr>
          <p:cNvPr id="16" name="Text 11"/>
          <p:cNvSpPr/>
          <p:nvPr/>
        </p:nvSpPr>
        <p:spPr>
          <a:xfrm>
            <a:off x="6443638" y="5290633"/>
            <a:ext cx="7122587" cy="329555"/>
          </a:xfrm>
          <a:prstGeom prst="rect">
            <a:avLst/>
          </a:prstGeom>
          <a:noFill/>
          <a:ln/>
        </p:spPr>
        <p:txBody>
          <a:bodyPr wrap="square" lIns="25400" tIns="25400" rIns="25400" bIns="25400" rtlCol="0" anchor="t">
            <a:normAutofit/>
          </a:bodyPr>
          <a:lstStyle/>
          <a:p>
            <a:pPr marL="0" indent="0" algn="l">
              <a:lnSpc>
                <a:spcPct val="92160"/>
              </a:lnSpc>
              <a:buNone/>
            </a:pPr>
            <a:r>
              <a:rPr lang="en-US" sz="1913" dirty="0">
                <a:solidFill>
                  <a:srgbClr val="C3D7DC"/>
                </a:solidFill>
                <a:latin typeface="Oracle Sans Tab" pitchFamily="34" charset="0"/>
                <a:ea typeface="Oracle Sans Tab" pitchFamily="34" charset="-122"/>
                <a:cs typeface="Oracle Sans Tab" pitchFamily="34" charset="-120"/>
              </a:rPr>
              <a:t>MySQL · HeatWave · JDBC · OCI cost, Terraform</a:t>
            </a:r>
            <a:endParaRPr lang="en-US" sz="1913" dirty="0"/>
          </a:p>
        </p:txBody>
      </p:sp>
      <p:sp>
        <p:nvSpPr>
          <p:cNvPr id="17" name="Text 12"/>
          <p:cNvSpPr/>
          <p:nvPr/>
        </p:nvSpPr>
        <p:spPr>
          <a:xfrm>
            <a:off x="15673070" y="5303087"/>
            <a:ext cx="1171844" cy="299376"/>
          </a:xfrm>
          <a:prstGeom prst="rect">
            <a:avLst/>
          </a:prstGeom>
          <a:noFill/>
          <a:ln/>
        </p:spPr>
        <p:txBody>
          <a:bodyPr wrap="square" lIns="25400" tIns="25400" rIns="25400" bIns="25400" rtlCol="0" anchor="t">
            <a:normAutofit/>
          </a:bodyPr>
          <a:lstStyle/>
          <a:p>
            <a:pPr marL="0" indent="0" algn="r">
              <a:lnSpc>
                <a:spcPct val="91868"/>
              </a:lnSpc>
              <a:buNone/>
            </a:pPr>
            <a:r>
              <a:rPr lang="en-US" sz="1575" kern="0" spc="120" dirty="0">
                <a:solidFill>
                  <a:srgbClr val="9FBBC3"/>
                </a:solidFill>
                <a:latin typeface="Oracle Sans Tab" pitchFamily="34" charset="0"/>
                <a:ea typeface="Oracle Sans Tab" pitchFamily="34" charset="-122"/>
                <a:cs typeface="Oracle Sans Tab" pitchFamily="34" charset="-120"/>
              </a:rPr>
              <a:t>ONE REPO</a:t>
            </a:r>
            <a:endParaRPr lang="en-US" sz="1575" dirty="0"/>
          </a:p>
        </p:txBody>
      </p:sp>
      <p:sp>
        <p:nvSpPr>
          <p:cNvPr id="18" name="Shape 13"/>
          <p:cNvSpPr/>
          <p:nvPr/>
        </p:nvSpPr>
        <p:spPr>
          <a:xfrm>
            <a:off x="957254" y="6115027"/>
            <a:ext cx="16373470" cy="1014408"/>
          </a:xfrm>
          <a:prstGeom prst="roundRect">
            <a:avLst>
              <a:gd name="adj" fmla="val 19718"/>
            </a:avLst>
          </a:prstGeom>
          <a:solidFill>
            <a:srgbClr val="0B5060"/>
          </a:solidFill>
          <a:ln w="13229">
            <a:solidFill>
              <a:srgbClr val="FFFFFF">
                <a:alpha val="20000"/>
              </a:srgbClr>
            </a:solidFill>
            <a:prstDash val="solid"/>
          </a:ln>
        </p:spPr>
        <p:txBody>
          <a:bodyPr/>
          <a:lstStyle/>
          <a:p>
            <a:endParaRPr lang="en-US"/>
          </a:p>
        </p:txBody>
      </p:sp>
      <p:pic>
        <p:nvPicPr>
          <p:cNvPr id="19" name="Image 3" descr="preencoded.png"/>
          <p:cNvPicPr>
            <a:picLocks noChangeAspect="1"/>
          </p:cNvPicPr>
          <p:nvPr/>
        </p:nvPicPr>
        <p:blipFill>
          <a:blip r:embed="rId6"/>
          <a:srcRect/>
          <a:stretch/>
        </p:blipFill>
        <p:spPr>
          <a:xfrm>
            <a:off x="1443013" y="6343644"/>
            <a:ext cx="571490" cy="571490"/>
          </a:xfrm>
          <a:prstGeom prst="rect">
            <a:avLst/>
          </a:prstGeom>
        </p:spPr>
      </p:pic>
      <p:sp>
        <p:nvSpPr>
          <p:cNvPr id="20" name="Text 14"/>
          <p:cNvSpPr/>
          <p:nvPr/>
        </p:nvSpPr>
        <p:spPr>
          <a:xfrm>
            <a:off x="2300273" y="6442190"/>
            <a:ext cx="4120493" cy="398130"/>
          </a:xfrm>
          <a:prstGeom prst="rect">
            <a:avLst/>
          </a:prstGeom>
          <a:noFill/>
          <a:ln/>
        </p:spPr>
        <p:txBody>
          <a:bodyPr wrap="square" lIns="25400" tIns="25400" rIns="25400" bIns="25400" rtlCol="0" anchor="t">
            <a:normAutofit/>
          </a:bodyPr>
          <a:lstStyle/>
          <a:p>
            <a:pPr marL="0" indent="0" algn="l">
              <a:lnSpc>
                <a:spcPct val="92160"/>
              </a:lnSpc>
              <a:buNone/>
            </a:pPr>
            <a:r>
              <a:rPr lang="en-US" sz="2363" b="1" dirty="0">
                <a:solidFill>
                  <a:srgbClr val="FFFFFF"/>
                </a:solidFill>
                <a:latin typeface="Oracle Sans Tab" pitchFamily="34" charset="0"/>
                <a:ea typeface="Oracle Sans Tab" pitchFamily="34" charset="-122"/>
                <a:cs typeface="Oracle Sans Tab" pitchFamily="34" charset="-120"/>
              </a:rPr>
              <a:t>Two server shapes</a:t>
            </a:r>
            <a:endParaRPr lang="en-US" sz="2363" dirty="0"/>
          </a:p>
        </p:txBody>
      </p:sp>
      <p:sp>
        <p:nvSpPr>
          <p:cNvPr id="21" name="Text 15"/>
          <p:cNvSpPr/>
          <p:nvPr/>
        </p:nvSpPr>
        <p:spPr>
          <a:xfrm>
            <a:off x="6443638" y="6476504"/>
            <a:ext cx="7122587" cy="329555"/>
          </a:xfrm>
          <a:prstGeom prst="rect">
            <a:avLst/>
          </a:prstGeom>
          <a:noFill/>
          <a:ln/>
        </p:spPr>
        <p:txBody>
          <a:bodyPr wrap="square" lIns="25400" tIns="25400" rIns="25400" bIns="25400" rtlCol="0" anchor="t">
            <a:normAutofit/>
          </a:bodyPr>
          <a:lstStyle/>
          <a:p>
            <a:pPr marL="0" indent="0" algn="l">
              <a:lnSpc>
                <a:spcPct val="92160"/>
              </a:lnSpc>
              <a:buNone/>
            </a:pPr>
            <a:r>
              <a:rPr lang="en-US" sz="1913" dirty="0">
                <a:solidFill>
                  <a:srgbClr val="C3D7DC"/>
                </a:solidFill>
                <a:latin typeface="Oracle Sans Tab" pitchFamily="34" charset="0"/>
                <a:ea typeface="Oracle Sans Tab" pitchFamily="34" charset="-122"/>
                <a:cs typeface="Oracle Sans Tab" pitchFamily="34" charset="-120"/>
              </a:rPr>
              <a:t>OCI-managed, or HTTPS streaming self-run</a:t>
            </a:r>
            <a:endParaRPr lang="en-US" sz="1913" dirty="0"/>
          </a:p>
        </p:txBody>
      </p:sp>
      <p:sp>
        <p:nvSpPr>
          <p:cNvPr id="22" name="Text 16"/>
          <p:cNvSpPr/>
          <p:nvPr/>
        </p:nvSpPr>
        <p:spPr>
          <a:xfrm>
            <a:off x="14606394" y="6505494"/>
            <a:ext cx="2238520" cy="269610"/>
          </a:xfrm>
          <a:prstGeom prst="rect">
            <a:avLst/>
          </a:prstGeom>
          <a:noFill/>
          <a:ln/>
        </p:spPr>
        <p:txBody>
          <a:bodyPr wrap="square" lIns="25400" tIns="25400" rIns="25400" bIns="25400" rtlCol="0" anchor="t">
            <a:normAutofit fontScale="92500" lnSpcReduction="10000"/>
          </a:bodyPr>
          <a:lstStyle/>
          <a:p>
            <a:pPr marL="0" indent="0" algn="r">
              <a:lnSpc>
                <a:spcPct val="103680"/>
              </a:lnSpc>
              <a:buNone/>
            </a:pPr>
            <a:r>
              <a:rPr lang="en-US" sz="1575" kern="0" spc="120" dirty="0">
                <a:solidFill>
                  <a:srgbClr val="9FBBC3"/>
                </a:solidFill>
                <a:latin typeface="Menlo" pitchFamily="34" charset="0"/>
                <a:ea typeface="Menlo" pitchFamily="34" charset="-122"/>
                <a:cs typeface="Menlo" pitchFamily="34" charset="-120"/>
              </a:rPr>
              <a:t>CLOUD &amp; ON-PREM</a:t>
            </a:r>
            <a:endParaRPr lang="en-US" sz="1575" dirty="0"/>
          </a:p>
        </p:txBody>
      </p:sp>
      <p:sp>
        <p:nvSpPr>
          <p:cNvPr id="23" name="Shape 17"/>
          <p:cNvSpPr/>
          <p:nvPr/>
        </p:nvSpPr>
        <p:spPr>
          <a:xfrm>
            <a:off x="957254" y="7300898"/>
            <a:ext cx="16373470" cy="1014408"/>
          </a:xfrm>
          <a:prstGeom prst="roundRect">
            <a:avLst>
              <a:gd name="adj" fmla="val 19718"/>
            </a:avLst>
          </a:prstGeom>
          <a:solidFill>
            <a:srgbClr val="0B5060"/>
          </a:solidFill>
          <a:ln w="19844">
            <a:solidFill>
              <a:srgbClr val="E0836F"/>
            </a:solidFill>
            <a:prstDash val="solid"/>
          </a:ln>
        </p:spPr>
        <p:txBody>
          <a:bodyPr/>
          <a:lstStyle/>
          <a:p>
            <a:endParaRPr lang="en-US"/>
          </a:p>
        </p:txBody>
      </p:sp>
      <p:pic>
        <p:nvPicPr>
          <p:cNvPr id="24" name="Image 4" descr="preencoded.png"/>
          <p:cNvPicPr>
            <a:picLocks noChangeAspect="1"/>
          </p:cNvPicPr>
          <p:nvPr/>
        </p:nvPicPr>
        <p:blipFill>
          <a:blip r:embed="rId7"/>
          <a:srcRect/>
          <a:stretch/>
        </p:blipFill>
        <p:spPr>
          <a:xfrm>
            <a:off x="1443013" y="7529463"/>
            <a:ext cx="571490" cy="571490"/>
          </a:xfrm>
          <a:prstGeom prst="rect">
            <a:avLst/>
          </a:prstGeom>
        </p:spPr>
      </p:pic>
      <p:sp>
        <p:nvSpPr>
          <p:cNvPr id="25" name="Text 18"/>
          <p:cNvSpPr/>
          <p:nvPr/>
        </p:nvSpPr>
        <p:spPr>
          <a:xfrm>
            <a:off x="2300273" y="7628061"/>
            <a:ext cx="4120493" cy="398130"/>
          </a:xfrm>
          <a:prstGeom prst="rect">
            <a:avLst/>
          </a:prstGeom>
          <a:noFill/>
          <a:ln/>
        </p:spPr>
        <p:txBody>
          <a:bodyPr wrap="square" lIns="25400" tIns="25400" rIns="25400" bIns="25400" rtlCol="0" anchor="t">
            <a:normAutofit/>
          </a:bodyPr>
          <a:lstStyle/>
          <a:p>
            <a:pPr marL="0" indent="0" algn="l">
              <a:lnSpc>
                <a:spcPct val="92160"/>
              </a:lnSpc>
              <a:buNone/>
            </a:pPr>
            <a:r>
              <a:rPr lang="en-US" sz="2363" b="1" dirty="0">
                <a:solidFill>
                  <a:srgbClr val="FD6953"/>
                </a:solidFill>
                <a:latin typeface="Oracle Sans Tab" pitchFamily="34" charset="0"/>
                <a:ea typeface="Oracle Sans Tab" pitchFamily="34" charset="-122"/>
                <a:cs typeface="Oracle Sans Tab" pitchFamily="34" charset="-120"/>
              </a:rPr>
              <a:t>Federated identity</a:t>
            </a:r>
            <a:endParaRPr lang="en-US" sz="2363" dirty="0"/>
          </a:p>
        </p:txBody>
      </p:sp>
      <p:sp>
        <p:nvSpPr>
          <p:cNvPr id="26" name="Text 19"/>
          <p:cNvSpPr/>
          <p:nvPr/>
        </p:nvSpPr>
        <p:spPr>
          <a:xfrm>
            <a:off x="6443638" y="7662374"/>
            <a:ext cx="7122587" cy="329555"/>
          </a:xfrm>
          <a:prstGeom prst="rect">
            <a:avLst/>
          </a:prstGeom>
          <a:noFill/>
          <a:ln/>
        </p:spPr>
        <p:txBody>
          <a:bodyPr wrap="square" lIns="25400" tIns="25400" rIns="25400" bIns="25400" rtlCol="0" anchor="t">
            <a:normAutofit/>
          </a:bodyPr>
          <a:lstStyle/>
          <a:p>
            <a:pPr marL="0" indent="0" algn="l">
              <a:lnSpc>
                <a:spcPct val="92160"/>
              </a:lnSpc>
              <a:buNone/>
            </a:pPr>
            <a:r>
              <a:rPr lang="en-US" sz="1913" dirty="0">
                <a:solidFill>
                  <a:srgbClr val="C3D7DC"/>
                </a:solidFill>
                <a:latin typeface="Oracle Sans Tab" pitchFamily="34" charset="0"/>
                <a:ea typeface="Oracle Sans Tab" pitchFamily="34" charset="-122"/>
                <a:cs typeface="Oracle Sans Tab" pitchFamily="34" charset="-120"/>
              </a:rPr>
              <a:t>OAuth 2 across Entra ID · Okta · Auth0</a:t>
            </a:r>
            <a:endParaRPr lang="en-US" sz="1913" dirty="0"/>
          </a:p>
        </p:txBody>
      </p:sp>
      <p:sp>
        <p:nvSpPr>
          <p:cNvPr id="27" name="Text 20"/>
          <p:cNvSpPr/>
          <p:nvPr/>
        </p:nvSpPr>
        <p:spPr>
          <a:xfrm>
            <a:off x="15125325" y="7674829"/>
            <a:ext cx="1719590" cy="299376"/>
          </a:xfrm>
          <a:prstGeom prst="rect">
            <a:avLst/>
          </a:prstGeom>
          <a:noFill/>
          <a:ln/>
        </p:spPr>
        <p:txBody>
          <a:bodyPr wrap="square" lIns="25400" tIns="25400" rIns="25400" bIns="25400" rtlCol="0" anchor="t">
            <a:normAutofit/>
          </a:bodyPr>
          <a:lstStyle/>
          <a:p>
            <a:pPr marL="0" indent="0" algn="r">
              <a:lnSpc>
                <a:spcPct val="91868"/>
              </a:lnSpc>
              <a:buNone/>
            </a:pPr>
            <a:r>
              <a:rPr lang="en-US" sz="1575" kern="0" spc="120" dirty="0">
                <a:solidFill>
                  <a:srgbClr val="FD6953"/>
                </a:solidFill>
                <a:latin typeface="Oracle Sans Tab" pitchFamily="34" charset="0"/>
                <a:ea typeface="Oracle Sans Tab" pitchFamily="34" charset="-122"/>
                <a:cs typeface="Oracle Sans Tab" pitchFamily="34" charset="-120"/>
              </a:rPr>
              <a:t>OCI-MANAGED</a:t>
            </a:r>
            <a:endParaRPr lang="en-US" sz="1575" dirty="0"/>
          </a:p>
        </p:txBody>
      </p:sp>
      <p:sp>
        <p:nvSpPr>
          <p:cNvPr id="28" name="Shape 21"/>
          <p:cNvSpPr/>
          <p:nvPr/>
        </p:nvSpPr>
        <p:spPr>
          <a:xfrm>
            <a:off x="957254" y="8486769"/>
            <a:ext cx="16373470" cy="1014408"/>
          </a:xfrm>
          <a:prstGeom prst="roundRect">
            <a:avLst>
              <a:gd name="adj" fmla="val 19718"/>
            </a:avLst>
          </a:prstGeom>
          <a:solidFill>
            <a:srgbClr val="0B5060"/>
          </a:solidFill>
          <a:ln w="19844">
            <a:solidFill>
              <a:srgbClr val="E0836F"/>
            </a:solidFill>
            <a:prstDash val="solid"/>
          </a:ln>
        </p:spPr>
        <p:txBody>
          <a:bodyPr/>
          <a:lstStyle/>
          <a:p>
            <a:endParaRPr lang="en-US"/>
          </a:p>
        </p:txBody>
      </p:sp>
      <p:pic>
        <p:nvPicPr>
          <p:cNvPr id="29" name="Image 5" descr="preencoded.png"/>
          <p:cNvPicPr>
            <a:picLocks noChangeAspect="1"/>
          </p:cNvPicPr>
          <p:nvPr/>
        </p:nvPicPr>
        <p:blipFill>
          <a:blip r:embed="rId8"/>
          <a:srcRect/>
          <a:stretch/>
        </p:blipFill>
        <p:spPr>
          <a:xfrm>
            <a:off x="1443013" y="8715333"/>
            <a:ext cx="571490" cy="571490"/>
          </a:xfrm>
          <a:prstGeom prst="rect">
            <a:avLst/>
          </a:prstGeom>
        </p:spPr>
      </p:pic>
      <p:sp>
        <p:nvSpPr>
          <p:cNvPr id="30" name="Text 22"/>
          <p:cNvSpPr/>
          <p:nvPr/>
        </p:nvSpPr>
        <p:spPr>
          <a:xfrm>
            <a:off x="2300273" y="8813932"/>
            <a:ext cx="4120493" cy="398130"/>
          </a:xfrm>
          <a:prstGeom prst="rect">
            <a:avLst/>
          </a:prstGeom>
          <a:noFill/>
          <a:ln/>
        </p:spPr>
        <p:txBody>
          <a:bodyPr wrap="square" lIns="25400" tIns="25400" rIns="25400" bIns="25400" rtlCol="0" anchor="t">
            <a:normAutofit/>
          </a:bodyPr>
          <a:lstStyle/>
          <a:p>
            <a:pPr marL="0" indent="0" algn="l">
              <a:lnSpc>
                <a:spcPct val="92160"/>
              </a:lnSpc>
              <a:buNone/>
            </a:pPr>
            <a:r>
              <a:rPr lang="en-US" sz="2363" b="1" dirty="0">
                <a:solidFill>
                  <a:srgbClr val="FD6953"/>
                </a:solidFill>
                <a:latin typeface="Oracle Sans Tab" pitchFamily="34" charset="0"/>
                <a:ea typeface="Oracle Sans Tab" pitchFamily="34" charset="-122"/>
                <a:cs typeface="Oracle Sans Tab" pitchFamily="34" charset="-120"/>
              </a:rPr>
              <a:t>Identity in the session</a:t>
            </a:r>
            <a:endParaRPr lang="en-US" sz="2363" dirty="0"/>
          </a:p>
        </p:txBody>
      </p:sp>
      <p:sp>
        <p:nvSpPr>
          <p:cNvPr id="31" name="Text 23"/>
          <p:cNvSpPr/>
          <p:nvPr/>
        </p:nvSpPr>
        <p:spPr>
          <a:xfrm>
            <a:off x="6443638" y="8848245"/>
            <a:ext cx="7122587" cy="329555"/>
          </a:xfrm>
          <a:prstGeom prst="rect">
            <a:avLst/>
          </a:prstGeom>
          <a:noFill/>
          <a:ln/>
        </p:spPr>
        <p:txBody>
          <a:bodyPr wrap="square" lIns="25400" tIns="25400" rIns="25400" bIns="25400" rtlCol="0" anchor="t">
            <a:normAutofit/>
          </a:bodyPr>
          <a:lstStyle/>
          <a:p>
            <a:pPr marL="0" indent="0" algn="l">
              <a:lnSpc>
                <a:spcPct val="92160"/>
              </a:lnSpc>
              <a:buNone/>
            </a:pPr>
            <a:r>
              <a:rPr lang="en-US" sz="1913" dirty="0">
                <a:solidFill>
                  <a:srgbClr val="C3D7DC"/>
                </a:solidFill>
                <a:latin typeface="Oracle Sans Tab" pitchFamily="34" charset="0"/>
                <a:ea typeface="Oracle Sans Tab" pitchFamily="34" charset="-122"/>
                <a:cs typeface="Oracle Sans Tab" pitchFamily="34" charset="-120"/>
              </a:rPr>
              <a:t>roles reach the session, redaction still applies</a:t>
            </a:r>
            <a:endParaRPr lang="en-US" sz="1913" dirty="0"/>
          </a:p>
        </p:txBody>
      </p:sp>
      <p:sp>
        <p:nvSpPr>
          <p:cNvPr id="32" name="Text 24"/>
          <p:cNvSpPr/>
          <p:nvPr/>
        </p:nvSpPr>
        <p:spPr>
          <a:xfrm>
            <a:off x="14333827" y="8860699"/>
            <a:ext cx="2511087" cy="299376"/>
          </a:xfrm>
          <a:prstGeom prst="rect">
            <a:avLst/>
          </a:prstGeom>
          <a:noFill/>
          <a:ln/>
        </p:spPr>
        <p:txBody>
          <a:bodyPr wrap="square" lIns="25400" tIns="25400" rIns="25400" bIns="25400" rtlCol="0" anchor="t">
            <a:normAutofit/>
          </a:bodyPr>
          <a:lstStyle/>
          <a:p>
            <a:pPr marL="0" indent="0" algn="r">
              <a:lnSpc>
                <a:spcPct val="91868"/>
              </a:lnSpc>
              <a:buNone/>
            </a:pPr>
            <a:r>
              <a:rPr lang="en-US" sz="1575" kern="0" spc="120" dirty="0">
                <a:solidFill>
                  <a:srgbClr val="FD6953"/>
                </a:solidFill>
                <a:latin typeface="Oracle Sans Tab" pitchFamily="34" charset="0"/>
                <a:ea typeface="Oracle Sans Tab" pitchFamily="34" charset="-122"/>
                <a:cs typeface="Oracle Sans Tab" pitchFamily="34" charset="-120"/>
              </a:rPr>
              <a:t>DEEP DATA SECURITY</a:t>
            </a:r>
            <a:endParaRPr lang="en-US" sz="1575" dirty="0"/>
          </a:p>
        </p:txBody>
      </p:sp>
      <p:sp>
        <p:nvSpPr>
          <p:cNvPr id="33" name="Text 25"/>
          <p:cNvSpPr/>
          <p:nvPr/>
        </p:nvSpPr>
        <p:spPr>
          <a:xfrm>
            <a:off x="957254" y="9652589"/>
            <a:ext cx="16864674" cy="363817"/>
          </a:xfrm>
          <a:prstGeom prst="rect">
            <a:avLst/>
          </a:prstGeom>
          <a:noFill/>
          <a:ln/>
        </p:spPr>
        <p:txBody>
          <a:bodyPr wrap="square" lIns="25400" tIns="25400" rIns="25400" bIns="25400" rtlCol="0" anchor="t">
            <a:normAutofit/>
          </a:bodyPr>
          <a:lstStyle/>
          <a:p>
            <a:pPr marL="0" indent="0" algn="l">
              <a:lnSpc>
                <a:spcPct val="92160"/>
              </a:lnSpc>
              <a:buNone/>
            </a:pPr>
            <a:r>
              <a:rPr lang="en-US" sz="2138" b="1" dirty="0">
                <a:solidFill>
                  <a:srgbClr val="FFFFFF"/>
                </a:solidFill>
                <a:latin typeface="Oracle Sans Tab" pitchFamily="34" charset="0"/>
                <a:ea typeface="Oracle Sans Tab" pitchFamily="34" charset="-122"/>
                <a:cs typeface="Oracle Sans Tab" pitchFamily="34" charset="-120"/>
              </a:rPr>
              <a:t>The agent is just another client — and it queries as a regular user (and inherits its roles &amp; permissions)</a:t>
            </a:r>
            <a:endParaRPr lang="en-US" sz="2138"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57254" y="616810"/>
            <a:ext cx="3388248" cy="299376"/>
          </a:xfrm>
          <a:prstGeom prst="rect">
            <a:avLst/>
          </a:prstGeom>
          <a:noFill/>
          <a:ln/>
        </p:spPr>
        <p:txBody>
          <a:bodyPr wrap="square" lIns="25400" tIns="25400" rIns="25400" bIns="25400" rtlCol="0" anchor="t">
            <a:normAutofit/>
          </a:bodyPr>
          <a:lstStyle/>
          <a:p>
            <a:pPr marL="0" indent="0" algn="l">
              <a:lnSpc>
                <a:spcPct val="91868"/>
              </a:lnSpc>
              <a:buNone/>
            </a:pPr>
            <a:r>
              <a:rPr lang="en-US" sz="1575" kern="0" spc="120" dirty="0">
                <a:solidFill>
                  <a:srgbClr val="FD6953"/>
                </a:solidFill>
                <a:latin typeface="Oracle Sans Tab" pitchFamily="34" charset="0"/>
                <a:ea typeface="Oracle Sans Tab" pitchFamily="34" charset="-122"/>
                <a:cs typeface="Oracle Sans Tab" pitchFamily="34" charset="-120"/>
              </a:rPr>
              <a:t>MODEL CONTEXT PROTOCOL</a:t>
            </a:r>
            <a:endParaRPr lang="en-US" sz="1575" dirty="0"/>
          </a:p>
        </p:txBody>
      </p:sp>
      <p:sp>
        <p:nvSpPr>
          <p:cNvPr id="4" name="Text 1"/>
          <p:cNvSpPr/>
          <p:nvPr/>
        </p:nvSpPr>
        <p:spPr>
          <a:xfrm>
            <a:off x="13850338" y="616810"/>
            <a:ext cx="3480335" cy="299376"/>
          </a:xfrm>
          <a:prstGeom prst="rect">
            <a:avLst/>
          </a:prstGeom>
          <a:noFill/>
          <a:ln/>
        </p:spPr>
        <p:txBody>
          <a:bodyPr wrap="square" lIns="25400" tIns="25400" rIns="25400" bIns="25400" rtlCol="0" anchor="t">
            <a:normAutofit/>
          </a:bodyPr>
          <a:lstStyle/>
          <a:p>
            <a:pPr marL="0" indent="0" algn="r">
              <a:lnSpc>
                <a:spcPct val="91868"/>
              </a:lnSpc>
              <a:buNone/>
            </a:pPr>
            <a:r>
              <a:rPr lang="en-US" sz="1575" kern="0" spc="120" dirty="0">
                <a:solidFill>
                  <a:srgbClr val="9FBBC3"/>
                </a:solidFill>
                <a:latin typeface="Oracle Sans Tab" pitchFamily="34" charset="0"/>
                <a:ea typeface="Oracle Sans Tab" pitchFamily="34" charset="-122"/>
                <a:cs typeface="Oracle Sans Tab" pitchFamily="34" charset="-120"/>
              </a:rPr>
              <a:t>TRUSTED REPORTS AS TOOLS</a:t>
            </a:r>
            <a:endParaRPr lang="en-US" sz="1575" dirty="0"/>
          </a:p>
        </p:txBody>
      </p:sp>
      <p:sp>
        <p:nvSpPr>
          <p:cNvPr id="5" name="Shape 2"/>
          <p:cNvSpPr/>
          <p:nvPr/>
        </p:nvSpPr>
        <p:spPr>
          <a:xfrm>
            <a:off x="957254" y="1257288"/>
            <a:ext cx="571490" cy="42840"/>
          </a:xfrm>
          <a:prstGeom prst="rect">
            <a:avLst/>
          </a:prstGeom>
          <a:solidFill>
            <a:srgbClr val="C74634"/>
          </a:solidFill>
          <a:ln/>
        </p:spPr>
        <p:txBody>
          <a:bodyPr/>
          <a:lstStyle/>
          <a:p>
            <a:endParaRPr lang="en-US"/>
          </a:p>
        </p:txBody>
      </p:sp>
      <p:sp>
        <p:nvSpPr>
          <p:cNvPr id="6" name="Text 3"/>
          <p:cNvSpPr/>
          <p:nvPr/>
        </p:nvSpPr>
        <p:spPr>
          <a:xfrm>
            <a:off x="957254" y="1448697"/>
            <a:ext cx="10301288"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REPORTS, NOT RAW SQL</a:t>
            </a:r>
            <a:endParaRPr lang="en-US" sz="1800" dirty="0"/>
          </a:p>
        </p:txBody>
      </p:sp>
      <p:sp>
        <p:nvSpPr>
          <p:cNvPr id="7" name="Text 4"/>
          <p:cNvSpPr/>
          <p:nvPr/>
        </p:nvSpPr>
        <p:spPr>
          <a:xfrm>
            <a:off x="957254" y="2037592"/>
            <a:ext cx="18010817" cy="743286"/>
          </a:xfrm>
          <a:prstGeom prst="rect">
            <a:avLst/>
          </a:prstGeom>
          <a:noFill/>
          <a:ln/>
        </p:spPr>
        <p:txBody>
          <a:bodyPr wrap="square" lIns="25400" tIns="25400" rIns="25400" bIns="25400" rtlCol="0" anchor="t">
            <a:noAutofit/>
          </a:bodyPr>
          <a:lstStyle/>
          <a:p>
            <a:pPr marL="0" indent="0" algn="l">
              <a:buNone/>
            </a:pPr>
            <a:r>
              <a:rPr lang="en-US" sz="4400" b="1" dirty="0">
                <a:solidFill>
                  <a:srgbClr val="FFFFFF"/>
                </a:solidFill>
                <a:latin typeface="Oracle Sans Tab" pitchFamily="34" charset="0"/>
                <a:ea typeface="Oracle Sans Tab" pitchFamily="34" charset="-122"/>
                <a:cs typeface="Oracle Sans Tab" pitchFamily="34" charset="-120"/>
              </a:rPr>
              <a:t>Let agents run reports, not queries</a:t>
            </a:r>
            <a:endParaRPr lang="en-US" sz="4400" dirty="0"/>
          </a:p>
        </p:txBody>
      </p:sp>
      <p:sp>
        <p:nvSpPr>
          <p:cNvPr id="8" name="Shape 5"/>
          <p:cNvSpPr/>
          <p:nvPr/>
        </p:nvSpPr>
        <p:spPr>
          <a:xfrm>
            <a:off x="957254" y="3886171"/>
            <a:ext cx="7886650" cy="3571875"/>
          </a:xfrm>
          <a:prstGeom prst="roundRect">
            <a:avLst>
              <a:gd name="adj" fmla="val 5600"/>
            </a:avLst>
          </a:prstGeom>
          <a:solidFill>
            <a:srgbClr val="0B5060"/>
          </a:solidFill>
          <a:ln w="13229">
            <a:solidFill>
              <a:srgbClr val="FFFFFF">
                <a:alpha val="20000"/>
              </a:srgbClr>
            </a:solidFill>
            <a:prstDash val="solid"/>
          </a:ln>
        </p:spPr>
        <p:txBody>
          <a:bodyPr/>
          <a:lstStyle/>
          <a:p>
            <a:endParaRPr lang="en-US"/>
          </a:p>
        </p:txBody>
      </p:sp>
      <p:sp>
        <p:nvSpPr>
          <p:cNvPr id="9" name="Text 6"/>
          <p:cNvSpPr/>
          <p:nvPr/>
        </p:nvSpPr>
        <p:spPr>
          <a:xfrm>
            <a:off x="1443013" y="4246666"/>
            <a:ext cx="3491306" cy="286147"/>
          </a:xfrm>
          <a:prstGeom prst="rect">
            <a:avLst/>
          </a:prstGeom>
          <a:noFill/>
          <a:ln/>
        </p:spPr>
        <p:txBody>
          <a:bodyPr wrap="square" lIns="25400" tIns="25400" rIns="25400" bIns="25400" rtlCol="0" anchor="t">
            <a:normAutofit fontScale="92500" lnSpcReduction="10000"/>
          </a:bodyPr>
          <a:lstStyle/>
          <a:p>
            <a:pPr marL="0" indent="0" algn="l">
              <a:lnSpc>
                <a:spcPct val="103680"/>
              </a:lnSpc>
              <a:buNone/>
            </a:pPr>
            <a:r>
              <a:rPr lang="en-US" sz="1688" kern="0" spc="120" dirty="0">
                <a:solidFill>
                  <a:srgbClr val="FD6953"/>
                </a:solidFill>
                <a:latin typeface="Menlo" pitchFamily="34" charset="0"/>
                <a:ea typeface="Menlo" pitchFamily="34" charset="-122"/>
                <a:cs typeface="Menlo" pitchFamily="34" charset="-120"/>
              </a:rPr>
              <a:t>NATURAL LANGUAGE → SQL</a:t>
            </a:r>
            <a:endParaRPr lang="en-US" sz="1688" dirty="0"/>
          </a:p>
        </p:txBody>
      </p:sp>
      <p:sp>
        <p:nvSpPr>
          <p:cNvPr id="10" name="Text 7"/>
          <p:cNvSpPr/>
          <p:nvPr/>
        </p:nvSpPr>
        <p:spPr>
          <a:xfrm>
            <a:off x="1443013" y="4814848"/>
            <a:ext cx="7122587"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A different query every time</a:t>
            </a:r>
            <a:endParaRPr lang="en-US" sz="2025" dirty="0"/>
          </a:p>
        </p:txBody>
      </p:sp>
      <p:sp>
        <p:nvSpPr>
          <p:cNvPr id="11" name="Text 8"/>
          <p:cNvSpPr/>
          <p:nvPr/>
        </p:nvSpPr>
        <p:spPr>
          <a:xfrm>
            <a:off x="1443013" y="5200613"/>
            <a:ext cx="7122587" cy="295242"/>
          </a:xfrm>
          <a:prstGeom prst="rect">
            <a:avLst/>
          </a:prstGeom>
          <a:noFill/>
          <a:ln/>
        </p:spPr>
        <p:txBody>
          <a:bodyPr wrap="square" lIns="25400" tIns="25400" rIns="25400" bIns="25400" rtlCol="0" anchor="t">
            <a:normAutofit/>
          </a:bodyPr>
          <a:lstStyle/>
          <a:p>
            <a:pPr marL="0" indent="0" algn="l">
              <a:lnSpc>
                <a:spcPct val="92160"/>
              </a:lnSpc>
              <a:buNone/>
            </a:pPr>
            <a:r>
              <a:rPr lang="en-US" sz="1688" dirty="0">
                <a:solidFill>
                  <a:srgbClr val="C3D7DC"/>
                </a:solidFill>
                <a:latin typeface="Oracle Sans Tab" pitchFamily="34" charset="0"/>
                <a:ea typeface="Oracle Sans Tab" pitchFamily="34" charset="-122"/>
                <a:cs typeface="Oracle Sans Tab" pitchFamily="34" charset="-120"/>
              </a:rPr>
              <a:t>the same question comes back as another statement</a:t>
            </a:r>
            <a:endParaRPr lang="en-US" sz="1688" dirty="0"/>
          </a:p>
        </p:txBody>
      </p:sp>
      <p:sp>
        <p:nvSpPr>
          <p:cNvPr id="12" name="Text 9"/>
          <p:cNvSpPr/>
          <p:nvPr/>
        </p:nvSpPr>
        <p:spPr>
          <a:xfrm>
            <a:off x="1443013" y="5686423"/>
            <a:ext cx="7122587"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Relationships get guessed</a:t>
            </a:r>
            <a:endParaRPr lang="en-US" sz="2025" dirty="0"/>
          </a:p>
        </p:txBody>
      </p:sp>
      <p:sp>
        <p:nvSpPr>
          <p:cNvPr id="13" name="Text 10"/>
          <p:cNvSpPr/>
          <p:nvPr/>
        </p:nvSpPr>
        <p:spPr>
          <a:xfrm>
            <a:off x="1443013" y="6072188"/>
            <a:ext cx="7122587" cy="295242"/>
          </a:xfrm>
          <a:prstGeom prst="rect">
            <a:avLst/>
          </a:prstGeom>
          <a:noFill/>
          <a:ln/>
        </p:spPr>
        <p:txBody>
          <a:bodyPr wrap="square" lIns="25400" tIns="25400" rIns="25400" bIns="25400" rtlCol="0" anchor="t">
            <a:normAutofit/>
          </a:bodyPr>
          <a:lstStyle/>
          <a:p>
            <a:pPr marL="0" indent="0" algn="l">
              <a:lnSpc>
                <a:spcPct val="92160"/>
              </a:lnSpc>
              <a:buNone/>
            </a:pPr>
            <a:r>
              <a:rPr lang="en-US" sz="1688" dirty="0">
                <a:solidFill>
                  <a:srgbClr val="C3D7DC"/>
                </a:solidFill>
                <a:latin typeface="Oracle Sans Tab" pitchFamily="34" charset="0"/>
                <a:ea typeface="Oracle Sans Tab" pitchFamily="34" charset="-122"/>
                <a:cs typeface="Oracle Sans Tab" pitchFamily="34" charset="-120"/>
              </a:rPr>
              <a:t>joins and grain are inferred from names, not known</a:t>
            </a:r>
            <a:endParaRPr lang="en-US" sz="1688" dirty="0"/>
          </a:p>
        </p:txBody>
      </p:sp>
      <p:sp>
        <p:nvSpPr>
          <p:cNvPr id="14" name="Text 11"/>
          <p:cNvSpPr/>
          <p:nvPr/>
        </p:nvSpPr>
        <p:spPr>
          <a:xfrm>
            <a:off x="1443013" y="6557946"/>
            <a:ext cx="7122587"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Prompt engineering as upkeep</a:t>
            </a:r>
            <a:endParaRPr lang="en-US" sz="2025" dirty="0"/>
          </a:p>
        </p:txBody>
      </p:sp>
      <p:sp>
        <p:nvSpPr>
          <p:cNvPr id="15" name="Text 12"/>
          <p:cNvSpPr/>
          <p:nvPr/>
        </p:nvSpPr>
        <p:spPr>
          <a:xfrm>
            <a:off x="1443013" y="6943710"/>
            <a:ext cx="7122587" cy="295242"/>
          </a:xfrm>
          <a:prstGeom prst="rect">
            <a:avLst/>
          </a:prstGeom>
          <a:noFill/>
          <a:ln/>
        </p:spPr>
        <p:txBody>
          <a:bodyPr wrap="square" lIns="25400" tIns="25400" rIns="25400" bIns="25400" rtlCol="0" anchor="t">
            <a:normAutofit/>
          </a:bodyPr>
          <a:lstStyle/>
          <a:p>
            <a:pPr marL="0" indent="0" algn="l">
              <a:lnSpc>
                <a:spcPct val="92160"/>
              </a:lnSpc>
              <a:buNone/>
            </a:pPr>
            <a:r>
              <a:rPr lang="en-US" sz="1688" dirty="0">
                <a:solidFill>
                  <a:srgbClr val="C3D7DC"/>
                </a:solidFill>
                <a:latin typeface="Oracle Sans Tab" pitchFamily="34" charset="0"/>
                <a:ea typeface="Oracle Sans Tab" pitchFamily="34" charset="-122"/>
                <a:cs typeface="Oracle Sans Tab" pitchFamily="34" charset="-120"/>
              </a:rPr>
              <a:t>every schema change becomes a prompt change</a:t>
            </a:r>
            <a:endParaRPr lang="en-US" sz="1688" dirty="0"/>
          </a:p>
        </p:txBody>
      </p:sp>
      <p:sp>
        <p:nvSpPr>
          <p:cNvPr id="16" name="Shape 13"/>
          <p:cNvSpPr/>
          <p:nvPr/>
        </p:nvSpPr>
        <p:spPr>
          <a:xfrm>
            <a:off x="9444022" y="3886171"/>
            <a:ext cx="7886650" cy="3571875"/>
          </a:xfrm>
          <a:prstGeom prst="roundRect">
            <a:avLst>
              <a:gd name="adj" fmla="val 5600"/>
            </a:avLst>
          </a:prstGeom>
          <a:solidFill>
            <a:srgbClr val="0B5060"/>
          </a:solidFill>
          <a:ln w="19844">
            <a:solidFill>
              <a:srgbClr val="E0836F"/>
            </a:solidFill>
            <a:prstDash val="solid"/>
          </a:ln>
        </p:spPr>
        <p:txBody>
          <a:bodyPr/>
          <a:lstStyle/>
          <a:p>
            <a:endParaRPr lang="en-US"/>
          </a:p>
        </p:txBody>
      </p:sp>
      <p:sp>
        <p:nvSpPr>
          <p:cNvPr id="17" name="Text 14"/>
          <p:cNvSpPr/>
          <p:nvPr/>
        </p:nvSpPr>
        <p:spPr>
          <a:xfrm>
            <a:off x="9929781" y="4230129"/>
            <a:ext cx="3700208" cy="315912"/>
          </a:xfrm>
          <a:prstGeom prst="rect">
            <a:avLst/>
          </a:prstGeom>
          <a:noFill/>
          <a:ln/>
        </p:spPr>
        <p:txBody>
          <a:bodyPr wrap="square" lIns="25400" tIns="25400" rIns="25400" bIns="25400" rtlCol="0" anchor="t">
            <a:normAutofit/>
          </a:bodyPr>
          <a:lstStyle/>
          <a:p>
            <a:pPr marL="0" indent="0" algn="l">
              <a:lnSpc>
                <a:spcPct val="92571"/>
              </a:lnSpc>
              <a:buNone/>
            </a:pPr>
            <a:r>
              <a:rPr lang="en-US" sz="1688" kern="0" spc="120" dirty="0">
                <a:solidFill>
                  <a:srgbClr val="FD6953"/>
                </a:solidFill>
                <a:latin typeface="Oracle Sans Tab" pitchFamily="34" charset="0"/>
                <a:ea typeface="Oracle Sans Tab" pitchFamily="34" charset="-122"/>
                <a:cs typeface="Oracle Sans Tab" pitchFamily="34" charset="-120"/>
              </a:rPr>
              <a:t>TRUSTED REPORTS AS TOOLS</a:t>
            </a:r>
            <a:endParaRPr lang="en-US" sz="1688" dirty="0"/>
          </a:p>
        </p:txBody>
      </p:sp>
      <p:sp>
        <p:nvSpPr>
          <p:cNvPr id="18" name="Text 15"/>
          <p:cNvSpPr/>
          <p:nvPr/>
        </p:nvSpPr>
        <p:spPr>
          <a:xfrm>
            <a:off x="9929781" y="4814848"/>
            <a:ext cx="7122587"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Upload what analysts wrote</a:t>
            </a:r>
            <a:endParaRPr lang="en-US" sz="2025" dirty="0"/>
          </a:p>
        </p:txBody>
      </p:sp>
      <p:sp>
        <p:nvSpPr>
          <p:cNvPr id="19" name="Text 16"/>
          <p:cNvSpPr/>
          <p:nvPr/>
        </p:nvSpPr>
        <p:spPr>
          <a:xfrm>
            <a:off x="9929781" y="5200613"/>
            <a:ext cx="7122587" cy="295242"/>
          </a:xfrm>
          <a:prstGeom prst="rect">
            <a:avLst/>
          </a:prstGeom>
          <a:noFill/>
          <a:ln/>
        </p:spPr>
        <p:txBody>
          <a:bodyPr wrap="square" lIns="25400" tIns="25400" rIns="25400" bIns="25400" rtlCol="0" anchor="t">
            <a:normAutofit/>
          </a:bodyPr>
          <a:lstStyle/>
          <a:p>
            <a:pPr marL="0" indent="0" algn="l">
              <a:lnSpc>
                <a:spcPct val="92160"/>
              </a:lnSpc>
              <a:buNone/>
            </a:pPr>
            <a:r>
              <a:rPr lang="en-US" sz="1688" dirty="0">
                <a:solidFill>
                  <a:srgbClr val="C3D7DC"/>
                </a:solidFill>
                <a:latin typeface="Oracle Sans Tab" pitchFamily="34" charset="0"/>
                <a:ea typeface="Oracle Sans Tab" pitchFamily="34" charset="-122"/>
                <a:cs typeface="Oracle Sans Tab" pitchFamily="34" charset="-120"/>
              </a:rPr>
              <a:t>existing reports, hard-coded queries and all</a:t>
            </a:r>
            <a:endParaRPr lang="en-US" sz="1688" dirty="0"/>
          </a:p>
        </p:txBody>
      </p:sp>
      <p:sp>
        <p:nvSpPr>
          <p:cNvPr id="20" name="Text 17"/>
          <p:cNvSpPr/>
          <p:nvPr/>
        </p:nvSpPr>
        <p:spPr>
          <a:xfrm>
            <a:off x="9929781" y="5686423"/>
            <a:ext cx="7122587"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The agent selects, then binds</a:t>
            </a:r>
            <a:endParaRPr lang="en-US" sz="2025" dirty="0"/>
          </a:p>
        </p:txBody>
      </p:sp>
      <p:sp>
        <p:nvSpPr>
          <p:cNvPr id="21" name="Text 18"/>
          <p:cNvSpPr/>
          <p:nvPr/>
        </p:nvSpPr>
        <p:spPr>
          <a:xfrm>
            <a:off x="9929781" y="6072188"/>
            <a:ext cx="7122587" cy="295242"/>
          </a:xfrm>
          <a:prstGeom prst="rect">
            <a:avLst/>
          </a:prstGeom>
          <a:noFill/>
          <a:ln/>
        </p:spPr>
        <p:txBody>
          <a:bodyPr wrap="square" lIns="25400" tIns="25400" rIns="25400" bIns="25400" rtlCol="0" anchor="t">
            <a:normAutofit/>
          </a:bodyPr>
          <a:lstStyle/>
          <a:p>
            <a:pPr marL="0" indent="0" algn="l">
              <a:lnSpc>
                <a:spcPct val="92160"/>
              </a:lnSpc>
              <a:buNone/>
            </a:pPr>
            <a:r>
              <a:rPr lang="en-US" sz="1688" dirty="0">
                <a:solidFill>
                  <a:srgbClr val="C3D7DC"/>
                </a:solidFill>
                <a:latin typeface="Oracle Sans Tab" pitchFamily="34" charset="0"/>
                <a:ea typeface="Oracle Sans Tab" pitchFamily="34" charset="-122"/>
                <a:cs typeface="Oracle Sans Tab" pitchFamily="34" charset="-120"/>
              </a:rPr>
              <a:t>pick the report, supply the inputs, run it</a:t>
            </a:r>
            <a:endParaRPr lang="en-US" sz="1688" dirty="0"/>
          </a:p>
        </p:txBody>
      </p:sp>
      <p:sp>
        <p:nvSpPr>
          <p:cNvPr id="22" name="Text 19"/>
          <p:cNvSpPr/>
          <p:nvPr/>
        </p:nvSpPr>
        <p:spPr>
          <a:xfrm>
            <a:off x="9929781" y="6557946"/>
            <a:ext cx="7122587"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FFFFF"/>
                </a:solidFill>
                <a:latin typeface="Oracle Sans Tab" pitchFamily="34" charset="0"/>
                <a:ea typeface="Oracle Sans Tab" pitchFamily="34" charset="-122"/>
                <a:cs typeface="Oracle Sans Tab" pitchFamily="34" charset="-120"/>
              </a:rPr>
              <a:t>The same answer, every turn</a:t>
            </a:r>
            <a:endParaRPr lang="en-US" sz="2025" dirty="0"/>
          </a:p>
        </p:txBody>
      </p:sp>
      <p:sp>
        <p:nvSpPr>
          <p:cNvPr id="23" name="Text 20"/>
          <p:cNvSpPr/>
          <p:nvPr/>
        </p:nvSpPr>
        <p:spPr>
          <a:xfrm>
            <a:off x="9929781" y="6943710"/>
            <a:ext cx="7122587" cy="295242"/>
          </a:xfrm>
          <a:prstGeom prst="rect">
            <a:avLst/>
          </a:prstGeom>
          <a:noFill/>
          <a:ln/>
        </p:spPr>
        <p:txBody>
          <a:bodyPr wrap="square" lIns="25400" tIns="25400" rIns="25400" bIns="25400" rtlCol="0" anchor="t">
            <a:normAutofit/>
          </a:bodyPr>
          <a:lstStyle/>
          <a:p>
            <a:pPr marL="0" indent="0" algn="l">
              <a:lnSpc>
                <a:spcPct val="92160"/>
              </a:lnSpc>
              <a:buNone/>
            </a:pPr>
            <a:r>
              <a:rPr lang="en-US" sz="1688" dirty="0">
                <a:solidFill>
                  <a:srgbClr val="C3D7DC"/>
                </a:solidFill>
                <a:latin typeface="Oracle Sans Tab" pitchFamily="34" charset="0"/>
                <a:ea typeface="Oracle Sans Tab" pitchFamily="34" charset="-122"/>
                <a:cs typeface="Oracle Sans Tab" pitchFamily="34" charset="-120"/>
              </a:rPr>
              <a:t>consistent results the business signed off on</a:t>
            </a:r>
            <a:endParaRPr lang="en-US" sz="1688" dirty="0"/>
          </a:p>
        </p:txBody>
      </p:sp>
      <p:sp>
        <p:nvSpPr>
          <p:cNvPr id="24" name="Shape 21"/>
          <p:cNvSpPr/>
          <p:nvPr/>
        </p:nvSpPr>
        <p:spPr>
          <a:xfrm>
            <a:off x="957254" y="7886650"/>
            <a:ext cx="16373470" cy="1228710"/>
          </a:xfrm>
          <a:prstGeom prst="roundRect">
            <a:avLst>
              <a:gd name="adj" fmla="val 16279"/>
            </a:avLst>
          </a:prstGeom>
          <a:solidFill>
            <a:srgbClr val="0B5060"/>
          </a:solidFill>
          <a:ln w="19844">
            <a:solidFill>
              <a:srgbClr val="E0836F"/>
            </a:solidFill>
            <a:prstDash val="solid"/>
          </a:ln>
        </p:spPr>
        <p:txBody>
          <a:bodyPr/>
          <a:lstStyle/>
          <a:p>
            <a:endParaRPr lang="en-US"/>
          </a:p>
        </p:txBody>
      </p:sp>
      <p:sp>
        <p:nvSpPr>
          <p:cNvPr id="25" name="Text 22"/>
          <p:cNvSpPr/>
          <p:nvPr/>
        </p:nvSpPr>
        <p:spPr>
          <a:xfrm>
            <a:off x="1514430" y="8477828"/>
            <a:ext cx="16785032" cy="84402"/>
          </a:xfrm>
          <a:prstGeom prst="rect">
            <a:avLst/>
          </a:prstGeom>
          <a:noFill/>
          <a:ln/>
        </p:spPr>
        <p:txBody>
          <a:bodyPr wrap="square" lIns="25400" tIns="25400" rIns="25400" bIns="25400" rtlCol="0" anchor="t">
            <a:normAutofit fontScale="25000" lnSpcReduction="20000"/>
          </a:bodyPr>
          <a:lstStyle/>
          <a:p>
            <a:pPr marL="0" indent="0" algn="l">
              <a:buNone/>
            </a:pPr>
            <a:r>
              <a:rPr lang="en-US" sz="2138" b="1" dirty="0">
                <a:solidFill>
                  <a:srgbClr val="FD6953"/>
                </a:solidFill>
                <a:latin typeface="Oracle Sans Tab" pitchFamily="34" charset="0"/>
                <a:ea typeface="Oracle Sans Tab" pitchFamily="34" charset="-122"/>
                <a:cs typeface="Oracle Sans Tab" pitchFamily="34" charset="-120"/>
              </a:rPr>
              <a:t>Reports = established, robust queries</a:t>
            </a:r>
            <a:endParaRPr lang="en-US" sz="2138" dirty="0"/>
          </a:p>
        </p:txBody>
      </p:sp>
      <p:sp>
        <p:nvSpPr>
          <p:cNvPr id="26" name="Text 23"/>
          <p:cNvSpPr/>
          <p:nvPr/>
        </p:nvSpPr>
        <p:spPr>
          <a:xfrm>
            <a:off x="957254" y="9463970"/>
            <a:ext cx="16864674" cy="398130"/>
          </a:xfrm>
          <a:prstGeom prst="rect">
            <a:avLst/>
          </a:prstGeom>
          <a:noFill/>
          <a:ln/>
        </p:spPr>
        <p:txBody>
          <a:bodyPr wrap="square" lIns="25400" tIns="25400" rIns="25400" bIns="25400" rtlCol="0" anchor="t">
            <a:normAutofit/>
          </a:bodyPr>
          <a:lstStyle/>
          <a:p>
            <a:pPr marL="0" indent="0" algn="l">
              <a:lnSpc>
                <a:spcPct val="92160"/>
              </a:lnSpc>
              <a:buNone/>
            </a:pPr>
            <a:r>
              <a:rPr lang="en-US" sz="2363" b="1" dirty="0">
                <a:solidFill>
                  <a:srgbClr val="FFFFFF"/>
                </a:solidFill>
                <a:latin typeface="Oracle Sans Tab" pitchFamily="34" charset="0"/>
                <a:ea typeface="Oracle Sans Tab" pitchFamily="34" charset="-122"/>
                <a:cs typeface="Oracle Sans Tab" pitchFamily="34" charset="-120"/>
              </a:rPr>
              <a:t>MCP is how a tool arrives. The toolbox is how it gets </a:t>
            </a:r>
            <a:r>
              <a:rPr lang="en-US" sz="2363" b="1" dirty="0">
                <a:solidFill>
                  <a:srgbClr val="FD6953"/>
                </a:solidFill>
                <a:latin typeface="Oracle Sans Tab" pitchFamily="34" charset="0"/>
                <a:ea typeface="Oracle Sans Tab" pitchFamily="34" charset="-122"/>
                <a:cs typeface="Oracle Sans Tab" pitchFamily="34" charset="-120"/>
              </a:rPr>
              <a:t>chosen</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CONTEXT ENGINEERING</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SKILLS AS SEARCHABLE MEMORY</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THE SKILLBOX PATTERN</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Distil once, recall </a:t>
            </a:r>
            <a:r>
              <a:rPr lang="en-US" sz="4500" b="1" i="1" dirty="0">
                <a:solidFill>
                  <a:srgbClr val="FD6953"/>
                </a:solidFill>
                <a:latin typeface="Oracle Sans Tab" pitchFamily="34" charset="0"/>
                <a:ea typeface="Oracle Sans Tab" pitchFamily="34" charset="-122"/>
                <a:cs typeface="Oracle Sans Tab" pitchFamily="34" charset="-120"/>
              </a:rPr>
              <a:t>on demand.</a:t>
            </a:r>
            <a:endParaRPr lang="en-US" sz="1200" dirty="0"/>
          </a:p>
        </p:txBody>
      </p:sp>
      <p:sp>
        <p:nvSpPr>
          <p:cNvPr id="8" name="Text 5"/>
          <p:cNvSpPr/>
          <p:nvPr/>
        </p:nvSpPr>
        <p:spPr>
          <a:xfrm>
            <a:off x="960096" y="3594716"/>
            <a:ext cx="9052533"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FD6953"/>
                </a:solidFill>
                <a:latin typeface="Oracle Sans Tab" pitchFamily="34" charset="0"/>
                <a:ea typeface="Oracle Sans Tab" pitchFamily="34" charset="-122"/>
                <a:cs typeface="Oracle Sans Tab" pitchFamily="34" charset="-120"/>
              </a:rPr>
              <a:t>AUTHOR A SKILL</a:t>
            </a:r>
            <a:endParaRPr lang="en-US" sz="1425" dirty="0"/>
          </a:p>
        </p:txBody>
      </p:sp>
      <p:sp>
        <p:nvSpPr>
          <p:cNvPr id="9" name="Shape 6"/>
          <p:cNvSpPr/>
          <p:nvPr/>
        </p:nvSpPr>
        <p:spPr>
          <a:xfrm>
            <a:off x="960096" y="3949991"/>
            <a:ext cx="3497564" cy="1262042"/>
          </a:xfrm>
          <a:prstGeom prst="roundRect">
            <a:avLst>
              <a:gd name="adj" fmla="val 762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10" name="Image 1" descr="preencoded.png"/>
          <p:cNvPicPr>
            <a:picLocks noChangeAspect="1"/>
          </p:cNvPicPr>
          <p:nvPr/>
        </p:nvPicPr>
        <p:blipFill>
          <a:blip r:embed="rId4"/>
          <a:srcRect/>
          <a:stretch/>
        </p:blipFill>
        <p:spPr>
          <a:xfrm>
            <a:off x="2393601" y="4067142"/>
            <a:ext cx="630504" cy="630504"/>
          </a:xfrm>
          <a:prstGeom prst="rect">
            <a:avLst/>
          </a:prstGeom>
        </p:spPr>
      </p:pic>
      <p:sp>
        <p:nvSpPr>
          <p:cNvPr id="11" name="Text 7"/>
          <p:cNvSpPr/>
          <p:nvPr/>
        </p:nvSpPr>
        <p:spPr>
          <a:xfrm>
            <a:off x="905728" y="4725344"/>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Workflow</a:t>
            </a:r>
            <a:endParaRPr lang="en-US" sz="1425" dirty="0"/>
          </a:p>
        </p:txBody>
      </p:sp>
      <p:sp>
        <p:nvSpPr>
          <p:cNvPr id="12" name="Text 8"/>
          <p:cNvSpPr/>
          <p:nvPr/>
        </p:nvSpPr>
        <p:spPr>
          <a:xfrm>
            <a:off x="905728" y="4897220"/>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(did it once)</a:t>
            </a:r>
            <a:endParaRPr lang="en-US" sz="1425" dirty="0"/>
          </a:p>
        </p:txBody>
      </p:sp>
      <p:sp>
        <p:nvSpPr>
          <p:cNvPr id="13" name="Shape 9"/>
          <p:cNvSpPr/>
          <p:nvPr/>
        </p:nvSpPr>
        <p:spPr>
          <a:xfrm>
            <a:off x="4457660" y="4581477"/>
            <a:ext cx="383853" cy="26458"/>
          </a:xfrm>
          <a:prstGeom prst="rect">
            <a:avLst/>
          </a:prstGeom>
          <a:solidFill>
            <a:srgbClr val="FFFFFF">
              <a:alpha val="34000"/>
            </a:srgbClr>
          </a:solidFill>
          <a:ln/>
        </p:spPr>
        <p:txBody>
          <a:bodyPr/>
          <a:lstStyle/>
          <a:p>
            <a:endParaRPr lang="en-US"/>
          </a:p>
        </p:txBody>
      </p:sp>
      <p:sp>
        <p:nvSpPr>
          <p:cNvPr id="14" name="Shape 10"/>
          <p:cNvSpPr/>
          <p:nvPr/>
        </p:nvSpPr>
        <p:spPr>
          <a:xfrm>
            <a:off x="4715836" y="4498795"/>
            <a:ext cx="125677" cy="165365"/>
          </a:xfrm>
          <a:prstGeom prst="rect">
            <a:avLst/>
          </a:prstGeom>
          <a:solidFill>
            <a:srgbClr val="FFFFFF">
              <a:alpha val="34000"/>
            </a:srgbClr>
          </a:solidFill>
          <a:ln/>
        </p:spPr>
        <p:txBody>
          <a:bodyPr/>
          <a:lstStyle/>
          <a:p>
            <a:endParaRPr lang="en-US"/>
          </a:p>
        </p:txBody>
      </p:sp>
      <p:sp>
        <p:nvSpPr>
          <p:cNvPr id="15" name="Shape 11"/>
          <p:cNvSpPr/>
          <p:nvPr/>
        </p:nvSpPr>
        <p:spPr>
          <a:xfrm>
            <a:off x="4841513" y="3949991"/>
            <a:ext cx="3497564" cy="1262042"/>
          </a:xfrm>
          <a:prstGeom prst="roundRect">
            <a:avLst>
              <a:gd name="adj" fmla="val 762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16" name="Image 2" descr="preencoded.png"/>
          <p:cNvPicPr>
            <a:picLocks noChangeAspect="1"/>
          </p:cNvPicPr>
          <p:nvPr/>
        </p:nvPicPr>
        <p:blipFill>
          <a:blip r:embed="rId5"/>
          <a:srcRect/>
          <a:stretch/>
        </p:blipFill>
        <p:spPr>
          <a:xfrm>
            <a:off x="6275069" y="4067142"/>
            <a:ext cx="630504" cy="630504"/>
          </a:xfrm>
          <a:prstGeom prst="rect">
            <a:avLst/>
          </a:prstGeom>
        </p:spPr>
      </p:pic>
      <p:sp>
        <p:nvSpPr>
          <p:cNvPr id="17" name="Text 12"/>
          <p:cNvSpPr/>
          <p:nvPr/>
        </p:nvSpPr>
        <p:spPr>
          <a:xfrm>
            <a:off x="4787144" y="4725344"/>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Distil (LLM)</a:t>
            </a:r>
            <a:endParaRPr lang="en-US" sz="1425" dirty="0"/>
          </a:p>
        </p:txBody>
      </p:sp>
      <p:sp>
        <p:nvSpPr>
          <p:cNvPr id="18" name="Text 13"/>
          <p:cNvSpPr/>
          <p:nvPr/>
        </p:nvSpPr>
        <p:spPr>
          <a:xfrm>
            <a:off x="4787144" y="4897220"/>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to SKILL.md</a:t>
            </a:r>
            <a:endParaRPr lang="en-US" sz="1425" dirty="0"/>
          </a:p>
        </p:txBody>
      </p:sp>
      <p:sp>
        <p:nvSpPr>
          <p:cNvPr id="19" name="Shape 14"/>
          <p:cNvSpPr/>
          <p:nvPr/>
        </p:nvSpPr>
        <p:spPr>
          <a:xfrm>
            <a:off x="8339129" y="4581477"/>
            <a:ext cx="383853" cy="26458"/>
          </a:xfrm>
          <a:prstGeom prst="rect">
            <a:avLst/>
          </a:prstGeom>
          <a:solidFill>
            <a:srgbClr val="FFFFFF">
              <a:alpha val="34000"/>
            </a:srgbClr>
          </a:solidFill>
          <a:ln/>
        </p:spPr>
        <p:txBody>
          <a:bodyPr/>
          <a:lstStyle/>
          <a:p>
            <a:endParaRPr lang="en-US"/>
          </a:p>
        </p:txBody>
      </p:sp>
      <p:sp>
        <p:nvSpPr>
          <p:cNvPr id="20" name="Shape 15"/>
          <p:cNvSpPr/>
          <p:nvPr/>
        </p:nvSpPr>
        <p:spPr>
          <a:xfrm>
            <a:off x="8597304" y="4498795"/>
            <a:ext cx="125677" cy="165365"/>
          </a:xfrm>
          <a:prstGeom prst="rect">
            <a:avLst/>
          </a:prstGeom>
          <a:solidFill>
            <a:srgbClr val="FFFFFF">
              <a:alpha val="34000"/>
            </a:srgbClr>
          </a:solidFill>
          <a:ln/>
        </p:spPr>
        <p:txBody>
          <a:bodyPr/>
          <a:lstStyle/>
          <a:p>
            <a:endParaRPr lang="en-US"/>
          </a:p>
        </p:txBody>
      </p:sp>
      <p:sp>
        <p:nvSpPr>
          <p:cNvPr id="21" name="Shape 16"/>
          <p:cNvSpPr/>
          <p:nvPr/>
        </p:nvSpPr>
        <p:spPr>
          <a:xfrm>
            <a:off x="8722982" y="3949991"/>
            <a:ext cx="3497564" cy="1262042"/>
          </a:xfrm>
          <a:prstGeom prst="roundRect">
            <a:avLst>
              <a:gd name="adj" fmla="val 762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22" name="Image 3" descr="preencoded.png"/>
          <p:cNvPicPr>
            <a:picLocks noChangeAspect="1"/>
          </p:cNvPicPr>
          <p:nvPr/>
        </p:nvPicPr>
        <p:blipFill>
          <a:blip r:embed="rId6"/>
          <a:srcRect/>
          <a:stretch/>
        </p:blipFill>
        <p:spPr>
          <a:xfrm>
            <a:off x="10156486" y="4142383"/>
            <a:ext cx="630504" cy="630504"/>
          </a:xfrm>
          <a:prstGeom prst="rect">
            <a:avLst/>
          </a:prstGeom>
        </p:spPr>
      </p:pic>
      <p:sp>
        <p:nvSpPr>
          <p:cNvPr id="23" name="Text 17"/>
          <p:cNvSpPr/>
          <p:nvPr/>
        </p:nvSpPr>
        <p:spPr>
          <a:xfrm>
            <a:off x="8669543" y="4800585"/>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SHA + embed</a:t>
            </a:r>
            <a:endParaRPr lang="en-US" sz="1425" dirty="0"/>
          </a:p>
        </p:txBody>
      </p:sp>
      <p:sp>
        <p:nvSpPr>
          <p:cNvPr id="24" name="Shape 18"/>
          <p:cNvSpPr/>
          <p:nvPr/>
        </p:nvSpPr>
        <p:spPr>
          <a:xfrm>
            <a:off x="12220546" y="4581477"/>
            <a:ext cx="383853" cy="26458"/>
          </a:xfrm>
          <a:prstGeom prst="rect">
            <a:avLst/>
          </a:prstGeom>
          <a:solidFill>
            <a:srgbClr val="FFFFFF">
              <a:alpha val="34000"/>
            </a:srgbClr>
          </a:solidFill>
          <a:ln/>
        </p:spPr>
        <p:txBody>
          <a:bodyPr/>
          <a:lstStyle/>
          <a:p>
            <a:endParaRPr lang="en-US"/>
          </a:p>
        </p:txBody>
      </p:sp>
      <p:sp>
        <p:nvSpPr>
          <p:cNvPr id="25" name="Shape 19"/>
          <p:cNvSpPr/>
          <p:nvPr/>
        </p:nvSpPr>
        <p:spPr>
          <a:xfrm>
            <a:off x="12478721" y="4498795"/>
            <a:ext cx="125677" cy="165365"/>
          </a:xfrm>
          <a:prstGeom prst="rect">
            <a:avLst/>
          </a:prstGeom>
          <a:solidFill>
            <a:srgbClr val="FFFFFF">
              <a:alpha val="34000"/>
            </a:srgbClr>
          </a:solidFill>
          <a:ln/>
        </p:spPr>
        <p:txBody>
          <a:bodyPr/>
          <a:lstStyle/>
          <a:p>
            <a:endParaRPr lang="en-US"/>
          </a:p>
        </p:txBody>
      </p:sp>
      <p:sp>
        <p:nvSpPr>
          <p:cNvPr id="26" name="Shape 20"/>
          <p:cNvSpPr/>
          <p:nvPr/>
        </p:nvSpPr>
        <p:spPr>
          <a:xfrm>
            <a:off x="12605379" y="3949991"/>
            <a:ext cx="3497564" cy="1262042"/>
          </a:xfrm>
          <a:prstGeom prst="roundRect">
            <a:avLst>
              <a:gd name="adj" fmla="val 7623"/>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pic>
        <p:nvPicPr>
          <p:cNvPr id="27" name="Image 4" descr="preencoded.png"/>
          <p:cNvPicPr>
            <a:picLocks noChangeAspect="1"/>
          </p:cNvPicPr>
          <p:nvPr/>
        </p:nvPicPr>
        <p:blipFill>
          <a:blip r:embed="rId7"/>
          <a:srcRect/>
          <a:stretch/>
        </p:blipFill>
        <p:spPr>
          <a:xfrm>
            <a:off x="14037902" y="4067142"/>
            <a:ext cx="630504" cy="630504"/>
          </a:xfrm>
          <a:prstGeom prst="rect">
            <a:avLst/>
          </a:prstGeom>
        </p:spPr>
      </p:pic>
      <p:sp>
        <p:nvSpPr>
          <p:cNvPr id="28" name="Text 21"/>
          <p:cNvSpPr/>
          <p:nvPr/>
        </p:nvSpPr>
        <p:spPr>
          <a:xfrm>
            <a:off x="12550959" y="4725344"/>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agent_skills</a:t>
            </a:r>
            <a:endParaRPr lang="en-US" sz="1425" dirty="0"/>
          </a:p>
        </p:txBody>
      </p:sp>
      <p:sp>
        <p:nvSpPr>
          <p:cNvPr id="29" name="Text 22"/>
          <p:cNvSpPr/>
          <p:nvPr/>
        </p:nvSpPr>
        <p:spPr>
          <a:xfrm>
            <a:off x="12550959" y="4897220"/>
            <a:ext cx="3606302" cy="209976"/>
          </a:xfrm>
          <a:prstGeom prst="rect">
            <a:avLst/>
          </a:prstGeom>
          <a:noFill/>
          <a:ln/>
        </p:spPr>
        <p:txBody>
          <a:bodyPr wrap="square" lIns="25400" tIns="25400" rIns="25400" bIns="25400" rtlCol="0" anchor="t">
            <a:normAutofit lnSpcReduction="10000"/>
          </a:bodyPr>
          <a:lstStyle/>
          <a:p>
            <a:pPr marL="0" indent="0" algn="ctr">
              <a:lnSpc>
                <a:spcPct val="72960"/>
              </a:lnSpc>
              <a:buNone/>
            </a:pPr>
            <a:r>
              <a:rPr lang="en-US" sz="1425" b="1" dirty="0">
                <a:solidFill>
                  <a:srgbClr val="FFFFFF"/>
                </a:solidFill>
                <a:latin typeface="Oracle Sans Tab" pitchFamily="34" charset="0"/>
                <a:ea typeface="Oracle Sans Tab" pitchFamily="34" charset="-122"/>
                <a:cs typeface="Oracle Sans Tab" pitchFamily="34" charset="-120"/>
              </a:rPr>
              <a:t>(HNSW)</a:t>
            </a:r>
            <a:endParaRPr lang="en-US" sz="1425" dirty="0"/>
          </a:p>
        </p:txBody>
      </p:sp>
      <p:sp>
        <p:nvSpPr>
          <p:cNvPr id="30" name="Text 23"/>
          <p:cNvSpPr/>
          <p:nvPr/>
        </p:nvSpPr>
        <p:spPr>
          <a:xfrm>
            <a:off x="960096" y="5926408"/>
            <a:ext cx="9052533"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FD6953"/>
                </a:solidFill>
                <a:latin typeface="Oracle Sans Tab" pitchFamily="34" charset="0"/>
                <a:ea typeface="Oracle Sans Tab" pitchFamily="34" charset="-122"/>
                <a:cs typeface="Oracle Sans Tab" pitchFamily="34" charset="-120"/>
              </a:rPr>
              <a:t>TWO-LEVEL RETRIEVAL</a:t>
            </a:r>
            <a:endParaRPr lang="en-US" sz="1425" dirty="0"/>
          </a:p>
        </p:txBody>
      </p:sp>
      <p:sp>
        <p:nvSpPr>
          <p:cNvPr id="31" name="Shape 24"/>
          <p:cNvSpPr/>
          <p:nvPr/>
        </p:nvSpPr>
        <p:spPr>
          <a:xfrm>
            <a:off x="960096" y="6281735"/>
            <a:ext cx="7680926" cy="1371596"/>
          </a:xfrm>
          <a:prstGeom prst="roundRect">
            <a:avLst>
              <a:gd name="adj" fmla="val 7014"/>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32" name="Text 25"/>
          <p:cNvSpPr/>
          <p:nvPr/>
        </p:nvSpPr>
        <p:spPr>
          <a:xfrm>
            <a:off x="1371596" y="6720675"/>
            <a:ext cx="7063718" cy="531817"/>
          </a:xfrm>
          <a:prstGeom prst="rect">
            <a:avLst/>
          </a:prstGeom>
          <a:noFill/>
          <a:ln/>
        </p:spPr>
        <p:txBody>
          <a:bodyPr wrap="square" lIns="25400" tIns="25400" rIns="25400" bIns="25400" rtlCol="0" anchor="t">
            <a:normAutofit/>
          </a:bodyPr>
          <a:lstStyle/>
          <a:p>
            <a:pPr marL="0" indent="0" algn="l">
              <a:lnSpc>
                <a:spcPct val="82944"/>
              </a:lnSpc>
              <a:buNone/>
            </a:pPr>
            <a:r>
              <a:rPr lang="en-US" sz="1800" b="1" dirty="0">
                <a:solidFill>
                  <a:srgbClr val="FD6953"/>
                </a:solidFill>
                <a:latin typeface="Oracle Sans Tab" pitchFamily="34" charset="0"/>
                <a:ea typeface="Oracle Sans Tab" pitchFamily="34" charset="-122"/>
                <a:cs typeface="Oracle Sans Tab" pitchFamily="34" charset="-120"/>
              </a:rPr>
              <a:t>Level 1 </a:t>
            </a:r>
            <a:r>
              <a:rPr lang="en-US" sz="1800" dirty="0">
                <a:solidFill>
                  <a:srgbClr val="C3D7DC"/>
                </a:solidFill>
                <a:latin typeface="Oracle Sans Tab" pitchFamily="34" charset="0"/>
                <a:ea typeface="Oracle Sans Tab" pitchFamily="34" charset="-122"/>
                <a:cs typeface="Oracle Sans Tab" pitchFamily="34" charset="-120"/>
              </a:rPr>
              <a:t>a one-line name: description manifest, retrieved every turn so the agent knows which skills exist.</a:t>
            </a:r>
            <a:endParaRPr lang="en-US" sz="1200" dirty="0"/>
          </a:p>
        </p:txBody>
      </p:sp>
      <p:sp>
        <p:nvSpPr>
          <p:cNvPr id="33" name="Shape 26"/>
          <p:cNvSpPr/>
          <p:nvPr/>
        </p:nvSpPr>
        <p:spPr>
          <a:xfrm>
            <a:off x="9052522" y="6281735"/>
            <a:ext cx="8275308" cy="1371596"/>
          </a:xfrm>
          <a:prstGeom prst="roundRect">
            <a:avLst>
              <a:gd name="adj" fmla="val 7014"/>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34" name="Text 27"/>
          <p:cNvSpPr/>
          <p:nvPr/>
        </p:nvSpPr>
        <p:spPr>
          <a:xfrm>
            <a:off x="9464021" y="6720675"/>
            <a:ext cx="7675879" cy="531817"/>
          </a:xfrm>
          <a:prstGeom prst="rect">
            <a:avLst/>
          </a:prstGeom>
          <a:noFill/>
          <a:ln/>
        </p:spPr>
        <p:txBody>
          <a:bodyPr wrap="square" lIns="25400" tIns="25400" rIns="25400" bIns="25400" rtlCol="0" anchor="t">
            <a:normAutofit/>
          </a:bodyPr>
          <a:lstStyle/>
          <a:p>
            <a:pPr marL="0" indent="0" algn="l">
              <a:lnSpc>
                <a:spcPct val="82944"/>
              </a:lnSpc>
              <a:buNone/>
            </a:pPr>
            <a:r>
              <a:rPr lang="en-US" sz="1800" b="1" dirty="0">
                <a:solidFill>
                  <a:srgbClr val="FD6953"/>
                </a:solidFill>
                <a:latin typeface="Oracle Sans Tab" pitchFamily="34" charset="0"/>
                <a:ea typeface="Oracle Sans Tab" pitchFamily="34" charset="-122"/>
                <a:cs typeface="Oracle Sans Tab" pitchFamily="34" charset="-120"/>
              </a:rPr>
              <a:t>Level 2 </a:t>
            </a:r>
            <a:r>
              <a:rPr lang="en-US" sz="1800" dirty="0">
                <a:solidFill>
                  <a:srgbClr val="FFFFFF"/>
                </a:solidFill>
                <a:latin typeface="Oracle Sans Tab" pitchFamily="34" charset="0"/>
                <a:ea typeface="Oracle Sans Tab" pitchFamily="34" charset="-122"/>
                <a:cs typeface="Oracle Sans Tab" pitchFamily="34" charset="-120"/>
              </a:rPr>
              <a:t>load_skill pulls the full SKILL.md body, only when the agent decides to use it.</a:t>
            </a:r>
            <a:endParaRPr lang="en-US" sz="1200" dirty="0"/>
          </a:p>
        </p:txBody>
      </p:sp>
      <p:sp>
        <p:nvSpPr>
          <p:cNvPr id="35" name="Text 28"/>
          <p:cNvSpPr/>
          <p:nvPr/>
        </p:nvSpPr>
        <p:spPr>
          <a:xfrm>
            <a:off x="960096" y="8182911"/>
            <a:ext cx="16858767" cy="542875"/>
          </a:xfrm>
          <a:prstGeom prst="rect">
            <a:avLst/>
          </a:prstGeom>
          <a:noFill/>
          <a:ln/>
        </p:spPr>
        <p:txBody>
          <a:bodyPr wrap="square" lIns="25400" tIns="25400" rIns="25400" bIns="25400" rtlCol="0" anchor="t">
            <a:normAutofit/>
          </a:bodyPr>
          <a:lstStyle/>
          <a:p>
            <a:pPr marL="0" indent="0" algn="l">
              <a:lnSpc>
                <a:spcPct val="81408"/>
              </a:lnSpc>
              <a:buNone/>
            </a:pPr>
            <a:r>
              <a:rPr lang="en-US" sz="1875" b="1" i="1" dirty="0">
                <a:solidFill>
                  <a:srgbClr val="FFFFFF"/>
                </a:solidFill>
                <a:latin typeface="Oracle Sans Tab" pitchFamily="34" charset="0"/>
                <a:ea typeface="Oracle Sans Tab" pitchFamily="34" charset="-122"/>
                <a:cs typeface="Oracle Sans Tab" pitchFamily="34" charset="-120"/>
              </a:rPr>
              <a:t>SHA-256 versions each skill: </a:t>
            </a:r>
            <a:r>
              <a:rPr lang="en-US" sz="1875" i="1" dirty="0">
                <a:solidFill>
                  <a:srgbClr val="C3D7DC"/>
                </a:solidFill>
                <a:latin typeface="Oracle Sans Tab" pitchFamily="34" charset="0"/>
                <a:ea typeface="Oracle Sans Tab" pitchFamily="34" charset="-122"/>
                <a:cs typeface="Oracle Sans Tab" pitchFamily="34" charset="-120"/>
              </a:rPr>
              <a:t>refresh from a source only when the hash changes, and promoting a workflow retires it from recall so the agent never sees both.</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CONTEXT ENGINEERING</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LEARNED SKILLS, SURFACED AUTOMATICALLY</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DYNAMIC SKILL DISCOVERY</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Re-discovered </a:t>
            </a:r>
            <a:r>
              <a:rPr lang="en-US" sz="4500" b="1" i="1" dirty="0">
                <a:solidFill>
                  <a:srgbClr val="FD6953"/>
                </a:solidFill>
                <a:latin typeface="Oracle Sans Tab" pitchFamily="34" charset="0"/>
                <a:ea typeface="Oracle Sans Tab" pitchFamily="34" charset="-122"/>
                <a:cs typeface="Oracle Sans Tab" pitchFamily="34" charset="-120"/>
              </a:rPr>
              <a:t>every turn.</a:t>
            </a:r>
            <a:endParaRPr lang="en-US" sz="1200" dirty="0"/>
          </a:p>
        </p:txBody>
      </p:sp>
      <p:sp>
        <p:nvSpPr>
          <p:cNvPr id="8" name="Shape 5"/>
          <p:cNvSpPr/>
          <p:nvPr/>
        </p:nvSpPr>
        <p:spPr>
          <a:xfrm>
            <a:off x="960096" y="3703288"/>
            <a:ext cx="4114788" cy="1069650"/>
          </a:xfrm>
          <a:prstGeom prst="roundRect">
            <a:avLst>
              <a:gd name="adj" fmla="val 8994"/>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rcRect/>
          <a:stretch/>
        </p:blipFill>
        <p:spPr>
          <a:xfrm>
            <a:off x="1234395" y="3909012"/>
            <a:ext cx="658151" cy="658151"/>
          </a:xfrm>
          <a:prstGeom prst="rect">
            <a:avLst/>
          </a:prstGeom>
        </p:spPr>
      </p:pic>
      <p:sp>
        <p:nvSpPr>
          <p:cNvPr id="10" name="Text 6"/>
          <p:cNvSpPr/>
          <p:nvPr/>
        </p:nvSpPr>
        <p:spPr>
          <a:xfrm>
            <a:off x="2084989" y="3966631"/>
            <a:ext cx="2825487" cy="335239"/>
          </a:xfrm>
          <a:prstGeom prst="rect">
            <a:avLst/>
          </a:prstGeom>
          <a:noFill/>
          <a:ln/>
        </p:spPr>
        <p:txBody>
          <a:bodyPr wrap="square" lIns="25400" tIns="25400" rIns="25400" bIns="25400" rtlCol="0" anchor="t">
            <a:normAutofit/>
          </a:bodyPr>
          <a:lstStyle/>
          <a:p>
            <a:pPr marL="0" indent="0" algn="l">
              <a:lnSpc>
                <a:spcPct val="92160"/>
              </a:lnSpc>
              <a:buNone/>
            </a:pPr>
            <a:r>
              <a:rPr lang="en-US" sz="1950" b="1" dirty="0">
                <a:solidFill>
                  <a:srgbClr val="FFFFFF"/>
                </a:solidFill>
                <a:latin typeface="Oracle Sans Tab" pitchFamily="34" charset="0"/>
                <a:ea typeface="Oracle Sans Tab" pitchFamily="34" charset="-122"/>
                <a:cs typeface="Oracle Sans Tab" pitchFamily="34" charset="-120"/>
              </a:rPr>
              <a:t>Semantic catalog</a:t>
            </a:r>
            <a:endParaRPr lang="en-US" sz="1950" dirty="0"/>
          </a:p>
        </p:txBody>
      </p:sp>
      <p:sp>
        <p:nvSpPr>
          <p:cNvPr id="11" name="Text 7"/>
          <p:cNvSpPr/>
          <p:nvPr/>
        </p:nvSpPr>
        <p:spPr>
          <a:xfrm>
            <a:off x="2084989" y="4404331"/>
            <a:ext cx="3017511"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Menlo" pitchFamily="34" charset="0"/>
                <a:ea typeface="Menlo" pitchFamily="34" charset="-122"/>
                <a:cs typeface="Menlo" pitchFamily="34" charset="-120"/>
              </a:rPr>
              <a:t>vector_search</a:t>
            </a:r>
            <a:endParaRPr lang="en-US" sz="1425" dirty="0"/>
          </a:p>
        </p:txBody>
      </p:sp>
      <p:sp>
        <p:nvSpPr>
          <p:cNvPr id="12" name="Shape 8"/>
          <p:cNvSpPr/>
          <p:nvPr/>
        </p:nvSpPr>
        <p:spPr>
          <a:xfrm rot="2611201">
            <a:off x="4729451" y="5080958"/>
            <a:ext cx="2457450" cy="26458"/>
          </a:xfrm>
          <a:prstGeom prst="rect">
            <a:avLst/>
          </a:prstGeom>
          <a:solidFill>
            <a:srgbClr val="FD6953"/>
          </a:solidFill>
          <a:ln/>
        </p:spPr>
        <p:txBody>
          <a:bodyPr/>
          <a:lstStyle/>
          <a:p>
            <a:endParaRPr lang="en-US"/>
          </a:p>
        </p:txBody>
      </p:sp>
      <p:sp>
        <p:nvSpPr>
          <p:cNvPr id="13" name="Shape 9"/>
          <p:cNvSpPr/>
          <p:nvPr/>
        </p:nvSpPr>
        <p:spPr>
          <a:xfrm rot="2611201">
            <a:off x="6750194" y="5808548"/>
            <a:ext cx="125677" cy="161925"/>
          </a:xfrm>
          <a:prstGeom prst="rect">
            <a:avLst/>
          </a:prstGeom>
          <a:solidFill>
            <a:srgbClr val="FD6953"/>
          </a:solidFill>
          <a:ln/>
        </p:spPr>
        <p:txBody>
          <a:bodyPr/>
          <a:lstStyle/>
          <a:p>
            <a:endParaRPr lang="en-US"/>
          </a:p>
        </p:txBody>
      </p:sp>
      <p:sp>
        <p:nvSpPr>
          <p:cNvPr id="14" name="Shape 10"/>
          <p:cNvSpPr/>
          <p:nvPr/>
        </p:nvSpPr>
        <p:spPr>
          <a:xfrm>
            <a:off x="960096" y="4910088"/>
            <a:ext cx="4114788" cy="1069650"/>
          </a:xfrm>
          <a:prstGeom prst="roundRect">
            <a:avLst>
              <a:gd name="adj" fmla="val 8994"/>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15" name="Image 2" descr="preencoded.png"/>
          <p:cNvPicPr>
            <a:picLocks noChangeAspect="1"/>
          </p:cNvPicPr>
          <p:nvPr/>
        </p:nvPicPr>
        <p:blipFill>
          <a:blip r:embed="rId5"/>
          <a:srcRect/>
          <a:stretch/>
        </p:blipFill>
        <p:spPr>
          <a:xfrm>
            <a:off x="1234395" y="5115863"/>
            <a:ext cx="658151" cy="658151"/>
          </a:xfrm>
          <a:prstGeom prst="rect">
            <a:avLst/>
          </a:prstGeom>
        </p:spPr>
      </p:pic>
      <p:sp>
        <p:nvSpPr>
          <p:cNvPr id="16" name="Text 11"/>
          <p:cNvSpPr/>
          <p:nvPr/>
        </p:nvSpPr>
        <p:spPr>
          <a:xfrm>
            <a:off x="2084989" y="5173482"/>
            <a:ext cx="2825487" cy="335239"/>
          </a:xfrm>
          <a:prstGeom prst="rect">
            <a:avLst/>
          </a:prstGeom>
          <a:noFill/>
          <a:ln/>
        </p:spPr>
        <p:txBody>
          <a:bodyPr wrap="square" lIns="25400" tIns="25400" rIns="25400" bIns="25400" rtlCol="0" anchor="t">
            <a:normAutofit/>
          </a:bodyPr>
          <a:lstStyle/>
          <a:p>
            <a:pPr marL="0" indent="0" algn="l">
              <a:lnSpc>
                <a:spcPct val="92160"/>
              </a:lnSpc>
              <a:buNone/>
            </a:pPr>
            <a:r>
              <a:rPr lang="en-US" sz="1950" b="1" dirty="0">
                <a:solidFill>
                  <a:srgbClr val="FFFFFF"/>
                </a:solidFill>
                <a:latin typeface="Oracle Sans Tab" pitchFamily="34" charset="0"/>
                <a:ea typeface="Oracle Sans Tab" pitchFamily="34" charset="-122"/>
                <a:cs typeface="Oracle Sans Tab" pitchFamily="34" charset="-120"/>
              </a:rPr>
              <a:t>Skillbox manifest</a:t>
            </a:r>
            <a:endParaRPr lang="en-US" sz="1950" dirty="0"/>
          </a:p>
        </p:txBody>
      </p:sp>
      <p:sp>
        <p:nvSpPr>
          <p:cNvPr id="17" name="Text 12"/>
          <p:cNvSpPr/>
          <p:nvPr/>
        </p:nvSpPr>
        <p:spPr>
          <a:xfrm>
            <a:off x="2084989" y="5611130"/>
            <a:ext cx="3017511"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Menlo" pitchFamily="34" charset="0"/>
                <a:ea typeface="Menlo" pitchFamily="34" charset="-122"/>
                <a:cs typeface="Menlo" pitchFamily="34" charset="-120"/>
              </a:rPr>
              <a:t>build_skill_manifest</a:t>
            </a:r>
            <a:endParaRPr lang="en-US" sz="1425" dirty="0"/>
          </a:p>
        </p:txBody>
      </p:sp>
      <p:sp>
        <p:nvSpPr>
          <p:cNvPr id="18" name="Shape 13"/>
          <p:cNvSpPr/>
          <p:nvPr/>
        </p:nvSpPr>
        <p:spPr>
          <a:xfrm rot="916200">
            <a:off x="5039058" y="5687247"/>
            <a:ext cx="1847849" cy="26458"/>
          </a:xfrm>
          <a:prstGeom prst="rect">
            <a:avLst/>
          </a:prstGeom>
          <a:solidFill>
            <a:srgbClr val="FD6953"/>
          </a:solidFill>
          <a:ln/>
        </p:spPr>
        <p:txBody>
          <a:bodyPr/>
          <a:lstStyle/>
          <a:p>
            <a:endParaRPr lang="en-US"/>
          </a:p>
        </p:txBody>
      </p:sp>
      <p:sp>
        <p:nvSpPr>
          <p:cNvPr id="19" name="Shape 14"/>
          <p:cNvSpPr/>
          <p:nvPr/>
        </p:nvSpPr>
        <p:spPr>
          <a:xfrm rot="916200">
            <a:off x="6735362" y="5834824"/>
            <a:ext cx="125677" cy="161925"/>
          </a:xfrm>
          <a:prstGeom prst="rect">
            <a:avLst/>
          </a:prstGeom>
          <a:solidFill>
            <a:srgbClr val="FD6953"/>
          </a:solidFill>
          <a:ln/>
        </p:spPr>
        <p:txBody>
          <a:bodyPr/>
          <a:lstStyle/>
          <a:p>
            <a:endParaRPr lang="en-US"/>
          </a:p>
        </p:txBody>
      </p:sp>
      <p:sp>
        <p:nvSpPr>
          <p:cNvPr id="20" name="Shape 15"/>
          <p:cNvSpPr/>
          <p:nvPr/>
        </p:nvSpPr>
        <p:spPr>
          <a:xfrm>
            <a:off x="960096" y="6116939"/>
            <a:ext cx="4114788" cy="1069650"/>
          </a:xfrm>
          <a:prstGeom prst="roundRect">
            <a:avLst>
              <a:gd name="adj" fmla="val 8994"/>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21" name="Image 3" descr="preencoded.png"/>
          <p:cNvPicPr>
            <a:picLocks noChangeAspect="1"/>
          </p:cNvPicPr>
          <p:nvPr/>
        </p:nvPicPr>
        <p:blipFill>
          <a:blip r:embed="rId6"/>
          <a:srcRect/>
          <a:stretch/>
        </p:blipFill>
        <p:spPr>
          <a:xfrm>
            <a:off x="1234395" y="6322663"/>
            <a:ext cx="658151" cy="658151"/>
          </a:xfrm>
          <a:prstGeom prst="rect">
            <a:avLst/>
          </a:prstGeom>
        </p:spPr>
      </p:pic>
      <p:sp>
        <p:nvSpPr>
          <p:cNvPr id="22" name="Text 16"/>
          <p:cNvSpPr/>
          <p:nvPr/>
        </p:nvSpPr>
        <p:spPr>
          <a:xfrm>
            <a:off x="2084989" y="6380282"/>
            <a:ext cx="2825487" cy="335239"/>
          </a:xfrm>
          <a:prstGeom prst="rect">
            <a:avLst/>
          </a:prstGeom>
          <a:noFill/>
          <a:ln/>
        </p:spPr>
        <p:txBody>
          <a:bodyPr wrap="square" lIns="25400" tIns="25400" rIns="25400" bIns="25400" rtlCol="0" anchor="t">
            <a:normAutofit/>
          </a:bodyPr>
          <a:lstStyle/>
          <a:p>
            <a:pPr marL="0" indent="0" algn="l">
              <a:lnSpc>
                <a:spcPct val="92160"/>
              </a:lnSpc>
              <a:buNone/>
            </a:pPr>
            <a:r>
              <a:rPr lang="en-US" sz="1950" b="1" dirty="0">
                <a:solidFill>
                  <a:srgbClr val="FFFFFF"/>
                </a:solidFill>
                <a:latin typeface="Oracle Sans Tab" pitchFamily="34" charset="0"/>
                <a:ea typeface="Oracle Sans Tab" pitchFamily="34" charset="-122"/>
                <a:cs typeface="Oracle Sans Tab" pitchFamily="34" charset="-120"/>
              </a:rPr>
              <a:t>Workflow recipes</a:t>
            </a:r>
            <a:endParaRPr lang="en-US" sz="1950" dirty="0"/>
          </a:p>
        </p:txBody>
      </p:sp>
      <p:sp>
        <p:nvSpPr>
          <p:cNvPr id="23" name="Text 17"/>
          <p:cNvSpPr/>
          <p:nvPr/>
        </p:nvSpPr>
        <p:spPr>
          <a:xfrm>
            <a:off x="2084989" y="6817982"/>
            <a:ext cx="3017511"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Menlo" pitchFamily="34" charset="0"/>
                <a:ea typeface="Menlo" pitchFamily="34" charset="-122"/>
                <a:cs typeface="Menlo" pitchFamily="34" charset="-120"/>
              </a:rPr>
              <a:t>recall_workflow</a:t>
            </a:r>
            <a:endParaRPr lang="en-US" sz="1425" dirty="0"/>
          </a:p>
        </p:txBody>
      </p:sp>
      <p:sp>
        <p:nvSpPr>
          <p:cNvPr id="24" name="Shape 18"/>
          <p:cNvSpPr/>
          <p:nvPr/>
        </p:nvSpPr>
        <p:spPr>
          <a:xfrm rot="9480599">
            <a:off x="5009799" y="6292178"/>
            <a:ext cx="1924050" cy="26458"/>
          </a:xfrm>
          <a:prstGeom prst="rect">
            <a:avLst/>
          </a:prstGeom>
          <a:solidFill>
            <a:srgbClr val="FD6953"/>
          </a:solidFill>
          <a:ln/>
        </p:spPr>
        <p:txBody>
          <a:bodyPr/>
          <a:lstStyle/>
          <a:p>
            <a:endParaRPr lang="en-US"/>
          </a:p>
        </p:txBody>
      </p:sp>
      <p:sp>
        <p:nvSpPr>
          <p:cNvPr id="25" name="Shape 19"/>
          <p:cNvSpPr/>
          <p:nvPr/>
        </p:nvSpPr>
        <p:spPr>
          <a:xfrm rot="9480599">
            <a:off x="6735963" y="5875058"/>
            <a:ext cx="125677" cy="161925"/>
          </a:xfrm>
          <a:prstGeom prst="rect">
            <a:avLst/>
          </a:prstGeom>
          <a:solidFill>
            <a:srgbClr val="FD6953"/>
          </a:solidFill>
          <a:ln/>
        </p:spPr>
        <p:txBody>
          <a:bodyPr/>
          <a:lstStyle/>
          <a:p>
            <a:endParaRPr lang="en-US"/>
          </a:p>
        </p:txBody>
      </p:sp>
      <p:sp>
        <p:nvSpPr>
          <p:cNvPr id="26" name="Shape 20"/>
          <p:cNvSpPr/>
          <p:nvPr/>
        </p:nvSpPr>
        <p:spPr>
          <a:xfrm>
            <a:off x="960096" y="7324720"/>
            <a:ext cx="4114788" cy="1069650"/>
          </a:xfrm>
          <a:prstGeom prst="roundRect">
            <a:avLst>
              <a:gd name="adj" fmla="val 8994"/>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27" name="Image 4" descr="preencoded.png"/>
          <p:cNvPicPr>
            <a:picLocks noChangeAspect="1"/>
          </p:cNvPicPr>
          <p:nvPr/>
        </p:nvPicPr>
        <p:blipFill>
          <a:blip r:embed="rId7"/>
          <a:srcRect/>
          <a:stretch/>
        </p:blipFill>
        <p:spPr>
          <a:xfrm>
            <a:off x="1234395" y="7530444"/>
            <a:ext cx="658151" cy="658151"/>
          </a:xfrm>
          <a:prstGeom prst="rect">
            <a:avLst/>
          </a:prstGeom>
        </p:spPr>
      </p:pic>
      <p:sp>
        <p:nvSpPr>
          <p:cNvPr id="28" name="Text 21"/>
          <p:cNvSpPr/>
          <p:nvPr/>
        </p:nvSpPr>
        <p:spPr>
          <a:xfrm>
            <a:off x="2084989" y="7587082"/>
            <a:ext cx="2825487" cy="335239"/>
          </a:xfrm>
          <a:prstGeom prst="rect">
            <a:avLst/>
          </a:prstGeom>
          <a:noFill/>
          <a:ln/>
        </p:spPr>
        <p:txBody>
          <a:bodyPr wrap="square" lIns="25400" tIns="25400" rIns="25400" bIns="25400" rtlCol="0" anchor="t">
            <a:normAutofit/>
          </a:bodyPr>
          <a:lstStyle/>
          <a:p>
            <a:pPr marL="0" indent="0" algn="l">
              <a:lnSpc>
                <a:spcPct val="92160"/>
              </a:lnSpc>
              <a:buNone/>
            </a:pPr>
            <a:r>
              <a:rPr lang="en-US" sz="1950" b="1" dirty="0">
                <a:solidFill>
                  <a:srgbClr val="FFFFFF"/>
                </a:solidFill>
                <a:latin typeface="Oracle Sans Tab" pitchFamily="34" charset="0"/>
                <a:ea typeface="Oracle Sans Tab" pitchFamily="34" charset="-122"/>
                <a:cs typeface="Oracle Sans Tab" pitchFamily="34" charset="-120"/>
              </a:rPr>
              <a:t>Context card</a:t>
            </a:r>
            <a:endParaRPr lang="en-US" sz="1950" dirty="0"/>
          </a:p>
        </p:txBody>
      </p:sp>
      <p:sp>
        <p:nvSpPr>
          <p:cNvPr id="29" name="Text 22"/>
          <p:cNvSpPr/>
          <p:nvPr/>
        </p:nvSpPr>
        <p:spPr>
          <a:xfrm>
            <a:off x="2084989" y="8024781"/>
            <a:ext cx="3017511"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Oracle Sans Tab" pitchFamily="34" charset="0"/>
                <a:ea typeface="Oracle Sans Tab" pitchFamily="34" charset="-122"/>
                <a:cs typeface="Oracle Sans Tab" pitchFamily="34" charset="-120"/>
              </a:rPr>
              <a:t>OAMP working memory</a:t>
            </a:r>
            <a:endParaRPr lang="en-US" sz="1425" dirty="0"/>
          </a:p>
        </p:txBody>
      </p:sp>
      <p:sp>
        <p:nvSpPr>
          <p:cNvPr id="30" name="Shape 23"/>
          <p:cNvSpPr/>
          <p:nvPr/>
        </p:nvSpPr>
        <p:spPr>
          <a:xfrm rot="7966800">
            <a:off x="4662371" y="6892125"/>
            <a:ext cx="2628900" cy="26458"/>
          </a:xfrm>
          <a:prstGeom prst="rect">
            <a:avLst/>
          </a:prstGeom>
          <a:solidFill>
            <a:srgbClr val="FD6953"/>
          </a:solidFill>
          <a:ln/>
        </p:spPr>
        <p:txBody>
          <a:bodyPr/>
          <a:lstStyle/>
          <a:p>
            <a:endParaRPr lang="en-US"/>
          </a:p>
        </p:txBody>
      </p:sp>
      <p:sp>
        <p:nvSpPr>
          <p:cNvPr id="31" name="Shape 24"/>
          <p:cNvSpPr/>
          <p:nvPr/>
        </p:nvSpPr>
        <p:spPr>
          <a:xfrm rot="7966800">
            <a:off x="6751781" y="5897983"/>
            <a:ext cx="125677" cy="161925"/>
          </a:xfrm>
          <a:prstGeom prst="rect">
            <a:avLst/>
          </a:prstGeom>
          <a:solidFill>
            <a:srgbClr val="FD6953"/>
          </a:solidFill>
          <a:ln/>
        </p:spPr>
        <p:txBody>
          <a:bodyPr/>
          <a:lstStyle/>
          <a:p>
            <a:endParaRPr lang="en-US"/>
          </a:p>
        </p:txBody>
      </p:sp>
      <p:sp>
        <p:nvSpPr>
          <p:cNvPr id="32" name="Shape 25"/>
          <p:cNvSpPr/>
          <p:nvPr/>
        </p:nvSpPr>
        <p:spPr>
          <a:xfrm>
            <a:off x="6857979" y="4594810"/>
            <a:ext cx="4114788" cy="2331692"/>
          </a:xfrm>
          <a:prstGeom prst="roundRect">
            <a:avLst>
              <a:gd name="adj" fmla="val 4126"/>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pic>
        <p:nvPicPr>
          <p:cNvPr id="33" name="Image 5" descr="preencoded.png"/>
          <p:cNvPicPr>
            <a:picLocks noChangeAspect="1"/>
          </p:cNvPicPr>
          <p:nvPr/>
        </p:nvPicPr>
        <p:blipFill>
          <a:blip r:embed="rId8"/>
          <a:srcRect/>
          <a:stretch/>
        </p:blipFill>
        <p:spPr>
          <a:xfrm>
            <a:off x="8559115" y="4869160"/>
            <a:ext cx="713393" cy="713393"/>
          </a:xfrm>
          <a:prstGeom prst="rect">
            <a:avLst/>
          </a:prstGeom>
        </p:spPr>
      </p:pic>
      <p:sp>
        <p:nvSpPr>
          <p:cNvPr id="34" name="Text 26"/>
          <p:cNvSpPr/>
          <p:nvPr/>
        </p:nvSpPr>
        <p:spPr>
          <a:xfrm>
            <a:off x="6796257" y="5772102"/>
            <a:ext cx="4238231" cy="358132"/>
          </a:xfrm>
          <a:prstGeom prst="rect">
            <a:avLst/>
          </a:prstGeom>
          <a:noFill/>
          <a:ln/>
        </p:spPr>
        <p:txBody>
          <a:bodyPr wrap="square" lIns="25400" tIns="25400" rIns="25400" bIns="25400" rtlCol="0" anchor="t">
            <a:normAutofit/>
          </a:bodyPr>
          <a:lstStyle/>
          <a:p>
            <a:pPr marL="0" indent="0" algn="ctr">
              <a:lnSpc>
                <a:spcPct val="92160"/>
              </a:lnSpc>
              <a:buNone/>
            </a:pPr>
            <a:r>
              <a:rPr lang="en-US" sz="2100" b="1" dirty="0">
                <a:solidFill>
                  <a:srgbClr val="FD6953"/>
                </a:solidFill>
                <a:latin typeface="Menlo" pitchFamily="34" charset="0"/>
                <a:ea typeface="Menlo" pitchFamily="34" charset="-122"/>
                <a:cs typeface="Menlo" pitchFamily="34" charset="-120"/>
              </a:rPr>
              <a:t>assemble_context</a:t>
            </a:r>
            <a:endParaRPr lang="en-US" sz="2100" dirty="0"/>
          </a:p>
        </p:txBody>
      </p:sp>
      <p:sp>
        <p:nvSpPr>
          <p:cNvPr id="35" name="Text 27"/>
          <p:cNvSpPr/>
          <p:nvPr/>
        </p:nvSpPr>
        <p:spPr>
          <a:xfrm>
            <a:off x="6796257" y="6246492"/>
            <a:ext cx="4238231" cy="300926"/>
          </a:xfrm>
          <a:prstGeom prst="rect">
            <a:avLst/>
          </a:prstGeom>
          <a:noFill/>
          <a:ln/>
        </p:spPr>
        <p:txBody>
          <a:bodyPr wrap="square" lIns="25400" tIns="25400" rIns="25400" bIns="25400" rtlCol="0" anchor="t">
            <a:normAutofit/>
          </a:bodyPr>
          <a:lstStyle/>
          <a:p>
            <a:pPr marL="0" indent="0" algn="ctr">
              <a:lnSpc>
                <a:spcPct val="92160"/>
              </a:lnSpc>
              <a:buNone/>
            </a:pPr>
            <a:r>
              <a:rPr lang="en-US" sz="1725" i="1" dirty="0">
                <a:solidFill>
                  <a:srgbClr val="C3D7DC"/>
                </a:solidFill>
                <a:latin typeface="Oracle Sans Tab" pitchFamily="34" charset="0"/>
                <a:ea typeface="Oracle Sans Tab" pitchFamily="34" charset="-122"/>
                <a:cs typeface="Oracle Sans Tab" pitchFamily="34" charset="-120"/>
              </a:rPr>
              <a:t>runs every turn</a:t>
            </a:r>
            <a:endParaRPr lang="en-US" sz="1725" dirty="0"/>
          </a:p>
        </p:txBody>
      </p:sp>
      <p:sp>
        <p:nvSpPr>
          <p:cNvPr id="36" name="Shape 28"/>
          <p:cNvSpPr/>
          <p:nvPr/>
        </p:nvSpPr>
        <p:spPr>
          <a:xfrm>
            <a:off x="10972766" y="5760682"/>
            <a:ext cx="960096" cy="26458"/>
          </a:xfrm>
          <a:prstGeom prst="rect">
            <a:avLst/>
          </a:prstGeom>
          <a:solidFill>
            <a:srgbClr val="FFFFFF">
              <a:alpha val="34000"/>
            </a:srgbClr>
          </a:solidFill>
          <a:ln/>
        </p:spPr>
        <p:txBody>
          <a:bodyPr/>
          <a:lstStyle/>
          <a:p>
            <a:endParaRPr lang="en-US"/>
          </a:p>
        </p:txBody>
      </p:sp>
      <p:sp>
        <p:nvSpPr>
          <p:cNvPr id="37" name="Shape 29"/>
          <p:cNvSpPr/>
          <p:nvPr/>
        </p:nvSpPr>
        <p:spPr>
          <a:xfrm>
            <a:off x="11807186" y="5677999"/>
            <a:ext cx="125677" cy="165365"/>
          </a:xfrm>
          <a:prstGeom prst="rect">
            <a:avLst/>
          </a:prstGeom>
          <a:solidFill>
            <a:srgbClr val="FFFFFF">
              <a:alpha val="34000"/>
            </a:srgbClr>
          </a:solidFill>
          <a:ln/>
        </p:spPr>
        <p:txBody>
          <a:bodyPr/>
          <a:lstStyle/>
          <a:p>
            <a:endParaRPr lang="en-US"/>
          </a:p>
        </p:txBody>
      </p:sp>
      <p:sp>
        <p:nvSpPr>
          <p:cNvPr id="38" name="Shape 30"/>
          <p:cNvSpPr/>
          <p:nvPr/>
        </p:nvSpPr>
        <p:spPr>
          <a:xfrm>
            <a:off x="11932915" y="4800585"/>
            <a:ext cx="5394916" cy="960096"/>
          </a:xfrm>
          <a:prstGeom prst="roundRect">
            <a:avLst>
              <a:gd name="adj" fmla="val 1002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39" name="Text 31"/>
          <p:cNvSpPr/>
          <p:nvPr/>
        </p:nvSpPr>
        <p:spPr>
          <a:xfrm>
            <a:off x="11851991" y="5137774"/>
            <a:ext cx="5556764" cy="323819"/>
          </a:xfrm>
          <a:prstGeom prst="rect">
            <a:avLst/>
          </a:prstGeom>
          <a:noFill/>
          <a:ln/>
        </p:spPr>
        <p:txBody>
          <a:bodyPr wrap="square" lIns="25400" tIns="25400" rIns="25400" bIns="25400" rtlCol="0" anchor="t">
            <a:normAutofit/>
          </a:bodyPr>
          <a:lstStyle/>
          <a:p>
            <a:pPr marL="0" indent="0" algn="ctr">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Assembled system prompt</a:t>
            </a:r>
            <a:endParaRPr lang="en-US" sz="1875" dirty="0"/>
          </a:p>
        </p:txBody>
      </p:sp>
      <p:sp>
        <p:nvSpPr>
          <p:cNvPr id="40" name="Shape 32"/>
          <p:cNvSpPr/>
          <p:nvPr/>
        </p:nvSpPr>
        <p:spPr>
          <a:xfrm>
            <a:off x="11932915" y="5966457"/>
            <a:ext cx="5394916" cy="960096"/>
          </a:xfrm>
          <a:prstGeom prst="roundRect">
            <a:avLst>
              <a:gd name="adj" fmla="val 10020"/>
            </a:avLst>
          </a:prstGeom>
          <a:solidFill>
            <a:srgbClr val="04303F"/>
          </a:solidFill>
          <a:ln w="16536">
            <a:solidFill>
              <a:srgbClr val="FFFFFF">
                <a:alpha val="45000"/>
              </a:srgbClr>
            </a:solidFill>
            <a:prstDash val="solid"/>
          </a:ln>
        </p:spPr>
        <p:txBody>
          <a:bodyPr/>
          <a:lstStyle/>
          <a:p>
            <a:endParaRPr lang="en-US"/>
          </a:p>
        </p:txBody>
      </p:sp>
      <p:sp>
        <p:nvSpPr>
          <p:cNvPr id="41" name="Text 33"/>
          <p:cNvSpPr/>
          <p:nvPr/>
        </p:nvSpPr>
        <p:spPr>
          <a:xfrm>
            <a:off x="11851991" y="6297910"/>
            <a:ext cx="5556764" cy="335239"/>
          </a:xfrm>
          <a:prstGeom prst="rect">
            <a:avLst/>
          </a:prstGeom>
          <a:noFill/>
          <a:ln/>
        </p:spPr>
        <p:txBody>
          <a:bodyPr wrap="square" lIns="25400" tIns="25400" rIns="25400" bIns="25400" rtlCol="0" anchor="t">
            <a:normAutofit/>
          </a:bodyPr>
          <a:lstStyle/>
          <a:p>
            <a:pPr marL="0" indent="0" algn="ctr">
              <a:lnSpc>
                <a:spcPct val="92160"/>
              </a:lnSpc>
              <a:buNone/>
            </a:pPr>
            <a:r>
              <a:rPr lang="en-US" sz="1950" b="1" dirty="0">
                <a:solidFill>
                  <a:srgbClr val="FFFFFF"/>
                </a:solidFill>
                <a:latin typeface="Menlo" pitchFamily="34" charset="0"/>
                <a:ea typeface="Menlo" pitchFamily="34" charset="-122"/>
                <a:cs typeface="Menlo" pitchFamily="34" charset="-120"/>
              </a:rPr>
              <a:t>call_model</a:t>
            </a:r>
            <a:endParaRPr lang="en-US" sz="1950" dirty="0"/>
          </a:p>
        </p:txBody>
      </p:sp>
      <p:sp>
        <p:nvSpPr>
          <p:cNvPr id="42" name="Shape 34"/>
          <p:cNvSpPr/>
          <p:nvPr/>
        </p:nvSpPr>
        <p:spPr>
          <a:xfrm rot="5400000">
            <a:off x="14515279" y="5853622"/>
            <a:ext cx="209550" cy="19844"/>
          </a:xfrm>
          <a:prstGeom prst="rect">
            <a:avLst/>
          </a:prstGeom>
          <a:solidFill>
            <a:srgbClr val="FFFFFF">
              <a:alpha val="34000"/>
            </a:srgbClr>
          </a:solidFill>
          <a:ln/>
        </p:spPr>
        <p:txBody>
          <a:bodyPr/>
          <a:lstStyle/>
          <a:p>
            <a:endParaRPr lang="en-US"/>
          </a:p>
        </p:txBody>
      </p:sp>
      <p:sp>
        <p:nvSpPr>
          <p:cNvPr id="43" name="Text 35"/>
          <p:cNvSpPr/>
          <p:nvPr/>
        </p:nvSpPr>
        <p:spPr>
          <a:xfrm>
            <a:off x="960096" y="8929687"/>
            <a:ext cx="16858767" cy="558068"/>
          </a:xfrm>
          <a:prstGeom prst="rect">
            <a:avLst/>
          </a:prstGeom>
          <a:noFill/>
          <a:ln/>
        </p:spPr>
        <p:txBody>
          <a:bodyPr wrap="square" lIns="25400" tIns="25400" rIns="25400" bIns="25400" rtlCol="0" anchor="t">
            <a:normAutofit/>
          </a:bodyPr>
          <a:lstStyle/>
          <a:p>
            <a:pPr marL="0" indent="0" algn="l">
              <a:lnSpc>
                <a:spcPct val="80640"/>
              </a:lnSpc>
              <a:buNone/>
            </a:pPr>
            <a:r>
              <a:rPr lang="en-US" sz="1950" b="1" i="1" dirty="0">
                <a:solidFill>
                  <a:srgbClr val="FD6953"/>
                </a:solidFill>
                <a:latin typeface="Oracle Sans Tab" pitchFamily="34" charset="0"/>
                <a:ea typeface="Oracle Sans Tab" pitchFamily="34" charset="-122"/>
                <a:cs typeface="Oracle Sans Tab" pitchFamily="34" charset="-120"/>
              </a:rPr>
              <a:t>Each turn queries the skillbox against the latest user message. </a:t>
            </a:r>
            <a:r>
              <a:rPr lang="en-US" sz="1950" i="1" dirty="0">
                <a:solidFill>
                  <a:srgbClr val="FFFFFF"/>
                </a:solidFill>
                <a:latin typeface="Oracle Sans Tab" pitchFamily="34" charset="0"/>
                <a:ea typeface="Oracle Sans Tab" pitchFamily="34" charset="-122"/>
                <a:cs typeface="Oracle Sans Tab" pitchFamily="34" charset="-120"/>
              </a:rPr>
              <a:t>A newly learned skill shows up automatically on the very next relevant turn, no redeploy.</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name="Slide 55">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CONTEXT ENGINEERING</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TOOL OFFLOADING</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GET LARGE TOOL RESULTS OUT OF THE WINDOW</a:t>
            </a:r>
            <a:endParaRPr lang="en-US" sz="1800" dirty="0"/>
          </a:p>
        </p:txBody>
      </p:sp>
      <p:sp>
        <p:nvSpPr>
          <p:cNvPr id="7" name="Text 4"/>
          <p:cNvSpPr/>
          <p:nvPr/>
        </p:nvSpPr>
        <p:spPr>
          <a:xfrm>
            <a:off x="960096" y="1988819"/>
            <a:ext cx="16952925" cy="678164"/>
          </a:xfrm>
          <a:prstGeom prst="rect">
            <a:avLst/>
          </a:prstGeom>
          <a:noFill/>
          <a:ln/>
        </p:spPr>
        <p:txBody>
          <a:bodyPr wrap="square" lIns="25400" tIns="25400" rIns="25400" bIns="25400" rtlCol="0" anchor="t">
            <a:normAutofit/>
          </a:bodyPr>
          <a:lstStyle/>
          <a:p>
            <a:pPr marL="0" indent="0" algn="l">
              <a:lnSpc>
                <a:spcPct val="92160"/>
              </a:lnSpc>
              <a:buNone/>
            </a:pPr>
            <a:r>
              <a:rPr lang="en-US" sz="4200" b="1" dirty="0">
                <a:solidFill>
                  <a:srgbClr val="FFFFFF"/>
                </a:solidFill>
                <a:latin typeface="Oracle Sans Tab" pitchFamily="34" charset="0"/>
                <a:ea typeface="Oracle Sans Tab" pitchFamily="34" charset="-122"/>
                <a:cs typeface="Oracle Sans Tab" pitchFamily="34" charset="-120"/>
              </a:rPr>
              <a:t>Keep the window</a:t>
            </a:r>
            <a:r>
              <a:rPr lang="en-US" sz="4200" b="1" i="1" dirty="0">
                <a:solidFill>
                  <a:srgbClr val="FD6953"/>
                </a:solidFill>
                <a:latin typeface="Oracle Sans Tab" pitchFamily="34" charset="0"/>
                <a:ea typeface="Oracle Sans Tab" pitchFamily="34" charset="-122"/>
                <a:cs typeface="Oracle Sans Tab" pitchFamily="34" charset="-120"/>
              </a:rPr>
              <a:t>flat.</a:t>
            </a:r>
            <a:endParaRPr lang="en-US" sz="1200" dirty="0"/>
          </a:p>
        </p:txBody>
      </p:sp>
      <p:sp>
        <p:nvSpPr>
          <p:cNvPr id="8" name="Text 5"/>
          <p:cNvSpPr/>
          <p:nvPr/>
        </p:nvSpPr>
        <p:spPr>
          <a:xfrm>
            <a:off x="960096" y="2756989"/>
            <a:ext cx="17235505" cy="476213"/>
          </a:xfrm>
          <a:prstGeom prst="rect">
            <a:avLst/>
          </a:prstGeom>
          <a:noFill/>
          <a:ln/>
        </p:spPr>
        <p:txBody>
          <a:bodyPr wrap="square" lIns="25400" tIns="25400" rIns="25400" bIns="25400" rtlCol="0" anchor="t">
            <a:normAutofit/>
          </a:bodyPr>
          <a:lstStyle/>
          <a:p>
            <a:pPr marL="0" indent="0" algn="l">
              <a:lnSpc>
                <a:spcPct val="76800"/>
              </a:lnSpc>
              <a:buNone/>
            </a:pPr>
            <a:r>
              <a:rPr lang="en-US" sz="1725" i="1" dirty="0">
                <a:solidFill>
                  <a:srgbClr val="C3D7DC"/>
                </a:solidFill>
                <a:latin typeface="Oracle Sans Tab" pitchFamily="34" charset="0"/>
                <a:ea typeface="Oracle Sans Tab" pitchFamily="34" charset="-122"/>
                <a:cs typeface="Oracle Sans Tab" pitchFamily="34" charset="-120"/>
              </a:rPr>
              <a:t>Inside dispatch_tools, every tool result passes through one gate. Small results stay inline; large ones are parked in Oracle and replaced by a short handle, recoverable on demand.</a:t>
            </a:r>
            <a:endParaRPr lang="en-US" sz="1725" dirty="0"/>
          </a:p>
        </p:txBody>
      </p:sp>
      <p:sp>
        <p:nvSpPr>
          <p:cNvPr id="9" name="Shape 6"/>
          <p:cNvSpPr/>
          <p:nvPr/>
        </p:nvSpPr>
        <p:spPr>
          <a:xfrm>
            <a:off x="617172" y="4114788"/>
            <a:ext cx="2674617" cy="3703288"/>
          </a:xfrm>
          <a:prstGeom prst="roundRect">
            <a:avLst>
              <a:gd name="adj" fmla="val 3597"/>
            </a:avLst>
          </a:prstGeom>
          <a:solidFill>
            <a:srgbClr val="C74634"/>
          </a:solidFill>
          <a:ln w="16536">
            <a:solidFill>
              <a:srgbClr val="FD6953"/>
            </a:solidFill>
            <a:prstDash val="solid"/>
          </a:ln>
          <a:effectLst>
            <a:outerShdw blurRad="114300" dist="19050" dir="5400000" algn="bl" rotWithShape="0">
              <a:srgbClr val="000000">
                <a:alpha val="18000"/>
              </a:srgbClr>
            </a:outerShdw>
          </a:effectLst>
        </p:spPr>
        <p:txBody>
          <a:bodyPr/>
          <a:lstStyle/>
          <a:p>
            <a:endParaRPr lang="en-US"/>
          </a:p>
        </p:txBody>
      </p:sp>
      <p:sp>
        <p:nvSpPr>
          <p:cNvPr id="10" name="Text 7"/>
          <p:cNvSpPr/>
          <p:nvPr/>
        </p:nvSpPr>
        <p:spPr>
          <a:xfrm>
            <a:off x="716273" y="4402418"/>
            <a:ext cx="2476467" cy="312399"/>
          </a:xfrm>
          <a:prstGeom prst="rect">
            <a:avLst/>
          </a:prstGeom>
          <a:noFill/>
          <a:ln/>
        </p:spPr>
        <p:txBody>
          <a:bodyPr wrap="square" lIns="25400" tIns="25400" rIns="25400" bIns="25400" rtlCol="0" anchor="t">
            <a:normAutofit/>
          </a:bodyPr>
          <a:lstStyle/>
          <a:p>
            <a:pPr marL="0" indent="0" algn="ctr">
              <a:lnSpc>
                <a:spcPct val="92160"/>
              </a:lnSpc>
              <a:buNone/>
            </a:pPr>
            <a:r>
              <a:rPr lang="en-US" sz="1800" b="1" dirty="0">
                <a:solidFill>
                  <a:srgbClr val="FFFFFF"/>
                </a:solidFill>
                <a:latin typeface="Menlo" pitchFamily="34" charset="0"/>
                <a:ea typeface="Menlo" pitchFamily="34" charset="-122"/>
                <a:cs typeface="Menlo" pitchFamily="34" charset="-120"/>
              </a:rPr>
              <a:t>maybe_offload</a:t>
            </a:r>
            <a:endParaRPr lang="en-US" sz="1800" dirty="0"/>
          </a:p>
        </p:txBody>
      </p:sp>
      <p:sp>
        <p:nvSpPr>
          <p:cNvPr id="11" name="Text 8"/>
          <p:cNvSpPr/>
          <p:nvPr/>
        </p:nvSpPr>
        <p:spPr>
          <a:xfrm>
            <a:off x="771515" y="4800585"/>
            <a:ext cx="2366913" cy="361905"/>
          </a:xfrm>
          <a:prstGeom prst="rect">
            <a:avLst/>
          </a:prstGeom>
          <a:noFill/>
          <a:ln/>
        </p:spPr>
        <p:txBody>
          <a:bodyPr wrap="square" lIns="25400" tIns="25400" rIns="25400" bIns="25400" rtlCol="0" anchor="t">
            <a:normAutofit/>
          </a:bodyPr>
          <a:lstStyle/>
          <a:p>
            <a:pPr marL="0" indent="0" algn="ctr">
              <a:lnSpc>
                <a:spcPct val="76800"/>
              </a:lnSpc>
              <a:buNone/>
            </a:pPr>
            <a:r>
              <a:rPr lang="en-US" sz="1275" i="1" dirty="0">
                <a:solidFill>
                  <a:srgbClr val="FFFFFF"/>
                </a:solidFill>
                <a:latin typeface="Oracle Sans Tab" pitchFamily="34" charset="0"/>
                <a:ea typeface="Oracle Sans Tab" pitchFamily="34" charset="-122"/>
                <a:cs typeface="Oracle Sans Tab" pitchFamily="34" charset="-120"/>
              </a:rPr>
              <a:t>the write-path gate on every tool result</a:t>
            </a:r>
            <a:endParaRPr lang="en-US" sz="1275" dirty="0"/>
          </a:p>
        </p:txBody>
      </p:sp>
      <p:sp>
        <p:nvSpPr>
          <p:cNvPr id="12" name="Shape 9"/>
          <p:cNvSpPr/>
          <p:nvPr/>
        </p:nvSpPr>
        <p:spPr>
          <a:xfrm>
            <a:off x="1028671" y="5705440"/>
            <a:ext cx="1851618" cy="16536"/>
          </a:xfrm>
          <a:prstGeom prst="rect">
            <a:avLst/>
          </a:prstGeom>
          <a:solidFill>
            <a:srgbClr val="E0836F"/>
          </a:solidFill>
          <a:ln/>
        </p:spPr>
        <p:txBody>
          <a:bodyPr/>
          <a:lstStyle/>
          <a:p>
            <a:endParaRPr lang="en-US"/>
          </a:p>
        </p:txBody>
      </p:sp>
      <p:sp>
        <p:nvSpPr>
          <p:cNvPr id="13" name="Text 10"/>
          <p:cNvSpPr/>
          <p:nvPr/>
        </p:nvSpPr>
        <p:spPr>
          <a:xfrm>
            <a:off x="634359" y="5943565"/>
            <a:ext cx="2640294" cy="220931"/>
          </a:xfrm>
          <a:prstGeom prst="rect">
            <a:avLst/>
          </a:prstGeom>
          <a:noFill/>
          <a:ln/>
        </p:spPr>
        <p:txBody>
          <a:bodyPr wrap="square" lIns="25400" tIns="25400" rIns="25400" bIns="25400" rtlCol="0" anchor="t">
            <a:normAutofit lnSpcReduction="10000"/>
          </a:bodyPr>
          <a:lstStyle/>
          <a:p>
            <a:pPr marL="0" indent="0" algn="ctr">
              <a:lnSpc>
                <a:spcPct val="92160"/>
              </a:lnSpc>
              <a:buNone/>
            </a:pPr>
            <a:r>
              <a:rPr lang="en-US" sz="1200" dirty="0">
                <a:solidFill>
                  <a:srgbClr val="FFFFFF"/>
                </a:solidFill>
                <a:latin typeface="Oracle Sans Tab" pitchFamily="34" charset="0"/>
                <a:ea typeface="Oracle Sans Tab" pitchFamily="34" charset="-122"/>
                <a:cs typeface="Oracle Sans Tab" pitchFamily="34" charset="-120"/>
              </a:rPr>
              <a:t>SIZE GATE</a:t>
            </a:r>
            <a:endParaRPr lang="en-US" sz="1200" dirty="0"/>
          </a:p>
        </p:txBody>
      </p:sp>
      <p:sp>
        <p:nvSpPr>
          <p:cNvPr id="14" name="Text 11"/>
          <p:cNvSpPr/>
          <p:nvPr/>
        </p:nvSpPr>
        <p:spPr>
          <a:xfrm>
            <a:off x="716273" y="6227423"/>
            <a:ext cx="2476467" cy="285733"/>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950" b="1" dirty="0">
                <a:solidFill>
                  <a:srgbClr val="FFFFFF"/>
                </a:solidFill>
                <a:latin typeface="Oracle Sans Tab" pitchFamily="34" charset="0"/>
                <a:ea typeface="Oracle Sans Tab" pitchFamily="34" charset="-122"/>
                <a:cs typeface="Oracle Sans Tab" pitchFamily="34" charset="-120"/>
              </a:rPr>
              <a:t>len(result)</a:t>
            </a:r>
            <a:endParaRPr lang="en-US" sz="1950" dirty="0"/>
          </a:p>
        </p:txBody>
      </p:sp>
      <p:sp>
        <p:nvSpPr>
          <p:cNvPr id="15" name="Text 12"/>
          <p:cNvSpPr/>
          <p:nvPr/>
        </p:nvSpPr>
        <p:spPr>
          <a:xfrm>
            <a:off x="716273" y="6475057"/>
            <a:ext cx="2476467" cy="285733"/>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950" b="1" dirty="0">
                <a:solidFill>
                  <a:srgbClr val="FFFFFF"/>
                </a:solidFill>
                <a:latin typeface="Oracle Sans Tab" pitchFamily="34" charset="0"/>
                <a:ea typeface="Oracle Sans Tab" pitchFamily="34" charset="-122"/>
                <a:cs typeface="Oracle Sans Tab" pitchFamily="34" charset="-120"/>
              </a:rPr>
              <a:t>≥ 1200 ?</a:t>
            </a:r>
            <a:endParaRPr lang="en-US" sz="1950" dirty="0"/>
          </a:p>
        </p:txBody>
      </p:sp>
      <p:sp>
        <p:nvSpPr>
          <p:cNvPr id="16" name="Text 13"/>
          <p:cNvSpPr/>
          <p:nvPr/>
        </p:nvSpPr>
        <p:spPr>
          <a:xfrm>
            <a:off x="695079" y="7241832"/>
            <a:ext cx="2519784" cy="190907"/>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125" i="1" dirty="0">
                <a:solidFill>
                  <a:srgbClr val="FFFFFF"/>
                </a:solidFill>
                <a:latin typeface="Oracle Sans Tab" pitchFamily="34" charset="0"/>
                <a:ea typeface="Oracle Sans Tab" pitchFamily="34" charset="-122"/>
                <a:cs typeface="Oracle Sans Tab" pitchFamily="34" charset="-120"/>
              </a:rPr>
              <a:t>md5 hash names each payload</a:t>
            </a:r>
            <a:endParaRPr lang="en-US" sz="1125" dirty="0"/>
          </a:p>
        </p:txBody>
      </p:sp>
      <p:sp>
        <p:nvSpPr>
          <p:cNvPr id="17" name="Shape 14"/>
          <p:cNvSpPr/>
          <p:nvPr/>
        </p:nvSpPr>
        <p:spPr>
          <a:xfrm>
            <a:off x="3771863" y="4333844"/>
            <a:ext cx="3497564" cy="685798"/>
          </a:xfrm>
          <a:prstGeom prst="roundRect">
            <a:avLst>
              <a:gd name="adj" fmla="val 14028"/>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8" name="Text 15"/>
          <p:cNvSpPr/>
          <p:nvPr/>
        </p:nvSpPr>
        <p:spPr>
          <a:xfrm>
            <a:off x="3909012" y="4568145"/>
            <a:ext cx="3620967"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b="1" dirty="0">
                <a:solidFill>
                  <a:srgbClr val="FFFFFF"/>
                </a:solidFill>
                <a:latin typeface="Oracle Sans Tab" pitchFamily="34" charset="0"/>
                <a:ea typeface="Oracle Sans Tab" pitchFamily="34" charset="-122"/>
                <a:cs typeface="Oracle Sans Tab" pitchFamily="34" charset="-120"/>
              </a:rPr>
              <a:t>kept inline</a:t>
            </a:r>
            <a:r>
              <a:rPr lang="en-US" sz="1275" dirty="0">
                <a:solidFill>
                  <a:srgbClr val="C3D7DC"/>
                </a:solidFill>
                <a:latin typeface="Oracle Sans Tab" pitchFamily="34" charset="0"/>
                <a:ea typeface="Oracle Sans Tab" pitchFamily="34" charset="-122"/>
                <a:cs typeface="Oracle Sans Tab" pitchFamily="34" charset="-120"/>
              </a:rPr>
              <a:t>returned unchanged</a:t>
            </a:r>
            <a:endParaRPr lang="en-US" sz="1200" dirty="0"/>
          </a:p>
        </p:txBody>
      </p:sp>
      <p:sp>
        <p:nvSpPr>
          <p:cNvPr id="19" name="Shape 16"/>
          <p:cNvSpPr/>
          <p:nvPr/>
        </p:nvSpPr>
        <p:spPr>
          <a:xfrm>
            <a:off x="3291789" y="4676769"/>
            <a:ext cx="480022" cy="26458"/>
          </a:xfrm>
          <a:prstGeom prst="rect">
            <a:avLst/>
          </a:prstGeom>
          <a:solidFill>
            <a:srgbClr val="FFFFFF">
              <a:alpha val="30000"/>
            </a:srgbClr>
          </a:solidFill>
          <a:ln/>
        </p:spPr>
        <p:txBody>
          <a:bodyPr/>
          <a:lstStyle/>
          <a:p>
            <a:endParaRPr lang="en-US"/>
          </a:p>
        </p:txBody>
      </p:sp>
      <p:sp>
        <p:nvSpPr>
          <p:cNvPr id="20" name="Shape 17"/>
          <p:cNvSpPr/>
          <p:nvPr/>
        </p:nvSpPr>
        <p:spPr>
          <a:xfrm>
            <a:off x="3646134" y="4594086"/>
            <a:ext cx="125677" cy="165365"/>
          </a:xfrm>
          <a:prstGeom prst="rect">
            <a:avLst/>
          </a:prstGeom>
          <a:solidFill>
            <a:srgbClr val="FFFFFF">
              <a:alpha val="30000"/>
            </a:srgbClr>
          </a:solidFill>
          <a:ln/>
        </p:spPr>
        <p:txBody>
          <a:bodyPr/>
          <a:lstStyle/>
          <a:p>
            <a:endParaRPr lang="en-US"/>
          </a:p>
        </p:txBody>
      </p:sp>
      <p:sp>
        <p:nvSpPr>
          <p:cNvPr id="21" name="Text 18"/>
          <p:cNvSpPr/>
          <p:nvPr/>
        </p:nvSpPr>
        <p:spPr>
          <a:xfrm>
            <a:off x="3253689" y="4407638"/>
            <a:ext cx="899147" cy="220931"/>
          </a:xfrm>
          <a:prstGeom prst="rect">
            <a:avLst/>
          </a:prstGeom>
          <a:noFill/>
          <a:ln/>
        </p:spPr>
        <p:txBody>
          <a:bodyPr wrap="square" lIns="25400" tIns="25400" rIns="25400" bIns="25400" rtlCol="0" anchor="t">
            <a:normAutofit/>
          </a:bodyPr>
          <a:lstStyle/>
          <a:p>
            <a:pPr marL="0" indent="0" algn="ctr">
              <a:lnSpc>
                <a:spcPct val="92160"/>
              </a:lnSpc>
              <a:buNone/>
            </a:pPr>
            <a:r>
              <a:rPr lang="en-US" sz="1125" i="1" dirty="0">
                <a:solidFill>
                  <a:srgbClr val="C3D7DC"/>
                </a:solidFill>
                <a:latin typeface="Oracle Sans Tab" pitchFamily="34" charset="0"/>
                <a:ea typeface="Oracle Sans Tab" pitchFamily="34" charset="-122"/>
                <a:cs typeface="Oracle Sans Tab" pitchFamily="34" charset="-120"/>
              </a:rPr>
              <a:t>&lt; 1200</a:t>
            </a:r>
            <a:endParaRPr lang="en-US" sz="1125" dirty="0"/>
          </a:p>
        </p:txBody>
      </p:sp>
      <p:sp>
        <p:nvSpPr>
          <p:cNvPr id="22" name="Shape 19"/>
          <p:cNvSpPr/>
          <p:nvPr/>
        </p:nvSpPr>
        <p:spPr>
          <a:xfrm>
            <a:off x="7269478" y="4676769"/>
            <a:ext cx="6926554" cy="26458"/>
          </a:xfrm>
          <a:prstGeom prst="rect">
            <a:avLst/>
          </a:prstGeom>
          <a:solidFill>
            <a:srgbClr val="FFFFFF">
              <a:alpha val="30000"/>
            </a:srgbClr>
          </a:solidFill>
          <a:ln/>
        </p:spPr>
        <p:txBody>
          <a:bodyPr/>
          <a:lstStyle/>
          <a:p>
            <a:endParaRPr lang="en-US"/>
          </a:p>
        </p:txBody>
      </p:sp>
      <p:sp>
        <p:nvSpPr>
          <p:cNvPr id="23" name="Shape 20"/>
          <p:cNvSpPr/>
          <p:nvPr/>
        </p:nvSpPr>
        <p:spPr>
          <a:xfrm>
            <a:off x="14070355" y="4594086"/>
            <a:ext cx="125677" cy="165365"/>
          </a:xfrm>
          <a:prstGeom prst="rect">
            <a:avLst/>
          </a:prstGeom>
          <a:solidFill>
            <a:srgbClr val="FFFFFF">
              <a:alpha val="30000"/>
            </a:srgbClr>
          </a:solidFill>
          <a:ln/>
        </p:spPr>
        <p:txBody>
          <a:bodyPr/>
          <a:lstStyle/>
          <a:p>
            <a:endParaRPr lang="en-US"/>
          </a:p>
        </p:txBody>
      </p:sp>
      <p:sp>
        <p:nvSpPr>
          <p:cNvPr id="24" name="Text 21"/>
          <p:cNvSpPr/>
          <p:nvPr/>
        </p:nvSpPr>
        <p:spPr>
          <a:xfrm>
            <a:off x="8579342" y="4435285"/>
            <a:ext cx="4375402" cy="220931"/>
          </a:xfrm>
          <a:prstGeom prst="rect">
            <a:avLst/>
          </a:prstGeom>
          <a:noFill/>
          <a:ln/>
        </p:spPr>
        <p:txBody>
          <a:bodyPr wrap="square" lIns="25400" tIns="25400" rIns="25400" bIns="25400" rtlCol="0" anchor="t">
            <a:normAutofit/>
          </a:bodyPr>
          <a:lstStyle/>
          <a:p>
            <a:pPr marL="0" indent="0" algn="ctr">
              <a:lnSpc>
                <a:spcPct val="92160"/>
              </a:lnSpc>
              <a:buNone/>
            </a:pPr>
            <a:r>
              <a:rPr lang="en-US" sz="1125" i="1" dirty="0">
                <a:solidFill>
                  <a:srgbClr val="9FBBC3"/>
                </a:solidFill>
                <a:latin typeface="Oracle Sans Tab" pitchFamily="34" charset="0"/>
                <a:ea typeface="Oracle Sans Tab" pitchFamily="34" charset="-122"/>
                <a:cs typeface="Oracle Sans Tab" pitchFamily="34" charset="-120"/>
              </a:rPr>
              <a:t>small results bypass the stores</a:t>
            </a:r>
            <a:endParaRPr lang="en-US" sz="1125" dirty="0"/>
          </a:p>
        </p:txBody>
      </p:sp>
      <p:sp>
        <p:nvSpPr>
          <p:cNvPr id="25" name="Shape 22"/>
          <p:cNvSpPr/>
          <p:nvPr/>
        </p:nvSpPr>
        <p:spPr>
          <a:xfrm>
            <a:off x="3771863" y="5568290"/>
            <a:ext cx="2537416" cy="850542"/>
          </a:xfrm>
          <a:prstGeom prst="roundRect">
            <a:avLst>
              <a:gd name="adj" fmla="val 11311"/>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26" name="Text 23"/>
          <p:cNvSpPr/>
          <p:nvPr/>
        </p:nvSpPr>
        <p:spPr>
          <a:xfrm>
            <a:off x="3735136" y="5841142"/>
            <a:ext cx="2609939"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dirty="0">
                <a:solidFill>
                  <a:srgbClr val="FFFFFF"/>
                </a:solidFill>
                <a:latin typeface="Oracle Sans Tab" pitchFamily="34" charset="0"/>
                <a:ea typeface="Oracle Sans Tab" pitchFamily="34" charset="-122"/>
                <a:cs typeface="Oracle Sans Tab" pitchFamily="34" charset="-120"/>
              </a:rPr>
              <a:t>embed in-DB</a:t>
            </a:r>
            <a:endParaRPr lang="en-US" sz="1200" dirty="0"/>
          </a:p>
        </p:txBody>
      </p:sp>
      <p:sp>
        <p:nvSpPr>
          <p:cNvPr id="27" name="Text 24"/>
          <p:cNvSpPr/>
          <p:nvPr/>
        </p:nvSpPr>
        <p:spPr>
          <a:xfrm>
            <a:off x="3735136" y="5993536"/>
            <a:ext cx="2609939" cy="190494"/>
          </a:xfrm>
          <a:prstGeom prst="rect">
            <a:avLst/>
          </a:prstGeom>
          <a:noFill/>
          <a:ln/>
        </p:spPr>
        <p:txBody>
          <a:bodyPr wrap="square" lIns="25400" tIns="25400" rIns="25400" bIns="25400" rtlCol="0" anchor="t">
            <a:normAutofit lnSpcReduction="10000"/>
          </a:bodyPr>
          <a:lstStyle/>
          <a:p>
            <a:pPr marL="0" indent="0" algn="ctr">
              <a:lnSpc>
                <a:spcPct val="76800"/>
              </a:lnSpc>
              <a:buNone/>
            </a:pPr>
            <a:r>
              <a:rPr lang="en-US" sz="1200" dirty="0">
                <a:solidFill>
                  <a:srgbClr val="FFFFFF"/>
                </a:solidFill>
                <a:latin typeface="Oracle Sans Tab" pitchFamily="34" charset="0"/>
                <a:ea typeface="Oracle Sans Tab" pitchFamily="34" charset="-122"/>
                <a:cs typeface="Oracle Sans Tab" pitchFamily="34" charset="-120"/>
              </a:rPr>
              <a:t>VECTOR_EMBEDDING · 384-d</a:t>
            </a:r>
            <a:endParaRPr lang="en-US" sz="1200" dirty="0"/>
          </a:p>
        </p:txBody>
      </p:sp>
      <p:sp>
        <p:nvSpPr>
          <p:cNvPr id="28" name="Shape 25"/>
          <p:cNvSpPr/>
          <p:nvPr/>
        </p:nvSpPr>
        <p:spPr>
          <a:xfrm>
            <a:off x="3291789" y="5994053"/>
            <a:ext cx="480022" cy="26458"/>
          </a:xfrm>
          <a:prstGeom prst="rect">
            <a:avLst/>
          </a:prstGeom>
          <a:solidFill>
            <a:srgbClr val="FD6953"/>
          </a:solidFill>
          <a:ln/>
        </p:spPr>
        <p:txBody>
          <a:bodyPr/>
          <a:lstStyle/>
          <a:p>
            <a:endParaRPr lang="en-US"/>
          </a:p>
        </p:txBody>
      </p:sp>
      <p:sp>
        <p:nvSpPr>
          <p:cNvPr id="29" name="Shape 26"/>
          <p:cNvSpPr/>
          <p:nvPr/>
        </p:nvSpPr>
        <p:spPr>
          <a:xfrm>
            <a:off x="3646134" y="5911370"/>
            <a:ext cx="125677" cy="165365"/>
          </a:xfrm>
          <a:prstGeom prst="rect">
            <a:avLst/>
          </a:prstGeom>
          <a:solidFill>
            <a:srgbClr val="FD6953"/>
          </a:solidFill>
          <a:ln/>
        </p:spPr>
        <p:txBody>
          <a:bodyPr/>
          <a:lstStyle/>
          <a:p>
            <a:endParaRPr lang="en-US"/>
          </a:p>
        </p:txBody>
      </p:sp>
      <p:sp>
        <p:nvSpPr>
          <p:cNvPr id="30" name="Text 27"/>
          <p:cNvSpPr/>
          <p:nvPr/>
        </p:nvSpPr>
        <p:spPr>
          <a:xfrm>
            <a:off x="3185114" y="5723991"/>
            <a:ext cx="1145850" cy="220931"/>
          </a:xfrm>
          <a:prstGeom prst="rect">
            <a:avLst/>
          </a:prstGeom>
          <a:noFill/>
          <a:ln/>
        </p:spPr>
        <p:txBody>
          <a:bodyPr wrap="square" lIns="25400" tIns="25400" rIns="25400" bIns="25400" rtlCol="0" anchor="t">
            <a:normAutofit/>
          </a:bodyPr>
          <a:lstStyle/>
          <a:p>
            <a:pPr marL="0" indent="0" algn="ctr">
              <a:lnSpc>
                <a:spcPct val="92160"/>
              </a:lnSpc>
              <a:buNone/>
            </a:pPr>
            <a:r>
              <a:rPr lang="en-US" sz="1050" i="1" dirty="0">
                <a:solidFill>
                  <a:srgbClr val="FD6953"/>
                </a:solidFill>
                <a:latin typeface="Oracle Sans Tab" pitchFamily="34" charset="0"/>
                <a:ea typeface="Oracle Sans Tab" pitchFamily="34" charset="-122"/>
                <a:cs typeface="Oracle Sans Tab" pitchFamily="34" charset="-120"/>
              </a:rPr>
              <a:t>≥1200 · { [</a:t>
            </a:r>
            <a:endParaRPr lang="en-US" sz="1050" dirty="0"/>
          </a:p>
        </p:txBody>
      </p:sp>
      <p:sp>
        <p:nvSpPr>
          <p:cNvPr id="31" name="Shape 28"/>
          <p:cNvSpPr/>
          <p:nvPr/>
        </p:nvSpPr>
        <p:spPr>
          <a:xfrm>
            <a:off x="6515054" y="5390162"/>
            <a:ext cx="4526235" cy="1234395"/>
          </a:xfrm>
          <a:prstGeom prst="roundRect">
            <a:avLst>
              <a:gd name="adj" fmla="val 7793"/>
            </a:avLst>
          </a:prstGeom>
          <a:solidFill>
            <a:srgbClr val="0B5060"/>
          </a:solidFill>
          <a:ln w="23151">
            <a:solidFill>
              <a:srgbClr val="FD6953"/>
            </a:solidFill>
            <a:prstDash val="solid"/>
          </a:ln>
          <a:effectLst>
            <a:outerShdw blurRad="114300" dist="19050" dir="5400000" algn="bl" rotWithShape="0">
              <a:srgbClr val="000000">
                <a:alpha val="18000"/>
              </a:srgbClr>
            </a:outerShdw>
          </a:effectLst>
        </p:spPr>
        <p:txBody>
          <a:bodyPr/>
          <a:lstStyle/>
          <a:p>
            <a:endParaRPr lang="en-US"/>
          </a:p>
        </p:txBody>
      </p:sp>
      <p:pic>
        <p:nvPicPr>
          <p:cNvPr id="32" name="Image 1" descr="preencoded.png"/>
          <p:cNvPicPr>
            <a:picLocks noChangeAspect="1"/>
          </p:cNvPicPr>
          <p:nvPr/>
        </p:nvPicPr>
        <p:blipFill>
          <a:blip r:embed="rId4"/>
          <a:srcRect/>
          <a:stretch/>
        </p:blipFill>
        <p:spPr>
          <a:xfrm>
            <a:off x="6734162" y="5760682"/>
            <a:ext cx="493355" cy="493355"/>
          </a:xfrm>
          <a:prstGeom prst="rect">
            <a:avLst/>
          </a:prstGeom>
        </p:spPr>
      </p:pic>
      <p:sp>
        <p:nvSpPr>
          <p:cNvPr id="33" name="Text 29"/>
          <p:cNvSpPr/>
          <p:nvPr/>
        </p:nvSpPr>
        <p:spPr>
          <a:xfrm>
            <a:off x="7393295" y="5554958"/>
            <a:ext cx="3802243"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b="1" dirty="0">
                <a:solidFill>
                  <a:srgbClr val="FFFFFF"/>
                </a:solidFill>
                <a:latin typeface="Menlo" pitchFamily="34" charset="0"/>
                <a:ea typeface="Menlo" pitchFamily="34" charset="-122"/>
                <a:cs typeface="Menlo" pitchFamily="34" charset="-120"/>
              </a:rPr>
              <a:t>agent_tool_log</a:t>
            </a:r>
            <a:endParaRPr lang="en-US" sz="1575" dirty="0"/>
          </a:p>
        </p:txBody>
      </p:sp>
      <p:sp>
        <p:nvSpPr>
          <p:cNvPr id="34" name="Text 30"/>
          <p:cNvSpPr/>
          <p:nvPr/>
        </p:nvSpPr>
        <p:spPr>
          <a:xfrm>
            <a:off x="7393295" y="5911215"/>
            <a:ext cx="3560282" cy="342888"/>
          </a:xfrm>
          <a:prstGeom prst="rect">
            <a:avLst/>
          </a:prstGeom>
          <a:noFill/>
          <a:ln/>
        </p:spPr>
        <p:txBody>
          <a:bodyPr wrap="square" lIns="25400" tIns="25400" rIns="25400" bIns="25400" rtlCol="0" anchor="t">
            <a:normAutofit/>
          </a:bodyPr>
          <a:lstStyle/>
          <a:p>
            <a:pPr marL="0" indent="0" algn="l">
              <a:lnSpc>
                <a:spcPct val="76800"/>
              </a:lnSpc>
              <a:buNone/>
            </a:pPr>
            <a:r>
              <a:rPr lang="en-US" sz="1200" dirty="0">
                <a:solidFill>
                  <a:srgbClr val="C3D7DC"/>
                </a:solidFill>
                <a:latin typeface="Oracle Sans Tab" pitchFamily="34" charset="0"/>
                <a:ea typeface="Oracle Sans Tab" pitchFamily="34" charset="-122"/>
                <a:cs typeface="Oracle Sans Tab" pitchFamily="34" charset="-120"/>
              </a:rPr>
              <a:t>id · tool · payload CLOB · embedding VECTOR(384) · HNSW</a:t>
            </a:r>
            <a:endParaRPr lang="en-US" sz="1200" dirty="0"/>
          </a:p>
        </p:txBody>
      </p:sp>
      <p:sp>
        <p:nvSpPr>
          <p:cNvPr id="35" name="Text 31"/>
          <p:cNvSpPr/>
          <p:nvPr/>
        </p:nvSpPr>
        <p:spPr>
          <a:xfrm>
            <a:off x="7393295" y="6254088"/>
            <a:ext cx="3802243" cy="220931"/>
          </a:xfrm>
          <a:prstGeom prst="rect">
            <a:avLst/>
          </a:prstGeom>
          <a:noFill/>
          <a:ln/>
        </p:spPr>
        <p:txBody>
          <a:bodyPr wrap="square" lIns="25400" tIns="25400" rIns="25400" bIns="25400" rtlCol="0" anchor="t">
            <a:normAutofit lnSpcReduction="10000"/>
          </a:bodyPr>
          <a:lstStyle/>
          <a:p>
            <a:pPr marL="0" indent="0" algn="l">
              <a:lnSpc>
                <a:spcPct val="92160"/>
              </a:lnSpc>
              <a:buNone/>
            </a:pPr>
            <a:r>
              <a:rPr lang="en-US" sz="1200" i="1" dirty="0">
                <a:solidFill>
                  <a:srgbClr val="FD6953"/>
                </a:solidFill>
                <a:latin typeface="Oracle Sans Tab" pitchFamily="34" charset="0"/>
                <a:ea typeface="Oracle Sans Tab" pitchFamily="34" charset="-122"/>
                <a:cs typeface="Oracle Sans Tab" pitchFamily="34" charset="-120"/>
              </a:rPr>
              <a:t>vector-searchable in-DB</a:t>
            </a:r>
            <a:endParaRPr lang="en-US" sz="1200" dirty="0"/>
          </a:p>
        </p:txBody>
      </p:sp>
      <p:sp>
        <p:nvSpPr>
          <p:cNvPr id="36" name="Shape 32"/>
          <p:cNvSpPr/>
          <p:nvPr/>
        </p:nvSpPr>
        <p:spPr>
          <a:xfrm>
            <a:off x="6309331" y="5994053"/>
            <a:ext cx="205724" cy="26458"/>
          </a:xfrm>
          <a:prstGeom prst="rect">
            <a:avLst/>
          </a:prstGeom>
          <a:solidFill>
            <a:srgbClr val="FD6953"/>
          </a:solidFill>
          <a:ln/>
        </p:spPr>
        <p:txBody>
          <a:bodyPr/>
          <a:lstStyle/>
          <a:p>
            <a:endParaRPr lang="en-US"/>
          </a:p>
        </p:txBody>
      </p:sp>
      <p:sp>
        <p:nvSpPr>
          <p:cNvPr id="37" name="Shape 33"/>
          <p:cNvSpPr/>
          <p:nvPr/>
        </p:nvSpPr>
        <p:spPr>
          <a:xfrm>
            <a:off x="6389377" y="5911370"/>
            <a:ext cx="125677" cy="165365"/>
          </a:xfrm>
          <a:prstGeom prst="rect">
            <a:avLst/>
          </a:prstGeom>
          <a:solidFill>
            <a:srgbClr val="FD6953"/>
          </a:solidFill>
          <a:ln/>
        </p:spPr>
        <p:txBody>
          <a:bodyPr/>
          <a:lstStyle/>
          <a:p>
            <a:endParaRPr lang="en-US"/>
          </a:p>
        </p:txBody>
      </p:sp>
      <p:sp>
        <p:nvSpPr>
          <p:cNvPr id="38" name="Shape 34"/>
          <p:cNvSpPr/>
          <p:nvPr/>
        </p:nvSpPr>
        <p:spPr>
          <a:xfrm>
            <a:off x="11315692" y="5705440"/>
            <a:ext cx="2605991" cy="576244"/>
          </a:xfrm>
          <a:prstGeom prst="roundRect">
            <a:avLst>
              <a:gd name="adj" fmla="val 19009"/>
            </a:avLst>
          </a:prstGeom>
          <a:solidFill>
            <a:srgbClr val="0B5060"/>
          </a:solidFill>
          <a:ln w="16536">
            <a:solidFill>
              <a:srgbClr val="E0836F"/>
            </a:solidFill>
            <a:prstDash val="solid"/>
          </a:ln>
        </p:spPr>
        <p:txBody>
          <a:bodyPr/>
          <a:lstStyle/>
          <a:p>
            <a:endParaRPr lang="en-US"/>
          </a:p>
        </p:txBody>
      </p:sp>
      <p:sp>
        <p:nvSpPr>
          <p:cNvPr id="39" name="Text 35"/>
          <p:cNvSpPr/>
          <p:nvPr/>
        </p:nvSpPr>
        <p:spPr>
          <a:xfrm>
            <a:off x="11260824" y="5890700"/>
            <a:ext cx="2715726"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b="1" dirty="0">
                <a:solidFill>
                  <a:srgbClr val="FD6953"/>
                </a:solidFill>
                <a:latin typeface="Menlo" pitchFamily="34" charset="0"/>
                <a:ea typeface="Menlo" pitchFamily="34" charset="-122"/>
                <a:cs typeface="Menlo" pitchFamily="34" charset="-120"/>
              </a:rPr>
              <a:t>[tool_log:&lt;id&gt;]</a:t>
            </a:r>
            <a:endParaRPr lang="en-US" sz="1350" dirty="0"/>
          </a:p>
        </p:txBody>
      </p:sp>
      <p:sp>
        <p:nvSpPr>
          <p:cNvPr id="40" name="Shape 36"/>
          <p:cNvSpPr/>
          <p:nvPr/>
        </p:nvSpPr>
        <p:spPr>
          <a:xfrm>
            <a:off x="11041341" y="5994053"/>
            <a:ext cx="274299" cy="26458"/>
          </a:xfrm>
          <a:prstGeom prst="rect">
            <a:avLst/>
          </a:prstGeom>
          <a:solidFill>
            <a:srgbClr val="FD6953"/>
          </a:solidFill>
          <a:ln/>
        </p:spPr>
        <p:txBody>
          <a:bodyPr/>
          <a:lstStyle/>
          <a:p>
            <a:endParaRPr lang="en-US"/>
          </a:p>
        </p:txBody>
      </p:sp>
      <p:sp>
        <p:nvSpPr>
          <p:cNvPr id="41" name="Shape 37"/>
          <p:cNvSpPr/>
          <p:nvPr/>
        </p:nvSpPr>
        <p:spPr>
          <a:xfrm>
            <a:off x="11189962" y="5911370"/>
            <a:ext cx="125677" cy="165365"/>
          </a:xfrm>
          <a:prstGeom prst="rect">
            <a:avLst/>
          </a:prstGeom>
          <a:solidFill>
            <a:srgbClr val="FD6953"/>
          </a:solidFill>
          <a:ln/>
        </p:spPr>
        <p:txBody>
          <a:bodyPr/>
          <a:lstStyle/>
          <a:p>
            <a:endParaRPr lang="en-US"/>
          </a:p>
        </p:txBody>
      </p:sp>
      <p:sp>
        <p:nvSpPr>
          <p:cNvPr id="42" name="Shape 38"/>
          <p:cNvSpPr/>
          <p:nvPr/>
        </p:nvSpPr>
        <p:spPr>
          <a:xfrm>
            <a:off x="13921734" y="5994053"/>
            <a:ext cx="274299" cy="26458"/>
          </a:xfrm>
          <a:prstGeom prst="rect">
            <a:avLst/>
          </a:prstGeom>
          <a:solidFill>
            <a:srgbClr val="FD6953"/>
          </a:solidFill>
          <a:ln/>
        </p:spPr>
        <p:txBody>
          <a:bodyPr/>
          <a:lstStyle/>
          <a:p>
            <a:endParaRPr lang="en-US"/>
          </a:p>
        </p:txBody>
      </p:sp>
      <p:sp>
        <p:nvSpPr>
          <p:cNvPr id="43" name="Shape 39"/>
          <p:cNvSpPr/>
          <p:nvPr/>
        </p:nvSpPr>
        <p:spPr>
          <a:xfrm>
            <a:off x="14070355" y="5911370"/>
            <a:ext cx="125677" cy="165365"/>
          </a:xfrm>
          <a:prstGeom prst="rect">
            <a:avLst/>
          </a:prstGeom>
          <a:solidFill>
            <a:srgbClr val="FD6953"/>
          </a:solidFill>
          <a:ln/>
        </p:spPr>
        <p:txBody>
          <a:bodyPr/>
          <a:lstStyle/>
          <a:p>
            <a:endParaRPr lang="en-US"/>
          </a:p>
        </p:txBody>
      </p:sp>
      <p:sp>
        <p:nvSpPr>
          <p:cNvPr id="44" name="Shape 40"/>
          <p:cNvSpPr/>
          <p:nvPr/>
        </p:nvSpPr>
        <p:spPr>
          <a:xfrm>
            <a:off x="3291789" y="7447555"/>
            <a:ext cx="3223214" cy="26458"/>
          </a:xfrm>
          <a:prstGeom prst="rect">
            <a:avLst/>
          </a:prstGeom>
          <a:solidFill>
            <a:srgbClr val="FD6953"/>
          </a:solidFill>
          <a:ln/>
        </p:spPr>
        <p:txBody>
          <a:bodyPr/>
          <a:lstStyle/>
          <a:p>
            <a:endParaRPr lang="en-US"/>
          </a:p>
        </p:txBody>
      </p:sp>
      <p:sp>
        <p:nvSpPr>
          <p:cNvPr id="45" name="Shape 41"/>
          <p:cNvSpPr/>
          <p:nvPr/>
        </p:nvSpPr>
        <p:spPr>
          <a:xfrm>
            <a:off x="6389326" y="7364873"/>
            <a:ext cx="125677" cy="165365"/>
          </a:xfrm>
          <a:prstGeom prst="rect">
            <a:avLst/>
          </a:prstGeom>
          <a:solidFill>
            <a:srgbClr val="FD6953"/>
          </a:solidFill>
          <a:ln/>
        </p:spPr>
        <p:txBody>
          <a:bodyPr/>
          <a:lstStyle/>
          <a:p>
            <a:endParaRPr lang="en-US"/>
          </a:p>
        </p:txBody>
      </p:sp>
      <p:sp>
        <p:nvSpPr>
          <p:cNvPr id="46" name="Text 42"/>
          <p:cNvSpPr/>
          <p:nvPr/>
        </p:nvSpPr>
        <p:spPr>
          <a:xfrm>
            <a:off x="3939914" y="7178476"/>
            <a:ext cx="2338565" cy="220931"/>
          </a:xfrm>
          <a:prstGeom prst="rect">
            <a:avLst/>
          </a:prstGeom>
          <a:noFill/>
          <a:ln/>
        </p:spPr>
        <p:txBody>
          <a:bodyPr wrap="square" lIns="25400" tIns="25400" rIns="25400" bIns="25400" rtlCol="0" anchor="t">
            <a:normAutofit/>
          </a:bodyPr>
          <a:lstStyle/>
          <a:p>
            <a:pPr marL="0" indent="0" algn="ctr">
              <a:lnSpc>
                <a:spcPct val="92160"/>
              </a:lnSpc>
              <a:buNone/>
            </a:pPr>
            <a:r>
              <a:rPr lang="en-US" sz="1125" i="1" dirty="0">
                <a:solidFill>
                  <a:srgbClr val="FD6953"/>
                </a:solidFill>
                <a:latin typeface="Oracle Sans Tab" pitchFamily="34" charset="0"/>
                <a:ea typeface="Oracle Sans Tab" pitchFamily="34" charset="-122"/>
                <a:cs typeface="Oracle Sans Tab" pitchFamily="34" charset="-120"/>
              </a:rPr>
              <a:t>≥1200 · else</a:t>
            </a:r>
            <a:endParaRPr lang="en-US" sz="1125" dirty="0"/>
          </a:p>
        </p:txBody>
      </p:sp>
      <p:sp>
        <p:nvSpPr>
          <p:cNvPr id="47" name="Shape 43"/>
          <p:cNvSpPr/>
          <p:nvPr/>
        </p:nvSpPr>
        <p:spPr>
          <a:xfrm>
            <a:off x="6515054" y="6844647"/>
            <a:ext cx="4526235" cy="1234395"/>
          </a:xfrm>
          <a:prstGeom prst="roundRect">
            <a:avLst>
              <a:gd name="adj" fmla="val 7793"/>
            </a:avLst>
          </a:prstGeom>
          <a:solidFill>
            <a:srgbClr val="0B5060"/>
          </a:solidFill>
          <a:ln w="23151">
            <a:solidFill>
              <a:srgbClr val="FD6953"/>
            </a:solidFill>
            <a:prstDash val="solid"/>
          </a:ln>
          <a:effectLst>
            <a:outerShdw blurRad="114300" dist="19050" dir="5400000" algn="bl" rotWithShape="0">
              <a:srgbClr val="000000">
                <a:alpha val="18000"/>
              </a:srgbClr>
            </a:outerShdw>
          </a:effectLst>
        </p:spPr>
        <p:txBody>
          <a:bodyPr/>
          <a:lstStyle/>
          <a:p>
            <a:endParaRPr lang="en-US"/>
          </a:p>
        </p:txBody>
      </p:sp>
      <p:pic>
        <p:nvPicPr>
          <p:cNvPr id="48" name="Image 2" descr="preencoded.png"/>
          <p:cNvPicPr>
            <a:picLocks noChangeAspect="1"/>
          </p:cNvPicPr>
          <p:nvPr/>
        </p:nvPicPr>
        <p:blipFill>
          <a:blip r:embed="rId5"/>
          <a:srcRect/>
          <a:stretch/>
        </p:blipFill>
        <p:spPr>
          <a:xfrm>
            <a:off x="6734162" y="7214185"/>
            <a:ext cx="493355" cy="493355"/>
          </a:xfrm>
          <a:prstGeom prst="rect">
            <a:avLst/>
          </a:prstGeom>
        </p:spPr>
      </p:pic>
      <p:sp>
        <p:nvSpPr>
          <p:cNvPr id="49" name="Text 44"/>
          <p:cNvSpPr/>
          <p:nvPr/>
        </p:nvSpPr>
        <p:spPr>
          <a:xfrm>
            <a:off x="7393295" y="7008461"/>
            <a:ext cx="3802243"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b="1" dirty="0">
                <a:solidFill>
                  <a:srgbClr val="FFFFFF"/>
                </a:solidFill>
                <a:latin typeface="Menlo" pitchFamily="34" charset="0"/>
                <a:ea typeface="Menlo" pitchFamily="34" charset="-122"/>
                <a:cs typeface="Menlo" pitchFamily="34" charset="-120"/>
              </a:rPr>
              <a:t>/tool_out/&lt;tool&gt;_&lt;md5&gt;.txt</a:t>
            </a:r>
            <a:endParaRPr lang="en-US" sz="1575" dirty="0"/>
          </a:p>
        </p:txBody>
      </p:sp>
      <p:sp>
        <p:nvSpPr>
          <p:cNvPr id="50" name="Text 45"/>
          <p:cNvSpPr/>
          <p:nvPr/>
        </p:nvSpPr>
        <p:spPr>
          <a:xfrm>
            <a:off x="7393295" y="7365648"/>
            <a:ext cx="3560282" cy="342888"/>
          </a:xfrm>
          <a:prstGeom prst="rect">
            <a:avLst/>
          </a:prstGeom>
          <a:noFill/>
          <a:ln/>
        </p:spPr>
        <p:txBody>
          <a:bodyPr wrap="square" lIns="25400" tIns="25400" rIns="25400" bIns="25400" rtlCol="0" anchor="t">
            <a:normAutofit/>
          </a:bodyPr>
          <a:lstStyle/>
          <a:p>
            <a:pPr marL="0" indent="0" algn="l">
              <a:lnSpc>
                <a:spcPct val="76800"/>
              </a:lnSpc>
              <a:buNone/>
            </a:pPr>
            <a:r>
              <a:rPr lang="en-US" sz="1200" dirty="0">
                <a:solidFill>
                  <a:srgbClr val="C3D7DC"/>
                </a:solidFill>
                <a:latin typeface="Oracle Sans Tab" pitchFamily="34" charset="0"/>
                <a:ea typeface="Oracle Sans Tab" pitchFamily="34" charset="-122"/>
                <a:cs typeface="Oracle Sans Tab" pitchFamily="34" charset="-120"/>
              </a:rPr>
              <a:t>ScratchFS file · SecureFile LOB · deterministic name</a:t>
            </a:r>
            <a:endParaRPr lang="en-US" sz="1200" dirty="0"/>
          </a:p>
        </p:txBody>
      </p:sp>
      <p:sp>
        <p:nvSpPr>
          <p:cNvPr id="51" name="Text 46"/>
          <p:cNvSpPr/>
          <p:nvPr/>
        </p:nvSpPr>
        <p:spPr>
          <a:xfrm>
            <a:off x="7393295" y="7708573"/>
            <a:ext cx="3802243" cy="220931"/>
          </a:xfrm>
          <a:prstGeom prst="rect">
            <a:avLst/>
          </a:prstGeom>
          <a:noFill/>
          <a:ln/>
        </p:spPr>
        <p:txBody>
          <a:bodyPr wrap="square" lIns="25400" tIns="25400" rIns="25400" bIns="25400" rtlCol="0" anchor="t">
            <a:normAutofit lnSpcReduction="10000"/>
          </a:bodyPr>
          <a:lstStyle/>
          <a:p>
            <a:pPr marL="0" indent="0" algn="l">
              <a:lnSpc>
                <a:spcPct val="92160"/>
              </a:lnSpc>
              <a:buNone/>
            </a:pPr>
            <a:r>
              <a:rPr lang="en-US" sz="1200" i="1" dirty="0">
                <a:solidFill>
                  <a:srgbClr val="FD6953"/>
                </a:solidFill>
                <a:latin typeface="Oracle Sans Tab" pitchFamily="34" charset="0"/>
                <a:ea typeface="Oracle Sans Tab" pitchFamily="34" charset="-122"/>
                <a:cs typeface="Oracle Sans Tab" pitchFamily="34" charset="-120"/>
              </a:rPr>
              <a:t>sliceable: read_file / grep_files</a:t>
            </a:r>
            <a:endParaRPr lang="en-US" sz="1200" dirty="0"/>
          </a:p>
        </p:txBody>
      </p:sp>
      <p:sp>
        <p:nvSpPr>
          <p:cNvPr id="52" name="Shape 47"/>
          <p:cNvSpPr/>
          <p:nvPr/>
        </p:nvSpPr>
        <p:spPr>
          <a:xfrm>
            <a:off x="11315692" y="7159925"/>
            <a:ext cx="2605991" cy="576244"/>
          </a:xfrm>
          <a:prstGeom prst="roundRect">
            <a:avLst>
              <a:gd name="adj" fmla="val 19009"/>
            </a:avLst>
          </a:prstGeom>
          <a:solidFill>
            <a:srgbClr val="0B5060"/>
          </a:solidFill>
          <a:ln w="16536">
            <a:solidFill>
              <a:srgbClr val="E0836F"/>
            </a:solidFill>
            <a:prstDash val="solid"/>
          </a:ln>
        </p:spPr>
        <p:txBody>
          <a:bodyPr/>
          <a:lstStyle/>
          <a:p>
            <a:endParaRPr lang="en-US"/>
          </a:p>
        </p:txBody>
      </p:sp>
      <p:sp>
        <p:nvSpPr>
          <p:cNvPr id="53" name="Text 48"/>
          <p:cNvSpPr/>
          <p:nvPr/>
        </p:nvSpPr>
        <p:spPr>
          <a:xfrm>
            <a:off x="11260824" y="7345184"/>
            <a:ext cx="2715726"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b="1" dirty="0">
                <a:solidFill>
                  <a:srgbClr val="FD6953"/>
                </a:solidFill>
                <a:latin typeface="Menlo" pitchFamily="34" charset="0"/>
                <a:ea typeface="Menlo" pitchFamily="34" charset="-122"/>
                <a:cs typeface="Menlo" pitchFamily="34" charset="-120"/>
              </a:rPr>
              <a:t>[file:/tool_out/…]</a:t>
            </a:r>
            <a:endParaRPr lang="en-US" sz="1350" dirty="0"/>
          </a:p>
        </p:txBody>
      </p:sp>
      <p:sp>
        <p:nvSpPr>
          <p:cNvPr id="54" name="Shape 49"/>
          <p:cNvSpPr/>
          <p:nvPr/>
        </p:nvSpPr>
        <p:spPr>
          <a:xfrm>
            <a:off x="11041341" y="7447555"/>
            <a:ext cx="274299" cy="26458"/>
          </a:xfrm>
          <a:prstGeom prst="rect">
            <a:avLst/>
          </a:prstGeom>
          <a:solidFill>
            <a:srgbClr val="FD6953"/>
          </a:solidFill>
          <a:ln/>
        </p:spPr>
        <p:txBody>
          <a:bodyPr/>
          <a:lstStyle/>
          <a:p>
            <a:endParaRPr lang="en-US"/>
          </a:p>
        </p:txBody>
      </p:sp>
      <p:sp>
        <p:nvSpPr>
          <p:cNvPr id="55" name="Shape 50"/>
          <p:cNvSpPr/>
          <p:nvPr/>
        </p:nvSpPr>
        <p:spPr>
          <a:xfrm>
            <a:off x="11189962" y="7364873"/>
            <a:ext cx="125677" cy="165365"/>
          </a:xfrm>
          <a:prstGeom prst="rect">
            <a:avLst/>
          </a:prstGeom>
          <a:solidFill>
            <a:srgbClr val="FD6953"/>
          </a:solidFill>
          <a:ln/>
        </p:spPr>
        <p:txBody>
          <a:bodyPr/>
          <a:lstStyle/>
          <a:p>
            <a:endParaRPr lang="en-US"/>
          </a:p>
        </p:txBody>
      </p:sp>
      <p:sp>
        <p:nvSpPr>
          <p:cNvPr id="56" name="Shape 51"/>
          <p:cNvSpPr/>
          <p:nvPr/>
        </p:nvSpPr>
        <p:spPr>
          <a:xfrm>
            <a:off x="13921734" y="7447555"/>
            <a:ext cx="274299" cy="26458"/>
          </a:xfrm>
          <a:prstGeom prst="rect">
            <a:avLst/>
          </a:prstGeom>
          <a:solidFill>
            <a:srgbClr val="FD6953"/>
          </a:solidFill>
          <a:ln/>
        </p:spPr>
        <p:txBody>
          <a:bodyPr/>
          <a:lstStyle/>
          <a:p>
            <a:endParaRPr lang="en-US"/>
          </a:p>
        </p:txBody>
      </p:sp>
      <p:sp>
        <p:nvSpPr>
          <p:cNvPr id="57" name="Shape 52"/>
          <p:cNvSpPr/>
          <p:nvPr/>
        </p:nvSpPr>
        <p:spPr>
          <a:xfrm>
            <a:off x="14070355" y="7364873"/>
            <a:ext cx="125677" cy="165365"/>
          </a:xfrm>
          <a:prstGeom prst="rect">
            <a:avLst/>
          </a:prstGeom>
          <a:solidFill>
            <a:srgbClr val="FD6953"/>
          </a:solidFill>
          <a:ln/>
        </p:spPr>
        <p:txBody>
          <a:bodyPr/>
          <a:lstStyle/>
          <a:p>
            <a:endParaRPr lang="en-US"/>
          </a:p>
        </p:txBody>
      </p:sp>
      <p:sp>
        <p:nvSpPr>
          <p:cNvPr id="58" name="Shape 53"/>
          <p:cNvSpPr/>
          <p:nvPr/>
        </p:nvSpPr>
        <p:spPr>
          <a:xfrm>
            <a:off x="14196032" y="4251937"/>
            <a:ext cx="3086065" cy="3909012"/>
          </a:xfrm>
          <a:prstGeom prst="roundRect">
            <a:avLst>
              <a:gd name="adj" fmla="val 3117"/>
            </a:avLst>
          </a:prstGeom>
          <a:solidFill>
            <a:srgbClr val="04303F"/>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59" name="Text 54"/>
          <p:cNvSpPr/>
          <p:nvPr/>
        </p:nvSpPr>
        <p:spPr>
          <a:xfrm>
            <a:off x="14192593" y="4484326"/>
            <a:ext cx="3092943" cy="232352"/>
          </a:xfrm>
          <a:prstGeom prst="rect">
            <a:avLst/>
          </a:prstGeom>
          <a:noFill/>
          <a:ln/>
        </p:spPr>
        <p:txBody>
          <a:bodyPr wrap="square" lIns="25400" tIns="25400" rIns="25400" bIns="25400" rtlCol="0" anchor="t">
            <a:normAutofit/>
          </a:bodyPr>
          <a:lstStyle/>
          <a:p>
            <a:pPr marL="0" indent="0" algn="ctr">
              <a:lnSpc>
                <a:spcPct val="92160"/>
              </a:lnSpc>
              <a:buNone/>
            </a:pPr>
            <a:r>
              <a:rPr lang="en-US" sz="1275" dirty="0">
                <a:solidFill>
                  <a:srgbClr val="FFFFFF"/>
                </a:solidFill>
                <a:latin typeface="Oracle Sans Tab" pitchFamily="34" charset="0"/>
                <a:ea typeface="Oracle Sans Tab" pitchFamily="34" charset="-122"/>
                <a:cs typeface="Oracle Sans Tab" pitchFamily="34" charset="-120"/>
              </a:rPr>
              <a:t>CONTEXT WINDOW</a:t>
            </a:r>
            <a:endParaRPr lang="en-US" sz="1275" dirty="0"/>
          </a:p>
        </p:txBody>
      </p:sp>
      <p:sp>
        <p:nvSpPr>
          <p:cNvPr id="60" name="Text 55"/>
          <p:cNvSpPr/>
          <p:nvPr/>
        </p:nvSpPr>
        <p:spPr>
          <a:xfrm>
            <a:off x="14361637" y="4828181"/>
            <a:ext cx="2754855" cy="578067"/>
          </a:xfrm>
          <a:prstGeom prst="rect">
            <a:avLst/>
          </a:prstGeom>
          <a:noFill/>
          <a:ln/>
        </p:spPr>
        <p:txBody>
          <a:bodyPr wrap="square" lIns="25400" tIns="25400" rIns="25400" bIns="25400" rtlCol="0" anchor="t">
            <a:normAutofit/>
          </a:bodyPr>
          <a:lstStyle/>
          <a:p>
            <a:pPr marL="0" indent="0" algn="ctr">
              <a:lnSpc>
                <a:spcPct val="80640"/>
              </a:lnSpc>
              <a:buNone/>
            </a:pPr>
            <a:r>
              <a:rPr lang="en-US" sz="1350" dirty="0">
                <a:solidFill>
                  <a:srgbClr val="FFFFFF"/>
                </a:solidFill>
                <a:latin typeface="Oracle Sans Tab" pitchFamily="34" charset="0"/>
                <a:ea typeface="Oracle Sans Tab" pitchFamily="34" charset="-122"/>
                <a:cs typeface="Oracle Sans Tab" pitchFamily="34" charset="-120"/>
              </a:rPr>
              <a:t>what the model sees: a short reference handle, never the payload</a:t>
            </a:r>
            <a:endParaRPr lang="en-US" sz="1350" dirty="0"/>
          </a:p>
        </p:txBody>
      </p:sp>
      <p:sp>
        <p:nvSpPr>
          <p:cNvPr id="61" name="Text 56"/>
          <p:cNvSpPr/>
          <p:nvPr/>
        </p:nvSpPr>
        <p:spPr>
          <a:xfrm>
            <a:off x="14361637" y="6240756"/>
            <a:ext cx="2754855" cy="312399"/>
          </a:xfrm>
          <a:prstGeom prst="rect">
            <a:avLst/>
          </a:prstGeom>
          <a:noFill/>
          <a:ln/>
        </p:spPr>
        <p:txBody>
          <a:bodyPr wrap="square" lIns="25400" tIns="25400" rIns="25400" bIns="25400" rtlCol="0" anchor="t">
            <a:normAutofit/>
          </a:bodyPr>
          <a:lstStyle/>
          <a:p>
            <a:pPr marL="0" indent="0" algn="ctr">
              <a:lnSpc>
                <a:spcPct val="92160"/>
              </a:lnSpc>
              <a:buNone/>
            </a:pPr>
            <a:r>
              <a:rPr lang="en-US" sz="1800" b="1" dirty="0">
                <a:solidFill>
                  <a:srgbClr val="FFFFFF"/>
                </a:solidFill>
                <a:latin typeface="Oracle Sans Tab" pitchFamily="34" charset="0"/>
                <a:ea typeface="Oracle Sans Tab" pitchFamily="34" charset="-122"/>
                <a:cs typeface="Oracle Sans Tab" pitchFamily="34" charset="-120"/>
              </a:rPr>
              <a:t>~40–60 chars</a:t>
            </a:r>
            <a:endParaRPr lang="en-US" sz="1800" dirty="0"/>
          </a:p>
        </p:txBody>
      </p:sp>
      <p:sp>
        <p:nvSpPr>
          <p:cNvPr id="62" name="Text 57"/>
          <p:cNvSpPr/>
          <p:nvPr/>
        </p:nvSpPr>
        <p:spPr>
          <a:xfrm>
            <a:off x="14268025" y="6747495"/>
            <a:ext cx="2942079" cy="232352"/>
          </a:xfrm>
          <a:prstGeom prst="rect">
            <a:avLst/>
          </a:prstGeom>
          <a:noFill/>
          <a:ln/>
        </p:spPr>
        <p:txBody>
          <a:bodyPr wrap="square" lIns="25400" tIns="25400" rIns="25400" bIns="25400" rtlCol="0" anchor="t">
            <a:normAutofit/>
          </a:bodyPr>
          <a:lstStyle/>
          <a:p>
            <a:pPr marL="0" indent="0" algn="ctr">
              <a:lnSpc>
                <a:spcPct val="92160"/>
              </a:lnSpc>
              <a:buNone/>
            </a:pPr>
            <a:r>
              <a:rPr lang="en-US" sz="1275" i="1" dirty="0">
                <a:solidFill>
                  <a:srgbClr val="9FBBC3"/>
                </a:solidFill>
                <a:latin typeface="Oracle Sans Tab" pitchFamily="34" charset="0"/>
                <a:ea typeface="Oracle Sans Tab" pitchFamily="34" charset="-122"/>
                <a:cs typeface="Oracle Sans Tab" pitchFamily="34" charset="-120"/>
              </a:rPr>
              <a:t>in place of thousands</a:t>
            </a:r>
            <a:endParaRPr lang="en-US" sz="1275" dirty="0"/>
          </a:p>
        </p:txBody>
      </p:sp>
      <p:sp>
        <p:nvSpPr>
          <p:cNvPr id="63" name="Shape 58"/>
          <p:cNvSpPr/>
          <p:nvPr/>
        </p:nvSpPr>
        <p:spPr>
          <a:xfrm>
            <a:off x="617172" y="8366724"/>
            <a:ext cx="16710659" cy="1262042"/>
          </a:xfrm>
          <a:prstGeom prst="roundRect">
            <a:avLst>
              <a:gd name="adj" fmla="val 762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64" name="Text 59"/>
          <p:cNvSpPr/>
          <p:nvPr/>
        </p:nvSpPr>
        <p:spPr>
          <a:xfrm>
            <a:off x="891522" y="8565782"/>
            <a:ext cx="3017511" cy="243824"/>
          </a:xfrm>
          <a:prstGeom prst="rect">
            <a:avLst/>
          </a:prstGeom>
          <a:noFill/>
          <a:ln/>
        </p:spPr>
        <p:txBody>
          <a:bodyPr wrap="square" lIns="25400" tIns="25400" rIns="25400" bIns="25400" rtlCol="0" anchor="t">
            <a:normAutofit/>
          </a:bodyPr>
          <a:lstStyle/>
          <a:p>
            <a:pPr marL="0" indent="0" algn="l">
              <a:lnSpc>
                <a:spcPct val="92160"/>
              </a:lnSpc>
              <a:buNone/>
            </a:pPr>
            <a:r>
              <a:rPr lang="en-US" sz="1350" dirty="0">
                <a:solidFill>
                  <a:srgbClr val="FD6953"/>
                </a:solidFill>
                <a:latin typeface="Oracle Sans Tab" pitchFamily="34" charset="0"/>
                <a:ea typeface="Oracle Sans Tab" pitchFamily="34" charset="-122"/>
                <a:cs typeface="Oracle Sans Tab" pitchFamily="34" charset="-120"/>
              </a:rPr>
              <a:t>READ PATH</a:t>
            </a:r>
            <a:endParaRPr lang="en-US" sz="1350" dirty="0"/>
          </a:p>
        </p:txBody>
      </p:sp>
      <p:sp>
        <p:nvSpPr>
          <p:cNvPr id="65" name="Text 60"/>
          <p:cNvSpPr/>
          <p:nvPr/>
        </p:nvSpPr>
        <p:spPr>
          <a:xfrm>
            <a:off x="891522" y="8805819"/>
            <a:ext cx="16646870" cy="424640"/>
          </a:xfrm>
          <a:prstGeom prst="rect">
            <a:avLst/>
          </a:prstGeom>
          <a:noFill/>
          <a:ln/>
        </p:spPr>
        <p:txBody>
          <a:bodyPr wrap="square" lIns="25400" tIns="25400" rIns="25400" bIns="25400" rtlCol="0" anchor="t">
            <a:normAutofit/>
          </a:bodyPr>
          <a:lstStyle/>
          <a:p>
            <a:pPr marL="0" indent="0" algn="l">
              <a:lnSpc>
                <a:spcPct val="80640"/>
              </a:lnSpc>
              <a:buNone/>
            </a:pPr>
            <a:r>
              <a:rPr lang="en-US" sz="1425" b="1" dirty="0">
                <a:solidFill>
                  <a:srgbClr val="FFFFFF"/>
                </a:solidFill>
                <a:latin typeface="Menlo" pitchFamily="34" charset="0"/>
                <a:ea typeface="Menlo" pitchFamily="34" charset="-122"/>
                <a:cs typeface="Menlo" pitchFamily="34" charset="-120"/>
              </a:rPr>
              <a:t>fetch_tool_output</a:t>
            </a:r>
            <a:r>
              <a:rPr lang="en-US" sz="1425" dirty="0">
                <a:solidFill>
                  <a:srgbClr val="C3D7DC"/>
                </a:solidFill>
                <a:latin typeface="Oracle Sans Tab" pitchFamily="34" charset="0"/>
                <a:ea typeface="Oracle Sans Tab" pitchFamily="34" charset="-122"/>
                <a:cs typeface="Oracle Sans Tab" pitchFamily="34" charset="-120"/>
              </a:rPr>
              <a:t>is a registered tool, retrieved by meaning like any other, so the model decides when to pull the full data back. It dispatches on the handle prefix: </a:t>
            </a:r>
            <a:r>
              <a:rPr lang="en-US" sz="1350" dirty="0">
                <a:solidFill>
                  <a:srgbClr val="FD6953"/>
                </a:solidFill>
                <a:latin typeface="Menlo" pitchFamily="34" charset="0"/>
                <a:ea typeface="Menlo" pitchFamily="34" charset="-122"/>
                <a:cs typeface="Menlo" pitchFamily="34" charset="-120"/>
              </a:rPr>
              <a:t>[tool_log:id] → SELECT payload </a:t>
            </a:r>
            <a:r>
              <a:rPr lang="en-US" sz="1350" dirty="0">
                <a:solidFill>
                  <a:srgbClr val="9FBBC3"/>
                </a:solidFill>
                <a:latin typeface="Oracle Sans Tab" pitchFamily="34" charset="0"/>
                <a:ea typeface="Oracle Sans Tab" pitchFamily="34" charset="-122"/>
                <a:cs typeface="Oracle Sans Tab" pitchFamily="34" charset="-120"/>
              </a:rPr>
              <a:t>·</a:t>
            </a:r>
            <a:r>
              <a:rPr lang="en-US" sz="1350" dirty="0">
                <a:solidFill>
                  <a:srgbClr val="FD6953"/>
                </a:solidFill>
                <a:latin typeface="Menlo" pitchFamily="34" charset="0"/>
                <a:ea typeface="Menlo" pitchFamily="34" charset="-122"/>
                <a:cs typeface="Menlo" pitchFamily="34" charset="-120"/>
              </a:rPr>
              <a:t>[file:…] → read_file</a:t>
            </a:r>
            <a:endParaRPr lang="en-US" sz="1200" dirty="0"/>
          </a:p>
        </p:txBody>
      </p:sp>
      <p:sp>
        <p:nvSpPr>
          <p:cNvPr id="66" name="Shape 61"/>
          <p:cNvSpPr/>
          <p:nvPr/>
        </p:nvSpPr>
        <p:spPr>
          <a:xfrm rot="5400000">
            <a:off x="15587831" y="8250633"/>
            <a:ext cx="209550" cy="26458"/>
          </a:xfrm>
          <a:prstGeom prst="rect">
            <a:avLst/>
          </a:prstGeom>
          <a:solidFill>
            <a:srgbClr val="FFFFFF">
              <a:alpha val="30000"/>
            </a:srgbClr>
          </a:solidFill>
          <a:ln/>
        </p:spPr>
        <p:txBody>
          <a:bodyPr/>
          <a:lstStyle/>
          <a:p>
            <a:endParaRPr lang="en-US"/>
          </a:p>
        </p:txBody>
      </p:sp>
      <p:sp>
        <p:nvSpPr>
          <p:cNvPr id="67" name="Shape 62"/>
          <p:cNvSpPr/>
          <p:nvPr/>
        </p:nvSpPr>
        <p:spPr>
          <a:xfrm rot="5400000">
            <a:off x="15641939" y="8223849"/>
            <a:ext cx="125677" cy="161925"/>
          </a:xfrm>
          <a:prstGeom prst="rect">
            <a:avLst/>
          </a:prstGeom>
          <a:solidFill>
            <a:srgbClr val="FFFFFF">
              <a:alpha val="30000"/>
            </a:srgbClr>
          </a:solidFill>
          <a:ln/>
        </p:spPr>
        <p:txBody>
          <a:bodyPr/>
          <a:lstStyle/>
          <a:p>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DEFINITION</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CONTINUAL LEARNING</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CONTINUAL LEARNING</a:t>
            </a:r>
            <a:endParaRPr lang="en-US" sz="1800" dirty="0"/>
          </a:p>
        </p:txBody>
      </p:sp>
      <p:sp>
        <p:nvSpPr>
          <p:cNvPr id="7" name="Text 4"/>
          <p:cNvSpPr/>
          <p:nvPr/>
        </p:nvSpPr>
        <p:spPr>
          <a:xfrm>
            <a:off x="960096" y="1988819"/>
            <a:ext cx="16952925" cy="815314"/>
          </a:xfrm>
          <a:prstGeom prst="rect">
            <a:avLst/>
          </a:prstGeom>
          <a:noFill/>
          <a:ln/>
        </p:spPr>
        <p:txBody>
          <a:bodyPr wrap="square" lIns="25400" tIns="25400" rIns="25400" bIns="25400" rtlCol="0" anchor="t">
            <a:normAutofit/>
          </a:bodyPr>
          <a:lstStyle/>
          <a:p>
            <a:pPr marL="0" indent="0" algn="l">
              <a:lnSpc>
                <a:spcPct val="92160"/>
              </a:lnSpc>
              <a:buNone/>
            </a:pPr>
            <a:r>
              <a:rPr lang="en-US" sz="5100" b="1" dirty="0">
                <a:solidFill>
                  <a:srgbClr val="FFFFFF"/>
                </a:solidFill>
                <a:latin typeface="Oracle Sans Tab" pitchFamily="34" charset="0"/>
                <a:ea typeface="Oracle Sans Tab" pitchFamily="34" charset="-122"/>
                <a:cs typeface="Oracle Sans Tab" pitchFamily="34" charset="-120"/>
              </a:rPr>
              <a:t>What is </a:t>
            </a:r>
            <a:r>
              <a:rPr lang="en-US" sz="5100" b="1" dirty="0">
                <a:solidFill>
                  <a:srgbClr val="FD6953"/>
                </a:solidFill>
                <a:latin typeface="Oracle Sans Tab" pitchFamily="34" charset="0"/>
                <a:ea typeface="Oracle Sans Tab" pitchFamily="34" charset="-122"/>
                <a:cs typeface="Oracle Sans Tab" pitchFamily="34" charset="-120"/>
              </a:rPr>
              <a:t>continual learning</a:t>
            </a:r>
            <a:endParaRPr lang="en-US" sz="1200" dirty="0"/>
          </a:p>
        </p:txBody>
      </p:sp>
      <p:sp>
        <p:nvSpPr>
          <p:cNvPr id="8" name="Shape 5"/>
          <p:cNvSpPr/>
          <p:nvPr/>
        </p:nvSpPr>
        <p:spPr>
          <a:xfrm>
            <a:off x="960096" y="3744267"/>
            <a:ext cx="2057394" cy="2057394"/>
          </a:xfrm>
          <a:prstGeom prst="roundRect">
            <a:avLst>
              <a:gd name="adj" fmla="val 4676"/>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rcRect/>
          <a:stretch/>
        </p:blipFill>
        <p:spPr>
          <a:xfrm>
            <a:off x="1536340" y="4320511"/>
            <a:ext cx="904854" cy="904854"/>
          </a:xfrm>
          <a:prstGeom prst="rect">
            <a:avLst/>
          </a:prstGeom>
        </p:spPr>
      </p:pic>
      <p:sp>
        <p:nvSpPr>
          <p:cNvPr id="10" name="Text 6"/>
          <p:cNvSpPr/>
          <p:nvPr/>
        </p:nvSpPr>
        <p:spPr>
          <a:xfrm>
            <a:off x="3497564" y="4320511"/>
            <a:ext cx="14268754" cy="952463"/>
          </a:xfrm>
          <a:prstGeom prst="rect">
            <a:avLst/>
          </a:prstGeom>
          <a:noFill/>
          <a:ln/>
        </p:spPr>
        <p:txBody>
          <a:bodyPr wrap="square" lIns="25400" tIns="25400" rIns="25400" bIns="25400" rtlCol="0" anchor="t">
            <a:normAutofit/>
          </a:bodyPr>
          <a:lstStyle/>
          <a:p>
            <a:pPr marL="0" indent="0" algn="l">
              <a:lnSpc>
                <a:spcPct val="92160"/>
              </a:lnSpc>
              <a:buNone/>
            </a:pPr>
            <a:r>
              <a:rPr lang="en-US" sz="3000" dirty="0">
                <a:solidFill>
                  <a:srgbClr val="FFFFFF"/>
                </a:solidFill>
                <a:latin typeface="Oracle Sans Tab" pitchFamily="34" charset="0"/>
                <a:ea typeface="Oracle Sans Tab" pitchFamily="34" charset="-122"/>
                <a:cs typeface="Oracle Sans Tab" pitchFamily="34" charset="-120"/>
              </a:rPr>
              <a:t>The ability of a system to </a:t>
            </a:r>
            <a:r>
              <a:rPr lang="en-US" sz="3000" b="1" dirty="0">
                <a:solidFill>
                  <a:srgbClr val="FFFFFF"/>
                </a:solidFill>
                <a:latin typeface="Oracle Sans Tab" pitchFamily="34" charset="0"/>
                <a:ea typeface="Oracle Sans Tab" pitchFamily="34" charset="-122"/>
                <a:cs typeface="Oracle Sans Tab" pitchFamily="34" charset="-120"/>
              </a:rPr>
              <a:t>keep getting better from experience after training </a:t>
            </a:r>
            <a:r>
              <a:rPr lang="en-US" sz="3000" dirty="0">
                <a:solidFill>
                  <a:srgbClr val="FFFFFF"/>
                </a:solidFill>
                <a:latin typeface="Oracle Sans Tab" pitchFamily="34" charset="0"/>
                <a:ea typeface="Oracle Sans Tab" pitchFamily="34" charset="-122"/>
                <a:cs typeface="Oracle Sans Tab" pitchFamily="34" charset="-120"/>
              </a:rPr>
              <a:t>: acquiring skills, updating beliefs, and correcting mistakes, </a:t>
            </a:r>
            <a:r>
              <a:rPr lang="en-US" sz="3000" b="1" dirty="0">
                <a:solidFill>
                  <a:srgbClr val="FFFFFF"/>
                </a:solidFill>
                <a:latin typeface="Oracle Sans Tab" pitchFamily="34" charset="0"/>
                <a:ea typeface="Oracle Sans Tab" pitchFamily="34" charset="-122"/>
                <a:cs typeface="Oracle Sans Tab" pitchFamily="34" charset="-120"/>
              </a:rPr>
              <a:t>without a full retrain</a:t>
            </a:r>
            <a:r>
              <a:rPr lang="en-US" sz="3000" dirty="0">
                <a:solidFill>
                  <a:srgbClr val="FFFFFF"/>
                </a:solidFill>
                <a:latin typeface="Oracle Sans Tab" pitchFamily="34" charset="0"/>
                <a:ea typeface="Oracle Sans Tab" pitchFamily="34" charset="-122"/>
                <a:cs typeface="Oracle Sans Tab" pitchFamily="34" charset="-120"/>
              </a:rPr>
              <a:t>.</a:t>
            </a:r>
            <a:endParaRPr lang="en-US" sz="1200" dirty="0"/>
          </a:p>
        </p:txBody>
      </p:sp>
      <p:sp>
        <p:nvSpPr>
          <p:cNvPr id="11" name="Shape 7"/>
          <p:cNvSpPr/>
          <p:nvPr/>
        </p:nvSpPr>
        <p:spPr>
          <a:xfrm>
            <a:off x="960096" y="7680926"/>
            <a:ext cx="16367735" cy="1302969"/>
          </a:xfrm>
          <a:prstGeom prst="roundRect">
            <a:avLst>
              <a:gd name="adj" fmla="val 7383"/>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12" name="Text 8"/>
          <p:cNvSpPr/>
          <p:nvPr/>
        </p:nvSpPr>
        <p:spPr>
          <a:xfrm>
            <a:off x="1508745" y="8042403"/>
            <a:ext cx="15728550" cy="618116"/>
          </a:xfrm>
          <a:prstGeom prst="rect">
            <a:avLst/>
          </a:prstGeom>
          <a:noFill/>
          <a:ln/>
        </p:spPr>
        <p:txBody>
          <a:bodyPr wrap="square" lIns="25400" tIns="25400" rIns="25400" bIns="25400" rtlCol="0" anchor="t">
            <a:normAutofit/>
          </a:bodyPr>
          <a:lstStyle/>
          <a:p>
            <a:pPr marL="0" indent="0" algn="l">
              <a:lnSpc>
                <a:spcPct val="80640"/>
              </a:lnSpc>
              <a:buNone/>
            </a:pPr>
            <a:r>
              <a:rPr lang="en-US" sz="2175" b="1" dirty="0">
                <a:solidFill>
                  <a:srgbClr val="FD6953"/>
                </a:solidFill>
                <a:latin typeface="Oracle Sans Tab" pitchFamily="34" charset="0"/>
                <a:ea typeface="Oracle Sans Tab" pitchFamily="34" charset="-122"/>
                <a:cs typeface="Oracle Sans Tab" pitchFamily="34" charset="-120"/>
              </a:rPr>
              <a:t>Why it matters </a:t>
            </a:r>
            <a:r>
              <a:rPr lang="en-US" sz="2175" dirty="0">
                <a:solidFill>
                  <a:srgbClr val="FFFFFF"/>
                </a:solidFill>
                <a:latin typeface="Oracle Sans Tab" pitchFamily="34" charset="0"/>
                <a:ea typeface="Oracle Sans Tab" pitchFamily="34" charset="-122"/>
                <a:cs typeface="Oracle Sans Tab" pitchFamily="34" charset="-120"/>
              </a:rPr>
              <a:t>it is the biggest gap between today's agents and human intelligence. The question is where the new knowledge is stored.</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BEYOND THE LAYERS</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HOW A FROZEN MODEL IMPROVES</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CONTINUAL LEARNING</a:t>
            </a:r>
            <a:endParaRPr lang="en-US" sz="1800" dirty="0"/>
          </a:p>
        </p:txBody>
      </p:sp>
      <p:sp>
        <p:nvSpPr>
          <p:cNvPr id="7" name="Text 4"/>
          <p:cNvSpPr/>
          <p:nvPr/>
        </p:nvSpPr>
        <p:spPr>
          <a:xfrm>
            <a:off x="960096" y="1988819"/>
            <a:ext cx="16952925" cy="769580"/>
          </a:xfrm>
          <a:prstGeom prst="rect">
            <a:avLst/>
          </a:prstGeom>
          <a:noFill/>
          <a:ln/>
        </p:spPr>
        <p:txBody>
          <a:bodyPr wrap="square" lIns="25400" tIns="25400" rIns="25400" bIns="25400" rtlCol="0" anchor="t">
            <a:normAutofit/>
          </a:bodyPr>
          <a:lstStyle/>
          <a:p>
            <a:pPr marL="0" indent="0" algn="l">
              <a:lnSpc>
                <a:spcPct val="92160"/>
              </a:lnSpc>
              <a:buNone/>
            </a:pPr>
            <a:r>
              <a:rPr lang="en-US" sz="4800" b="1" dirty="0">
                <a:solidFill>
                  <a:srgbClr val="FFFFFF"/>
                </a:solidFill>
                <a:latin typeface="Oracle Sans Tab" pitchFamily="34" charset="0"/>
                <a:ea typeface="Oracle Sans Tab" pitchFamily="34" charset="-122"/>
                <a:cs typeface="Oracle Sans Tab" pitchFamily="34" charset="-120"/>
              </a:rPr>
              <a:t>How does a </a:t>
            </a:r>
            <a:r>
              <a:rPr lang="en-US" sz="4800" b="1" i="1" dirty="0">
                <a:solidFill>
                  <a:srgbClr val="FD6953"/>
                </a:solidFill>
                <a:latin typeface="Oracle Sans Tab" pitchFamily="34" charset="0"/>
                <a:ea typeface="Oracle Sans Tab" pitchFamily="34" charset="-122"/>
                <a:cs typeface="Oracle Sans Tab" pitchFamily="34" charset="-120"/>
              </a:rPr>
              <a:t>frozen </a:t>
            </a:r>
            <a:r>
              <a:rPr lang="en-US" sz="4800" b="1" dirty="0">
                <a:solidFill>
                  <a:srgbClr val="FFFFFF"/>
                </a:solidFill>
                <a:latin typeface="Oracle Sans Tab" pitchFamily="34" charset="0"/>
                <a:ea typeface="Oracle Sans Tab" pitchFamily="34" charset="-122"/>
                <a:cs typeface="Oracle Sans Tab" pitchFamily="34" charset="-120"/>
              </a:rPr>
              <a:t>model get better?</a:t>
            </a:r>
            <a:endParaRPr lang="en-US" sz="1200" dirty="0"/>
          </a:p>
        </p:txBody>
      </p:sp>
      <p:sp>
        <p:nvSpPr>
          <p:cNvPr id="8" name="Text 5"/>
          <p:cNvSpPr/>
          <p:nvPr/>
        </p:nvSpPr>
        <p:spPr>
          <a:xfrm>
            <a:off x="960096" y="4800585"/>
            <a:ext cx="16387870" cy="1681100"/>
          </a:xfrm>
          <a:prstGeom prst="rect">
            <a:avLst/>
          </a:prstGeom>
          <a:noFill/>
          <a:ln/>
        </p:spPr>
        <p:txBody>
          <a:bodyPr wrap="square" lIns="25400" tIns="25400" rIns="25400" bIns="25400" rtlCol="0" anchor="t">
            <a:normAutofit/>
          </a:bodyPr>
          <a:lstStyle/>
          <a:p>
            <a:pPr marL="0" indent="0" algn="l">
              <a:lnSpc>
                <a:spcPct val="96000"/>
              </a:lnSpc>
              <a:buNone/>
            </a:pPr>
            <a:r>
              <a:rPr lang="en-US" sz="3450" b="1" dirty="0">
                <a:solidFill>
                  <a:srgbClr val="FFFFFF"/>
                </a:solidFill>
                <a:latin typeface="Oracle Sans Tab" pitchFamily="34" charset="0"/>
                <a:ea typeface="Oracle Sans Tab" pitchFamily="34" charset="-122"/>
                <a:cs typeface="Oracle Sans Tab" pitchFamily="34" charset="-120"/>
              </a:rPr>
              <a:t>The model's weights never change at runtime. Yet the agent improves. </a:t>
            </a:r>
            <a:r>
              <a:rPr lang="en-US" sz="3450" dirty="0">
                <a:solidFill>
                  <a:srgbClr val="FFFFFF"/>
                </a:solidFill>
                <a:latin typeface="Oracle Sans Tab" pitchFamily="34" charset="0"/>
                <a:ea typeface="Oracle Sans Tab" pitchFamily="34" charset="-122"/>
                <a:cs typeface="Oracle Sans Tab" pitchFamily="34" charset="-120"/>
              </a:rPr>
              <a:t>The trick is to choose where new knowledge lives: in the </a:t>
            </a:r>
            <a:r>
              <a:rPr lang="en-US" sz="3450" b="1" dirty="0">
                <a:solidFill>
                  <a:srgbClr val="FD6953"/>
                </a:solidFill>
                <a:latin typeface="Oracle Sans Tab" pitchFamily="34" charset="0"/>
                <a:ea typeface="Oracle Sans Tab" pitchFamily="34" charset="-122"/>
                <a:cs typeface="Oracle Sans Tab" pitchFamily="34" charset="-120"/>
              </a:rPr>
              <a:t>weights </a:t>
            </a:r>
            <a:r>
              <a:rPr lang="en-US" sz="3450" dirty="0">
                <a:solidFill>
                  <a:srgbClr val="FFFFFF"/>
                </a:solidFill>
                <a:latin typeface="Oracle Sans Tab" pitchFamily="34" charset="0"/>
                <a:ea typeface="Oracle Sans Tab" pitchFamily="34" charset="-122"/>
                <a:cs typeface="Oracle Sans Tab" pitchFamily="34" charset="-120"/>
              </a:rPr>
              <a:t>, in the </a:t>
            </a:r>
            <a:r>
              <a:rPr lang="en-US" sz="3450" b="1" dirty="0">
                <a:solidFill>
                  <a:srgbClr val="FD6953"/>
                </a:solidFill>
                <a:latin typeface="Oracle Sans Tab" pitchFamily="34" charset="0"/>
                <a:ea typeface="Oracle Sans Tab" pitchFamily="34" charset="-122"/>
                <a:cs typeface="Oracle Sans Tab" pitchFamily="34" charset="-120"/>
              </a:rPr>
              <a:t>representations</a:t>
            </a:r>
            <a:r>
              <a:rPr lang="en-US" sz="3450" dirty="0">
                <a:solidFill>
                  <a:srgbClr val="FFFFFF"/>
                </a:solidFill>
                <a:latin typeface="Oracle Sans Tab" pitchFamily="34" charset="0"/>
                <a:ea typeface="Oracle Sans Tab" pitchFamily="34" charset="-122"/>
                <a:cs typeface="Oracle Sans Tab" pitchFamily="34" charset="-120"/>
              </a:rPr>
              <a:t>, or in the </a:t>
            </a:r>
            <a:r>
              <a:rPr lang="en-US" sz="3450" b="1" dirty="0">
                <a:solidFill>
                  <a:srgbClr val="FD6953"/>
                </a:solidFill>
                <a:latin typeface="Oracle Sans Tab" pitchFamily="34" charset="0"/>
                <a:ea typeface="Oracle Sans Tab" pitchFamily="34" charset="-122"/>
                <a:cs typeface="Oracle Sans Tab" pitchFamily="34" charset="-120"/>
              </a:rPr>
              <a:t>context </a:t>
            </a:r>
            <a:r>
              <a:rPr lang="en-US" sz="3450" dirty="0">
                <a:solidFill>
                  <a:srgbClr val="FFFFFF"/>
                </a:solidFill>
                <a:latin typeface="Oracle Sans Tab" pitchFamily="34" charset="0"/>
                <a:ea typeface="Oracle Sans Tab" pitchFamily="34" charset="-122"/>
                <a:cs typeface="Oracle Sans Tab" pitchFamily="34" charset="-120"/>
              </a:rPr>
              <a:t>the model reads.</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CONTINUAL LEARNING</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THREE STORAGE LOCATIONS</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WHERE KNOWLEDGE LIVES</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Continual learning </a:t>
            </a:r>
            <a:r>
              <a:rPr lang="en-US" sz="4500" b="1" i="1" dirty="0">
                <a:solidFill>
                  <a:srgbClr val="FD6953"/>
                </a:solidFill>
                <a:latin typeface="Oracle Sans Tab" pitchFamily="34" charset="0"/>
                <a:ea typeface="Oracle Sans Tab" pitchFamily="34" charset="-122"/>
                <a:cs typeface="Oracle Sans Tab" pitchFamily="34" charset="-120"/>
              </a:rPr>
              <a:t>branches three ways.</a:t>
            </a:r>
            <a:endParaRPr lang="en-US" sz="1200" dirty="0"/>
          </a:p>
        </p:txBody>
      </p:sp>
      <p:sp>
        <p:nvSpPr>
          <p:cNvPr id="8" name="Shape 5"/>
          <p:cNvSpPr/>
          <p:nvPr/>
        </p:nvSpPr>
        <p:spPr>
          <a:xfrm>
            <a:off x="7155170" y="3001315"/>
            <a:ext cx="3977638" cy="850542"/>
          </a:xfrm>
          <a:prstGeom prst="roundRect">
            <a:avLst>
              <a:gd name="adj" fmla="val 11311"/>
            </a:avLst>
          </a:prstGeom>
          <a:solidFill>
            <a:srgbClr val="C74634"/>
          </a:solidFill>
          <a:ln w="16536">
            <a:solidFill>
              <a:srgbClr val="FD6953"/>
            </a:solidFill>
            <a:prstDash val="solid"/>
          </a:ln>
          <a:effectLst>
            <a:outerShdw blurRad="114300" dist="19050" dir="5400000" algn="bl" rotWithShape="0">
              <a:srgbClr val="000000">
                <a:alpha val="18000"/>
              </a:srgbClr>
            </a:outerShdw>
          </a:effectLst>
        </p:spPr>
        <p:txBody>
          <a:bodyPr/>
          <a:lstStyle/>
          <a:p>
            <a:endParaRPr lang="en-US"/>
          </a:p>
        </p:txBody>
      </p:sp>
      <p:sp>
        <p:nvSpPr>
          <p:cNvPr id="9" name="Text 6"/>
          <p:cNvSpPr/>
          <p:nvPr/>
        </p:nvSpPr>
        <p:spPr>
          <a:xfrm>
            <a:off x="7095506" y="3255098"/>
            <a:ext cx="4096967" cy="381025"/>
          </a:xfrm>
          <a:prstGeom prst="rect">
            <a:avLst/>
          </a:prstGeom>
          <a:noFill/>
          <a:ln/>
        </p:spPr>
        <p:txBody>
          <a:bodyPr wrap="square" lIns="25400" tIns="25400" rIns="25400" bIns="25400" rtlCol="0" anchor="t">
            <a:normAutofit/>
          </a:bodyPr>
          <a:lstStyle/>
          <a:p>
            <a:pPr marL="0" indent="0" algn="ctr">
              <a:lnSpc>
                <a:spcPct val="92160"/>
              </a:lnSpc>
              <a:buNone/>
            </a:pPr>
            <a:r>
              <a:rPr lang="en-US" sz="2250" b="1" dirty="0">
                <a:solidFill>
                  <a:srgbClr val="FFFFFF"/>
                </a:solidFill>
                <a:latin typeface="Oracle Sans Tab" pitchFamily="34" charset="0"/>
                <a:ea typeface="Oracle Sans Tab" pitchFamily="34" charset="-122"/>
                <a:cs typeface="Oracle Sans Tab" pitchFamily="34" charset="-120"/>
              </a:rPr>
              <a:t>Continual learning</a:t>
            </a:r>
            <a:endParaRPr lang="en-US" sz="2250" dirty="0"/>
          </a:p>
        </p:txBody>
      </p:sp>
      <p:sp>
        <p:nvSpPr>
          <p:cNvPr id="10" name="Shape 7"/>
          <p:cNvSpPr/>
          <p:nvPr/>
        </p:nvSpPr>
        <p:spPr>
          <a:xfrm rot="10386598">
            <a:off x="3540506" y="4164172"/>
            <a:ext cx="5619749" cy="23151"/>
          </a:xfrm>
          <a:prstGeom prst="rect">
            <a:avLst/>
          </a:prstGeom>
          <a:solidFill>
            <a:srgbClr val="FFFFFF">
              <a:alpha val="34000"/>
            </a:srgbClr>
          </a:solidFill>
          <a:ln/>
        </p:spPr>
        <p:txBody>
          <a:bodyPr/>
          <a:lstStyle/>
          <a:p>
            <a:endParaRPr lang="en-US"/>
          </a:p>
        </p:txBody>
      </p:sp>
      <p:sp>
        <p:nvSpPr>
          <p:cNvPr id="11" name="Shape 8"/>
          <p:cNvSpPr/>
          <p:nvPr/>
        </p:nvSpPr>
        <p:spPr>
          <a:xfrm>
            <a:off x="960096" y="4526235"/>
            <a:ext cx="5199683" cy="5417809"/>
          </a:xfrm>
          <a:prstGeom prst="roundRect">
            <a:avLst>
              <a:gd name="adj" fmla="val 185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2" name="Text 9"/>
          <p:cNvSpPr/>
          <p:nvPr/>
        </p:nvSpPr>
        <p:spPr>
          <a:xfrm>
            <a:off x="1302969" y="4897737"/>
            <a:ext cx="4649301" cy="392394"/>
          </a:xfrm>
          <a:prstGeom prst="rect">
            <a:avLst/>
          </a:prstGeom>
          <a:noFill/>
          <a:ln/>
        </p:spPr>
        <p:txBody>
          <a:bodyPr wrap="square" lIns="25400" tIns="25400" rIns="25400" bIns="25400" rtlCol="0" anchor="t">
            <a:normAutofit/>
          </a:bodyPr>
          <a:lstStyle/>
          <a:p>
            <a:pPr marL="0" indent="0" algn="l">
              <a:lnSpc>
                <a:spcPct val="92160"/>
              </a:lnSpc>
              <a:buNone/>
            </a:pPr>
            <a:r>
              <a:rPr lang="en-US" sz="2325" b="1" dirty="0">
                <a:solidFill>
                  <a:srgbClr val="FFFFFF"/>
                </a:solidFill>
                <a:latin typeface="Oracle Sans Tab" pitchFamily="34" charset="0"/>
                <a:ea typeface="Oracle Sans Tab" pitchFamily="34" charset="-122"/>
                <a:cs typeface="Oracle Sans Tab" pitchFamily="34" charset="-120"/>
              </a:rPr>
              <a:t>Weight space</a:t>
            </a:r>
            <a:endParaRPr lang="en-US" sz="2325" dirty="0"/>
          </a:p>
        </p:txBody>
      </p:sp>
      <p:sp>
        <p:nvSpPr>
          <p:cNvPr id="13" name="Text 10"/>
          <p:cNvSpPr/>
          <p:nvPr/>
        </p:nvSpPr>
        <p:spPr>
          <a:xfrm>
            <a:off x="1302969" y="5451140"/>
            <a:ext cx="4965273"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C3D7DC"/>
                </a:solidFill>
                <a:latin typeface="Oracle Sans Tab" pitchFamily="34" charset="0"/>
                <a:ea typeface="Oracle Sans Tab" pitchFamily="34" charset="-122"/>
                <a:cs typeface="Oracle Sans Tab" pitchFamily="34" charset="-120"/>
              </a:rPr>
              <a:t>PARAMETRIC MEMORY</a:t>
            </a:r>
            <a:endParaRPr lang="en-US" sz="1275" dirty="0"/>
          </a:p>
        </p:txBody>
      </p:sp>
      <p:sp>
        <p:nvSpPr>
          <p:cNvPr id="14" name="Text 11"/>
          <p:cNvSpPr/>
          <p:nvPr/>
        </p:nvSpPr>
        <p:spPr>
          <a:xfrm>
            <a:off x="1302969" y="6016222"/>
            <a:ext cx="4965273" cy="268060"/>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725" dirty="0">
                <a:solidFill>
                  <a:srgbClr val="FFFFFF"/>
                </a:solidFill>
                <a:latin typeface="Oracle Sans Tab" pitchFamily="34" charset="0"/>
                <a:ea typeface="Oracle Sans Tab" pitchFamily="34" charset="-122"/>
                <a:cs typeface="Oracle Sans Tab" pitchFamily="34" charset="-120"/>
              </a:rPr>
              <a:t>Knowledge in the model's parameters.</a:t>
            </a:r>
            <a:endParaRPr lang="en-US" sz="1725" dirty="0"/>
          </a:p>
        </p:txBody>
      </p:sp>
      <p:sp>
        <p:nvSpPr>
          <p:cNvPr id="15" name="Text 12"/>
          <p:cNvSpPr/>
          <p:nvPr/>
        </p:nvSpPr>
        <p:spPr>
          <a:xfrm>
            <a:off x="1302969" y="6643160"/>
            <a:ext cx="4965273" cy="220931"/>
          </a:xfrm>
          <a:prstGeom prst="rect">
            <a:avLst/>
          </a:prstGeom>
          <a:noFill/>
          <a:ln/>
        </p:spPr>
        <p:txBody>
          <a:bodyPr wrap="square" lIns="25400" tIns="25400" rIns="25400" bIns="25400" rtlCol="0" anchor="t">
            <a:normAutofit/>
          </a:bodyPr>
          <a:lstStyle/>
          <a:p>
            <a:pPr marL="0" indent="0" algn="l">
              <a:lnSpc>
                <a:spcPct val="92160"/>
              </a:lnSpc>
              <a:buNone/>
            </a:pPr>
            <a:r>
              <a:rPr lang="en-US" sz="1125" dirty="0">
                <a:solidFill>
                  <a:srgbClr val="9FBBC3"/>
                </a:solidFill>
                <a:latin typeface="Oracle Sans Tab" pitchFamily="34" charset="0"/>
                <a:ea typeface="Oracle Sans Tab" pitchFamily="34" charset="-122"/>
                <a:cs typeface="Oracle Sans Tab" pitchFamily="34" charset="-120"/>
              </a:rPr>
              <a:t>EXAMPLES</a:t>
            </a:r>
            <a:endParaRPr lang="en-US" sz="1125" dirty="0"/>
          </a:p>
        </p:txBody>
      </p:sp>
      <p:sp>
        <p:nvSpPr>
          <p:cNvPr id="16" name="Text 13"/>
          <p:cNvSpPr/>
          <p:nvPr/>
        </p:nvSpPr>
        <p:spPr>
          <a:xfrm>
            <a:off x="1302969" y="7141579"/>
            <a:ext cx="4649301" cy="486135"/>
          </a:xfrm>
          <a:prstGeom prst="rect">
            <a:avLst/>
          </a:prstGeom>
          <a:noFill/>
          <a:ln/>
        </p:spPr>
        <p:txBody>
          <a:bodyPr wrap="square" lIns="25400" tIns="25400" rIns="25400" bIns="25400" rtlCol="0" anchor="t">
            <a:normAutofit/>
          </a:bodyPr>
          <a:lstStyle/>
          <a:p>
            <a:pPr marL="0" indent="0" algn="l">
              <a:lnSpc>
                <a:spcPct val="86016"/>
              </a:lnSpc>
              <a:buNone/>
            </a:pPr>
            <a:r>
              <a:rPr lang="en-US" sz="1575" dirty="0">
                <a:solidFill>
                  <a:srgbClr val="C3D7DC"/>
                </a:solidFill>
                <a:latin typeface="Oracle Sans Tab" pitchFamily="34" charset="0"/>
                <a:ea typeface="Oracle Sans Tab" pitchFamily="34" charset="-122"/>
                <a:cs typeface="Oracle Sans Tab" pitchFamily="34" charset="-120"/>
              </a:rPr>
              <a:t>fine-tuning · LoRA / PEFT · instruction tuning · RLHF</a:t>
            </a:r>
            <a:endParaRPr lang="en-US" sz="1575" dirty="0"/>
          </a:p>
        </p:txBody>
      </p:sp>
      <p:sp>
        <p:nvSpPr>
          <p:cNvPr id="17" name="Text 14"/>
          <p:cNvSpPr/>
          <p:nvPr/>
        </p:nvSpPr>
        <p:spPr>
          <a:xfrm>
            <a:off x="1302969" y="8014808"/>
            <a:ext cx="4965273" cy="220931"/>
          </a:xfrm>
          <a:prstGeom prst="rect">
            <a:avLst/>
          </a:prstGeom>
          <a:noFill/>
          <a:ln/>
        </p:spPr>
        <p:txBody>
          <a:bodyPr wrap="square" lIns="25400" tIns="25400" rIns="25400" bIns="25400" rtlCol="0" anchor="t">
            <a:normAutofit/>
          </a:bodyPr>
          <a:lstStyle/>
          <a:p>
            <a:pPr marL="0" indent="0" algn="l">
              <a:lnSpc>
                <a:spcPct val="92160"/>
              </a:lnSpc>
              <a:buNone/>
            </a:pPr>
            <a:r>
              <a:rPr lang="en-US" sz="1125" dirty="0">
                <a:solidFill>
                  <a:srgbClr val="9FBBC3"/>
                </a:solidFill>
                <a:latin typeface="Oracle Sans Tab" pitchFamily="34" charset="0"/>
                <a:ea typeface="Oracle Sans Tab" pitchFamily="34" charset="-122"/>
                <a:cs typeface="Oracle Sans Tab" pitchFamily="34" charset="-120"/>
              </a:rPr>
              <a:t>CHARACTERISTICS</a:t>
            </a:r>
            <a:endParaRPr lang="en-US" sz="1125" dirty="0"/>
          </a:p>
        </p:txBody>
      </p:sp>
      <p:sp>
        <p:nvSpPr>
          <p:cNvPr id="18" name="Text 15"/>
          <p:cNvSpPr/>
          <p:nvPr/>
        </p:nvSpPr>
        <p:spPr>
          <a:xfrm>
            <a:off x="1302969" y="8513227"/>
            <a:ext cx="4649301" cy="486135"/>
          </a:xfrm>
          <a:prstGeom prst="rect">
            <a:avLst/>
          </a:prstGeom>
          <a:noFill/>
          <a:ln/>
        </p:spPr>
        <p:txBody>
          <a:bodyPr wrap="square" lIns="25400" tIns="25400" rIns="25400" bIns="25400" rtlCol="0" anchor="t">
            <a:normAutofit/>
          </a:bodyPr>
          <a:lstStyle/>
          <a:p>
            <a:pPr marL="0" indent="0" algn="l">
              <a:lnSpc>
                <a:spcPct val="86016"/>
              </a:lnSpc>
              <a:buNone/>
            </a:pPr>
            <a:r>
              <a:rPr lang="en-US" sz="1575" dirty="0">
                <a:solidFill>
                  <a:srgbClr val="C3D7DC"/>
                </a:solidFill>
                <a:latin typeface="Oracle Sans Tab" pitchFamily="34" charset="0"/>
                <a:ea typeface="Oracle Sans Tab" pitchFamily="34" charset="-122"/>
                <a:cs typeface="Oracle Sans Tab" pitchFamily="34" charset="-120"/>
              </a:rPr>
              <a:t>changes the model · generalises · risk of catastrophic forgetting · expensive</a:t>
            </a:r>
            <a:endParaRPr lang="en-US" sz="1575" dirty="0"/>
          </a:p>
        </p:txBody>
      </p:sp>
      <p:sp>
        <p:nvSpPr>
          <p:cNvPr id="19" name="Shape 16"/>
          <p:cNvSpPr/>
          <p:nvPr/>
        </p:nvSpPr>
        <p:spPr>
          <a:xfrm>
            <a:off x="1302969" y="9258298"/>
            <a:ext cx="4513885" cy="521002"/>
          </a:xfrm>
          <a:prstGeom prst="roundRect">
            <a:avLst>
              <a:gd name="adj" fmla="val 13163"/>
            </a:avLst>
          </a:prstGeom>
          <a:solidFill>
            <a:srgbClr val="0B5060"/>
          </a:solidFill>
          <a:ln w="16536">
            <a:solidFill>
              <a:srgbClr val="FFFFFF">
                <a:alpha val="20000"/>
              </a:srgbClr>
            </a:solidFill>
            <a:prstDash val="solid"/>
          </a:ln>
        </p:spPr>
        <p:txBody>
          <a:bodyPr/>
          <a:lstStyle/>
          <a:p>
            <a:endParaRPr lang="en-US"/>
          </a:p>
        </p:txBody>
      </p:sp>
      <p:sp>
        <p:nvSpPr>
          <p:cNvPr id="20" name="Text 17"/>
          <p:cNvSpPr/>
          <p:nvPr/>
        </p:nvSpPr>
        <p:spPr>
          <a:xfrm>
            <a:off x="1235261" y="9393070"/>
            <a:ext cx="4649301"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Knowledge → weights</a:t>
            </a:r>
            <a:endParaRPr lang="en-US" sz="1650" dirty="0"/>
          </a:p>
        </p:txBody>
      </p:sp>
      <p:sp>
        <p:nvSpPr>
          <p:cNvPr id="21" name="Shape 18"/>
          <p:cNvSpPr/>
          <p:nvPr/>
        </p:nvSpPr>
        <p:spPr>
          <a:xfrm rot="5400000">
            <a:off x="8792226" y="4177497"/>
            <a:ext cx="676275" cy="23151"/>
          </a:xfrm>
          <a:prstGeom prst="rect">
            <a:avLst/>
          </a:prstGeom>
          <a:solidFill>
            <a:srgbClr val="FFFFFF">
              <a:alpha val="34000"/>
            </a:srgbClr>
          </a:solidFill>
          <a:ln/>
        </p:spPr>
        <p:txBody>
          <a:bodyPr/>
          <a:lstStyle/>
          <a:p>
            <a:endParaRPr lang="en-US"/>
          </a:p>
        </p:txBody>
      </p:sp>
      <p:sp>
        <p:nvSpPr>
          <p:cNvPr id="22" name="Shape 19"/>
          <p:cNvSpPr/>
          <p:nvPr/>
        </p:nvSpPr>
        <p:spPr>
          <a:xfrm>
            <a:off x="6543631" y="4526235"/>
            <a:ext cx="5199683" cy="5417809"/>
          </a:xfrm>
          <a:prstGeom prst="roundRect">
            <a:avLst>
              <a:gd name="adj" fmla="val 185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3" name="Text 20"/>
          <p:cNvSpPr/>
          <p:nvPr/>
        </p:nvSpPr>
        <p:spPr>
          <a:xfrm>
            <a:off x="6886556" y="4897737"/>
            <a:ext cx="4649301" cy="392394"/>
          </a:xfrm>
          <a:prstGeom prst="rect">
            <a:avLst/>
          </a:prstGeom>
          <a:noFill/>
          <a:ln/>
        </p:spPr>
        <p:txBody>
          <a:bodyPr wrap="square" lIns="25400" tIns="25400" rIns="25400" bIns="25400" rtlCol="0" anchor="t">
            <a:normAutofit/>
          </a:bodyPr>
          <a:lstStyle/>
          <a:p>
            <a:pPr marL="0" indent="0" algn="l">
              <a:lnSpc>
                <a:spcPct val="92160"/>
              </a:lnSpc>
              <a:buNone/>
            </a:pPr>
            <a:r>
              <a:rPr lang="en-US" sz="2325" b="1" dirty="0">
                <a:solidFill>
                  <a:srgbClr val="FFFFFF"/>
                </a:solidFill>
                <a:latin typeface="Oracle Sans Tab" pitchFamily="34" charset="0"/>
                <a:ea typeface="Oracle Sans Tab" pitchFamily="34" charset="-122"/>
                <a:cs typeface="Oracle Sans Tab" pitchFamily="34" charset="-120"/>
              </a:rPr>
              <a:t>Latent space</a:t>
            </a:r>
            <a:endParaRPr lang="en-US" sz="2325" dirty="0"/>
          </a:p>
        </p:txBody>
      </p:sp>
      <p:sp>
        <p:nvSpPr>
          <p:cNvPr id="24" name="Text 21"/>
          <p:cNvSpPr/>
          <p:nvPr/>
        </p:nvSpPr>
        <p:spPr>
          <a:xfrm>
            <a:off x="6886556" y="5451140"/>
            <a:ext cx="4965273"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C3D7DC"/>
                </a:solidFill>
                <a:latin typeface="Oracle Sans Tab" pitchFamily="34" charset="0"/>
                <a:ea typeface="Oracle Sans Tab" pitchFamily="34" charset="-122"/>
                <a:cs typeface="Oracle Sans Tab" pitchFamily="34" charset="-120"/>
              </a:rPr>
              <a:t>REPRESENTATIONAL MEMORY</a:t>
            </a:r>
            <a:endParaRPr lang="en-US" sz="1275" dirty="0"/>
          </a:p>
        </p:txBody>
      </p:sp>
      <p:sp>
        <p:nvSpPr>
          <p:cNvPr id="25" name="Text 22"/>
          <p:cNvSpPr/>
          <p:nvPr/>
        </p:nvSpPr>
        <p:spPr>
          <a:xfrm>
            <a:off x="6886556" y="6016222"/>
            <a:ext cx="4965273" cy="268060"/>
          </a:xfrm>
          <a:prstGeom prst="rect">
            <a:avLst/>
          </a:prstGeom>
          <a:noFill/>
          <a:ln/>
        </p:spPr>
        <p:txBody>
          <a:bodyPr wrap="square" lIns="25400" tIns="25400" rIns="25400" bIns="25400" rtlCol="0" anchor="t">
            <a:normAutofit lnSpcReduction="10000"/>
          </a:bodyPr>
          <a:lstStyle/>
          <a:p>
            <a:pPr marL="0" indent="0" algn="l">
              <a:lnSpc>
                <a:spcPct val="80640"/>
              </a:lnSpc>
              <a:buNone/>
            </a:pPr>
            <a:r>
              <a:rPr lang="en-US" sz="1725" dirty="0">
                <a:solidFill>
                  <a:srgbClr val="FFFFFF"/>
                </a:solidFill>
                <a:latin typeface="Oracle Sans Tab" pitchFamily="34" charset="0"/>
                <a:ea typeface="Oracle Sans Tab" pitchFamily="34" charset="-122"/>
                <a:cs typeface="Oracle Sans Tab" pitchFamily="34" charset="-120"/>
              </a:rPr>
              <a:t>Knowledge in learned representations.</a:t>
            </a:r>
            <a:endParaRPr lang="en-US" sz="1725" dirty="0"/>
          </a:p>
        </p:txBody>
      </p:sp>
      <p:sp>
        <p:nvSpPr>
          <p:cNvPr id="26" name="Text 23"/>
          <p:cNvSpPr/>
          <p:nvPr/>
        </p:nvSpPr>
        <p:spPr>
          <a:xfrm>
            <a:off x="6886556" y="6643160"/>
            <a:ext cx="4965273" cy="220931"/>
          </a:xfrm>
          <a:prstGeom prst="rect">
            <a:avLst/>
          </a:prstGeom>
          <a:noFill/>
          <a:ln/>
        </p:spPr>
        <p:txBody>
          <a:bodyPr wrap="square" lIns="25400" tIns="25400" rIns="25400" bIns="25400" rtlCol="0" anchor="t">
            <a:normAutofit/>
          </a:bodyPr>
          <a:lstStyle/>
          <a:p>
            <a:pPr marL="0" indent="0" algn="l">
              <a:lnSpc>
                <a:spcPct val="92160"/>
              </a:lnSpc>
              <a:buNone/>
            </a:pPr>
            <a:r>
              <a:rPr lang="en-US" sz="1125" dirty="0">
                <a:solidFill>
                  <a:srgbClr val="9FBBC3"/>
                </a:solidFill>
                <a:latin typeface="Oracle Sans Tab" pitchFamily="34" charset="0"/>
                <a:ea typeface="Oracle Sans Tab" pitchFamily="34" charset="-122"/>
                <a:cs typeface="Oracle Sans Tab" pitchFamily="34" charset="-120"/>
              </a:rPr>
              <a:t>EXAMPLES</a:t>
            </a:r>
            <a:endParaRPr lang="en-US" sz="1125" dirty="0"/>
          </a:p>
        </p:txBody>
      </p:sp>
      <p:sp>
        <p:nvSpPr>
          <p:cNvPr id="27" name="Text 24"/>
          <p:cNvSpPr/>
          <p:nvPr/>
        </p:nvSpPr>
        <p:spPr>
          <a:xfrm>
            <a:off x="6886556" y="7141579"/>
            <a:ext cx="4649301" cy="486135"/>
          </a:xfrm>
          <a:prstGeom prst="rect">
            <a:avLst/>
          </a:prstGeom>
          <a:noFill/>
          <a:ln/>
        </p:spPr>
        <p:txBody>
          <a:bodyPr wrap="square" lIns="25400" tIns="25400" rIns="25400" bIns="25400" rtlCol="0" anchor="t">
            <a:normAutofit/>
          </a:bodyPr>
          <a:lstStyle/>
          <a:p>
            <a:pPr marL="0" indent="0" algn="l">
              <a:lnSpc>
                <a:spcPct val="86016"/>
              </a:lnSpc>
              <a:buNone/>
            </a:pPr>
            <a:r>
              <a:rPr lang="en-US" sz="1575" dirty="0">
                <a:solidFill>
                  <a:srgbClr val="C3D7DC"/>
                </a:solidFill>
                <a:latin typeface="Oracle Sans Tab" pitchFamily="34" charset="0"/>
                <a:ea typeface="Oracle Sans Tab" pitchFamily="34" charset="-122"/>
                <a:cs typeface="Oracle Sans Tab" pitchFamily="34" charset="-120"/>
              </a:rPr>
              <a:t>embedding training · contrastive learning · alignment · latent memory</a:t>
            </a:r>
            <a:endParaRPr lang="en-US" sz="1575" dirty="0"/>
          </a:p>
        </p:txBody>
      </p:sp>
      <p:sp>
        <p:nvSpPr>
          <p:cNvPr id="28" name="Text 25"/>
          <p:cNvSpPr/>
          <p:nvPr/>
        </p:nvSpPr>
        <p:spPr>
          <a:xfrm>
            <a:off x="6886556" y="8014808"/>
            <a:ext cx="4965273" cy="220931"/>
          </a:xfrm>
          <a:prstGeom prst="rect">
            <a:avLst/>
          </a:prstGeom>
          <a:noFill/>
          <a:ln/>
        </p:spPr>
        <p:txBody>
          <a:bodyPr wrap="square" lIns="25400" tIns="25400" rIns="25400" bIns="25400" rtlCol="0" anchor="t">
            <a:normAutofit/>
          </a:bodyPr>
          <a:lstStyle/>
          <a:p>
            <a:pPr marL="0" indent="0" algn="l">
              <a:lnSpc>
                <a:spcPct val="92160"/>
              </a:lnSpc>
              <a:buNone/>
            </a:pPr>
            <a:r>
              <a:rPr lang="en-US" sz="1125" dirty="0">
                <a:solidFill>
                  <a:srgbClr val="9FBBC3"/>
                </a:solidFill>
                <a:latin typeface="Oracle Sans Tab" pitchFamily="34" charset="0"/>
                <a:ea typeface="Oracle Sans Tab" pitchFamily="34" charset="-122"/>
                <a:cs typeface="Oracle Sans Tab" pitchFamily="34" charset="-120"/>
              </a:rPr>
              <a:t>CHARACTERISTICS</a:t>
            </a:r>
            <a:endParaRPr lang="en-US" sz="1125" dirty="0"/>
          </a:p>
        </p:txBody>
      </p:sp>
      <p:sp>
        <p:nvSpPr>
          <p:cNvPr id="29" name="Text 26"/>
          <p:cNvSpPr/>
          <p:nvPr/>
        </p:nvSpPr>
        <p:spPr>
          <a:xfrm>
            <a:off x="6886556" y="8401244"/>
            <a:ext cx="4649301" cy="710152"/>
          </a:xfrm>
          <a:prstGeom prst="rect">
            <a:avLst/>
          </a:prstGeom>
          <a:noFill/>
          <a:ln/>
        </p:spPr>
        <p:txBody>
          <a:bodyPr wrap="square" lIns="25400" tIns="25400" rIns="25400" bIns="25400" rtlCol="0" anchor="t">
            <a:normAutofit/>
          </a:bodyPr>
          <a:lstStyle/>
          <a:p>
            <a:pPr marL="0" indent="0" algn="l">
              <a:lnSpc>
                <a:spcPct val="86016"/>
              </a:lnSpc>
              <a:buNone/>
            </a:pPr>
            <a:r>
              <a:rPr lang="en-US" sz="1575" dirty="0">
                <a:solidFill>
                  <a:srgbClr val="C3D7DC"/>
                </a:solidFill>
                <a:latin typeface="Oracle Sans Tab" pitchFamily="34" charset="0"/>
                <a:ea typeface="Oracle Sans Tab" pitchFamily="34" charset="-122"/>
                <a:cs typeface="Oracle Sans Tab" pitchFamily="34" charset="-120"/>
              </a:rPr>
              <a:t>changes how information is represented · improves retrieval &amp; similarity · adds no facts directly</a:t>
            </a:r>
            <a:endParaRPr lang="en-US" sz="1575" dirty="0"/>
          </a:p>
        </p:txBody>
      </p:sp>
      <p:sp>
        <p:nvSpPr>
          <p:cNvPr id="30" name="Shape 27"/>
          <p:cNvSpPr/>
          <p:nvPr/>
        </p:nvSpPr>
        <p:spPr>
          <a:xfrm>
            <a:off x="6886556" y="9258298"/>
            <a:ext cx="4513885" cy="521002"/>
          </a:xfrm>
          <a:prstGeom prst="roundRect">
            <a:avLst>
              <a:gd name="adj" fmla="val 13163"/>
            </a:avLst>
          </a:prstGeom>
          <a:solidFill>
            <a:srgbClr val="0B5060"/>
          </a:solidFill>
          <a:ln w="16536">
            <a:solidFill>
              <a:srgbClr val="FFFFFF">
                <a:alpha val="20000"/>
              </a:srgbClr>
            </a:solidFill>
            <a:prstDash val="solid"/>
          </a:ln>
        </p:spPr>
        <p:txBody>
          <a:bodyPr/>
          <a:lstStyle/>
          <a:p>
            <a:endParaRPr lang="en-US"/>
          </a:p>
        </p:txBody>
      </p:sp>
      <p:sp>
        <p:nvSpPr>
          <p:cNvPr id="31" name="Text 28"/>
          <p:cNvSpPr/>
          <p:nvPr/>
        </p:nvSpPr>
        <p:spPr>
          <a:xfrm>
            <a:off x="6818848" y="9393070"/>
            <a:ext cx="4649301"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Knowledge → representation</a:t>
            </a:r>
            <a:endParaRPr lang="en-US" sz="1650" dirty="0"/>
          </a:p>
        </p:txBody>
      </p:sp>
      <p:sp>
        <p:nvSpPr>
          <p:cNvPr id="32" name="Shape 29"/>
          <p:cNvSpPr/>
          <p:nvPr/>
        </p:nvSpPr>
        <p:spPr>
          <a:xfrm rot="413402">
            <a:off x="9120127" y="4191286"/>
            <a:ext cx="5629274" cy="23151"/>
          </a:xfrm>
          <a:prstGeom prst="rect">
            <a:avLst/>
          </a:prstGeom>
          <a:solidFill>
            <a:srgbClr val="FD6953"/>
          </a:solidFill>
          <a:ln/>
        </p:spPr>
        <p:txBody>
          <a:bodyPr/>
          <a:lstStyle/>
          <a:p>
            <a:endParaRPr lang="en-US"/>
          </a:p>
        </p:txBody>
      </p:sp>
      <p:sp>
        <p:nvSpPr>
          <p:cNvPr id="33" name="Shape 30"/>
          <p:cNvSpPr/>
          <p:nvPr/>
        </p:nvSpPr>
        <p:spPr>
          <a:xfrm>
            <a:off x="12127218" y="4526235"/>
            <a:ext cx="5199683" cy="5417809"/>
          </a:xfrm>
          <a:prstGeom prst="roundRect">
            <a:avLst>
              <a:gd name="adj" fmla="val 1850"/>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34" name="Text 31"/>
          <p:cNvSpPr/>
          <p:nvPr/>
        </p:nvSpPr>
        <p:spPr>
          <a:xfrm>
            <a:off x="12470091" y="4897737"/>
            <a:ext cx="4649301" cy="392394"/>
          </a:xfrm>
          <a:prstGeom prst="rect">
            <a:avLst/>
          </a:prstGeom>
          <a:noFill/>
          <a:ln/>
        </p:spPr>
        <p:txBody>
          <a:bodyPr wrap="square" lIns="25400" tIns="25400" rIns="25400" bIns="25400" rtlCol="0" anchor="t">
            <a:normAutofit/>
          </a:bodyPr>
          <a:lstStyle/>
          <a:p>
            <a:pPr marL="0" indent="0" algn="l">
              <a:lnSpc>
                <a:spcPct val="92160"/>
              </a:lnSpc>
              <a:buNone/>
            </a:pPr>
            <a:r>
              <a:rPr lang="en-US" sz="2325" b="1" dirty="0">
                <a:solidFill>
                  <a:srgbClr val="FFFFFF"/>
                </a:solidFill>
                <a:latin typeface="Oracle Sans Tab" pitchFamily="34" charset="0"/>
                <a:ea typeface="Oracle Sans Tab" pitchFamily="34" charset="-122"/>
                <a:cs typeface="Oracle Sans Tab" pitchFamily="34" charset="-120"/>
              </a:rPr>
              <a:t>Context / token space</a:t>
            </a:r>
            <a:endParaRPr lang="en-US" sz="2325" dirty="0"/>
          </a:p>
        </p:txBody>
      </p:sp>
      <p:sp>
        <p:nvSpPr>
          <p:cNvPr id="35" name="Text 32"/>
          <p:cNvSpPr/>
          <p:nvPr/>
        </p:nvSpPr>
        <p:spPr>
          <a:xfrm>
            <a:off x="12470091" y="5451140"/>
            <a:ext cx="4965273"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FD6953"/>
                </a:solidFill>
                <a:latin typeface="Oracle Sans Tab" pitchFamily="34" charset="0"/>
                <a:ea typeface="Oracle Sans Tab" pitchFamily="34" charset="-122"/>
                <a:cs typeface="Oracle Sans Tab" pitchFamily="34" charset="-120"/>
              </a:rPr>
              <a:t>NON-PARAMETRIC MEMORY</a:t>
            </a:r>
            <a:endParaRPr lang="en-US" sz="1275" dirty="0"/>
          </a:p>
        </p:txBody>
      </p:sp>
      <p:sp>
        <p:nvSpPr>
          <p:cNvPr id="36" name="Text 33"/>
          <p:cNvSpPr/>
          <p:nvPr/>
        </p:nvSpPr>
        <p:spPr>
          <a:xfrm>
            <a:off x="12470091" y="5901242"/>
            <a:ext cx="4649301" cy="498020"/>
          </a:xfrm>
          <a:prstGeom prst="rect">
            <a:avLst/>
          </a:prstGeom>
          <a:noFill/>
          <a:ln/>
        </p:spPr>
        <p:txBody>
          <a:bodyPr wrap="square" lIns="25400" tIns="25400" rIns="25400" bIns="25400" rtlCol="0" anchor="t">
            <a:normAutofit/>
          </a:bodyPr>
          <a:lstStyle/>
          <a:p>
            <a:pPr marL="0" indent="0" algn="l">
              <a:lnSpc>
                <a:spcPct val="80640"/>
              </a:lnSpc>
              <a:buNone/>
            </a:pPr>
            <a:r>
              <a:rPr lang="en-US" sz="1725" dirty="0">
                <a:solidFill>
                  <a:srgbClr val="FFFFFF"/>
                </a:solidFill>
                <a:latin typeface="Oracle Sans Tab" pitchFamily="34" charset="0"/>
                <a:ea typeface="Oracle Sans Tab" pitchFamily="34" charset="-122"/>
                <a:cs typeface="Oracle Sans Tab" pitchFamily="34" charset="-120"/>
              </a:rPr>
              <a:t>Knowledge outside the model, injected as tokens.</a:t>
            </a:r>
            <a:endParaRPr lang="en-US" sz="1725" dirty="0"/>
          </a:p>
        </p:txBody>
      </p:sp>
      <p:sp>
        <p:nvSpPr>
          <p:cNvPr id="37" name="Text 34"/>
          <p:cNvSpPr/>
          <p:nvPr/>
        </p:nvSpPr>
        <p:spPr>
          <a:xfrm>
            <a:off x="12470091" y="6643160"/>
            <a:ext cx="4965273" cy="220931"/>
          </a:xfrm>
          <a:prstGeom prst="rect">
            <a:avLst/>
          </a:prstGeom>
          <a:noFill/>
          <a:ln/>
        </p:spPr>
        <p:txBody>
          <a:bodyPr wrap="square" lIns="25400" tIns="25400" rIns="25400" bIns="25400" rtlCol="0" anchor="t">
            <a:normAutofit/>
          </a:bodyPr>
          <a:lstStyle/>
          <a:p>
            <a:pPr marL="0" indent="0" algn="l">
              <a:lnSpc>
                <a:spcPct val="92160"/>
              </a:lnSpc>
              <a:buNone/>
            </a:pPr>
            <a:r>
              <a:rPr lang="en-US" sz="1125" dirty="0">
                <a:solidFill>
                  <a:srgbClr val="9FBBC3"/>
                </a:solidFill>
                <a:latin typeface="Oracle Sans Tab" pitchFamily="34" charset="0"/>
                <a:ea typeface="Oracle Sans Tab" pitchFamily="34" charset="-122"/>
                <a:cs typeface="Oracle Sans Tab" pitchFamily="34" charset="-120"/>
              </a:rPr>
              <a:t>EXAMPLES</a:t>
            </a:r>
            <a:endParaRPr lang="en-US" sz="1125" dirty="0"/>
          </a:p>
        </p:txBody>
      </p:sp>
      <p:sp>
        <p:nvSpPr>
          <p:cNvPr id="38" name="Text 35"/>
          <p:cNvSpPr/>
          <p:nvPr/>
        </p:nvSpPr>
        <p:spPr>
          <a:xfrm>
            <a:off x="12470091" y="7141579"/>
            <a:ext cx="4649301" cy="486135"/>
          </a:xfrm>
          <a:prstGeom prst="rect">
            <a:avLst/>
          </a:prstGeom>
          <a:noFill/>
          <a:ln/>
        </p:spPr>
        <p:txBody>
          <a:bodyPr wrap="square" lIns="25400" tIns="25400" rIns="25400" bIns="25400" rtlCol="0" anchor="t">
            <a:normAutofit/>
          </a:bodyPr>
          <a:lstStyle/>
          <a:p>
            <a:pPr marL="0" indent="0" algn="l">
              <a:lnSpc>
                <a:spcPct val="86016"/>
              </a:lnSpc>
              <a:buNone/>
            </a:pPr>
            <a:r>
              <a:rPr lang="en-US" sz="1575" dirty="0">
                <a:solidFill>
                  <a:srgbClr val="C3D7DC"/>
                </a:solidFill>
                <a:latin typeface="Oracle Sans Tab" pitchFamily="34" charset="0"/>
                <a:ea typeface="Oracle Sans Tab" pitchFamily="34" charset="-122"/>
                <a:cs typeface="Oracle Sans Tab" pitchFamily="34" charset="-120"/>
              </a:rPr>
              <a:t>RAG · memory systems · in-context learning · tool outputs</a:t>
            </a:r>
            <a:endParaRPr lang="en-US" sz="1575" dirty="0"/>
          </a:p>
        </p:txBody>
      </p:sp>
      <p:sp>
        <p:nvSpPr>
          <p:cNvPr id="39" name="Text 36"/>
          <p:cNvSpPr/>
          <p:nvPr/>
        </p:nvSpPr>
        <p:spPr>
          <a:xfrm>
            <a:off x="12470091" y="8014808"/>
            <a:ext cx="4965273" cy="220931"/>
          </a:xfrm>
          <a:prstGeom prst="rect">
            <a:avLst/>
          </a:prstGeom>
          <a:noFill/>
          <a:ln/>
        </p:spPr>
        <p:txBody>
          <a:bodyPr wrap="square" lIns="25400" tIns="25400" rIns="25400" bIns="25400" rtlCol="0" anchor="t">
            <a:normAutofit/>
          </a:bodyPr>
          <a:lstStyle/>
          <a:p>
            <a:pPr marL="0" indent="0" algn="l">
              <a:lnSpc>
                <a:spcPct val="92160"/>
              </a:lnSpc>
              <a:buNone/>
            </a:pPr>
            <a:r>
              <a:rPr lang="en-US" sz="1125" dirty="0">
                <a:solidFill>
                  <a:srgbClr val="9FBBC3"/>
                </a:solidFill>
                <a:latin typeface="Oracle Sans Tab" pitchFamily="34" charset="0"/>
                <a:ea typeface="Oracle Sans Tab" pitchFamily="34" charset="-122"/>
                <a:cs typeface="Oracle Sans Tab" pitchFamily="34" charset="-120"/>
              </a:rPr>
              <a:t>CHARACTERISTICS</a:t>
            </a:r>
            <a:endParaRPr lang="en-US" sz="1125" dirty="0"/>
          </a:p>
        </p:txBody>
      </p:sp>
      <p:sp>
        <p:nvSpPr>
          <p:cNvPr id="40" name="Text 37"/>
          <p:cNvSpPr/>
          <p:nvPr/>
        </p:nvSpPr>
        <p:spPr>
          <a:xfrm>
            <a:off x="12470091" y="8513227"/>
            <a:ext cx="4649301" cy="486135"/>
          </a:xfrm>
          <a:prstGeom prst="rect">
            <a:avLst/>
          </a:prstGeom>
          <a:noFill/>
          <a:ln/>
        </p:spPr>
        <p:txBody>
          <a:bodyPr wrap="square" lIns="25400" tIns="25400" rIns="25400" bIns="25400" rtlCol="0" anchor="t">
            <a:normAutofit/>
          </a:bodyPr>
          <a:lstStyle/>
          <a:p>
            <a:pPr marL="0" indent="0" algn="l">
              <a:lnSpc>
                <a:spcPct val="86016"/>
              </a:lnSpc>
              <a:buNone/>
            </a:pPr>
            <a:r>
              <a:rPr lang="en-US" sz="1575" dirty="0">
                <a:solidFill>
                  <a:srgbClr val="C3D7DC"/>
                </a:solidFill>
                <a:latin typeface="Oracle Sans Tab" pitchFamily="34" charset="0"/>
                <a:ea typeface="Oracle Sans Tab" pitchFamily="34" charset="-122"/>
                <a:cs typeface="Oracle Sans Tab" pitchFamily="34" charset="-120"/>
              </a:rPr>
              <a:t>no weight updates · add immediately · easy to audit · bounded by window &amp; retrieval</a:t>
            </a:r>
            <a:endParaRPr lang="en-US" sz="1575" dirty="0"/>
          </a:p>
        </p:txBody>
      </p:sp>
      <p:sp>
        <p:nvSpPr>
          <p:cNvPr id="41" name="Shape 38"/>
          <p:cNvSpPr/>
          <p:nvPr/>
        </p:nvSpPr>
        <p:spPr>
          <a:xfrm>
            <a:off x="12470091" y="9258298"/>
            <a:ext cx="4513885" cy="521002"/>
          </a:xfrm>
          <a:prstGeom prst="roundRect">
            <a:avLst>
              <a:gd name="adj" fmla="val 13163"/>
            </a:avLst>
          </a:prstGeom>
          <a:solidFill>
            <a:srgbClr val="C74634"/>
          </a:solidFill>
          <a:ln w="16536">
            <a:solidFill>
              <a:srgbClr val="FD6953"/>
            </a:solidFill>
            <a:prstDash val="solid"/>
          </a:ln>
        </p:spPr>
        <p:txBody>
          <a:bodyPr/>
          <a:lstStyle/>
          <a:p>
            <a:endParaRPr lang="en-US"/>
          </a:p>
        </p:txBody>
      </p:sp>
      <p:sp>
        <p:nvSpPr>
          <p:cNvPr id="42" name="Text 39"/>
          <p:cNvSpPr/>
          <p:nvPr/>
        </p:nvSpPr>
        <p:spPr>
          <a:xfrm>
            <a:off x="12402383" y="9393070"/>
            <a:ext cx="4649301"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Knowledge → tokens</a:t>
            </a:r>
            <a:endParaRPr lang="en-US" sz="16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CONTINUAL LEARNING</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PARAMETRIC, REPRESENTATIONAL, NON-PARAMETRIC</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A MORE COMPLETE TAXONOMY</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One taxonomy, three </a:t>
            </a:r>
            <a:r>
              <a:rPr lang="en-US" sz="4500" b="1" i="1" dirty="0">
                <a:solidFill>
                  <a:srgbClr val="FD6953"/>
                </a:solidFill>
                <a:latin typeface="Oracle Sans Tab" pitchFamily="34" charset="0"/>
                <a:ea typeface="Oracle Sans Tab" pitchFamily="34" charset="-122"/>
                <a:cs typeface="Oracle Sans Tab" pitchFamily="34" charset="-120"/>
              </a:rPr>
              <a:t>memories.</a:t>
            </a:r>
            <a:endParaRPr lang="en-US" sz="1200" dirty="0"/>
          </a:p>
        </p:txBody>
      </p:sp>
      <p:sp>
        <p:nvSpPr>
          <p:cNvPr id="8" name="Shape 5"/>
          <p:cNvSpPr/>
          <p:nvPr/>
        </p:nvSpPr>
        <p:spPr>
          <a:xfrm>
            <a:off x="564823" y="4737695"/>
            <a:ext cx="16367735" cy="1508745"/>
          </a:xfrm>
          <a:prstGeom prst="roundRect">
            <a:avLst>
              <a:gd name="adj" fmla="val 6376"/>
            </a:avLst>
          </a:prstGeom>
          <a:solidFill>
            <a:srgbClr val="0B5060"/>
          </a:solidFill>
          <a:ln w="23151">
            <a:solidFill>
              <a:srgbClr val="FD6953"/>
            </a:solidFill>
            <a:prstDash val="solid"/>
          </a:ln>
          <a:effectLst>
            <a:outerShdw blurRad="114300" dist="19050" dir="5400000" algn="bl" rotWithShape="0">
              <a:srgbClr val="000000">
                <a:alpha val="18000"/>
              </a:srgbClr>
            </a:outerShdw>
          </a:effectLst>
        </p:spPr>
        <p:txBody>
          <a:bodyPr/>
          <a:lstStyle/>
          <a:p>
            <a:endParaRPr lang="en-US"/>
          </a:p>
        </p:txBody>
      </p:sp>
      <p:sp>
        <p:nvSpPr>
          <p:cNvPr id="9" name="Text 6"/>
          <p:cNvSpPr/>
          <p:nvPr/>
        </p:nvSpPr>
        <p:spPr>
          <a:xfrm>
            <a:off x="1113472" y="5309185"/>
            <a:ext cx="4803339" cy="403814"/>
          </a:xfrm>
          <a:prstGeom prst="rect">
            <a:avLst/>
          </a:prstGeom>
          <a:noFill/>
          <a:ln/>
        </p:spPr>
        <p:txBody>
          <a:bodyPr wrap="square" lIns="25400" tIns="25400" rIns="25400" bIns="25400" rtlCol="0" anchor="t">
            <a:normAutofit/>
          </a:bodyPr>
          <a:lstStyle/>
          <a:p>
            <a:pPr marL="0" indent="0" algn="l">
              <a:lnSpc>
                <a:spcPct val="92160"/>
              </a:lnSpc>
              <a:buNone/>
            </a:pPr>
            <a:r>
              <a:rPr lang="en-US" sz="2400" b="1" dirty="0">
                <a:solidFill>
                  <a:srgbClr val="FFFFFF"/>
                </a:solidFill>
                <a:latin typeface="Oracle Sans Tab" pitchFamily="34" charset="0"/>
                <a:ea typeface="Oracle Sans Tab" pitchFamily="34" charset="-122"/>
                <a:cs typeface="Oracle Sans Tab" pitchFamily="34" charset="-120"/>
              </a:rPr>
              <a:t>Continual learning =</a:t>
            </a:r>
            <a:endParaRPr lang="en-US" sz="2400" dirty="0"/>
          </a:p>
        </p:txBody>
      </p:sp>
      <p:sp>
        <p:nvSpPr>
          <p:cNvPr id="10" name="Text 7"/>
          <p:cNvSpPr/>
          <p:nvPr/>
        </p:nvSpPr>
        <p:spPr>
          <a:xfrm>
            <a:off x="5309859" y="5158703"/>
            <a:ext cx="3814387" cy="335239"/>
          </a:xfrm>
          <a:prstGeom prst="rect">
            <a:avLst/>
          </a:prstGeom>
          <a:noFill/>
          <a:ln/>
        </p:spPr>
        <p:txBody>
          <a:bodyPr wrap="square" lIns="25400" tIns="25400" rIns="25400" bIns="25400" rtlCol="0" anchor="t">
            <a:normAutofit/>
          </a:bodyPr>
          <a:lstStyle/>
          <a:p>
            <a:pPr marL="0" indent="0" algn="ctr">
              <a:lnSpc>
                <a:spcPct val="92160"/>
              </a:lnSpc>
              <a:buNone/>
            </a:pPr>
            <a:r>
              <a:rPr lang="en-US" sz="1950" b="1" dirty="0">
                <a:solidFill>
                  <a:srgbClr val="FFFFFF"/>
                </a:solidFill>
                <a:latin typeface="Oracle Sans Tab" pitchFamily="34" charset="0"/>
                <a:ea typeface="Oracle Sans Tab" pitchFamily="34" charset="-122"/>
                <a:cs typeface="Oracle Sans Tab" pitchFamily="34" charset="-120"/>
              </a:rPr>
              <a:t>parametric memory</a:t>
            </a:r>
            <a:endParaRPr lang="en-US" sz="1950" dirty="0"/>
          </a:p>
        </p:txBody>
      </p:sp>
      <p:sp>
        <p:nvSpPr>
          <p:cNvPr id="11" name="Text 8"/>
          <p:cNvSpPr/>
          <p:nvPr/>
        </p:nvSpPr>
        <p:spPr>
          <a:xfrm>
            <a:off x="5309859" y="5613042"/>
            <a:ext cx="3814387"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dirty="0">
                <a:solidFill>
                  <a:srgbClr val="C3D7DC"/>
                </a:solidFill>
                <a:latin typeface="Oracle Sans Tab" pitchFamily="34" charset="0"/>
                <a:ea typeface="Oracle Sans Tab" pitchFamily="34" charset="-122"/>
                <a:cs typeface="Oracle Sans Tab" pitchFamily="34" charset="-120"/>
              </a:rPr>
              <a:t>(weights)</a:t>
            </a:r>
            <a:endParaRPr lang="en-US" sz="1650" dirty="0"/>
          </a:p>
        </p:txBody>
      </p:sp>
      <p:sp>
        <p:nvSpPr>
          <p:cNvPr id="12" name="Text 9"/>
          <p:cNvSpPr/>
          <p:nvPr/>
        </p:nvSpPr>
        <p:spPr>
          <a:xfrm>
            <a:off x="8824873" y="5273011"/>
            <a:ext cx="624797" cy="449599"/>
          </a:xfrm>
          <a:prstGeom prst="rect">
            <a:avLst/>
          </a:prstGeom>
          <a:noFill/>
          <a:ln/>
        </p:spPr>
        <p:txBody>
          <a:bodyPr wrap="square" lIns="25400" tIns="25400" rIns="25400" bIns="25400" rtlCol="0" anchor="t">
            <a:normAutofit/>
          </a:bodyPr>
          <a:lstStyle/>
          <a:p>
            <a:pPr marL="0" indent="0" algn="ctr">
              <a:lnSpc>
                <a:spcPct val="92160"/>
              </a:lnSpc>
              <a:buNone/>
            </a:pPr>
            <a:r>
              <a:rPr lang="en-US" sz="2700" b="1" dirty="0">
                <a:solidFill>
                  <a:srgbClr val="FD6953"/>
                </a:solidFill>
                <a:latin typeface="Oracle Sans Tab" pitchFamily="34" charset="0"/>
                <a:ea typeface="Oracle Sans Tab" pitchFamily="34" charset="-122"/>
                <a:cs typeface="Oracle Sans Tab" pitchFamily="34" charset="-120"/>
              </a:rPr>
              <a:t>+</a:t>
            </a:r>
            <a:endParaRPr lang="en-US" sz="2700" dirty="0"/>
          </a:p>
        </p:txBody>
      </p:sp>
      <p:sp>
        <p:nvSpPr>
          <p:cNvPr id="13" name="Text 10"/>
          <p:cNvSpPr/>
          <p:nvPr/>
        </p:nvSpPr>
        <p:spPr>
          <a:xfrm>
            <a:off x="9356072" y="5158703"/>
            <a:ext cx="3814387" cy="335239"/>
          </a:xfrm>
          <a:prstGeom prst="rect">
            <a:avLst/>
          </a:prstGeom>
          <a:noFill/>
          <a:ln/>
        </p:spPr>
        <p:txBody>
          <a:bodyPr wrap="square" lIns="25400" tIns="25400" rIns="25400" bIns="25400" rtlCol="0" anchor="t">
            <a:normAutofit/>
          </a:bodyPr>
          <a:lstStyle/>
          <a:p>
            <a:pPr marL="0" indent="0" algn="ctr">
              <a:lnSpc>
                <a:spcPct val="92160"/>
              </a:lnSpc>
              <a:buNone/>
            </a:pPr>
            <a:r>
              <a:rPr lang="en-US" sz="1950" b="1" dirty="0">
                <a:solidFill>
                  <a:srgbClr val="FFFFFF"/>
                </a:solidFill>
                <a:latin typeface="Oracle Sans Tab" pitchFamily="34" charset="0"/>
                <a:ea typeface="Oracle Sans Tab" pitchFamily="34" charset="-122"/>
                <a:cs typeface="Oracle Sans Tab" pitchFamily="34" charset="-120"/>
              </a:rPr>
              <a:t>representational memory</a:t>
            </a:r>
            <a:endParaRPr lang="en-US" sz="1950" dirty="0"/>
          </a:p>
        </p:txBody>
      </p:sp>
      <p:sp>
        <p:nvSpPr>
          <p:cNvPr id="14" name="Text 11"/>
          <p:cNvSpPr/>
          <p:nvPr/>
        </p:nvSpPr>
        <p:spPr>
          <a:xfrm>
            <a:off x="9356072" y="5613042"/>
            <a:ext cx="3814387"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dirty="0">
                <a:solidFill>
                  <a:srgbClr val="C3D7DC"/>
                </a:solidFill>
                <a:latin typeface="Oracle Sans Tab" pitchFamily="34" charset="0"/>
                <a:ea typeface="Oracle Sans Tab" pitchFamily="34" charset="-122"/>
                <a:cs typeface="Oracle Sans Tab" pitchFamily="34" charset="-120"/>
              </a:rPr>
              <a:t>(latents)</a:t>
            </a:r>
            <a:endParaRPr lang="en-US" sz="1650" dirty="0"/>
          </a:p>
        </p:txBody>
      </p:sp>
      <p:sp>
        <p:nvSpPr>
          <p:cNvPr id="15" name="Text 12"/>
          <p:cNvSpPr/>
          <p:nvPr/>
        </p:nvSpPr>
        <p:spPr>
          <a:xfrm>
            <a:off x="12871085" y="5273011"/>
            <a:ext cx="624797" cy="449599"/>
          </a:xfrm>
          <a:prstGeom prst="rect">
            <a:avLst/>
          </a:prstGeom>
          <a:noFill/>
          <a:ln/>
        </p:spPr>
        <p:txBody>
          <a:bodyPr wrap="square" lIns="25400" tIns="25400" rIns="25400" bIns="25400" rtlCol="0" anchor="t">
            <a:normAutofit/>
          </a:bodyPr>
          <a:lstStyle/>
          <a:p>
            <a:pPr marL="0" indent="0" algn="ctr">
              <a:lnSpc>
                <a:spcPct val="92160"/>
              </a:lnSpc>
              <a:buNone/>
            </a:pPr>
            <a:r>
              <a:rPr lang="en-US" sz="2700" b="1" dirty="0">
                <a:solidFill>
                  <a:srgbClr val="FD6953"/>
                </a:solidFill>
                <a:latin typeface="Oracle Sans Tab" pitchFamily="34" charset="0"/>
                <a:ea typeface="Oracle Sans Tab" pitchFamily="34" charset="-122"/>
                <a:cs typeface="Oracle Sans Tab" pitchFamily="34" charset="-120"/>
              </a:rPr>
              <a:t>+</a:t>
            </a:r>
            <a:endParaRPr lang="en-US" sz="2700" dirty="0"/>
          </a:p>
        </p:txBody>
      </p:sp>
      <p:sp>
        <p:nvSpPr>
          <p:cNvPr id="16" name="Text 13"/>
          <p:cNvSpPr/>
          <p:nvPr/>
        </p:nvSpPr>
        <p:spPr>
          <a:xfrm>
            <a:off x="13402285" y="5158703"/>
            <a:ext cx="3814387" cy="335239"/>
          </a:xfrm>
          <a:prstGeom prst="rect">
            <a:avLst/>
          </a:prstGeom>
          <a:noFill/>
          <a:ln/>
        </p:spPr>
        <p:txBody>
          <a:bodyPr wrap="square" lIns="25400" tIns="25400" rIns="25400" bIns="25400" rtlCol="0" anchor="t">
            <a:normAutofit/>
          </a:bodyPr>
          <a:lstStyle/>
          <a:p>
            <a:pPr marL="0" indent="0" algn="ctr">
              <a:lnSpc>
                <a:spcPct val="92160"/>
              </a:lnSpc>
              <a:buNone/>
            </a:pPr>
            <a:r>
              <a:rPr lang="en-US" sz="1950" b="1" dirty="0">
                <a:solidFill>
                  <a:srgbClr val="FD6953"/>
                </a:solidFill>
                <a:latin typeface="Oracle Sans Tab" pitchFamily="34" charset="0"/>
                <a:ea typeface="Oracle Sans Tab" pitchFamily="34" charset="-122"/>
                <a:cs typeface="Oracle Sans Tab" pitchFamily="34" charset="-120"/>
              </a:rPr>
              <a:t>non-parametric memory</a:t>
            </a:r>
            <a:endParaRPr lang="en-US" sz="1950" dirty="0"/>
          </a:p>
        </p:txBody>
      </p:sp>
      <p:sp>
        <p:nvSpPr>
          <p:cNvPr id="17" name="Text 14"/>
          <p:cNvSpPr/>
          <p:nvPr/>
        </p:nvSpPr>
        <p:spPr>
          <a:xfrm>
            <a:off x="13402285" y="5613042"/>
            <a:ext cx="3814387"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dirty="0">
                <a:solidFill>
                  <a:srgbClr val="C3D7DC"/>
                </a:solidFill>
                <a:latin typeface="Oracle Sans Tab" pitchFamily="34" charset="0"/>
                <a:ea typeface="Oracle Sans Tab" pitchFamily="34" charset="-122"/>
                <a:cs typeface="Oracle Sans Tab" pitchFamily="34" charset="-120"/>
              </a:rPr>
              <a:t>(tokens / retrieval)</a:t>
            </a:r>
            <a:endParaRPr lang="en-US" sz="1650" dirty="0"/>
          </a:p>
        </p:txBody>
      </p:sp>
      <p:sp>
        <p:nvSpPr>
          <p:cNvPr id="18" name="Text 15"/>
          <p:cNvSpPr/>
          <p:nvPr/>
        </p:nvSpPr>
        <p:spPr>
          <a:xfrm>
            <a:off x="960096" y="9504949"/>
            <a:ext cx="16858767"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i="1" dirty="0">
                <a:solidFill>
                  <a:srgbClr val="C3D7DC"/>
                </a:solidFill>
                <a:latin typeface="Oracle Sans Tab" pitchFamily="34" charset="0"/>
                <a:ea typeface="Oracle Sans Tab" pitchFamily="34" charset="-122"/>
                <a:cs typeface="Oracle Sans Tab" pitchFamily="34" charset="-120"/>
              </a:rPr>
              <a:t>Our agent lives in the third column: non-parametric memory.</a:t>
            </a:r>
            <a:endParaRPr lang="en-US"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name="Slide 60">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CONTINUAL LEARNING</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WORKFLOWS VS SKILLS IN THE WINDOW</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TOKEN-SPACE LEARNING</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Two ways to fill the </a:t>
            </a:r>
            <a:r>
              <a:rPr lang="en-US" sz="4500" b="1" i="1" dirty="0">
                <a:solidFill>
                  <a:srgbClr val="FD6953"/>
                </a:solidFill>
                <a:latin typeface="Oracle Sans Tab" pitchFamily="34" charset="0"/>
                <a:ea typeface="Oracle Sans Tab" pitchFamily="34" charset="-122"/>
                <a:cs typeface="Oracle Sans Tab" pitchFamily="34" charset="-120"/>
              </a:rPr>
              <a:t>window.</a:t>
            </a:r>
            <a:endParaRPr lang="en-US" sz="1200" dirty="0"/>
          </a:p>
        </p:txBody>
      </p:sp>
      <p:sp>
        <p:nvSpPr>
          <p:cNvPr id="8" name="Shape 5"/>
          <p:cNvSpPr/>
          <p:nvPr/>
        </p:nvSpPr>
        <p:spPr>
          <a:xfrm>
            <a:off x="960096" y="3771863"/>
            <a:ext cx="7680926" cy="4389086"/>
          </a:xfrm>
          <a:prstGeom prst="roundRect">
            <a:avLst>
              <a:gd name="adj" fmla="val 2192"/>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 name="Shape 6"/>
          <p:cNvSpPr/>
          <p:nvPr/>
        </p:nvSpPr>
        <p:spPr>
          <a:xfrm>
            <a:off x="960096" y="3771863"/>
            <a:ext cx="7680926" cy="617172"/>
          </a:xfrm>
          <a:prstGeom prst="roundRect">
            <a:avLst>
              <a:gd name="adj" fmla="val 13273"/>
            </a:avLst>
          </a:prstGeom>
          <a:solidFill>
            <a:srgbClr val="0B5060"/>
          </a:solidFill>
          <a:ln w="16536">
            <a:solidFill>
              <a:srgbClr val="FFFFFF">
                <a:alpha val="20000"/>
              </a:srgbClr>
            </a:solidFill>
            <a:prstDash val="solid"/>
          </a:ln>
        </p:spPr>
        <p:txBody>
          <a:bodyPr/>
          <a:lstStyle/>
          <a:p>
            <a:endParaRPr lang="en-US"/>
          </a:p>
        </p:txBody>
      </p:sp>
      <p:sp>
        <p:nvSpPr>
          <p:cNvPr id="10" name="Shape 7"/>
          <p:cNvSpPr/>
          <p:nvPr/>
        </p:nvSpPr>
        <p:spPr>
          <a:xfrm>
            <a:off x="1206800" y="3990971"/>
            <a:ext cx="178077" cy="178077"/>
          </a:xfrm>
          <a:prstGeom prst="ellipse">
            <a:avLst/>
          </a:prstGeom>
          <a:solidFill>
            <a:srgbClr val="0B5060"/>
          </a:solidFill>
          <a:ln/>
        </p:spPr>
        <p:txBody>
          <a:bodyPr/>
          <a:lstStyle/>
          <a:p>
            <a:endParaRPr lang="en-US"/>
          </a:p>
        </p:txBody>
      </p:sp>
      <p:sp>
        <p:nvSpPr>
          <p:cNvPr id="11" name="Shape 8"/>
          <p:cNvSpPr/>
          <p:nvPr/>
        </p:nvSpPr>
        <p:spPr>
          <a:xfrm>
            <a:off x="1481098" y="3990971"/>
            <a:ext cx="178077" cy="178077"/>
          </a:xfrm>
          <a:prstGeom prst="ellipse">
            <a:avLst/>
          </a:prstGeom>
          <a:solidFill>
            <a:srgbClr val="0B5060"/>
          </a:solidFill>
          <a:ln/>
        </p:spPr>
        <p:txBody>
          <a:bodyPr/>
          <a:lstStyle/>
          <a:p>
            <a:endParaRPr lang="en-US"/>
          </a:p>
        </p:txBody>
      </p:sp>
      <p:sp>
        <p:nvSpPr>
          <p:cNvPr id="12" name="Text 9"/>
          <p:cNvSpPr/>
          <p:nvPr/>
        </p:nvSpPr>
        <p:spPr>
          <a:xfrm>
            <a:off x="1783043" y="3971850"/>
            <a:ext cx="4526266"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Oracle Sans Tab" pitchFamily="34" charset="0"/>
                <a:ea typeface="Oracle Sans Tab" pitchFamily="34" charset="-122"/>
                <a:cs typeface="Oracle Sans Tab" pitchFamily="34" charset="-120"/>
              </a:rPr>
              <a:t>context window</a:t>
            </a:r>
            <a:endParaRPr lang="en-US" sz="1425" dirty="0"/>
          </a:p>
        </p:txBody>
      </p:sp>
      <p:sp>
        <p:nvSpPr>
          <p:cNvPr id="13" name="Text 10"/>
          <p:cNvSpPr/>
          <p:nvPr/>
        </p:nvSpPr>
        <p:spPr>
          <a:xfrm>
            <a:off x="1371596" y="4663385"/>
            <a:ext cx="7543777" cy="243824"/>
          </a:xfrm>
          <a:prstGeom prst="rect">
            <a:avLst/>
          </a:prstGeom>
          <a:noFill/>
          <a:ln/>
        </p:spPr>
        <p:txBody>
          <a:bodyPr wrap="square" lIns="25400" tIns="25400" rIns="25400" bIns="25400" rtlCol="0" anchor="t">
            <a:normAutofit/>
          </a:bodyPr>
          <a:lstStyle/>
          <a:p>
            <a:pPr marL="0" indent="0" algn="l">
              <a:lnSpc>
                <a:spcPct val="92160"/>
              </a:lnSpc>
              <a:buNone/>
            </a:pPr>
            <a:r>
              <a:rPr lang="en-US" sz="1350" dirty="0">
                <a:solidFill>
                  <a:srgbClr val="C3D7DC"/>
                </a:solidFill>
                <a:latin typeface="Oracle Sans Tab" pitchFamily="34" charset="0"/>
                <a:ea typeface="Oracle Sans Tab" pitchFamily="34" charset="-122"/>
                <a:cs typeface="Oracle Sans Tab" pitchFamily="34" charset="-120"/>
              </a:rPr>
              <a:t>WITH RAW WORKFLOWS</a:t>
            </a:r>
            <a:endParaRPr lang="en-US" sz="1350" dirty="0"/>
          </a:p>
        </p:txBody>
      </p:sp>
      <p:sp>
        <p:nvSpPr>
          <p:cNvPr id="14" name="Text 11"/>
          <p:cNvSpPr/>
          <p:nvPr/>
        </p:nvSpPr>
        <p:spPr>
          <a:xfrm>
            <a:off x="1371596" y="5704974"/>
            <a:ext cx="7543777" cy="252402"/>
          </a:xfrm>
          <a:prstGeom prst="rect">
            <a:avLst/>
          </a:prstGeom>
          <a:noFill/>
          <a:ln/>
        </p:spPr>
        <p:txBody>
          <a:bodyPr wrap="square" lIns="25400" tIns="25400" rIns="25400" bIns="25400" rtlCol="0" anchor="t">
            <a:normAutofit/>
          </a:bodyPr>
          <a:lstStyle/>
          <a:p>
            <a:pPr marL="0" indent="0" algn="l">
              <a:lnSpc>
                <a:spcPct val="96000"/>
              </a:lnSpc>
              <a:buNone/>
            </a:pPr>
            <a:r>
              <a:rPr lang="en-US" sz="1350" dirty="0">
                <a:solidFill>
                  <a:srgbClr val="C3D7DC"/>
                </a:solidFill>
                <a:latin typeface="Oracle Sans Tab" pitchFamily="34" charset="0"/>
                <a:ea typeface="Oracle Sans Tab" pitchFamily="34" charset="-122"/>
                <a:cs typeface="Oracle Sans Tab" pitchFamily="34" charset="-120"/>
              </a:rPr>
              <a:t>recipe: pull orders, join customers, group by region,</a:t>
            </a:r>
            <a:endParaRPr lang="en-US" sz="1350" dirty="0"/>
          </a:p>
        </p:txBody>
      </p:sp>
      <p:sp>
        <p:nvSpPr>
          <p:cNvPr id="15" name="Text 12"/>
          <p:cNvSpPr/>
          <p:nvPr/>
        </p:nvSpPr>
        <p:spPr>
          <a:xfrm>
            <a:off x="1371596" y="5919276"/>
            <a:ext cx="7543777" cy="252402"/>
          </a:xfrm>
          <a:prstGeom prst="rect">
            <a:avLst/>
          </a:prstGeom>
          <a:noFill/>
          <a:ln/>
        </p:spPr>
        <p:txBody>
          <a:bodyPr wrap="square" lIns="25400" tIns="25400" rIns="25400" bIns="25400" rtlCol="0" anchor="t">
            <a:normAutofit/>
          </a:bodyPr>
          <a:lstStyle/>
          <a:p>
            <a:pPr marL="0" indent="0" algn="l">
              <a:lnSpc>
                <a:spcPct val="96000"/>
              </a:lnSpc>
              <a:buNone/>
            </a:pPr>
            <a:r>
              <a:rPr lang="en-US" sz="1350" dirty="0">
                <a:solidFill>
                  <a:srgbClr val="C3D7DC"/>
                </a:solidFill>
                <a:latin typeface="Menlo" pitchFamily="34" charset="0"/>
                <a:ea typeface="Menlo" pitchFamily="34" charset="-122"/>
                <a:cs typeface="Menlo" pitchFamily="34" charset="-120"/>
              </a:rPr>
              <a:t>filter nulls, compute net_revenue, sort desc, take 10 ...</a:t>
            </a:r>
            <a:endParaRPr lang="en-US" sz="1350" dirty="0"/>
          </a:p>
        </p:txBody>
      </p:sp>
      <p:sp>
        <p:nvSpPr>
          <p:cNvPr id="16" name="Text 13"/>
          <p:cNvSpPr/>
          <p:nvPr/>
        </p:nvSpPr>
        <p:spPr>
          <a:xfrm>
            <a:off x="1371596" y="6133579"/>
            <a:ext cx="7543777" cy="252402"/>
          </a:xfrm>
          <a:prstGeom prst="rect">
            <a:avLst/>
          </a:prstGeom>
          <a:noFill/>
          <a:ln/>
        </p:spPr>
        <p:txBody>
          <a:bodyPr wrap="square" lIns="25400" tIns="25400" rIns="25400" bIns="25400" rtlCol="0" anchor="t">
            <a:normAutofit/>
          </a:bodyPr>
          <a:lstStyle/>
          <a:p>
            <a:pPr marL="0" indent="0" algn="l">
              <a:lnSpc>
                <a:spcPct val="96000"/>
              </a:lnSpc>
              <a:buNone/>
            </a:pPr>
            <a:r>
              <a:rPr lang="en-US" sz="1350" dirty="0">
                <a:solidFill>
                  <a:srgbClr val="C3D7DC"/>
                </a:solidFill>
                <a:latin typeface="Oracle Sans Tab" pitchFamily="34" charset="0"/>
                <a:ea typeface="Oracle Sans Tab" pitchFamily="34" charset="-122"/>
                <a:cs typeface="Oracle Sans Tab" pitchFamily="34" charset="-120"/>
              </a:rPr>
              <a:t>recipe: same steps re-derived again next session ...</a:t>
            </a:r>
            <a:endParaRPr lang="en-US" sz="1350" dirty="0"/>
          </a:p>
        </p:txBody>
      </p:sp>
      <p:sp>
        <p:nvSpPr>
          <p:cNvPr id="17" name="Text 14"/>
          <p:cNvSpPr/>
          <p:nvPr/>
        </p:nvSpPr>
        <p:spPr>
          <a:xfrm>
            <a:off x="1371596" y="6347881"/>
            <a:ext cx="7543777" cy="252402"/>
          </a:xfrm>
          <a:prstGeom prst="rect">
            <a:avLst/>
          </a:prstGeom>
          <a:noFill/>
          <a:ln/>
        </p:spPr>
        <p:txBody>
          <a:bodyPr wrap="square" lIns="25400" tIns="25400" rIns="25400" bIns="25400" rtlCol="0" anchor="t">
            <a:normAutofit/>
          </a:bodyPr>
          <a:lstStyle/>
          <a:p>
            <a:pPr marL="0" indent="0" algn="l">
              <a:lnSpc>
                <a:spcPct val="96000"/>
              </a:lnSpc>
              <a:buNone/>
            </a:pPr>
            <a:r>
              <a:rPr lang="en-US" sz="1350" dirty="0">
                <a:solidFill>
                  <a:srgbClr val="C3D7DC"/>
                </a:solidFill>
                <a:latin typeface="Oracle Sans Tab" pitchFamily="34" charset="0"/>
                <a:ea typeface="Oracle Sans Tab" pitchFamily="34" charset="-122"/>
                <a:cs typeface="Oracle Sans Tab" pitchFamily="34" charset="-120"/>
              </a:rPr>
              <a:t>recipe: verbose, low-priority text, retrieved each time ...</a:t>
            </a:r>
            <a:endParaRPr lang="en-US" sz="1350" dirty="0"/>
          </a:p>
        </p:txBody>
      </p:sp>
      <p:sp>
        <p:nvSpPr>
          <p:cNvPr id="18" name="Text 15"/>
          <p:cNvSpPr/>
          <p:nvPr/>
        </p:nvSpPr>
        <p:spPr>
          <a:xfrm>
            <a:off x="1371596" y="6562183"/>
            <a:ext cx="7543777" cy="252402"/>
          </a:xfrm>
          <a:prstGeom prst="rect">
            <a:avLst/>
          </a:prstGeom>
          <a:noFill/>
          <a:ln/>
        </p:spPr>
        <p:txBody>
          <a:bodyPr wrap="square" lIns="25400" tIns="25400" rIns="25400" bIns="25400" rtlCol="0" anchor="t">
            <a:normAutofit/>
          </a:bodyPr>
          <a:lstStyle/>
          <a:p>
            <a:pPr marL="0" indent="0" algn="l">
              <a:lnSpc>
                <a:spcPct val="96000"/>
              </a:lnSpc>
              <a:buNone/>
            </a:pPr>
            <a:r>
              <a:rPr lang="en-US" sz="1350" dirty="0">
                <a:solidFill>
                  <a:srgbClr val="C3D7DC"/>
                </a:solidFill>
                <a:latin typeface="Oracle Sans Tab" pitchFamily="34" charset="0"/>
                <a:ea typeface="Oracle Sans Tab" pitchFamily="34" charset="-122"/>
                <a:cs typeface="Oracle Sans Tab" pitchFamily="34" charset="-120"/>
              </a:rPr>
              <a:t>recipe: ...</a:t>
            </a:r>
            <a:endParaRPr lang="en-US" sz="1350" dirty="0"/>
          </a:p>
        </p:txBody>
      </p:sp>
      <p:sp>
        <p:nvSpPr>
          <p:cNvPr id="19" name="Text 16"/>
          <p:cNvSpPr/>
          <p:nvPr/>
        </p:nvSpPr>
        <p:spPr>
          <a:xfrm>
            <a:off x="1371596" y="7698031"/>
            <a:ext cx="7543777"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i="1" dirty="0">
                <a:solidFill>
                  <a:srgbClr val="C3D7DC"/>
                </a:solidFill>
                <a:latin typeface="Oracle Sans Tab" pitchFamily="34" charset="0"/>
                <a:ea typeface="Oracle Sans Tab" pitchFamily="34" charset="-122"/>
                <a:cs typeface="Oracle Sans Tab" pitchFamily="34" charset="-120"/>
              </a:rPr>
              <a:t>lower-priority text, verbose, re-derived each time</a:t>
            </a:r>
            <a:endParaRPr lang="en-US" sz="1575" dirty="0"/>
          </a:p>
        </p:txBody>
      </p:sp>
      <p:sp>
        <p:nvSpPr>
          <p:cNvPr id="20" name="Shape 17"/>
          <p:cNvSpPr/>
          <p:nvPr/>
        </p:nvSpPr>
        <p:spPr>
          <a:xfrm>
            <a:off x="9601171" y="3771863"/>
            <a:ext cx="7726660" cy="4389086"/>
          </a:xfrm>
          <a:prstGeom prst="roundRect">
            <a:avLst>
              <a:gd name="adj" fmla="val 2192"/>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1" name="Shape 18"/>
          <p:cNvSpPr/>
          <p:nvPr/>
        </p:nvSpPr>
        <p:spPr>
          <a:xfrm>
            <a:off x="9601171" y="3771863"/>
            <a:ext cx="7726660" cy="617172"/>
          </a:xfrm>
          <a:prstGeom prst="roundRect">
            <a:avLst>
              <a:gd name="adj" fmla="val 13273"/>
            </a:avLst>
          </a:prstGeom>
          <a:solidFill>
            <a:srgbClr val="0B5060"/>
          </a:solidFill>
          <a:ln w="16536">
            <a:solidFill>
              <a:srgbClr val="FFFFFF">
                <a:alpha val="20000"/>
              </a:srgbClr>
            </a:solidFill>
            <a:prstDash val="solid"/>
          </a:ln>
        </p:spPr>
        <p:txBody>
          <a:bodyPr/>
          <a:lstStyle/>
          <a:p>
            <a:endParaRPr lang="en-US"/>
          </a:p>
        </p:txBody>
      </p:sp>
      <p:sp>
        <p:nvSpPr>
          <p:cNvPr id="22" name="Shape 19"/>
          <p:cNvSpPr/>
          <p:nvPr/>
        </p:nvSpPr>
        <p:spPr>
          <a:xfrm>
            <a:off x="9847874" y="3990971"/>
            <a:ext cx="178077" cy="178077"/>
          </a:xfrm>
          <a:prstGeom prst="ellipse">
            <a:avLst/>
          </a:prstGeom>
          <a:solidFill>
            <a:srgbClr val="0B5060"/>
          </a:solidFill>
          <a:ln/>
        </p:spPr>
        <p:txBody>
          <a:bodyPr/>
          <a:lstStyle/>
          <a:p>
            <a:endParaRPr lang="en-US"/>
          </a:p>
        </p:txBody>
      </p:sp>
      <p:sp>
        <p:nvSpPr>
          <p:cNvPr id="23" name="Shape 20"/>
          <p:cNvSpPr/>
          <p:nvPr/>
        </p:nvSpPr>
        <p:spPr>
          <a:xfrm>
            <a:off x="10122173" y="3990971"/>
            <a:ext cx="178077" cy="178077"/>
          </a:xfrm>
          <a:prstGeom prst="ellipse">
            <a:avLst/>
          </a:prstGeom>
          <a:solidFill>
            <a:srgbClr val="0B5060"/>
          </a:solidFill>
          <a:ln/>
        </p:spPr>
        <p:txBody>
          <a:bodyPr/>
          <a:lstStyle/>
          <a:p>
            <a:endParaRPr lang="en-US"/>
          </a:p>
        </p:txBody>
      </p:sp>
      <p:sp>
        <p:nvSpPr>
          <p:cNvPr id="24" name="Text 21"/>
          <p:cNvSpPr/>
          <p:nvPr/>
        </p:nvSpPr>
        <p:spPr>
          <a:xfrm>
            <a:off x="10424118" y="3971850"/>
            <a:ext cx="4526266" cy="255244"/>
          </a:xfrm>
          <a:prstGeom prst="rect">
            <a:avLst/>
          </a:prstGeom>
          <a:noFill/>
          <a:ln/>
        </p:spPr>
        <p:txBody>
          <a:bodyPr wrap="square" lIns="25400" tIns="25400" rIns="25400" bIns="25400" rtlCol="0" anchor="t">
            <a:normAutofit/>
          </a:bodyPr>
          <a:lstStyle/>
          <a:p>
            <a:pPr marL="0" indent="0" algn="l">
              <a:lnSpc>
                <a:spcPct val="92160"/>
              </a:lnSpc>
              <a:buNone/>
            </a:pPr>
            <a:r>
              <a:rPr lang="en-US" sz="1425" dirty="0">
                <a:solidFill>
                  <a:srgbClr val="C3D7DC"/>
                </a:solidFill>
                <a:latin typeface="Oracle Sans Tab" pitchFamily="34" charset="0"/>
                <a:ea typeface="Oracle Sans Tab" pitchFamily="34" charset="-122"/>
                <a:cs typeface="Oracle Sans Tab" pitchFamily="34" charset="-120"/>
              </a:rPr>
              <a:t>context window</a:t>
            </a:r>
            <a:endParaRPr lang="en-US" sz="1425" dirty="0"/>
          </a:p>
        </p:txBody>
      </p:sp>
      <p:sp>
        <p:nvSpPr>
          <p:cNvPr id="25" name="Shape 22"/>
          <p:cNvSpPr/>
          <p:nvPr/>
        </p:nvSpPr>
        <p:spPr>
          <a:xfrm>
            <a:off x="10012670" y="4594810"/>
            <a:ext cx="6903713" cy="1577320"/>
          </a:xfrm>
          <a:prstGeom prst="roundRect">
            <a:avLst>
              <a:gd name="adj" fmla="val 4348"/>
            </a:avLst>
          </a:prstGeom>
          <a:solidFill>
            <a:srgbClr val="0B5060"/>
          </a:solidFill>
          <a:ln w="16536">
            <a:solidFill>
              <a:srgbClr val="E0836F"/>
            </a:solidFill>
            <a:prstDash val="solid"/>
          </a:ln>
        </p:spPr>
        <p:txBody>
          <a:bodyPr/>
          <a:lstStyle/>
          <a:p>
            <a:endParaRPr lang="en-US"/>
          </a:p>
        </p:txBody>
      </p:sp>
      <p:sp>
        <p:nvSpPr>
          <p:cNvPr id="26" name="Text 23"/>
          <p:cNvSpPr/>
          <p:nvPr/>
        </p:nvSpPr>
        <p:spPr>
          <a:xfrm>
            <a:off x="10218394" y="4833917"/>
            <a:ext cx="7141434" cy="232352"/>
          </a:xfrm>
          <a:prstGeom prst="rect">
            <a:avLst/>
          </a:prstGeom>
          <a:noFill/>
          <a:ln/>
        </p:spPr>
        <p:txBody>
          <a:bodyPr wrap="square" lIns="25400" tIns="25400" rIns="25400" bIns="25400" rtlCol="0" anchor="t">
            <a:normAutofit/>
          </a:bodyPr>
          <a:lstStyle/>
          <a:p>
            <a:pPr marL="0" indent="0" algn="l">
              <a:lnSpc>
                <a:spcPct val="92160"/>
              </a:lnSpc>
              <a:buNone/>
            </a:pPr>
            <a:r>
              <a:rPr lang="en-US" sz="1275" dirty="0">
                <a:solidFill>
                  <a:srgbClr val="FD6953"/>
                </a:solidFill>
                <a:latin typeface="Oracle Sans Tab" pitchFamily="34" charset="0"/>
                <a:ea typeface="Oracle Sans Tab" pitchFamily="34" charset="-122"/>
                <a:cs typeface="Oracle Sans Tab" pitchFamily="34" charset="-120"/>
              </a:rPr>
              <a:t>SYSTEM, SKILLS MANIFEST</a:t>
            </a:r>
            <a:endParaRPr lang="en-US" sz="1275" dirty="0"/>
          </a:p>
        </p:txBody>
      </p:sp>
      <p:sp>
        <p:nvSpPr>
          <p:cNvPr id="27" name="Text 24"/>
          <p:cNvSpPr/>
          <p:nvPr/>
        </p:nvSpPr>
        <p:spPr>
          <a:xfrm>
            <a:off x="10218394" y="5314921"/>
            <a:ext cx="7141434" cy="243824"/>
          </a:xfrm>
          <a:prstGeom prst="rect">
            <a:avLst/>
          </a:prstGeom>
          <a:noFill/>
          <a:ln/>
        </p:spPr>
        <p:txBody>
          <a:bodyPr wrap="square" lIns="25400" tIns="25400" rIns="25400" bIns="25400" rtlCol="0" anchor="t">
            <a:normAutofit/>
          </a:bodyPr>
          <a:lstStyle/>
          <a:p>
            <a:pPr marL="0" indent="0" algn="l">
              <a:lnSpc>
                <a:spcPct val="92160"/>
              </a:lnSpc>
              <a:buNone/>
            </a:pPr>
            <a:r>
              <a:rPr lang="en-US" sz="1350" dirty="0">
                <a:solidFill>
                  <a:srgbClr val="FFFFFF"/>
                </a:solidFill>
                <a:latin typeface="Menlo" pitchFamily="34" charset="0"/>
                <a:ea typeface="Menlo" pitchFamily="34" charset="-122"/>
                <a:cs typeface="Menlo" pitchFamily="34" charset="-120"/>
              </a:rPr>
              <a:t>- analyse_revenue: net revenue by region</a:t>
            </a:r>
            <a:endParaRPr lang="en-US" sz="1350" dirty="0"/>
          </a:p>
        </p:txBody>
      </p:sp>
      <p:sp>
        <p:nvSpPr>
          <p:cNvPr id="28" name="Text 25"/>
          <p:cNvSpPr/>
          <p:nvPr/>
        </p:nvSpPr>
        <p:spPr>
          <a:xfrm>
            <a:off x="10218394" y="5520645"/>
            <a:ext cx="7141434" cy="243824"/>
          </a:xfrm>
          <a:prstGeom prst="rect">
            <a:avLst/>
          </a:prstGeom>
          <a:noFill/>
          <a:ln/>
        </p:spPr>
        <p:txBody>
          <a:bodyPr wrap="square" lIns="25400" tIns="25400" rIns="25400" bIns="25400" rtlCol="0" anchor="t">
            <a:normAutofit/>
          </a:bodyPr>
          <a:lstStyle/>
          <a:p>
            <a:pPr marL="0" indent="0" algn="l">
              <a:lnSpc>
                <a:spcPct val="92160"/>
              </a:lnSpc>
              <a:buNone/>
            </a:pPr>
            <a:r>
              <a:rPr lang="en-US" sz="1350" dirty="0">
                <a:solidFill>
                  <a:srgbClr val="FFFFFF"/>
                </a:solidFill>
                <a:latin typeface="Menlo" pitchFamily="34" charset="0"/>
                <a:ea typeface="Menlo" pitchFamily="34" charset="-122"/>
                <a:cs typeface="Menlo" pitchFamily="34" charset="-120"/>
              </a:rPr>
              <a:t>- build_automation: schedule a refreshed view</a:t>
            </a:r>
            <a:endParaRPr lang="en-US" sz="1350" dirty="0"/>
          </a:p>
        </p:txBody>
      </p:sp>
      <p:sp>
        <p:nvSpPr>
          <p:cNvPr id="29" name="Text 26"/>
          <p:cNvSpPr/>
          <p:nvPr/>
        </p:nvSpPr>
        <p:spPr>
          <a:xfrm>
            <a:off x="10218394" y="5726368"/>
            <a:ext cx="7141434" cy="243824"/>
          </a:xfrm>
          <a:prstGeom prst="rect">
            <a:avLst/>
          </a:prstGeom>
          <a:noFill/>
          <a:ln/>
        </p:spPr>
        <p:txBody>
          <a:bodyPr wrap="square" lIns="25400" tIns="25400" rIns="25400" bIns="25400" rtlCol="0" anchor="t">
            <a:normAutofit/>
          </a:bodyPr>
          <a:lstStyle/>
          <a:p>
            <a:pPr marL="0" indent="0" algn="l">
              <a:lnSpc>
                <a:spcPct val="92160"/>
              </a:lnSpc>
              <a:buNone/>
            </a:pPr>
            <a:r>
              <a:rPr lang="en-US" sz="1350" dirty="0">
                <a:solidFill>
                  <a:srgbClr val="FFFFFF"/>
                </a:solidFill>
                <a:latin typeface="Menlo" pitchFamily="34" charset="0"/>
                <a:ea typeface="Menlo" pitchFamily="34" charset="-122"/>
                <a:cs typeface="Menlo" pitchFamily="34" charset="-120"/>
              </a:rPr>
              <a:t>- triage_incident: find and summarise failures</a:t>
            </a:r>
            <a:endParaRPr lang="en-US" sz="1350" dirty="0"/>
          </a:p>
        </p:txBody>
      </p:sp>
      <p:sp>
        <p:nvSpPr>
          <p:cNvPr id="30" name="Text 27"/>
          <p:cNvSpPr/>
          <p:nvPr/>
        </p:nvSpPr>
        <p:spPr>
          <a:xfrm>
            <a:off x="10012670" y="6549316"/>
            <a:ext cx="7594084" cy="243824"/>
          </a:xfrm>
          <a:prstGeom prst="rect">
            <a:avLst/>
          </a:prstGeom>
          <a:noFill/>
          <a:ln/>
        </p:spPr>
        <p:txBody>
          <a:bodyPr wrap="square" lIns="25400" tIns="25400" rIns="25400" bIns="25400" rtlCol="0" anchor="t">
            <a:normAutofit/>
          </a:bodyPr>
          <a:lstStyle/>
          <a:p>
            <a:pPr marL="0" indent="0" algn="l">
              <a:lnSpc>
                <a:spcPct val="92160"/>
              </a:lnSpc>
              <a:buNone/>
            </a:pPr>
            <a:r>
              <a:rPr lang="en-US" sz="1350" dirty="0">
                <a:solidFill>
                  <a:srgbClr val="C3D7DC"/>
                </a:solidFill>
                <a:latin typeface="Menlo" pitchFamily="34" charset="0"/>
                <a:ea typeface="Menlo" pitchFamily="34" charset="-122"/>
                <a:cs typeface="Menlo" pitchFamily="34" charset="-120"/>
              </a:rPr>
              <a:t>load_skill(name) -&gt; full SKILL.md body, on demand</a:t>
            </a:r>
            <a:endParaRPr lang="en-US" sz="1350" dirty="0"/>
          </a:p>
        </p:txBody>
      </p:sp>
      <p:sp>
        <p:nvSpPr>
          <p:cNvPr id="31" name="Text 28"/>
          <p:cNvSpPr/>
          <p:nvPr/>
        </p:nvSpPr>
        <p:spPr>
          <a:xfrm>
            <a:off x="10012670" y="7698031"/>
            <a:ext cx="7594084"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i="1" dirty="0">
                <a:solidFill>
                  <a:srgbClr val="FD6953"/>
                </a:solidFill>
                <a:latin typeface="Oracle Sans Tab" pitchFamily="34" charset="0"/>
                <a:ea typeface="Oracle Sans Tab" pitchFamily="34" charset="-122"/>
                <a:cs typeface="Oracle Sans Tab" pitchFamily="34" charset="-120"/>
              </a:rPr>
              <a:t>compact, system-layer, body only when used</a:t>
            </a:r>
            <a:endParaRPr lang="en-US" sz="1575" dirty="0"/>
          </a:p>
        </p:txBody>
      </p:sp>
      <p:sp>
        <p:nvSpPr>
          <p:cNvPr id="32" name="Text 29"/>
          <p:cNvSpPr/>
          <p:nvPr/>
        </p:nvSpPr>
        <p:spPr>
          <a:xfrm>
            <a:off x="960096" y="8590276"/>
            <a:ext cx="16858767" cy="825494"/>
          </a:xfrm>
          <a:prstGeom prst="rect">
            <a:avLst/>
          </a:prstGeom>
          <a:noFill/>
          <a:ln/>
        </p:spPr>
        <p:txBody>
          <a:bodyPr wrap="square" lIns="25400" tIns="25400" rIns="25400" bIns="25400" rtlCol="0" anchor="t">
            <a:normAutofit/>
          </a:bodyPr>
          <a:lstStyle/>
          <a:p>
            <a:pPr marL="0" indent="0" algn="l">
              <a:lnSpc>
                <a:spcPct val="81408"/>
              </a:lnSpc>
              <a:buNone/>
            </a:pPr>
            <a:r>
              <a:rPr lang="en-US" sz="1950" b="1" dirty="0">
                <a:solidFill>
                  <a:srgbClr val="FD6953"/>
                </a:solidFill>
                <a:latin typeface="Oracle Sans Tab" pitchFamily="34" charset="0"/>
                <a:ea typeface="Oracle Sans Tab" pitchFamily="34" charset="-122"/>
                <a:cs typeface="Oracle Sans Tab" pitchFamily="34" charset="-120"/>
              </a:rPr>
              <a:t>Same knowledge, different home. </a:t>
            </a:r>
            <a:r>
              <a:rPr lang="en-US" sz="1950" dirty="0">
                <a:solidFill>
                  <a:srgbClr val="FFFFFF"/>
                </a:solidFill>
                <a:latin typeface="Oracle Sans Tab" pitchFamily="34" charset="0"/>
                <a:ea typeface="Oracle Sans Tab" pitchFamily="34" charset="-122"/>
                <a:cs typeface="Oracle Sans Tab" pitchFamily="34" charset="-120"/>
              </a:rPr>
              <a:t>Skills are distilled once and recalled as a compact, high-priority manifest; workflows are raw recipes pulled in each time. This is continual learning in token space.</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CONTINUAL LEARNING</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Menlo" pitchFamily="34" charset="0"/>
                <a:ea typeface="Menlo" pitchFamily="34" charset="-122"/>
                <a:cs typeface="Menlo" pitchFamily="34" charset="-120"/>
              </a:rPr>
              <a:t>WORKFLOW → SKILL PROMOTION</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PROMOTE TO A SKILL</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Distil a recipe( </a:t>
            </a:r>
            <a:r>
              <a:rPr lang="en-US" sz="4500" b="1" i="1" dirty="0">
                <a:solidFill>
                  <a:srgbClr val="FFFFFF"/>
                </a:solidFill>
                <a:latin typeface="Oracle Sans Tab" pitchFamily="34" charset="0"/>
                <a:ea typeface="Oracle Sans Tab" pitchFamily="34" charset="-122"/>
                <a:cs typeface="Oracle Sans Tab" pitchFamily="34" charset="-120"/>
              </a:rPr>
              <a:t>workflow memory</a:t>
            </a:r>
            <a:r>
              <a:rPr lang="en-US" sz="4500" b="1" dirty="0">
                <a:solidFill>
                  <a:srgbClr val="FFFFFF"/>
                </a:solidFill>
                <a:latin typeface="Oracle Sans Tab" pitchFamily="34" charset="0"/>
                <a:ea typeface="Oracle Sans Tab" pitchFamily="34" charset="-122"/>
                <a:cs typeface="Oracle Sans Tab" pitchFamily="34" charset="-120"/>
              </a:rPr>
              <a:t>) into reusable </a:t>
            </a:r>
            <a:r>
              <a:rPr lang="en-US" sz="4500" b="1" i="1" dirty="0">
                <a:solidFill>
                  <a:srgbClr val="FD6953"/>
                </a:solidFill>
                <a:latin typeface="Oracle Sans Tab" pitchFamily="34" charset="0"/>
                <a:ea typeface="Oracle Sans Tab" pitchFamily="34" charset="-122"/>
                <a:cs typeface="Oracle Sans Tab" pitchFamily="34" charset="-120"/>
              </a:rPr>
              <a:t>skills</a:t>
            </a:r>
            <a:endParaRPr lang="en-US" sz="1200" dirty="0"/>
          </a:p>
        </p:txBody>
      </p:sp>
      <p:sp>
        <p:nvSpPr>
          <p:cNvPr id="8" name="Shape 5"/>
          <p:cNvSpPr/>
          <p:nvPr/>
        </p:nvSpPr>
        <p:spPr>
          <a:xfrm>
            <a:off x="754373" y="4114788"/>
            <a:ext cx="2948916" cy="1302969"/>
          </a:xfrm>
          <a:prstGeom prst="roundRect">
            <a:avLst>
              <a:gd name="adj" fmla="val 738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rcRect/>
          <a:stretch/>
        </p:blipFill>
        <p:spPr>
          <a:xfrm>
            <a:off x="973429" y="4505306"/>
            <a:ext cx="521002" cy="521002"/>
          </a:xfrm>
          <a:prstGeom prst="rect">
            <a:avLst/>
          </a:prstGeom>
        </p:spPr>
      </p:pic>
      <p:sp>
        <p:nvSpPr>
          <p:cNvPr id="10" name="Text 6"/>
          <p:cNvSpPr/>
          <p:nvPr/>
        </p:nvSpPr>
        <p:spPr>
          <a:xfrm>
            <a:off x="1604915" y="4345264"/>
            <a:ext cx="2037372"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Workflow recipe</a:t>
            </a:r>
            <a:endParaRPr lang="en-US" sz="1650" dirty="0"/>
          </a:p>
        </p:txBody>
      </p:sp>
      <p:sp>
        <p:nvSpPr>
          <p:cNvPr id="11" name="Text 7"/>
          <p:cNvSpPr/>
          <p:nvPr/>
        </p:nvSpPr>
        <p:spPr>
          <a:xfrm>
            <a:off x="1604915" y="4824408"/>
            <a:ext cx="2037372" cy="361905"/>
          </a:xfrm>
          <a:prstGeom prst="rect">
            <a:avLst/>
          </a:prstGeom>
          <a:noFill/>
          <a:ln/>
        </p:spPr>
        <p:txBody>
          <a:bodyPr wrap="square" lIns="25400" tIns="25400" rIns="25400" bIns="25400" rtlCol="0" anchor="t">
            <a:normAutofit/>
          </a:bodyPr>
          <a:lstStyle/>
          <a:p>
            <a:pPr marL="0" indent="0" algn="l">
              <a:lnSpc>
                <a:spcPct val="76800"/>
              </a:lnSpc>
              <a:buNone/>
            </a:pPr>
            <a:r>
              <a:rPr lang="en-US" sz="1275" dirty="0">
                <a:solidFill>
                  <a:srgbClr val="C3D7DC"/>
                </a:solidFill>
                <a:latin typeface="Oracle Sans Tab" pitchFamily="34" charset="0"/>
                <a:ea typeface="Oracle Sans Tab" pitchFamily="34" charset="-122"/>
                <a:cs typeface="Oracle Sans Tab" pitchFamily="34" charset="-120"/>
              </a:rPr>
              <a:t>intent · steps · tools · wins/losses</a:t>
            </a:r>
            <a:endParaRPr lang="en-US" sz="1275" dirty="0"/>
          </a:p>
        </p:txBody>
      </p:sp>
      <p:sp>
        <p:nvSpPr>
          <p:cNvPr id="12" name="Shape 8"/>
          <p:cNvSpPr/>
          <p:nvPr/>
        </p:nvSpPr>
        <p:spPr>
          <a:xfrm>
            <a:off x="3703288" y="4766272"/>
            <a:ext cx="342873" cy="26458"/>
          </a:xfrm>
          <a:prstGeom prst="rect">
            <a:avLst/>
          </a:prstGeom>
          <a:solidFill>
            <a:srgbClr val="FFFFFF">
              <a:alpha val="34000"/>
            </a:srgbClr>
          </a:solidFill>
          <a:ln/>
        </p:spPr>
        <p:txBody>
          <a:bodyPr/>
          <a:lstStyle/>
          <a:p>
            <a:endParaRPr lang="en-US"/>
          </a:p>
        </p:txBody>
      </p:sp>
      <p:sp>
        <p:nvSpPr>
          <p:cNvPr id="13" name="Shape 9"/>
          <p:cNvSpPr/>
          <p:nvPr/>
        </p:nvSpPr>
        <p:spPr>
          <a:xfrm>
            <a:off x="3920484" y="4683590"/>
            <a:ext cx="125677" cy="165365"/>
          </a:xfrm>
          <a:prstGeom prst="rect">
            <a:avLst/>
          </a:prstGeom>
          <a:solidFill>
            <a:srgbClr val="FFFFFF">
              <a:alpha val="34000"/>
            </a:srgbClr>
          </a:solidFill>
          <a:ln/>
        </p:spPr>
        <p:txBody>
          <a:bodyPr/>
          <a:lstStyle/>
          <a:p>
            <a:endParaRPr lang="en-US"/>
          </a:p>
        </p:txBody>
      </p:sp>
      <p:sp>
        <p:nvSpPr>
          <p:cNvPr id="14" name="Shape 10"/>
          <p:cNvSpPr/>
          <p:nvPr/>
        </p:nvSpPr>
        <p:spPr>
          <a:xfrm>
            <a:off x="4046213" y="4114788"/>
            <a:ext cx="2948916" cy="1302969"/>
          </a:xfrm>
          <a:prstGeom prst="roundRect">
            <a:avLst>
              <a:gd name="adj" fmla="val 7383"/>
            </a:avLst>
          </a:prstGeom>
          <a:solidFill>
            <a:srgbClr val="0B5060"/>
          </a:solidFill>
          <a:ln w="26458">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pic>
        <p:nvPicPr>
          <p:cNvPr id="15" name="Image 2" descr="preencoded.png"/>
          <p:cNvPicPr>
            <a:picLocks noChangeAspect="1"/>
          </p:cNvPicPr>
          <p:nvPr/>
        </p:nvPicPr>
        <p:blipFill>
          <a:blip r:embed="rId5"/>
          <a:srcRect/>
          <a:stretch/>
        </p:blipFill>
        <p:spPr>
          <a:xfrm>
            <a:off x="4265269" y="4505306"/>
            <a:ext cx="521002" cy="521002"/>
          </a:xfrm>
          <a:prstGeom prst="rect">
            <a:avLst/>
          </a:prstGeom>
        </p:spPr>
      </p:pic>
      <p:sp>
        <p:nvSpPr>
          <p:cNvPr id="16" name="Text 11"/>
          <p:cNvSpPr/>
          <p:nvPr/>
        </p:nvSpPr>
        <p:spPr>
          <a:xfrm>
            <a:off x="4896755" y="4345264"/>
            <a:ext cx="2037372"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Worth promoting?</a:t>
            </a:r>
            <a:endParaRPr lang="en-US" sz="1650" dirty="0"/>
          </a:p>
        </p:txBody>
      </p:sp>
      <p:sp>
        <p:nvSpPr>
          <p:cNvPr id="17" name="Text 12"/>
          <p:cNvSpPr/>
          <p:nvPr/>
        </p:nvSpPr>
        <p:spPr>
          <a:xfrm>
            <a:off x="4896755" y="4824408"/>
            <a:ext cx="2037372" cy="361905"/>
          </a:xfrm>
          <a:prstGeom prst="rect">
            <a:avLst/>
          </a:prstGeom>
          <a:noFill/>
          <a:ln/>
        </p:spPr>
        <p:txBody>
          <a:bodyPr wrap="square" lIns="25400" tIns="25400" rIns="25400" bIns="25400" rtlCol="0" anchor="t">
            <a:normAutofit/>
          </a:bodyPr>
          <a:lstStyle/>
          <a:p>
            <a:pPr marL="0" indent="0" algn="l">
              <a:lnSpc>
                <a:spcPct val="76800"/>
              </a:lnSpc>
              <a:buNone/>
            </a:pPr>
            <a:r>
              <a:rPr lang="en-US" sz="1275" dirty="0">
                <a:solidFill>
                  <a:srgbClr val="C3D7DC"/>
                </a:solidFill>
                <a:latin typeface="Oracle Sans Tab" pitchFamily="34" charset="0"/>
                <a:ea typeface="Oracle Sans Tab" pitchFamily="34" charset="-122"/>
                <a:cs typeface="Oracle Sans Tab" pitchFamily="34" charset="-120"/>
              </a:rPr>
              <a:t>recurring + reliable (wins &gt; losses)</a:t>
            </a:r>
            <a:endParaRPr lang="en-US" sz="1275" dirty="0"/>
          </a:p>
        </p:txBody>
      </p:sp>
      <p:sp>
        <p:nvSpPr>
          <p:cNvPr id="18" name="Shape 13"/>
          <p:cNvSpPr/>
          <p:nvPr/>
        </p:nvSpPr>
        <p:spPr>
          <a:xfrm>
            <a:off x="6995128" y="4766272"/>
            <a:ext cx="754373" cy="26458"/>
          </a:xfrm>
          <a:prstGeom prst="rect">
            <a:avLst/>
          </a:prstGeom>
          <a:solidFill>
            <a:srgbClr val="86B596"/>
          </a:solidFill>
          <a:ln/>
        </p:spPr>
        <p:txBody>
          <a:bodyPr/>
          <a:lstStyle/>
          <a:p>
            <a:endParaRPr lang="en-US"/>
          </a:p>
        </p:txBody>
      </p:sp>
      <p:sp>
        <p:nvSpPr>
          <p:cNvPr id="19" name="Shape 14"/>
          <p:cNvSpPr/>
          <p:nvPr/>
        </p:nvSpPr>
        <p:spPr>
          <a:xfrm>
            <a:off x="7623824" y="4683590"/>
            <a:ext cx="125677" cy="165365"/>
          </a:xfrm>
          <a:prstGeom prst="rect">
            <a:avLst/>
          </a:prstGeom>
          <a:solidFill>
            <a:srgbClr val="86B596"/>
          </a:solidFill>
          <a:ln/>
        </p:spPr>
        <p:txBody>
          <a:bodyPr/>
          <a:lstStyle/>
          <a:p>
            <a:endParaRPr lang="en-US"/>
          </a:p>
        </p:txBody>
      </p:sp>
      <p:sp>
        <p:nvSpPr>
          <p:cNvPr id="20" name="Text 15"/>
          <p:cNvSpPr/>
          <p:nvPr/>
        </p:nvSpPr>
        <p:spPr>
          <a:xfrm>
            <a:off x="6957028" y="4444328"/>
            <a:ext cx="830573"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b="1" dirty="0">
                <a:solidFill>
                  <a:srgbClr val="86B596"/>
                </a:solidFill>
                <a:latin typeface="Oracle Sans Tab" pitchFamily="34" charset="0"/>
                <a:ea typeface="Oracle Sans Tab" pitchFamily="34" charset="-122"/>
                <a:cs typeface="Oracle Sans Tab" pitchFamily="34" charset="-120"/>
              </a:rPr>
              <a:t>yes</a:t>
            </a:r>
            <a:endParaRPr lang="en-US" sz="1350" dirty="0"/>
          </a:p>
        </p:txBody>
      </p:sp>
      <p:sp>
        <p:nvSpPr>
          <p:cNvPr id="21" name="Shape 16"/>
          <p:cNvSpPr/>
          <p:nvPr/>
        </p:nvSpPr>
        <p:spPr>
          <a:xfrm>
            <a:off x="7749501" y="4114788"/>
            <a:ext cx="3017490" cy="1302969"/>
          </a:xfrm>
          <a:prstGeom prst="roundRect">
            <a:avLst>
              <a:gd name="adj" fmla="val 738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22" name="Image 3" descr="preencoded.png"/>
          <p:cNvPicPr>
            <a:picLocks noChangeAspect="1"/>
          </p:cNvPicPr>
          <p:nvPr/>
        </p:nvPicPr>
        <p:blipFill>
          <a:blip r:embed="rId6"/>
          <a:srcRect/>
          <a:stretch/>
        </p:blipFill>
        <p:spPr>
          <a:xfrm>
            <a:off x="7968609" y="4505306"/>
            <a:ext cx="521002" cy="521002"/>
          </a:xfrm>
          <a:prstGeom prst="rect">
            <a:avLst/>
          </a:prstGeom>
        </p:spPr>
      </p:pic>
      <p:sp>
        <p:nvSpPr>
          <p:cNvPr id="23" name="Text 17"/>
          <p:cNvSpPr/>
          <p:nvPr/>
        </p:nvSpPr>
        <p:spPr>
          <a:xfrm>
            <a:off x="8600095" y="4219587"/>
            <a:ext cx="2105947" cy="541015"/>
          </a:xfrm>
          <a:prstGeom prst="rect">
            <a:avLst/>
          </a:prstGeom>
          <a:noFill/>
          <a:ln/>
        </p:spPr>
        <p:txBody>
          <a:bodyPr wrap="square" lIns="25400" tIns="25400" rIns="25400" bIns="25400" rtlCol="0" anchor="t">
            <a:normAutofit/>
          </a:bodyPr>
          <a:lstStyle/>
          <a:p>
            <a:pPr marL="0" indent="0" algn="l">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LLM distils → SKILL.md</a:t>
            </a:r>
            <a:endParaRPr lang="en-US" sz="1650" dirty="0"/>
          </a:p>
        </p:txBody>
      </p:sp>
      <p:sp>
        <p:nvSpPr>
          <p:cNvPr id="24" name="Text 18"/>
          <p:cNvSpPr/>
          <p:nvPr/>
        </p:nvSpPr>
        <p:spPr>
          <a:xfrm>
            <a:off x="8600095" y="4824408"/>
            <a:ext cx="2105947" cy="361905"/>
          </a:xfrm>
          <a:prstGeom prst="rect">
            <a:avLst/>
          </a:prstGeom>
          <a:noFill/>
          <a:ln/>
        </p:spPr>
        <p:txBody>
          <a:bodyPr wrap="square" lIns="25400" tIns="25400" rIns="25400" bIns="25400" rtlCol="0" anchor="t">
            <a:normAutofit/>
          </a:bodyPr>
          <a:lstStyle/>
          <a:p>
            <a:pPr marL="0" indent="0" algn="l">
              <a:lnSpc>
                <a:spcPct val="76800"/>
              </a:lnSpc>
              <a:buNone/>
            </a:pPr>
            <a:r>
              <a:rPr lang="en-US" sz="1275" dirty="0">
                <a:solidFill>
                  <a:srgbClr val="C3D7DC"/>
                </a:solidFill>
                <a:latin typeface="Oracle Sans Tab" pitchFamily="34" charset="0"/>
                <a:ea typeface="Oracle Sans Tab" pitchFamily="34" charset="-122"/>
                <a:cs typeface="Oracle Sans Tab" pitchFamily="34" charset="-120"/>
              </a:rPr>
              <a:t>frontmatter + when-to-use + steps</a:t>
            </a:r>
            <a:endParaRPr lang="en-US" sz="1275" dirty="0"/>
          </a:p>
        </p:txBody>
      </p:sp>
      <p:sp>
        <p:nvSpPr>
          <p:cNvPr id="25" name="Shape 19"/>
          <p:cNvSpPr/>
          <p:nvPr/>
        </p:nvSpPr>
        <p:spPr>
          <a:xfrm>
            <a:off x="10767043" y="4766272"/>
            <a:ext cx="342873" cy="26458"/>
          </a:xfrm>
          <a:prstGeom prst="rect">
            <a:avLst/>
          </a:prstGeom>
          <a:solidFill>
            <a:srgbClr val="FFFFFF">
              <a:alpha val="34000"/>
            </a:srgbClr>
          </a:solidFill>
          <a:ln/>
        </p:spPr>
        <p:txBody>
          <a:bodyPr/>
          <a:lstStyle/>
          <a:p>
            <a:endParaRPr lang="en-US"/>
          </a:p>
        </p:txBody>
      </p:sp>
      <p:sp>
        <p:nvSpPr>
          <p:cNvPr id="26" name="Shape 20"/>
          <p:cNvSpPr/>
          <p:nvPr/>
        </p:nvSpPr>
        <p:spPr>
          <a:xfrm>
            <a:off x="10984239" y="4683590"/>
            <a:ext cx="125677" cy="165365"/>
          </a:xfrm>
          <a:prstGeom prst="rect">
            <a:avLst/>
          </a:prstGeom>
          <a:solidFill>
            <a:srgbClr val="FFFFFF">
              <a:alpha val="34000"/>
            </a:srgbClr>
          </a:solidFill>
          <a:ln/>
        </p:spPr>
        <p:txBody>
          <a:bodyPr/>
          <a:lstStyle/>
          <a:p>
            <a:endParaRPr lang="en-US"/>
          </a:p>
        </p:txBody>
      </p:sp>
      <p:sp>
        <p:nvSpPr>
          <p:cNvPr id="27" name="Shape 21"/>
          <p:cNvSpPr/>
          <p:nvPr/>
        </p:nvSpPr>
        <p:spPr>
          <a:xfrm>
            <a:off x="11109916" y="4114788"/>
            <a:ext cx="2743192" cy="1302969"/>
          </a:xfrm>
          <a:prstGeom prst="roundRect">
            <a:avLst>
              <a:gd name="adj" fmla="val 7383"/>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pic>
        <p:nvPicPr>
          <p:cNvPr id="28" name="Image 4" descr="preencoded.png"/>
          <p:cNvPicPr>
            <a:picLocks noChangeAspect="1"/>
          </p:cNvPicPr>
          <p:nvPr/>
        </p:nvPicPr>
        <p:blipFill>
          <a:blip r:embed="rId7"/>
          <a:srcRect/>
          <a:stretch/>
        </p:blipFill>
        <p:spPr>
          <a:xfrm>
            <a:off x="11329024" y="4505306"/>
            <a:ext cx="521002" cy="521002"/>
          </a:xfrm>
          <a:prstGeom prst="rect">
            <a:avLst/>
          </a:prstGeom>
        </p:spPr>
      </p:pic>
      <p:sp>
        <p:nvSpPr>
          <p:cNvPr id="29" name="Text 22"/>
          <p:cNvSpPr/>
          <p:nvPr/>
        </p:nvSpPr>
        <p:spPr>
          <a:xfrm>
            <a:off x="11960509" y="4345264"/>
            <a:ext cx="1831648"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save_skill</a:t>
            </a:r>
            <a:endParaRPr lang="en-US" sz="1650" dirty="0"/>
          </a:p>
        </p:txBody>
      </p:sp>
      <p:sp>
        <p:nvSpPr>
          <p:cNvPr id="30" name="Text 23"/>
          <p:cNvSpPr/>
          <p:nvPr/>
        </p:nvSpPr>
        <p:spPr>
          <a:xfrm>
            <a:off x="11960509" y="4824408"/>
            <a:ext cx="1831648" cy="361905"/>
          </a:xfrm>
          <a:prstGeom prst="rect">
            <a:avLst/>
          </a:prstGeom>
          <a:noFill/>
          <a:ln/>
        </p:spPr>
        <p:txBody>
          <a:bodyPr wrap="square" lIns="25400" tIns="25400" rIns="25400" bIns="25400" rtlCol="0" anchor="t">
            <a:normAutofit/>
          </a:bodyPr>
          <a:lstStyle/>
          <a:p>
            <a:pPr marL="0" indent="0" algn="l">
              <a:lnSpc>
                <a:spcPct val="76800"/>
              </a:lnSpc>
              <a:buNone/>
            </a:pPr>
            <a:r>
              <a:rPr lang="en-US" sz="1275" dirty="0">
                <a:solidFill>
                  <a:srgbClr val="C3D7DC"/>
                </a:solidFill>
                <a:latin typeface="Oracle Sans Tab" pitchFamily="34" charset="0"/>
                <a:ea typeface="Oracle Sans Tab" pitchFamily="34" charset="-122"/>
                <a:cs typeface="Oracle Sans Tab" pitchFamily="34" charset="-120"/>
              </a:rPr>
              <a:t>SKILL.md + SHA + embedding → skillbox</a:t>
            </a:r>
            <a:endParaRPr lang="en-US" sz="1275" dirty="0"/>
          </a:p>
        </p:txBody>
      </p:sp>
      <p:sp>
        <p:nvSpPr>
          <p:cNvPr id="31" name="Shape 24"/>
          <p:cNvSpPr/>
          <p:nvPr/>
        </p:nvSpPr>
        <p:spPr>
          <a:xfrm>
            <a:off x="14470331" y="3538492"/>
            <a:ext cx="2852694" cy="1262042"/>
          </a:xfrm>
          <a:prstGeom prst="roundRect">
            <a:avLst>
              <a:gd name="adj" fmla="val 7623"/>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pic>
        <p:nvPicPr>
          <p:cNvPr id="32" name="Image 5" descr="preencoded.png"/>
          <p:cNvPicPr>
            <a:picLocks noChangeAspect="1"/>
          </p:cNvPicPr>
          <p:nvPr/>
        </p:nvPicPr>
        <p:blipFill>
          <a:blip r:embed="rId8"/>
          <a:srcRect/>
          <a:stretch/>
        </p:blipFill>
        <p:spPr>
          <a:xfrm>
            <a:off x="14689438" y="3909012"/>
            <a:ext cx="521002" cy="521002"/>
          </a:xfrm>
          <a:prstGeom prst="rect">
            <a:avLst/>
          </a:prstGeom>
        </p:spPr>
      </p:pic>
      <p:sp>
        <p:nvSpPr>
          <p:cNvPr id="33" name="Text 25"/>
          <p:cNvSpPr/>
          <p:nvPr/>
        </p:nvSpPr>
        <p:spPr>
          <a:xfrm>
            <a:off x="15320924" y="3768969"/>
            <a:ext cx="1941151"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Raw recipe retired</a:t>
            </a:r>
            <a:endParaRPr lang="en-US" sz="1650" dirty="0"/>
          </a:p>
        </p:txBody>
      </p:sp>
      <p:sp>
        <p:nvSpPr>
          <p:cNvPr id="34" name="Text 26"/>
          <p:cNvSpPr/>
          <p:nvPr/>
        </p:nvSpPr>
        <p:spPr>
          <a:xfrm>
            <a:off x="15320924" y="4227132"/>
            <a:ext cx="1941151" cy="361905"/>
          </a:xfrm>
          <a:prstGeom prst="rect">
            <a:avLst/>
          </a:prstGeom>
          <a:noFill/>
          <a:ln/>
        </p:spPr>
        <p:txBody>
          <a:bodyPr wrap="square" lIns="25400" tIns="25400" rIns="25400" bIns="25400" rtlCol="0" anchor="t">
            <a:normAutofit/>
          </a:bodyPr>
          <a:lstStyle/>
          <a:p>
            <a:pPr marL="0" indent="0" algn="l">
              <a:lnSpc>
                <a:spcPct val="76800"/>
              </a:lnSpc>
              <a:buNone/>
            </a:pPr>
            <a:r>
              <a:rPr lang="en-US" sz="1275" dirty="0">
                <a:solidFill>
                  <a:srgbClr val="C3D7DC"/>
                </a:solidFill>
                <a:latin typeface="Oracle Sans Tab" pitchFamily="34" charset="0"/>
                <a:ea typeface="Oracle Sans Tab" pitchFamily="34" charset="-122"/>
                <a:cs typeface="Oracle Sans Tab" pitchFamily="34" charset="-120"/>
              </a:rPr>
              <a:t>promoted='Y'; recall skips it</a:t>
            </a:r>
            <a:endParaRPr lang="en-US" sz="1275" dirty="0"/>
          </a:p>
        </p:txBody>
      </p:sp>
      <p:sp>
        <p:nvSpPr>
          <p:cNvPr id="35" name="Shape 27"/>
          <p:cNvSpPr/>
          <p:nvPr/>
        </p:nvSpPr>
        <p:spPr>
          <a:xfrm>
            <a:off x="14470331" y="5184438"/>
            <a:ext cx="2852694" cy="1262042"/>
          </a:xfrm>
          <a:prstGeom prst="roundRect">
            <a:avLst>
              <a:gd name="adj" fmla="val 7623"/>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pic>
        <p:nvPicPr>
          <p:cNvPr id="36" name="Image 6" descr="preencoded.png"/>
          <p:cNvPicPr>
            <a:picLocks noChangeAspect="1"/>
          </p:cNvPicPr>
          <p:nvPr/>
        </p:nvPicPr>
        <p:blipFill>
          <a:blip r:embed="rId9"/>
          <a:srcRect/>
          <a:stretch/>
        </p:blipFill>
        <p:spPr>
          <a:xfrm>
            <a:off x="14689438" y="5554958"/>
            <a:ext cx="521002" cy="521002"/>
          </a:xfrm>
          <a:prstGeom prst="rect">
            <a:avLst/>
          </a:prstGeom>
        </p:spPr>
      </p:pic>
      <p:sp>
        <p:nvSpPr>
          <p:cNvPr id="37" name="Text 28"/>
          <p:cNvSpPr/>
          <p:nvPr/>
        </p:nvSpPr>
        <p:spPr>
          <a:xfrm>
            <a:off x="15320924" y="5414915"/>
            <a:ext cx="1941151"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Injected first</a:t>
            </a:r>
            <a:endParaRPr lang="en-US" sz="1650" dirty="0"/>
          </a:p>
        </p:txBody>
      </p:sp>
      <p:sp>
        <p:nvSpPr>
          <p:cNvPr id="38" name="Text 29"/>
          <p:cNvSpPr/>
          <p:nvPr/>
        </p:nvSpPr>
        <p:spPr>
          <a:xfrm>
            <a:off x="15320924" y="5873078"/>
            <a:ext cx="1941151" cy="361905"/>
          </a:xfrm>
          <a:prstGeom prst="rect">
            <a:avLst/>
          </a:prstGeom>
          <a:noFill/>
          <a:ln/>
        </p:spPr>
        <p:txBody>
          <a:bodyPr wrap="square" lIns="25400" tIns="25400" rIns="25400" bIns="25400" rtlCol="0" anchor="t">
            <a:normAutofit/>
          </a:bodyPr>
          <a:lstStyle/>
          <a:p>
            <a:pPr marL="0" indent="0" algn="l">
              <a:lnSpc>
                <a:spcPct val="76800"/>
              </a:lnSpc>
              <a:buNone/>
            </a:pPr>
            <a:r>
              <a:rPr lang="en-US" sz="1275" dirty="0">
                <a:solidFill>
                  <a:srgbClr val="C3D7DC"/>
                </a:solidFill>
                <a:latin typeface="Oracle Sans Tab" pitchFamily="34" charset="0"/>
                <a:ea typeface="Oracle Sans Tab" pitchFamily="34" charset="-122"/>
                <a:cs typeface="Oracle Sans Tab" pitchFamily="34" charset="-120"/>
              </a:rPr>
              <a:t>top of system prompt → more weight</a:t>
            </a:r>
            <a:endParaRPr lang="en-US" sz="1275" dirty="0"/>
          </a:p>
        </p:txBody>
      </p:sp>
      <p:sp>
        <p:nvSpPr>
          <p:cNvPr id="39" name="Shape 30"/>
          <p:cNvSpPr/>
          <p:nvPr/>
        </p:nvSpPr>
        <p:spPr>
          <a:xfrm rot="7919399">
            <a:off x="13710540" y="3932868"/>
            <a:ext cx="923925" cy="26458"/>
          </a:xfrm>
          <a:prstGeom prst="rect">
            <a:avLst/>
          </a:prstGeom>
          <a:solidFill>
            <a:srgbClr val="FD6953"/>
          </a:solidFill>
          <a:ln/>
        </p:spPr>
        <p:txBody>
          <a:bodyPr/>
          <a:lstStyle/>
          <a:p>
            <a:endParaRPr lang="en-US"/>
          </a:p>
        </p:txBody>
      </p:sp>
      <p:sp>
        <p:nvSpPr>
          <p:cNvPr id="40" name="Shape 31"/>
          <p:cNvSpPr/>
          <p:nvPr/>
        </p:nvSpPr>
        <p:spPr>
          <a:xfrm rot="7919399">
            <a:off x="14364835" y="3560165"/>
            <a:ext cx="125677" cy="161925"/>
          </a:xfrm>
          <a:prstGeom prst="rect">
            <a:avLst/>
          </a:prstGeom>
          <a:solidFill>
            <a:srgbClr val="FD6953"/>
          </a:solidFill>
          <a:ln/>
        </p:spPr>
        <p:txBody>
          <a:bodyPr/>
          <a:lstStyle/>
          <a:p>
            <a:endParaRPr lang="en-US"/>
          </a:p>
        </p:txBody>
      </p:sp>
      <p:sp>
        <p:nvSpPr>
          <p:cNvPr id="41" name="Shape 32"/>
          <p:cNvSpPr/>
          <p:nvPr/>
        </p:nvSpPr>
        <p:spPr>
          <a:xfrm rot="2880601">
            <a:off x="13690874" y="5590919"/>
            <a:ext cx="923925" cy="26458"/>
          </a:xfrm>
          <a:prstGeom prst="rect">
            <a:avLst/>
          </a:prstGeom>
          <a:solidFill>
            <a:srgbClr val="FD6953"/>
          </a:solidFill>
          <a:ln/>
        </p:spPr>
        <p:txBody>
          <a:bodyPr/>
          <a:lstStyle/>
          <a:p>
            <a:endParaRPr lang="en-US"/>
          </a:p>
        </p:txBody>
      </p:sp>
      <p:sp>
        <p:nvSpPr>
          <p:cNvPr id="42" name="Shape 33"/>
          <p:cNvSpPr/>
          <p:nvPr/>
        </p:nvSpPr>
        <p:spPr>
          <a:xfrm rot="2880601">
            <a:off x="14366073" y="5811831"/>
            <a:ext cx="125677" cy="161925"/>
          </a:xfrm>
          <a:prstGeom prst="rect">
            <a:avLst/>
          </a:prstGeom>
          <a:solidFill>
            <a:srgbClr val="FD6953"/>
          </a:solidFill>
          <a:ln/>
        </p:spPr>
        <p:txBody>
          <a:bodyPr/>
          <a:lstStyle/>
          <a:p>
            <a:endParaRPr lang="en-US"/>
          </a:p>
        </p:txBody>
      </p:sp>
      <p:sp>
        <p:nvSpPr>
          <p:cNvPr id="43" name="Shape 34"/>
          <p:cNvSpPr/>
          <p:nvPr/>
        </p:nvSpPr>
        <p:spPr>
          <a:xfrm rot="5400000">
            <a:off x="4994124" y="5918915"/>
            <a:ext cx="1028700" cy="26458"/>
          </a:xfrm>
          <a:prstGeom prst="rect">
            <a:avLst/>
          </a:prstGeom>
          <a:solidFill>
            <a:srgbClr val="FFFFFF">
              <a:alpha val="30000"/>
            </a:srgbClr>
          </a:solidFill>
          <a:ln/>
        </p:spPr>
        <p:txBody>
          <a:bodyPr/>
          <a:lstStyle/>
          <a:p>
            <a:endParaRPr lang="en-US"/>
          </a:p>
        </p:txBody>
      </p:sp>
      <p:sp>
        <p:nvSpPr>
          <p:cNvPr id="44" name="Shape 35"/>
          <p:cNvSpPr/>
          <p:nvPr/>
        </p:nvSpPr>
        <p:spPr>
          <a:xfrm rot="5400000">
            <a:off x="5457806" y="6303604"/>
            <a:ext cx="125677" cy="161925"/>
          </a:xfrm>
          <a:prstGeom prst="rect">
            <a:avLst/>
          </a:prstGeom>
          <a:solidFill>
            <a:srgbClr val="FFFFFF">
              <a:alpha val="30000"/>
            </a:srgbClr>
          </a:solidFill>
          <a:ln/>
        </p:spPr>
        <p:txBody>
          <a:bodyPr/>
          <a:lstStyle/>
          <a:p>
            <a:endParaRPr lang="en-US"/>
          </a:p>
        </p:txBody>
      </p:sp>
      <p:sp>
        <p:nvSpPr>
          <p:cNvPr id="45" name="Text 36"/>
          <p:cNvSpPr/>
          <p:nvPr/>
        </p:nvSpPr>
        <p:spPr>
          <a:xfrm>
            <a:off x="5657846" y="5801609"/>
            <a:ext cx="761998" cy="243824"/>
          </a:xfrm>
          <a:prstGeom prst="rect">
            <a:avLst/>
          </a:prstGeom>
          <a:noFill/>
          <a:ln/>
        </p:spPr>
        <p:txBody>
          <a:bodyPr wrap="square" lIns="25400" tIns="25400" rIns="25400" bIns="25400" rtlCol="0" anchor="t">
            <a:normAutofit/>
          </a:bodyPr>
          <a:lstStyle/>
          <a:p>
            <a:pPr marL="0" indent="0" algn="l">
              <a:lnSpc>
                <a:spcPct val="92160"/>
              </a:lnSpc>
              <a:buNone/>
            </a:pPr>
            <a:r>
              <a:rPr lang="en-US" sz="1350" b="1" dirty="0">
                <a:solidFill>
                  <a:srgbClr val="9FBBC3"/>
                </a:solidFill>
                <a:latin typeface="Oracle Sans Tab" pitchFamily="34" charset="0"/>
                <a:ea typeface="Oracle Sans Tab" pitchFamily="34" charset="-122"/>
                <a:cs typeface="Oracle Sans Tab" pitchFamily="34" charset="-120"/>
              </a:rPr>
              <a:t>no</a:t>
            </a:r>
            <a:endParaRPr lang="en-US" sz="1350" dirty="0"/>
          </a:p>
        </p:txBody>
      </p:sp>
      <p:sp>
        <p:nvSpPr>
          <p:cNvPr id="46" name="Shape 37"/>
          <p:cNvSpPr/>
          <p:nvPr/>
        </p:nvSpPr>
        <p:spPr>
          <a:xfrm>
            <a:off x="4046213" y="6446480"/>
            <a:ext cx="2948916" cy="1097246"/>
          </a:xfrm>
          <a:prstGeom prst="roundRect">
            <a:avLst>
              <a:gd name="adj" fmla="val 8768"/>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47" name="Image 7" descr="preencoded.png"/>
          <p:cNvPicPr>
            <a:picLocks noChangeAspect="1"/>
          </p:cNvPicPr>
          <p:nvPr/>
        </p:nvPicPr>
        <p:blipFill>
          <a:blip r:embed="rId10"/>
          <a:srcRect/>
          <a:stretch/>
        </p:blipFill>
        <p:spPr>
          <a:xfrm>
            <a:off x="4265269" y="6734162"/>
            <a:ext cx="521002" cy="521002"/>
          </a:xfrm>
          <a:prstGeom prst="rect">
            <a:avLst/>
          </a:prstGeom>
        </p:spPr>
      </p:pic>
      <p:sp>
        <p:nvSpPr>
          <p:cNvPr id="48" name="Text 38"/>
          <p:cNvSpPr/>
          <p:nvPr/>
        </p:nvSpPr>
        <p:spPr>
          <a:xfrm>
            <a:off x="4896755" y="6676956"/>
            <a:ext cx="2037372"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Stays a candidate</a:t>
            </a:r>
            <a:endParaRPr lang="en-US" sz="1650" dirty="0"/>
          </a:p>
        </p:txBody>
      </p:sp>
      <p:sp>
        <p:nvSpPr>
          <p:cNvPr id="49" name="Text 39"/>
          <p:cNvSpPr/>
          <p:nvPr/>
        </p:nvSpPr>
        <p:spPr>
          <a:xfrm>
            <a:off x="4896755" y="7134190"/>
            <a:ext cx="2157289" cy="200002"/>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275" dirty="0">
                <a:solidFill>
                  <a:srgbClr val="C3D7DC"/>
                </a:solidFill>
                <a:latin typeface="Oracle Sans Tab" pitchFamily="34" charset="0"/>
                <a:ea typeface="Oracle Sans Tab" pitchFamily="34" charset="-122"/>
                <a:cs typeface="Oracle Sans Tab" pitchFamily="34" charset="-120"/>
              </a:rPr>
              <a:t>still recalled into context</a:t>
            </a:r>
            <a:endParaRPr lang="en-US" sz="1275" dirty="0"/>
          </a:p>
        </p:txBody>
      </p:sp>
      <p:sp>
        <p:nvSpPr>
          <p:cNvPr id="50" name="Shape 40"/>
          <p:cNvSpPr/>
          <p:nvPr/>
        </p:nvSpPr>
        <p:spPr>
          <a:xfrm rot="5400000">
            <a:off x="8731777" y="5918915"/>
            <a:ext cx="1028700" cy="26458"/>
          </a:xfrm>
          <a:prstGeom prst="rect">
            <a:avLst/>
          </a:prstGeom>
          <a:solidFill>
            <a:srgbClr val="FFFFFF">
              <a:alpha val="30000"/>
            </a:srgbClr>
          </a:solidFill>
          <a:ln/>
        </p:spPr>
        <p:txBody>
          <a:bodyPr/>
          <a:lstStyle/>
          <a:p>
            <a:endParaRPr lang="en-US"/>
          </a:p>
        </p:txBody>
      </p:sp>
      <p:sp>
        <p:nvSpPr>
          <p:cNvPr id="51" name="Shape 41"/>
          <p:cNvSpPr/>
          <p:nvPr/>
        </p:nvSpPr>
        <p:spPr>
          <a:xfrm rot="5400000">
            <a:off x="9195459" y="6303604"/>
            <a:ext cx="125677" cy="161925"/>
          </a:xfrm>
          <a:prstGeom prst="rect">
            <a:avLst/>
          </a:prstGeom>
          <a:solidFill>
            <a:srgbClr val="FFFFFF">
              <a:alpha val="30000"/>
            </a:srgbClr>
          </a:solidFill>
          <a:ln/>
        </p:spPr>
        <p:txBody>
          <a:bodyPr/>
          <a:lstStyle/>
          <a:p>
            <a:endParaRPr lang="en-US"/>
          </a:p>
        </p:txBody>
      </p:sp>
      <p:sp>
        <p:nvSpPr>
          <p:cNvPr id="52" name="Text 42"/>
          <p:cNvSpPr/>
          <p:nvPr/>
        </p:nvSpPr>
        <p:spPr>
          <a:xfrm>
            <a:off x="9367800" y="5813082"/>
            <a:ext cx="1659620" cy="220931"/>
          </a:xfrm>
          <a:prstGeom prst="rect">
            <a:avLst/>
          </a:prstGeom>
          <a:noFill/>
          <a:ln/>
        </p:spPr>
        <p:txBody>
          <a:bodyPr wrap="square" lIns="25400" tIns="25400" rIns="25400" bIns="25400" rtlCol="0" anchor="t">
            <a:normAutofit lnSpcReduction="10000"/>
          </a:bodyPr>
          <a:lstStyle/>
          <a:p>
            <a:pPr marL="0" indent="0" algn="l">
              <a:lnSpc>
                <a:spcPct val="92160"/>
              </a:lnSpc>
              <a:buNone/>
            </a:pPr>
            <a:r>
              <a:rPr lang="en-US" sz="1200" dirty="0">
                <a:solidFill>
                  <a:srgbClr val="9FBBC3"/>
                </a:solidFill>
                <a:latin typeface="Oracle Sans Tab" pitchFamily="34" charset="0"/>
                <a:ea typeface="Oracle Sans Tab" pitchFamily="34" charset="-122"/>
                <a:cs typeface="Oracle Sans Tab" pitchFamily="34" charset="-120"/>
              </a:rPr>
              <a:t>malformed?</a:t>
            </a:r>
            <a:endParaRPr lang="en-US" sz="1200" dirty="0"/>
          </a:p>
        </p:txBody>
      </p:sp>
      <p:sp>
        <p:nvSpPr>
          <p:cNvPr id="53" name="Shape 43"/>
          <p:cNvSpPr/>
          <p:nvPr/>
        </p:nvSpPr>
        <p:spPr>
          <a:xfrm>
            <a:off x="7749501" y="6446480"/>
            <a:ext cx="3017490" cy="1097246"/>
          </a:xfrm>
          <a:prstGeom prst="roundRect">
            <a:avLst>
              <a:gd name="adj" fmla="val 8768"/>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pic>
        <p:nvPicPr>
          <p:cNvPr id="54" name="Image 8" descr="preencoded.png"/>
          <p:cNvPicPr>
            <a:picLocks noChangeAspect="1"/>
          </p:cNvPicPr>
          <p:nvPr/>
        </p:nvPicPr>
        <p:blipFill>
          <a:blip r:embed="rId11"/>
          <a:srcRect/>
          <a:stretch/>
        </p:blipFill>
        <p:spPr>
          <a:xfrm>
            <a:off x="7968609" y="6734162"/>
            <a:ext cx="521002" cy="521002"/>
          </a:xfrm>
          <a:prstGeom prst="rect">
            <a:avLst/>
          </a:prstGeom>
        </p:spPr>
      </p:pic>
      <p:sp>
        <p:nvSpPr>
          <p:cNvPr id="55" name="Text 44"/>
          <p:cNvSpPr/>
          <p:nvPr/>
        </p:nvSpPr>
        <p:spPr>
          <a:xfrm>
            <a:off x="8600095" y="6551279"/>
            <a:ext cx="2105947" cy="541015"/>
          </a:xfrm>
          <a:prstGeom prst="rect">
            <a:avLst/>
          </a:prstGeom>
          <a:noFill/>
          <a:ln/>
        </p:spPr>
        <p:txBody>
          <a:bodyPr wrap="square" lIns="25400" tIns="25400" rIns="25400" bIns="25400" rtlCol="0" anchor="t">
            <a:normAutofit/>
          </a:bodyPr>
          <a:lstStyle/>
          <a:p>
            <a:pPr marL="0" indent="0" algn="l">
              <a:lnSpc>
                <a:spcPct val="92160"/>
              </a:lnSpc>
              <a:buNone/>
            </a:pPr>
            <a:r>
              <a:rPr lang="en-US" sz="1650" b="1" dirty="0">
                <a:solidFill>
                  <a:srgbClr val="FFFFFF"/>
                </a:solidFill>
                <a:latin typeface="Oracle Sans Tab" pitchFamily="34" charset="0"/>
                <a:ea typeface="Oracle Sans Tab" pitchFamily="34" charset="-122"/>
                <a:cs typeface="Oracle Sans Tab" pitchFamily="34" charset="-120"/>
              </a:rPr>
              <a:t>Deterministic fallback</a:t>
            </a:r>
            <a:endParaRPr lang="en-US" sz="1650" dirty="0"/>
          </a:p>
        </p:txBody>
      </p:sp>
      <p:sp>
        <p:nvSpPr>
          <p:cNvPr id="56" name="Text 45"/>
          <p:cNvSpPr/>
          <p:nvPr/>
        </p:nvSpPr>
        <p:spPr>
          <a:xfrm>
            <a:off x="8600095" y="7134190"/>
            <a:ext cx="2232722" cy="200002"/>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275" dirty="0">
                <a:solidFill>
                  <a:srgbClr val="C3D7DC"/>
                </a:solidFill>
                <a:latin typeface="Oracle Sans Tab" pitchFamily="34" charset="0"/>
                <a:ea typeface="Oracle Sans Tab" pitchFamily="34" charset="-122"/>
                <a:cs typeface="Oracle Sans Tab" pitchFamily="34" charset="-120"/>
              </a:rPr>
              <a:t>always a valid skill</a:t>
            </a:r>
            <a:endParaRPr lang="en-US" sz="1275" dirty="0"/>
          </a:p>
        </p:txBody>
      </p:sp>
      <p:sp>
        <p:nvSpPr>
          <p:cNvPr id="57" name="Shape 46"/>
          <p:cNvSpPr/>
          <p:nvPr/>
        </p:nvSpPr>
        <p:spPr>
          <a:xfrm rot="8100000">
            <a:off x="10451398" y="6203324"/>
            <a:ext cx="2228851" cy="26458"/>
          </a:xfrm>
          <a:prstGeom prst="rect">
            <a:avLst/>
          </a:prstGeom>
          <a:solidFill>
            <a:srgbClr val="FFFFFF">
              <a:alpha val="30000"/>
            </a:srgbClr>
          </a:solidFill>
          <a:ln/>
        </p:spPr>
        <p:txBody>
          <a:bodyPr/>
          <a:lstStyle/>
          <a:p>
            <a:endParaRPr lang="en-US"/>
          </a:p>
        </p:txBody>
      </p:sp>
      <p:sp>
        <p:nvSpPr>
          <p:cNvPr id="58" name="Shape 47"/>
          <p:cNvSpPr/>
          <p:nvPr/>
        </p:nvSpPr>
        <p:spPr>
          <a:xfrm rot="8100000">
            <a:off x="12236436" y="5381934"/>
            <a:ext cx="125677" cy="161925"/>
          </a:xfrm>
          <a:prstGeom prst="rect">
            <a:avLst/>
          </a:prstGeom>
          <a:solidFill>
            <a:srgbClr val="FFFFFF">
              <a:alpha val="30000"/>
            </a:srgbClr>
          </a:solidFill>
          <a:ln/>
        </p:spPr>
        <p:txBody>
          <a:bodyPr/>
          <a:lstStyle/>
          <a:p>
            <a:endParaRPr lang="en-US"/>
          </a:p>
        </p:txBody>
      </p:sp>
      <p:sp>
        <p:nvSpPr>
          <p:cNvPr id="59" name="Shape 48"/>
          <p:cNvSpPr/>
          <p:nvPr/>
        </p:nvSpPr>
        <p:spPr>
          <a:xfrm>
            <a:off x="960096" y="7886650"/>
            <a:ext cx="16367735" cy="1262042"/>
          </a:xfrm>
          <a:prstGeom prst="roundRect">
            <a:avLst>
              <a:gd name="adj" fmla="val 7623"/>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60" name="Text 49"/>
          <p:cNvSpPr/>
          <p:nvPr/>
        </p:nvSpPr>
        <p:spPr>
          <a:xfrm>
            <a:off x="1371596" y="8260529"/>
            <a:ext cx="16011131" cy="552384"/>
          </a:xfrm>
          <a:prstGeom prst="rect">
            <a:avLst/>
          </a:prstGeom>
          <a:noFill/>
          <a:ln/>
        </p:spPr>
        <p:txBody>
          <a:bodyPr wrap="square" lIns="25400" tIns="25400" rIns="25400" bIns="25400" rtlCol="0" anchor="t">
            <a:normAutofit/>
          </a:bodyPr>
          <a:lstStyle/>
          <a:p>
            <a:pPr marL="0" indent="0" algn="l">
              <a:lnSpc>
                <a:spcPct val="82944"/>
              </a:lnSpc>
              <a:buNone/>
            </a:pPr>
            <a:r>
              <a:rPr lang="en-US" sz="1875" b="1" dirty="0">
                <a:solidFill>
                  <a:srgbClr val="FD6953"/>
                </a:solidFill>
                <a:latin typeface="Oracle Sans Tab" pitchFamily="34" charset="0"/>
                <a:ea typeface="Oracle Sans Tab" pitchFamily="34" charset="-122"/>
                <a:cs typeface="Oracle Sans Tab" pitchFamily="34" charset="-120"/>
              </a:rPr>
              <a:t>The two outcomes on the right are the point. </a:t>
            </a:r>
            <a:r>
              <a:rPr lang="en-US" sz="1875" dirty="0">
                <a:solidFill>
                  <a:srgbClr val="FFFFFF"/>
                </a:solidFill>
                <a:latin typeface="Oracle Sans Tab" pitchFamily="34" charset="0"/>
                <a:ea typeface="Oracle Sans Tab" pitchFamily="34" charset="-122"/>
                <a:cs typeface="Oracle Sans Tab" pitchFamily="34" charset="-120"/>
              </a:rPr>
              <a:t>The raw recipe is retired so the agent does not spend attention on both, and the skill is injected at high authority, so the same knowledge counts for more at inference.</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CONTINUAL LEARNING</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WHY SKILLS RANK HIGHER</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INSTRUCTION HIERARCHY</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Skills sit in the </a:t>
            </a:r>
            <a:r>
              <a:rPr lang="en-US" sz="4500" b="1" i="1" dirty="0">
                <a:solidFill>
                  <a:srgbClr val="FD6953"/>
                </a:solidFill>
                <a:latin typeface="Oracle Sans Tab" pitchFamily="34" charset="0"/>
                <a:ea typeface="Oracle Sans Tab" pitchFamily="34" charset="-122"/>
                <a:cs typeface="Oracle Sans Tab" pitchFamily="34" charset="-120"/>
              </a:rPr>
              <a:t>system </a:t>
            </a:r>
            <a:r>
              <a:rPr lang="en-US" sz="4500" b="1" dirty="0">
                <a:solidFill>
                  <a:srgbClr val="FFFFFF"/>
                </a:solidFill>
                <a:latin typeface="Oracle Sans Tab" pitchFamily="34" charset="0"/>
                <a:ea typeface="Oracle Sans Tab" pitchFamily="34" charset="-122"/>
                <a:cs typeface="Oracle Sans Tab" pitchFamily="34" charset="-120"/>
              </a:rPr>
              <a:t>layer.</a:t>
            </a:r>
            <a:endParaRPr lang="en-US" sz="1200" dirty="0"/>
          </a:p>
        </p:txBody>
      </p:sp>
      <p:sp>
        <p:nvSpPr>
          <p:cNvPr id="8" name="Text 5"/>
          <p:cNvSpPr/>
          <p:nvPr/>
        </p:nvSpPr>
        <p:spPr>
          <a:xfrm>
            <a:off x="960096" y="3508985"/>
            <a:ext cx="7628826"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b="1" dirty="0">
                <a:solidFill>
                  <a:srgbClr val="FD6953"/>
                </a:solidFill>
                <a:latin typeface="Oracle Sans Tab" pitchFamily="34" charset="0"/>
                <a:ea typeface="Oracle Sans Tab" pitchFamily="34" charset="-122"/>
                <a:cs typeface="Oracle Sans Tab" pitchFamily="34" charset="-120"/>
              </a:rPr>
              <a:t>INSTRUCTION HIERARCHY</a:t>
            </a:r>
            <a:endParaRPr lang="en-US" sz="1650" dirty="0"/>
          </a:p>
        </p:txBody>
      </p:sp>
      <p:sp>
        <p:nvSpPr>
          <p:cNvPr id="9" name="Shape 6"/>
          <p:cNvSpPr/>
          <p:nvPr/>
        </p:nvSpPr>
        <p:spPr>
          <a:xfrm>
            <a:off x="960096" y="3895679"/>
            <a:ext cx="7406628" cy="16536"/>
          </a:xfrm>
          <a:prstGeom prst="rect">
            <a:avLst/>
          </a:prstGeom>
          <a:solidFill>
            <a:srgbClr val="E0836F"/>
          </a:solidFill>
          <a:ln/>
        </p:spPr>
        <p:txBody>
          <a:bodyPr/>
          <a:lstStyle/>
          <a:p>
            <a:endParaRPr lang="en-US"/>
          </a:p>
        </p:txBody>
      </p:sp>
      <p:sp>
        <p:nvSpPr>
          <p:cNvPr id="10" name="Shape 7"/>
          <p:cNvSpPr/>
          <p:nvPr/>
        </p:nvSpPr>
        <p:spPr>
          <a:xfrm>
            <a:off x="960096" y="4005233"/>
            <a:ext cx="7406628" cy="1015339"/>
          </a:xfrm>
          <a:prstGeom prst="roundRect">
            <a:avLst>
              <a:gd name="adj" fmla="val 9475"/>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11" name="Text 8"/>
          <p:cNvSpPr/>
          <p:nvPr/>
        </p:nvSpPr>
        <p:spPr>
          <a:xfrm>
            <a:off x="1371596" y="4201914"/>
            <a:ext cx="6781138" cy="358132"/>
          </a:xfrm>
          <a:prstGeom prst="rect">
            <a:avLst/>
          </a:prstGeom>
          <a:noFill/>
          <a:ln/>
        </p:spPr>
        <p:txBody>
          <a:bodyPr wrap="square" lIns="25400" tIns="25400" rIns="25400" bIns="25400" rtlCol="0" anchor="t">
            <a:normAutofit/>
          </a:bodyPr>
          <a:lstStyle/>
          <a:p>
            <a:pPr marL="0" indent="0" algn="l">
              <a:lnSpc>
                <a:spcPct val="92160"/>
              </a:lnSpc>
              <a:buNone/>
            </a:pPr>
            <a:r>
              <a:rPr lang="en-US" sz="2100" b="1" dirty="0">
                <a:solidFill>
                  <a:srgbClr val="FD6953"/>
                </a:solidFill>
                <a:latin typeface="Oracle Sans Tab" pitchFamily="34" charset="0"/>
                <a:ea typeface="Oracle Sans Tab" pitchFamily="34" charset="-122"/>
                <a:cs typeface="Oracle Sans Tab" pitchFamily="34" charset="-120"/>
              </a:rPr>
              <a:t>System / platform</a:t>
            </a:r>
            <a:endParaRPr lang="en-US" sz="2100" dirty="0"/>
          </a:p>
        </p:txBody>
      </p:sp>
      <p:sp>
        <p:nvSpPr>
          <p:cNvPr id="12" name="Text 9"/>
          <p:cNvSpPr/>
          <p:nvPr/>
        </p:nvSpPr>
        <p:spPr>
          <a:xfrm>
            <a:off x="1371596" y="4647675"/>
            <a:ext cx="6781138"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dirty="0">
                <a:solidFill>
                  <a:srgbClr val="C3D7DC"/>
                </a:solidFill>
                <a:latin typeface="Oracle Sans Tab" pitchFamily="34" charset="0"/>
                <a:ea typeface="Oracle Sans Tab" pitchFamily="34" charset="-122"/>
                <a:cs typeface="Oracle Sans Tab" pitchFamily="34" charset="-120"/>
              </a:rPr>
              <a:t>skills load here (highest authority)</a:t>
            </a:r>
            <a:endParaRPr lang="en-US" sz="1650" dirty="0"/>
          </a:p>
        </p:txBody>
      </p:sp>
      <p:sp>
        <p:nvSpPr>
          <p:cNvPr id="13" name="Shape 10"/>
          <p:cNvSpPr/>
          <p:nvPr/>
        </p:nvSpPr>
        <p:spPr>
          <a:xfrm>
            <a:off x="960096" y="5184438"/>
            <a:ext cx="7406628" cy="1015339"/>
          </a:xfrm>
          <a:prstGeom prst="roundRect">
            <a:avLst>
              <a:gd name="adj" fmla="val 9475"/>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4" name="Text 11"/>
          <p:cNvSpPr/>
          <p:nvPr/>
        </p:nvSpPr>
        <p:spPr>
          <a:xfrm>
            <a:off x="1371596" y="5381119"/>
            <a:ext cx="6781138" cy="358132"/>
          </a:xfrm>
          <a:prstGeom prst="rect">
            <a:avLst/>
          </a:prstGeom>
          <a:noFill/>
          <a:ln/>
        </p:spPr>
        <p:txBody>
          <a:bodyPr wrap="square" lIns="25400" tIns="25400" rIns="25400" bIns="25400" rtlCol="0" anchor="t">
            <a:normAutofit/>
          </a:bodyPr>
          <a:lstStyle/>
          <a:p>
            <a:pPr marL="0" indent="0" algn="l">
              <a:lnSpc>
                <a:spcPct val="92160"/>
              </a:lnSpc>
              <a:buNone/>
            </a:pPr>
            <a:r>
              <a:rPr lang="en-US" sz="2100" b="1" dirty="0">
                <a:solidFill>
                  <a:srgbClr val="FFFFFF"/>
                </a:solidFill>
                <a:latin typeface="Oracle Sans Tab" pitchFamily="34" charset="0"/>
                <a:ea typeface="Oracle Sans Tab" pitchFamily="34" charset="-122"/>
                <a:cs typeface="Oracle Sans Tab" pitchFamily="34" charset="-120"/>
              </a:rPr>
              <a:t>Developer</a:t>
            </a:r>
            <a:endParaRPr lang="en-US" sz="2100" dirty="0"/>
          </a:p>
        </p:txBody>
      </p:sp>
      <p:sp>
        <p:nvSpPr>
          <p:cNvPr id="15" name="Text 12"/>
          <p:cNvSpPr/>
          <p:nvPr/>
        </p:nvSpPr>
        <p:spPr>
          <a:xfrm>
            <a:off x="1371596" y="5826879"/>
            <a:ext cx="6781138"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dirty="0">
                <a:solidFill>
                  <a:srgbClr val="C3D7DC"/>
                </a:solidFill>
                <a:latin typeface="Oracle Sans Tab" pitchFamily="34" charset="0"/>
                <a:ea typeface="Oracle Sans Tab" pitchFamily="34" charset="-122"/>
                <a:cs typeface="Oracle Sans Tab" pitchFamily="34" charset="-120"/>
              </a:rPr>
              <a:t>app instructions</a:t>
            </a:r>
            <a:endParaRPr lang="en-US" sz="1650" dirty="0"/>
          </a:p>
        </p:txBody>
      </p:sp>
      <p:sp>
        <p:nvSpPr>
          <p:cNvPr id="16" name="Shape 13"/>
          <p:cNvSpPr/>
          <p:nvPr/>
        </p:nvSpPr>
        <p:spPr>
          <a:xfrm>
            <a:off x="960096" y="6364573"/>
            <a:ext cx="7406628" cy="1015339"/>
          </a:xfrm>
          <a:prstGeom prst="roundRect">
            <a:avLst>
              <a:gd name="adj" fmla="val 9475"/>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7" name="Text 14"/>
          <p:cNvSpPr/>
          <p:nvPr/>
        </p:nvSpPr>
        <p:spPr>
          <a:xfrm>
            <a:off x="1371596" y="6561253"/>
            <a:ext cx="6781138" cy="358132"/>
          </a:xfrm>
          <a:prstGeom prst="rect">
            <a:avLst/>
          </a:prstGeom>
          <a:noFill/>
          <a:ln/>
        </p:spPr>
        <p:txBody>
          <a:bodyPr wrap="square" lIns="25400" tIns="25400" rIns="25400" bIns="25400" rtlCol="0" anchor="t">
            <a:normAutofit/>
          </a:bodyPr>
          <a:lstStyle/>
          <a:p>
            <a:pPr marL="0" indent="0" algn="l">
              <a:lnSpc>
                <a:spcPct val="92160"/>
              </a:lnSpc>
              <a:buNone/>
            </a:pPr>
            <a:r>
              <a:rPr lang="en-US" sz="2100" b="1" dirty="0">
                <a:solidFill>
                  <a:srgbClr val="FFFFFF"/>
                </a:solidFill>
                <a:latin typeface="Oracle Sans Tab" pitchFamily="34" charset="0"/>
                <a:ea typeface="Oracle Sans Tab" pitchFamily="34" charset="-122"/>
                <a:cs typeface="Oracle Sans Tab" pitchFamily="34" charset="-120"/>
              </a:rPr>
              <a:t>User</a:t>
            </a:r>
            <a:endParaRPr lang="en-US" sz="2100" dirty="0"/>
          </a:p>
        </p:txBody>
      </p:sp>
      <p:sp>
        <p:nvSpPr>
          <p:cNvPr id="18" name="Text 15"/>
          <p:cNvSpPr/>
          <p:nvPr/>
        </p:nvSpPr>
        <p:spPr>
          <a:xfrm>
            <a:off x="1371596" y="7006084"/>
            <a:ext cx="6781138"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dirty="0">
                <a:solidFill>
                  <a:srgbClr val="C3D7DC"/>
                </a:solidFill>
                <a:latin typeface="Oracle Sans Tab" pitchFamily="34" charset="0"/>
                <a:ea typeface="Oracle Sans Tab" pitchFamily="34" charset="-122"/>
                <a:cs typeface="Oracle Sans Tab" pitchFamily="34" charset="-120"/>
              </a:rPr>
              <a:t>the request</a:t>
            </a:r>
            <a:endParaRPr lang="en-US" sz="1650" dirty="0"/>
          </a:p>
        </p:txBody>
      </p:sp>
      <p:sp>
        <p:nvSpPr>
          <p:cNvPr id="19" name="Shape 16"/>
          <p:cNvSpPr/>
          <p:nvPr/>
        </p:nvSpPr>
        <p:spPr>
          <a:xfrm>
            <a:off x="960096" y="7543777"/>
            <a:ext cx="7406628" cy="1015339"/>
          </a:xfrm>
          <a:prstGeom prst="roundRect">
            <a:avLst>
              <a:gd name="adj" fmla="val 9475"/>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0" name="Text 17"/>
          <p:cNvSpPr/>
          <p:nvPr/>
        </p:nvSpPr>
        <p:spPr>
          <a:xfrm>
            <a:off x="1371596" y="7740457"/>
            <a:ext cx="6781138" cy="358132"/>
          </a:xfrm>
          <a:prstGeom prst="rect">
            <a:avLst/>
          </a:prstGeom>
          <a:noFill/>
          <a:ln/>
        </p:spPr>
        <p:txBody>
          <a:bodyPr wrap="square" lIns="25400" tIns="25400" rIns="25400" bIns="25400" rtlCol="0" anchor="t">
            <a:normAutofit/>
          </a:bodyPr>
          <a:lstStyle/>
          <a:p>
            <a:pPr marL="0" indent="0" algn="l">
              <a:lnSpc>
                <a:spcPct val="92160"/>
              </a:lnSpc>
              <a:buNone/>
            </a:pPr>
            <a:r>
              <a:rPr lang="en-US" sz="2100" b="1" dirty="0">
                <a:solidFill>
                  <a:srgbClr val="FFFFFF"/>
                </a:solidFill>
                <a:latin typeface="Oracle Sans Tab" pitchFamily="34" charset="0"/>
                <a:ea typeface="Oracle Sans Tab" pitchFamily="34" charset="-122"/>
                <a:cs typeface="Oracle Sans Tab" pitchFamily="34" charset="-120"/>
              </a:rPr>
              <a:t>Tool outputs &amp; retrieved docs</a:t>
            </a:r>
            <a:endParaRPr lang="en-US" sz="2100" dirty="0"/>
          </a:p>
        </p:txBody>
      </p:sp>
      <p:sp>
        <p:nvSpPr>
          <p:cNvPr id="21" name="Text 18"/>
          <p:cNvSpPr/>
          <p:nvPr/>
        </p:nvSpPr>
        <p:spPr>
          <a:xfrm>
            <a:off x="1371596" y="8186218"/>
            <a:ext cx="6781138" cy="289558"/>
          </a:xfrm>
          <a:prstGeom prst="rect">
            <a:avLst/>
          </a:prstGeom>
          <a:noFill/>
          <a:ln/>
        </p:spPr>
        <p:txBody>
          <a:bodyPr wrap="square" lIns="25400" tIns="25400" rIns="25400" bIns="25400" rtlCol="0" anchor="t">
            <a:normAutofit/>
          </a:bodyPr>
          <a:lstStyle/>
          <a:p>
            <a:pPr marL="0" indent="0" algn="l">
              <a:lnSpc>
                <a:spcPct val="92160"/>
              </a:lnSpc>
              <a:buNone/>
            </a:pPr>
            <a:r>
              <a:rPr lang="en-US" sz="1650" dirty="0">
                <a:solidFill>
                  <a:srgbClr val="C3D7DC"/>
                </a:solidFill>
                <a:latin typeface="Oracle Sans Tab" pitchFamily="34" charset="0"/>
                <a:ea typeface="Oracle Sans Tab" pitchFamily="34" charset="-122"/>
                <a:cs typeface="Oracle Sans Tab" pitchFamily="34" charset="-120"/>
              </a:rPr>
              <a:t>raw workflow text, RAG (lowest)</a:t>
            </a:r>
            <a:endParaRPr lang="en-US" sz="1650" dirty="0"/>
          </a:p>
        </p:txBody>
      </p:sp>
      <p:sp>
        <p:nvSpPr>
          <p:cNvPr id="22" name="Shape 19"/>
          <p:cNvSpPr/>
          <p:nvPr/>
        </p:nvSpPr>
        <p:spPr>
          <a:xfrm rot="5400000">
            <a:off x="6706753" y="6117973"/>
            <a:ext cx="3981450" cy="26458"/>
          </a:xfrm>
          <a:prstGeom prst="rect">
            <a:avLst/>
          </a:prstGeom>
          <a:solidFill>
            <a:srgbClr val="FFFFFF">
              <a:alpha val="34000"/>
            </a:srgbClr>
          </a:solidFill>
          <a:ln/>
        </p:spPr>
        <p:txBody>
          <a:bodyPr/>
          <a:lstStyle/>
          <a:p>
            <a:endParaRPr lang="en-US"/>
          </a:p>
        </p:txBody>
      </p:sp>
      <p:sp>
        <p:nvSpPr>
          <p:cNvPr id="23" name="Shape 20"/>
          <p:cNvSpPr/>
          <p:nvPr/>
        </p:nvSpPr>
        <p:spPr>
          <a:xfrm rot="5400000">
            <a:off x="8646810" y="7977146"/>
            <a:ext cx="125677" cy="161925"/>
          </a:xfrm>
          <a:prstGeom prst="rect">
            <a:avLst/>
          </a:prstGeom>
          <a:solidFill>
            <a:srgbClr val="FFFFFF">
              <a:alpha val="34000"/>
            </a:srgbClr>
          </a:solidFill>
          <a:ln/>
        </p:spPr>
        <p:txBody>
          <a:bodyPr/>
          <a:lstStyle/>
          <a:p>
            <a:endParaRPr lang="en-US"/>
          </a:p>
        </p:txBody>
      </p:sp>
      <p:sp>
        <p:nvSpPr>
          <p:cNvPr id="24" name="Text 21"/>
          <p:cNvSpPr/>
          <p:nvPr/>
        </p:nvSpPr>
        <p:spPr>
          <a:xfrm>
            <a:off x="8805819" y="5813030"/>
            <a:ext cx="1357834" cy="219071"/>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425" i="1" dirty="0">
                <a:solidFill>
                  <a:srgbClr val="C3D7DC"/>
                </a:solidFill>
                <a:latin typeface="Oracle Sans Tab" pitchFamily="34" charset="0"/>
                <a:ea typeface="Oracle Sans Tab" pitchFamily="34" charset="-122"/>
                <a:cs typeface="Oracle Sans Tab" pitchFamily="34" charset="-120"/>
              </a:rPr>
              <a:t>authority</a:t>
            </a:r>
            <a:endParaRPr lang="en-US" sz="1425" dirty="0"/>
          </a:p>
        </p:txBody>
      </p:sp>
      <p:sp>
        <p:nvSpPr>
          <p:cNvPr id="25" name="Text 22"/>
          <p:cNvSpPr/>
          <p:nvPr/>
        </p:nvSpPr>
        <p:spPr>
          <a:xfrm>
            <a:off x="8805819" y="5994001"/>
            <a:ext cx="1357834" cy="219071"/>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425" i="1" dirty="0">
                <a:solidFill>
                  <a:srgbClr val="C3D7DC"/>
                </a:solidFill>
                <a:latin typeface="Oracle Sans Tab" pitchFamily="34" charset="0"/>
                <a:ea typeface="Oracle Sans Tab" pitchFamily="34" charset="-122"/>
                <a:cs typeface="Oracle Sans Tab" pitchFamily="34" charset="-120"/>
              </a:rPr>
              <a:t>decreases</a:t>
            </a:r>
            <a:endParaRPr lang="en-US" sz="1425" dirty="0"/>
          </a:p>
        </p:txBody>
      </p:sp>
      <p:sp>
        <p:nvSpPr>
          <p:cNvPr id="26" name="Shape 23"/>
          <p:cNvSpPr/>
          <p:nvPr/>
        </p:nvSpPr>
        <p:spPr>
          <a:xfrm>
            <a:off x="9669745" y="3840437"/>
            <a:ext cx="7658085" cy="1440170"/>
          </a:xfrm>
          <a:prstGeom prst="roundRect">
            <a:avLst>
              <a:gd name="adj" fmla="val 668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7" name="Text 24"/>
          <p:cNvSpPr/>
          <p:nvPr/>
        </p:nvSpPr>
        <p:spPr>
          <a:xfrm>
            <a:off x="10081245" y="4098096"/>
            <a:ext cx="7040192"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D6953"/>
                </a:solidFill>
                <a:latin typeface="Oracle Sans Tab" pitchFamily="34" charset="0"/>
                <a:ea typeface="Oracle Sans Tab" pitchFamily="34" charset="-122"/>
                <a:cs typeface="Oracle Sans Tab" pitchFamily="34" charset="-120"/>
              </a:rPr>
              <a:t>Trained to obey a hierarchy</a:t>
            </a:r>
            <a:endParaRPr lang="en-US" sz="2025" dirty="0"/>
          </a:p>
        </p:txBody>
      </p:sp>
      <p:sp>
        <p:nvSpPr>
          <p:cNvPr id="28" name="Text 25"/>
          <p:cNvSpPr/>
          <p:nvPr/>
        </p:nvSpPr>
        <p:spPr>
          <a:xfrm>
            <a:off x="10081245" y="4499777"/>
            <a:ext cx="7040192" cy="502464"/>
          </a:xfrm>
          <a:prstGeom prst="rect">
            <a:avLst/>
          </a:prstGeom>
          <a:noFill/>
          <a:ln/>
        </p:spPr>
        <p:txBody>
          <a:bodyPr wrap="square" lIns="25400" tIns="25400" rIns="25400" bIns="25400" rtlCol="0" anchor="t">
            <a:normAutofit/>
          </a:bodyPr>
          <a:lstStyle/>
          <a:p>
            <a:pPr marL="0" indent="0" algn="l">
              <a:lnSpc>
                <a:spcPct val="81408"/>
              </a:lnSpc>
              <a:buNone/>
            </a:pPr>
            <a:r>
              <a:rPr lang="en-US" sz="1725" dirty="0">
                <a:solidFill>
                  <a:srgbClr val="FFFFFF"/>
                </a:solidFill>
                <a:latin typeface="Oracle Sans Tab" pitchFamily="34" charset="0"/>
                <a:ea typeface="Oracle Sans Tab" pitchFamily="34" charset="-122"/>
                <a:cs typeface="Oracle Sans Tab" pitchFamily="34" charset="-120"/>
              </a:rPr>
              <a:t>Frontier models prioritise system instructions over user messages, and both over tool and retrieved content.</a:t>
            </a:r>
            <a:endParaRPr lang="en-US" sz="1725" dirty="0"/>
          </a:p>
        </p:txBody>
      </p:sp>
      <p:sp>
        <p:nvSpPr>
          <p:cNvPr id="29" name="Text 26"/>
          <p:cNvSpPr/>
          <p:nvPr/>
        </p:nvSpPr>
        <p:spPr>
          <a:xfrm>
            <a:off x="10081245" y="5008531"/>
            <a:ext cx="7518652" cy="226099"/>
          </a:xfrm>
          <a:prstGeom prst="rect">
            <a:avLst/>
          </a:prstGeom>
          <a:noFill/>
          <a:ln/>
        </p:spPr>
        <p:txBody>
          <a:bodyPr wrap="square" lIns="25400" tIns="25400" rIns="25400" bIns="25400" rtlCol="0" anchor="t">
            <a:normAutofit/>
          </a:bodyPr>
          <a:lstStyle/>
          <a:p>
            <a:pPr marL="0" indent="0" algn="l">
              <a:lnSpc>
                <a:spcPct val="92160"/>
              </a:lnSpc>
              <a:buNone/>
            </a:pPr>
            <a:r>
              <a:rPr lang="en-US" sz="1125" dirty="0">
                <a:solidFill>
                  <a:srgbClr val="9FBBC3"/>
                </a:solidFill>
                <a:latin typeface="Menlo" pitchFamily="34" charset="0"/>
                <a:ea typeface="Menlo" pitchFamily="34" charset="-122"/>
                <a:cs typeface="Menlo" pitchFamily="34" charset="-120"/>
              </a:rPr>
              <a:t>OPENAI, INSTRUCTION HIERARCHY &amp; MODEL SPEC</a:t>
            </a:r>
            <a:endParaRPr lang="en-US" sz="1125" dirty="0"/>
          </a:p>
        </p:txBody>
      </p:sp>
      <p:sp>
        <p:nvSpPr>
          <p:cNvPr id="30" name="Shape 27"/>
          <p:cNvSpPr/>
          <p:nvPr/>
        </p:nvSpPr>
        <p:spPr>
          <a:xfrm>
            <a:off x="9669745" y="5458737"/>
            <a:ext cx="7658085" cy="1440170"/>
          </a:xfrm>
          <a:prstGeom prst="roundRect">
            <a:avLst>
              <a:gd name="adj" fmla="val 668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31" name="Text 28"/>
          <p:cNvSpPr/>
          <p:nvPr/>
        </p:nvSpPr>
        <p:spPr>
          <a:xfrm>
            <a:off x="10081245" y="5716395"/>
            <a:ext cx="7040192"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D6953"/>
                </a:solidFill>
                <a:latin typeface="Oracle Sans Tab" pitchFamily="34" charset="0"/>
                <a:ea typeface="Oracle Sans Tab" pitchFamily="34" charset="-122"/>
                <a:cs typeface="Oracle Sans Tab" pitchFamily="34" charset="-120"/>
              </a:rPr>
              <a:t>Skills load into the system prompt</a:t>
            </a:r>
            <a:endParaRPr lang="en-US" sz="2025" dirty="0"/>
          </a:p>
        </p:txBody>
      </p:sp>
      <p:sp>
        <p:nvSpPr>
          <p:cNvPr id="32" name="Text 29"/>
          <p:cNvSpPr/>
          <p:nvPr/>
        </p:nvSpPr>
        <p:spPr>
          <a:xfrm>
            <a:off x="10081245" y="6118076"/>
            <a:ext cx="7040192" cy="502464"/>
          </a:xfrm>
          <a:prstGeom prst="rect">
            <a:avLst/>
          </a:prstGeom>
          <a:noFill/>
          <a:ln/>
        </p:spPr>
        <p:txBody>
          <a:bodyPr wrap="square" lIns="25400" tIns="25400" rIns="25400" bIns="25400" rtlCol="0" anchor="t">
            <a:normAutofit/>
          </a:bodyPr>
          <a:lstStyle/>
          <a:p>
            <a:pPr marL="0" indent="0" algn="l">
              <a:lnSpc>
                <a:spcPct val="81408"/>
              </a:lnSpc>
              <a:buNone/>
            </a:pPr>
            <a:r>
              <a:rPr lang="en-US" sz="1725" dirty="0">
                <a:solidFill>
                  <a:srgbClr val="FFFFFF"/>
                </a:solidFill>
                <a:latin typeface="Oracle Sans Tab" pitchFamily="34" charset="0"/>
                <a:ea typeface="Oracle Sans Tab" pitchFamily="34" charset="-122"/>
                <a:cs typeface="Oracle Sans Tab" pitchFamily="34" charset="-120"/>
              </a:rPr>
              <a:t>A SKILL.md's metadata is placed in the system prompt at startup, so skills carry system-level authority.</a:t>
            </a:r>
            <a:endParaRPr lang="en-US" sz="1725" dirty="0"/>
          </a:p>
        </p:txBody>
      </p:sp>
      <p:sp>
        <p:nvSpPr>
          <p:cNvPr id="33" name="Text 30"/>
          <p:cNvSpPr/>
          <p:nvPr/>
        </p:nvSpPr>
        <p:spPr>
          <a:xfrm>
            <a:off x="10081245" y="6629363"/>
            <a:ext cx="7518652" cy="220931"/>
          </a:xfrm>
          <a:prstGeom prst="rect">
            <a:avLst/>
          </a:prstGeom>
          <a:noFill/>
          <a:ln/>
        </p:spPr>
        <p:txBody>
          <a:bodyPr wrap="square" lIns="25400" tIns="25400" rIns="25400" bIns="25400" rtlCol="0" anchor="t">
            <a:normAutofit/>
          </a:bodyPr>
          <a:lstStyle/>
          <a:p>
            <a:pPr marL="0" indent="0" algn="l">
              <a:lnSpc>
                <a:spcPct val="92160"/>
              </a:lnSpc>
              <a:buNone/>
            </a:pPr>
            <a:r>
              <a:rPr lang="en-US" sz="1125" dirty="0">
                <a:solidFill>
                  <a:srgbClr val="9FBBC3"/>
                </a:solidFill>
                <a:latin typeface="Oracle Sans Tab" pitchFamily="34" charset="0"/>
                <a:ea typeface="Oracle Sans Tab" pitchFamily="34" charset="-122"/>
                <a:cs typeface="Oracle Sans Tab" pitchFamily="34" charset="-120"/>
              </a:rPr>
              <a:t>ANTHROPIC, AGENT SKILLS</a:t>
            </a:r>
            <a:endParaRPr lang="en-US" sz="1125" dirty="0"/>
          </a:p>
        </p:txBody>
      </p:sp>
      <p:sp>
        <p:nvSpPr>
          <p:cNvPr id="34" name="Shape 31"/>
          <p:cNvSpPr/>
          <p:nvPr/>
        </p:nvSpPr>
        <p:spPr>
          <a:xfrm>
            <a:off x="9669745" y="7077035"/>
            <a:ext cx="7658085" cy="1440170"/>
          </a:xfrm>
          <a:prstGeom prst="roundRect">
            <a:avLst>
              <a:gd name="adj" fmla="val 6680"/>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35" name="Text 32"/>
          <p:cNvSpPr/>
          <p:nvPr/>
        </p:nvSpPr>
        <p:spPr>
          <a:xfrm>
            <a:off x="10081245" y="7334694"/>
            <a:ext cx="7040192" cy="346712"/>
          </a:xfrm>
          <a:prstGeom prst="rect">
            <a:avLst/>
          </a:prstGeom>
          <a:noFill/>
          <a:ln/>
        </p:spPr>
        <p:txBody>
          <a:bodyPr wrap="square" lIns="25400" tIns="25400" rIns="25400" bIns="25400" rtlCol="0" anchor="t">
            <a:normAutofit/>
          </a:bodyPr>
          <a:lstStyle/>
          <a:p>
            <a:pPr marL="0" indent="0" algn="l">
              <a:lnSpc>
                <a:spcPct val="92160"/>
              </a:lnSpc>
              <a:buNone/>
            </a:pPr>
            <a:r>
              <a:rPr lang="en-US" sz="2025" b="1" dirty="0">
                <a:solidFill>
                  <a:srgbClr val="FD6953"/>
                </a:solidFill>
                <a:latin typeface="Oracle Sans Tab" pitchFamily="34" charset="0"/>
                <a:ea typeface="Oracle Sans Tab" pitchFamily="34" charset="-122"/>
                <a:cs typeface="Oracle Sans Tab" pitchFamily="34" charset="-120"/>
              </a:rPr>
              <a:t>Priority improves reliability</a:t>
            </a:r>
            <a:endParaRPr lang="en-US" sz="2025" dirty="0"/>
          </a:p>
        </p:txBody>
      </p:sp>
      <p:sp>
        <p:nvSpPr>
          <p:cNvPr id="36" name="Text 33"/>
          <p:cNvSpPr/>
          <p:nvPr/>
        </p:nvSpPr>
        <p:spPr>
          <a:xfrm>
            <a:off x="10081245" y="7620310"/>
            <a:ext cx="7040192" cy="734647"/>
          </a:xfrm>
          <a:prstGeom prst="rect">
            <a:avLst/>
          </a:prstGeom>
          <a:noFill/>
          <a:ln/>
        </p:spPr>
        <p:txBody>
          <a:bodyPr wrap="square" lIns="25400" tIns="25400" rIns="25400" bIns="25400" rtlCol="0" anchor="t">
            <a:normAutofit/>
          </a:bodyPr>
          <a:lstStyle/>
          <a:p>
            <a:pPr marL="0" indent="0" algn="l">
              <a:lnSpc>
                <a:spcPct val="81408"/>
              </a:lnSpc>
              <a:buNone/>
            </a:pPr>
            <a:r>
              <a:rPr lang="en-US" sz="1725" dirty="0">
                <a:solidFill>
                  <a:srgbClr val="FFFFFF"/>
                </a:solidFill>
                <a:latin typeface="Oracle Sans Tab" pitchFamily="34" charset="0"/>
                <a:ea typeface="Oracle Sans Tab" pitchFamily="34" charset="-122"/>
                <a:cs typeface="Oracle Sans Tab" pitchFamily="34" charset="-120"/>
              </a:rPr>
              <a:t>Models trained to follow privileged instructions are more steerable and robust; well-structured system prompts follow instructions better.</a:t>
            </a:r>
            <a:endParaRPr lang="en-US" sz="1725" dirty="0"/>
          </a:p>
        </p:txBody>
      </p:sp>
      <p:sp>
        <p:nvSpPr>
          <p:cNvPr id="37" name="Text 34"/>
          <p:cNvSpPr/>
          <p:nvPr/>
        </p:nvSpPr>
        <p:spPr>
          <a:xfrm>
            <a:off x="10081245" y="8247662"/>
            <a:ext cx="7518652" cy="220931"/>
          </a:xfrm>
          <a:prstGeom prst="rect">
            <a:avLst/>
          </a:prstGeom>
          <a:noFill/>
          <a:ln/>
        </p:spPr>
        <p:txBody>
          <a:bodyPr wrap="square" lIns="25400" tIns="25400" rIns="25400" bIns="25400" rtlCol="0" anchor="t">
            <a:normAutofit/>
          </a:bodyPr>
          <a:lstStyle/>
          <a:p>
            <a:pPr marL="0" indent="0" algn="l">
              <a:lnSpc>
                <a:spcPct val="92160"/>
              </a:lnSpc>
              <a:buNone/>
            </a:pPr>
            <a:r>
              <a:rPr lang="en-US" sz="1125" dirty="0">
                <a:solidFill>
                  <a:srgbClr val="9FBBC3"/>
                </a:solidFill>
                <a:latin typeface="Oracle Sans Tab" pitchFamily="34" charset="0"/>
                <a:ea typeface="Oracle Sans Tab" pitchFamily="34" charset="-122"/>
                <a:cs typeface="Oracle Sans Tab" pitchFamily="34" charset="-120"/>
              </a:rPr>
              <a:t>OPENAI, INSTRUCTION HIERARCHY</a:t>
            </a:r>
            <a:endParaRPr lang="en-US" sz="1125" dirty="0"/>
          </a:p>
        </p:txBody>
      </p:sp>
      <p:sp>
        <p:nvSpPr>
          <p:cNvPr id="38" name="Text 35"/>
          <p:cNvSpPr/>
          <p:nvPr/>
        </p:nvSpPr>
        <p:spPr>
          <a:xfrm>
            <a:off x="960096" y="8983948"/>
            <a:ext cx="16858767"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i="1" dirty="0">
                <a:solidFill>
                  <a:srgbClr val="C3D7DC"/>
                </a:solidFill>
                <a:latin typeface="Oracle Sans Tab" pitchFamily="34" charset="0"/>
                <a:ea typeface="Oracle Sans Tab" pitchFamily="34" charset="-122"/>
                <a:cs typeface="Oracle Sans Tab" pitchFamily="34" charset="-120"/>
              </a:rPr>
              <a:t>Put durable, must-follow knowledge in skills (system layer); keep volatile data in retrieval (lower layer).</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4572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REFERENCE ARCHITECTURE</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THE FULL SYSTEM, BOTTOM-UP</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TOTAL RECALL WORKSHOP</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The whole harness, </a:t>
            </a:r>
            <a:r>
              <a:rPr lang="en-US" sz="4500" b="1" i="1" dirty="0">
                <a:solidFill>
                  <a:srgbClr val="FD6953"/>
                </a:solidFill>
                <a:latin typeface="Oracle Sans Tab" pitchFamily="34" charset="0"/>
                <a:ea typeface="Oracle Sans Tab" pitchFamily="34" charset="-122"/>
                <a:cs typeface="Oracle Sans Tab" pitchFamily="34" charset="-120"/>
              </a:rPr>
              <a:t>one engine.</a:t>
            </a:r>
            <a:endParaRPr lang="en-US" sz="1200" dirty="0"/>
          </a:p>
        </p:txBody>
      </p:sp>
      <p:sp>
        <p:nvSpPr>
          <p:cNvPr id="8" name="Text 5"/>
          <p:cNvSpPr/>
          <p:nvPr/>
        </p:nvSpPr>
        <p:spPr>
          <a:xfrm>
            <a:off x="960096" y="2970774"/>
            <a:ext cx="16387870"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i="1" dirty="0">
                <a:solidFill>
                  <a:srgbClr val="C3D7DC"/>
                </a:solidFill>
                <a:latin typeface="Oracle Sans Tab" pitchFamily="34" charset="0"/>
                <a:ea typeface="Oracle Sans Tab" pitchFamily="34" charset="-122"/>
                <a:cs typeface="Oracle Sans Tab" pitchFamily="34" charset="-120"/>
              </a:rPr>
              <a:t>Read bottom-up, the order we build it. Only the chat model leaves the database.</a:t>
            </a:r>
            <a:endParaRPr lang="en-US" sz="1875" dirty="0"/>
          </a:p>
        </p:txBody>
      </p:sp>
      <p:sp>
        <p:nvSpPr>
          <p:cNvPr id="9" name="Shape 6"/>
          <p:cNvSpPr/>
          <p:nvPr/>
        </p:nvSpPr>
        <p:spPr>
          <a:xfrm>
            <a:off x="754373" y="3497564"/>
            <a:ext cx="14264607" cy="6309331"/>
          </a:xfrm>
          <a:prstGeom prst="roundRect">
            <a:avLst>
              <a:gd name="adj" fmla="val 2174"/>
            </a:avLst>
          </a:prstGeom>
          <a:solidFill>
            <a:srgbClr val="0B5060"/>
          </a:solidFill>
          <a:ln w="26458">
            <a:solidFill>
              <a:srgbClr val="FD6953"/>
            </a:solidFill>
            <a:prstDash val="solid"/>
          </a:ln>
          <a:effectLst>
            <a:outerShdw blurRad="114300" dist="19050" dir="5400000" algn="bl" rotWithShape="0">
              <a:srgbClr val="000000">
                <a:alpha val="18000"/>
              </a:srgbClr>
            </a:outerShdw>
          </a:effectLst>
        </p:spPr>
        <p:txBody>
          <a:bodyPr/>
          <a:lstStyle/>
          <a:p>
            <a:endParaRPr lang="en-US"/>
          </a:p>
        </p:txBody>
      </p:sp>
      <p:sp>
        <p:nvSpPr>
          <p:cNvPr id="10" name="Shape 7"/>
          <p:cNvSpPr/>
          <p:nvPr/>
        </p:nvSpPr>
        <p:spPr>
          <a:xfrm>
            <a:off x="1165820" y="3497564"/>
            <a:ext cx="3497564" cy="548597"/>
          </a:xfrm>
          <a:prstGeom prst="roundRect">
            <a:avLst>
              <a:gd name="adj" fmla="val 14932"/>
            </a:avLst>
          </a:prstGeom>
          <a:solidFill>
            <a:srgbClr val="C74634"/>
          </a:solidFill>
          <a:ln w="16536">
            <a:solidFill>
              <a:srgbClr val="FD6953"/>
            </a:solidFill>
            <a:prstDash val="solid"/>
          </a:ln>
        </p:spPr>
        <p:txBody>
          <a:bodyPr/>
          <a:lstStyle/>
          <a:p>
            <a:endParaRPr lang="en-US"/>
          </a:p>
        </p:txBody>
      </p:sp>
      <p:sp>
        <p:nvSpPr>
          <p:cNvPr id="11" name="Text 8"/>
          <p:cNvSpPr/>
          <p:nvPr/>
        </p:nvSpPr>
        <p:spPr>
          <a:xfrm>
            <a:off x="990942" y="3663290"/>
            <a:ext cx="3847321" cy="255244"/>
          </a:xfrm>
          <a:prstGeom prst="rect">
            <a:avLst/>
          </a:prstGeom>
          <a:noFill/>
          <a:ln/>
        </p:spPr>
        <p:txBody>
          <a:bodyPr wrap="square" lIns="25400" tIns="25400" rIns="25400" bIns="25400" rtlCol="0" anchor="t">
            <a:normAutofit/>
          </a:bodyPr>
          <a:lstStyle/>
          <a:p>
            <a:pPr marL="0" indent="0" algn="ctr">
              <a:lnSpc>
                <a:spcPct val="92160"/>
              </a:lnSpc>
              <a:buNone/>
            </a:pPr>
            <a:r>
              <a:rPr lang="en-US" sz="1425" b="1" dirty="0">
                <a:solidFill>
                  <a:srgbClr val="FFFFFF"/>
                </a:solidFill>
                <a:latin typeface="Oracle Sans Tab" pitchFamily="34" charset="0"/>
                <a:ea typeface="Oracle Sans Tab" pitchFamily="34" charset="-122"/>
                <a:cs typeface="Oracle Sans Tab" pitchFamily="34" charset="-120"/>
              </a:rPr>
              <a:t>ORACLE AI DATABASE</a:t>
            </a:r>
            <a:endParaRPr lang="en-US" sz="1425" dirty="0"/>
          </a:p>
        </p:txBody>
      </p:sp>
      <p:sp>
        <p:nvSpPr>
          <p:cNvPr id="12" name="Shape 9"/>
          <p:cNvSpPr/>
          <p:nvPr/>
        </p:nvSpPr>
        <p:spPr>
          <a:xfrm>
            <a:off x="15293329" y="4320511"/>
            <a:ext cx="2034501" cy="1042004"/>
          </a:xfrm>
          <a:prstGeom prst="roundRect">
            <a:avLst>
              <a:gd name="adj" fmla="val 7861"/>
            </a:avLst>
          </a:prstGeom>
          <a:solidFill>
            <a:srgbClr val="0B5060"/>
          </a:solidFill>
          <a:ln w="19844">
            <a:solidFill>
              <a:srgbClr val="FFFFFF">
                <a:alpha val="34000"/>
              </a:srgbClr>
            </a:solidFill>
            <a:prstDash val="dash"/>
          </a:ln>
        </p:spPr>
        <p:txBody>
          <a:bodyPr/>
          <a:lstStyle/>
          <a:p>
            <a:endParaRPr lang="en-US"/>
          </a:p>
        </p:txBody>
      </p:sp>
      <p:pic>
        <p:nvPicPr>
          <p:cNvPr id="13" name="Image 1" descr="preencoded.png"/>
          <p:cNvPicPr>
            <a:picLocks noChangeAspect="1"/>
          </p:cNvPicPr>
          <p:nvPr/>
        </p:nvPicPr>
        <p:blipFill>
          <a:blip r:embed="rId4"/>
          <a:srcRect/>
          <a:stretch/>
        </p:blipFill>
        <p:spPr>
          <a:xfrm>
            <a:off x="16063876" y="4389086"/>
            <a:ext cx="493355" cy="493355"/>
          </a:xfrm>
          <a:prstGeom prst="rect">
            <a:avLst/>
          </a:prstGeom>
        </p:spPr>
      </p:pic>
      <p:sp>
        <p:nvSpPr>
          <p:cNvPr id="14" name="Text 10"/>
          <p:cNvSpPr/>
          <p:nvPr/>
        </p:nvSpPr>
        <p:spPr>
          <a:xfrm>
            <a:off x="15191604" y="4872416"/>
            <a:ext cx="2237951" cy="278137"/>
          </a:xfrm>
          <a:prstGeom prst="rect">
            <a:avLst/>
          </a:prstGeom>
          <a:noFill/>
          <a:ln/>
        </p:spPr>
        <p:txBody>
          <a:bodyPr wrap="square" lIns="25400" tIns="25400" rIns="25400" bIns="25400" rtlCol="0" anchor="t">
            <a:normAutofit/>
          </a:bodyPr>
          <a:lstStyle/>
          <a:p>
            <a:pPr marL="0" indent="0" algn="ctr">
              <a:lnSpc>
                <a:spcPct val="92160"/>
              </a:lnSpc>
              <a:buNone/>
            </a:pPr>
            <a:r>
              <a:rPr lang="en-US" sz="1575" b="1" dirty="0">
                <a:solidFill>
                  <a:srgbClr val="FFFFFF"/>
                </a:solidFill>
                <a:latin typeface="Oracle Sans Tab" pitchFamily="34" charset="0"/>
                <a:ea typeface="Oracle Sans Tab" pitchFamily="34" charset="-122"/>
                <a:cs typeface="Oracle Sans Tab" pitchFamily="34" charset="-120"/>
              </a:rPr>
              <a:t>Chat LLM</a:t>
            </a:r>
            <a:endParaRPr lang="en-US" sz="1575" dirty="0"/>
          </a:p>
        </p:txBody>
      </p:sp>
      <p:sp>
        <p:nvSpPr>
          <p:cNvPr id="15" name="Text 11"/>
          <p:cNvSpPr/>
          <p:nvPr/>
        </p:nvSpPr>
        <p:spPr>
          <a:xfrm>
            <a:off x="15191604" y="5134415"/>
            <a:ext cx="2237951" cy="220931"/>
          </a:xfrm>
          <a:prstGeom prst="rect">
            <a:avLst/>
          </a:prstGeom>
          <a:noFill/>
          <a:ln/>
        </p:spPr>
        <p:txBody>
          <a:bodyPr wrap="square" lIns="25400" tIns="25400" rIns="25400" bIns="25400" rtlCol="0" anchor="t">
            <a:normAutofit lnSpcReduction="10000"/>
          </a:bodyPr>
          <a:lstStyle/>
          <a:p>
            <a:pPr marL="0" indent="0" algn="ctr">
              <a:lnSpc>
                <a:spcPct val="92160"/>
              </a:lnSpc>
              <a:buNone/>
            </a:pPr>
            <a:r>
              <a:rPr lang="en-US" sz="1200" i="1" dirty="0">
                <a:solidFill>
                  <a:srgbClr val="FD6953"/>
                </a:solidFill>
                <a:latin typeface="Oracle Sans Tab" pitchFamily="34" charset="0"/>
                <a:ea typeface="Oracle Sans Tab" pitchFamily="34" charset="-122"/>
                <a:cs typeface="Oracle Sans Tab" pitchFamily="34" charset="-120"/>
              </a:rPr>
              <a:t>over network</a:t>
            </a:r>
            <a:endParaRPr lang="en-US" sz="1200" dirty="0"/>
          </a:p>
        </p:txBody>
      </p:sp>
      <p:sp>
        <p:nvSpPr>
          <p:cNvPr id="16" name="Text 12"/>
          <p:cNvSpPr/>
          <p:nvPr/>
        </p:nvSpPr>
        <p:spPr>
          <a:xfrm>
            <a:off x="6131029" y="3880435"/>
            <a:ext cx="2413997" cy="232352"/>
          </a:xfrm>
          <a:prstGeom prst="rect">
            <a:avLst/>
          </a:prstGeom>
          <a:noFill/>
          <a:ln/>
        </p:spPr>
        <p:txBody>
          <a:bodyPr wrap="square" lIns="25400" tIns="25400" rIns="25400" bIns="25400" rtlCol="0" anchor="t">
            <a:normAutofit/>
          </a:bodyPr>
          <a:lstStyle/>
          <a:p>
            <a:pPr marL="0" indent="0" algn="ctr">
              <a:lnSpc>
                <a:spcPct val="92160"/>
              </a:lnSpc>
              <a:buNone/>
            </a:pPr>
            <a:r>
              <a:rPr lang="en-US" sz="1275" dirty="0">
                <a:solidFill>
                  <a:srgbClr val="C3D7DC"/>
                </a:solidFill>
                <a:latin typeface="Oracle Sans Tab" pitchFamily="34" charset="0"/>
                <a:ea typeface="Oracle Sans Tab" pitchFamily="34" charset="-122"/>
                <a:cs typeface="Oracle Sans Tab" pitchFamily="34" charset="-120"/>
              </a:rPr>
              <a:t>user turn</a:t>
            </a:r>
            <a:endParaRPr lang="en-US" sz="1275" dirty="0"/>
          </a:p>
        </p:txBody>
      </p:sp>
      <p:sp>
        <p:nvSpPr>
          <p:cNvPr id="17" name="Shape 13"/>
          <p:cNvSpPr/>
          <p:nvPr/>
        </p:nvSpPr>
        <p:spPr>
          <a:xfrm rot="5400000">
            <a:off x="7235395" y="4218192"/>
            <a:ext cx="180975" cy="26458"/>
          </a:xfrm>
          <a:prstGeom prst="rect">
            <a:avLst/>
          </a:prstGeom>
          <a:solidFill>
            <a:srgbClr val="FFFFFF">
              <a:alpha val="34000"/>
            </a:srgbClr>
          </a:solidFill>
          <a:ln/>
        </p:spPr>
        <p:txBody>
          <a:bodyPr/>
          <a:lstStyle/>
          <a:p>
            <a:endParaRPr lang="en-US"/>
          </a:p>
        </p:txBody>
      </p:sp>
      <p:sp>
        <p:nvSpPr>
          <p:cNvPr id="18" name="Shape 14"/>
          <p:cNvSpPr/>
          <p:nvPr/>
        </p:nvSpPr>
        <p:spPr>
          <a:xfrm rot="5400000">
            <a:off x="7275215" y="4177584"/>
            <a:ext cx="125677" cy="161925"/>
          </a:xfrm>
          <a:prstGeom prst="rect">
            <a:avLst/>
          </a:prstGeom>
          <a:solidFill>
            <a:srgbClr val="FFFFFF">
              <a:alpha val="34000"/>
            </a:srgbClr>
          </a:solidFill>
          <a:ln/>
        </p:spPr>
        <p:txBody>
          <a:bodyPr/>
          <a:lstStyle/>
          <a:p>
            <a:endParaRPr lang="en-US"/>
          </a:p>
        </p:txBody>
      </p:sp>
      <p:sp>
        <p:nvSpPr>
          <p:cNvPr id="19" name="Shape 15"/>
          <p:cNvSpPr/>
          <p:nvPr/>
        </p:nvSpPr>
        <p:spPr>
          <a:xfrm>
            <a:off x="1165820" y="4320511"/>
            <a:ext cx="13441660" cy="1042004"/>
          </a:xfrm>
          <a:prstGeom prst="roundRect">
            <a:avLst>
              <a:gd name="adj" fmla="val 9232"/>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20" name="Text 16"/>
          <p:cNvSpPr/>
          <p:nvPr/>
        </p:nvSpPr>
        <p:spPr>
          <a:xfrm>
            <a:off x="1412524" y="4435750"/>
            <a:ext cx="5650975"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b="1" dirty="0">
                <a:solidFill>
                  <a:srgbClr val="FD6953"/>
                </a:solidFill>
                <a:latin typeface="Oracle Sans Tab" pitchFamily="34" charset="0"/>
                <a:ea typeface="Oracle Sans Tab" pitchFamily="34" charset="-122"/>
                <a:cs typeface="Oracle Sans Tab" pitchFamily="34" charset="-120"/>
              </a:rPr>
              <a:t>PART 7 · Agent Loop</a:t>
            </a:r>
            <a:endParaRPr lang="en-US" sz="1725" dirty="0"/>
          </a:p>
        </p:txBody>
      </p:sp>
      <p:sp>
        <p:nvSpPr>
          <p:cNvPr id="21" name="Text 17"/>
          <p:cNvSpPr/>
          <p:nvPr/>
        </p:nvSpPr>
        <p:spPr>
          <a:xfrm>
            <a:off x="6185891" y="4478124"/>
            <a:ext cx="8147290" cy="243824"/>
          </a:xfrm>
          <a:prstGeom prst="rect">
            <a:avLst/>
          </a:prstGeom>
          <a:noFill/>
          <a:ln/>
        </p:spPr>
        <p:txBody>
          <a:bodyPr wrap="square" lIns="25400" tIns="25400" rIns="25400" bIns="25400" rtlCol="0" anchor="t">
            <a:normAutofit/>
          </a:bodyPr>
          <a:lstStyle/>
          <a:p>
            <a:pPr marL="0" indent="0" algn="r">
              <a:lnSpc>
                <a:spcPct val="92160"/>
              </a:lnSpc>
              <a:buNone/>
            </a:pPr>
            <a:r>
              <a:rPr lang="en-US" sz="1350" i="1" dirty="0">
                <a:solidFill>
                  <a:srgbClr val="C3D7DC"/>
                </a:solidFill>
                <a:latin typeface="Oracle Sans Tab" pitchFamily="34" charset="0"/>
                <a:ea typeface="Oracle Sans Tab" pitchFamily="34" charset="-122"/>
                <a:cs typeface="Oracle Sans Tab" pitchFamily="34" charset="-120"/>
              </a:rPr>
              <a:t>dynamic recall · failure recovery · HITL gate · budgeted loop</a:t>
            </a:r>
            <a:endParaRPr lang="en-US" sz="1350" dirty="0"/>
          </a:p>
        </p:txBody>
      </p:sp>
      <p:sp>
        <p:nvSpPr>
          <p:cNvPr id="22" name="Shape 18"/>
          <p:cNvSpPr/>
          <p:nvPr/>
        </p:nvSpPr>
        <p:spPr>
          <a:xfrm>
            <a:off x="1508745" y="4813918"/>
            <a:ext cx="2948916" cy="411448"/>
          </a:xfrm>
          <a:prstGeom prst="roundRect">
            <a:avLst>
              <a:gd name="adj" fmla="val 13427"/>
            </a:avLst>
          </a:prstGeom>
          <a:solidFill>
            <a:srgbClr val="0B5060"/>
          </a:solidFill>
          <a:ln w="16536">
            <a:solidFill>
              <a:srgbClr val="FFFFFF">
                <a:alpha val="20000"/>
              </a:srgbClr>
            </a:solidFill>
            <a:prstDash val="solid"/>
          </a:ln>
        </p:spPr>
        <p:txBody>
          <a:bodyPr/>
          <a:lstStyle/>
          <a:p>
            <a:endParaRPr lang="en-US"/>
          </a:p>
        </p:txBody>
      </p:sp>
      <p:sp>
        <p:nvSpPr>
          <p:cNvPr id="23" name="Text 19"/>
          <p:cNvSpPr/>
          <p:nvPr/>
        </p:nvSpPr>
        <p:spPr>
          <a:xfrm>
            <a:off x="1361299" y="4916754"/>
            <a:ext cx="3243807"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b="1" dirty="0">
                <a:solidFill>
                  <a:srgbClr val="FFFFFF"/>
                </a:solidFill>
                <a:latin typeface="Menlo" pitchFamily="34" charset="0"/>
                <a:ea typeface="Menlo" pitchFamily="34" charset="-122"/>
                <a:cs typeface="Menlo" pitchFamily="34" charset="-120"/>
              </a:rPr>
              <a:t>assemble_context</a:t>
            </a:r>
            <a:endParaRPr lang="en-US" sz="1350" dirty="0"/>
          </a:p>
        </p:txBody>
      </p:sp>
      <p:sp>
        <p:nvSpPr>
          <p:cNvPr id="24" name="Shape 20"/>
          <p:cNvSpPr/>
          <p:nvPr/>
        </p:nvSpPr>
        <p:spPr>
          <a:xfrm>
            <a:off x="4457660" y="5019642"/>
            <a:ext cx="274299" cy="26458"/>
          </a:xfrm>
          <a:prstGeom prst="rect">
            <a:avLst/>
          </a:prstGeom>
          <a:solidFill>
            <a:srgbClr val="FFFFFF">
              <a:alpha val="34000"/>
            </a:srgbClr>
          </a:solidFill>
          <a:ln/>
        </p:spPr>
        <p:txBody>
          <a:bodyPr/>
          <a:lstStyle/>
          <a:p>
            <a:endParaRPr lang="en-US"/>
          </a:p>
        </p:txBody>
      </p:sp>
      <p:sp>
        <p:nvSpPr>
          <p:cNvPr id="25" name="Shape 21"/>
          <p:cNvSpPr/>
          <p:nvPr/>
        </p:nvSpPr>
        <p:spPr>
          <a:xfrm>
            <a:off x="4606282" y="4936960"/>
            <a:ext cx="125677" cy="165365"/>
          </a:xfrm>
          <a:prstGeom prst="rect">
            <a:avLst/>
          </a:prstGeom>
          <a:solidFill>
            <a:srgbClr val="FFFFFF">
              <a:alpha val="34000"/>
            </a:srgbClr>
          </a:solidFill>
          <a:ln/>
        </p:spPr>
        <p:txBody>
          <a:bodyPr/>
          <a:lstStyle/>
          <a:p>
            <a:endParaRPr lang="en-US"/>
          </a:p>
        </p:txBody>
      </p:sp>
      <p:sp>
        <p:nvSpPr>
          <p:cNvPr id="26" name="Shape 22"/>
          <p:cNvSpPr/>
          <p:nvPr/>
        </p:nvSpPr>
        <p:spPr>
          <a:xfrm>
            <a:off x="4732011" y="4813918"/>
            <a:ext cx="2948916" cy="411448"/>
          </a:xfrm>
          <a:prstGeom prst="roundRect">
            <a:avLst>
              <a:gd name="adj" fmla="val 13427"/>
            </a:avLst>
          </a:prstGeom>
          <a:solidFill>
            <a:srgbClr val="C74634"/>
          </a:solidFill>
          <a:ln w="16536">
            <a:solidFill>
              <a:srgbClr val="FD6953"/>
            </a:solidFill>
            <a:prstDash val="solid"/>
          </a:ln>
        </p:spPr>
        <p:txBody>
          <a:bodyPr/>
          <a:lstStyle/>
          <a:p>
            <a:endParaRPr lang="en-US"/>
          </a:p>
        </p:txBody>
      </p:sp>
      <p:sp>
        <p:nvSpPr>
          <p:cNvPr id="27" name="Text 23"/>
          <p:cNvSpPr/>
          <p:nvPr/>
        </p:nvSpPr>
        <p:spPr>
          <a:xfrm>
            <a:off x="4584565" y="4916754"/>
            <a:ext cx="3243807"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b="1" dirty="0">
                <a:solidFill>
                  <a:srgbClr val="FFFFFF"/>
                </a:solidFill>
                <a:latin typeface="Menlo" pitchFamily="34" charset="0"/>
                <a:ea typeface="Menlo" pitchFamily="34" charset="-122"/>
                <a:cs typeface="Menlo" pitchFamily="34" charset="-120"/>
              </a:rPr>
              <a:t>call_model</a:t>
            </a:r>
            <a:endParaRPr lang="en-US" sz="1350" dirty="0"/>
          </a:p>
        </p:txBody>
      </p:sp>
      <p:sp>
        <p:nvSpPr>
          <p:cNvPr id="28" name="Shape 24"/>
          <p:cNvSpPr/>
          <p:nvPr/>
        </p:nvSpPr>
        <p:spPr>
          <a:xfrm>
            <a:off x="7680926" y="5019642"/>
            <a:ext cx="274299" cy="26458"/>
          </a:xfrm>
          <a:prstGeom prst="rect">
            <a:avLst/>
          </a:prstGeom>
          <a:solidFill>
            <a:srgbClr val="FFFFFF">
              <a:alpha val="34000"/>
            </a:srgbClr>
          </a:solidFill>
          <a:ln/>
        </p:spPr>
        <p:txBody>
          <a:bodyPr/>
          <a:lstStyle/>
          <a:p>
            <a:endParaRPr lang="en-US"/>
          </a:p>
        </p:txBody>
      </p:sp>
      <p:sp>
        <p:nvSpPr>
          <p:cNvPr id="29" name="Shape 25"/>
          <p:cNvSpPr/>
          <p:nvPr/>
        </p:nvSpPr>
        <p:spPr>
          <a:xfrm>
            <a:off x="7829548" y="4936960"/>
            <a:ext cx="125677" cy="165365"/>
          </a:xfrm>
          <a:prstGeom prst="rect">
            <a:avLst/>
          </a:prstGeom>
          <a:solidFill>
            <a:srgbClr val="FFFFFF">
              <a:alpha val="34000"/>
            </a:srgbClr>
          </a:solidFill>
          <a:ln/>
        </p:spPr>
        <p:txBody>
          <a:bodyPr/>
          <a:lstStyle/>
          <a:p>
            <a:endParaRPr lang="en-US"/>
          </a:p>
        </p:txBody>
      </p:sp>
      <p:sp>
        <p:nvSpPr>
          <p:cNvPr id="30" name="Shape 26"/>
          <p:cNvSpPr/>
          <p:nvPr/>
        </p:nvSpPr>
        <p:spPr>
          <a:xfrm>
            <a:off x="7955277" y="4813918"/>
            <a:ext cx="2948916" cy="411448"/>
          </a:xfrm>
          <a:prstGeom prst="roundRect">
            <a:avLst>
              <a:gd name="adj" fmla="val 13427"/>
            </a:avLst>
          </a:prstGeom>
          <a:solidFill>
            <a:srgbClr val="0B5060"/>
          </a:solidFill>
          <a:ln w="16536">
            <a:solidFill>
              <a:srgbClr val="FFFFFF">
                <a:alpha val="20000"/>
              </a:srgbClr>
            </a:solidFill>
            <a:prstDash val="solid"/>
          </a:ln>
        </p:spPr>
        <p:txBody>
          <a:bodyPr/>
          <a:lstStyle/>
          <a:p>
            <a:endParaRPr lang="en-US"/>
          </a:p>
        </p:txBody>
      </p:sp>
      <p:sp>
        <p:nvSpPr>
          <p:cNvPr id="31" name="Text 27"/>
          <p:cNvSpPr/>
          <p:nvPr/>
        </p:nvSpPr>
        <p:spPr>
          <a:xfrm>
            <a:off x="7807831" y="4916754"/>
            <a:ext cx="3243807"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b="1" dirty="0">
                <a:solidFill>
                  <a:srgbClr val="FFFFFF"/>
                </a:solidFill>
                <a:latin typeface="Menlo" pitchFamily="34" charset="0"/>
                <a:ea typeface="Menlo" pitchFamily="34" charset="-122"/>
                <a:cs typeface="Menlo" pitchFamily="34" charset="-120"/>
              </a:rPr>
              <a:t>dispatch_tools</a:t>
            </a:r>
            <a:endParaRPr lang="en-US" sz="1350" dirty="0"/>
          </a:p>
        </p:txBody>
      </p:sp>
      <p:sp>
        <p:nvSpPr>
          <p:cNvPr id="32" name="Shape 28"/>
          <p:cNvSpPr/>
          <p:nvPr/>
        </p:nvSpPr>
        <p:spPr>
          <a:xfrm>
            <a:off x="10904191" y="5019642"/>
            <a:ext cx="274299" cy="26458"/>
          </a:xfrm>
          <a:prstGeom prst="rect">
            <a:avLst/>
          </a:prstGeom>
          <a:solidFill>
            <a:srgbClr val="FFFFFF">
              <a:alpha val="34000"/>
            </a:srgbClr>
          </a:solidFill>
          <a:ln/>
        </p:spPr>
        <p:txBody>
          <a:bodyPr/>
          <a:lstStyle/>
          <a:p>
            <a:endParaRPr lang="en-US"/>
          </a:p>
        </p:txBody>
      </p:sp>
      <p:sp>
        <p:nvSpPr>
          <p:cNvPr id="33" name="Shape 29"/>
          <p:cNvSpPr/>
          <p:nvPr/>
        </p:nvSpPr>
        <p:spPr>
          <a:xfrm>
            <a:off x="11052814" y="4936960"/>
            <a:ext cx="125677" cy="165365"/>
          </a:xfrm>
          <a:prstGeom prst="rect">
            <a:avLst/>
          </a:prstGeom>
          <a:solidFill>
            <a:srgbClr val="FFFFFF">
              <a:alpha val="34000"/>
            </a:srgbClr>
          </a:solidFill>
          <a:ln/>
        </p:spPr>
        <p:txBody>
          <a:bodyPr/>
          <a:lstStyle/>
          <a:p>
            <a:endParaRPr lang="en-US"/>
          </a:p>
        </p:txBody>
      </p:sp>
      <p:sp>
        <p:nvSpPr>
          <p:cNvPr id="34" name="Shape 30"/>
          <p:cNvSpPr/>
          <p:nvPr/>
        </p:nvSpPr>
        <p:spPr>
          <a:xfrm>
            <a:off x="11178491" y="4813918"/>
            <a:ext cx="2948916" cy="411448"/>
          </a:xfrm>
          <a:prstGeom prst="roundRect">
            <a:avLst>
              <a:gd name="adj" fmla="val 13427"/>
            </a:avLst>
          </a:prstGeom>
          <a:solidFill>
            <a:srgbClr val="0B5060"/>
          </a:solidFill>
          <a:ln w="16536">
            <a:solidFill>
              <a:srgbClr val="FFFFFF">
                <a:alpha val="20000"/>
              </a:srgbClr>
            </a:solidFill>
            <a:prstDash val="solid"/>
          </a:ln>
        </p:spPr>
        <p:txBody>
          <a:bodyPr/>
          <a:lstStyle/>
          <a:p>
            <a:endParaRPr lang="en-US"/>
          </a:p>
        </p:txBody>
      </p:sp>
      <p:sp>
        <p:nvSpPr>
          <p:cNvPr id="35" name="Text 31"/>
          <p:cNvSpPr/>
          <p:nvPr/>
        </p:nvSpPr>
        <p:spPr>
          <a:xfrm>
            <a:off x="11031045" y="4916754"/>
            <a:ext cx="3243807"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b="1" dirty="0">
                <a:solidFill>
                  <a:srgbClr val="FFFFFF"/>
                </a:solidFill>
                <a:latin typeface="Oracle Sans Tab" pitchFamily="34" charset="0"/>
                <a:ea typeface="Oracle Sans Tab" pitchFamily="34" charset="-122"/>
                <a:cs typeface="Oracle Sans Tab" pitchFamily="34" charset="-120"/>
              </a:rPr>
              <a:t>persist</a:t>
            </a:r>
            <a:endParaRPr lang="en-US" sz="1350" dirty="0"/>
          </a:p>
        </p:txBody>
      </p:sp>
      <p:sp>
        <p:nvSpPr>
          <p:cNvPr id="36" name="Shape 32"/>
          <p:cNvSpPr/>
          <p:nvPr/>
        </p:nvSpPr>
        <p:spPr>
          <a:xfrm>
            <a:off x="14607532" y="4841513"/>
            <a:ext cx="685798" cy="26458"/>
          </a:xfrm>
          <a:prstGeom prst="rect">
            <a:avLst/>
          </a:prstGeom>
          <a:solidFill>
            <a:srgbClr val="FD6953"/>
          </a:solidFill>
          <a:ln/>
        </p:spPr>
        <p:txBody>
          <a:bodyPr/>
          <a:lstStyle/>
          <a:p>
            <a:endParaRPr lang="en-US"/>
          </a:p>
        </p:txBody>
      </p:sp>
      <p:sp>
        <p:nvSpPr>
          <p:cNvPr id="37" name="Shape 33"/>
          <p:cNvSpPr/>
          <p:nvPr/>
        </p:nvSpPr>
        <p:spPr>
          <a:xfrm>
            <a:off x="15167652" y="4758831"/>
            <a:ext cx="125677" cy="165365"/>
          </a:xfrm>
          <a:prstGeom prst="rect">
            <a:avLst/>
          </a:prstGeom>
          <a:solidFill>
            <a:srgbClr val="FD6953"/>
          </a:solidFill>
          <a:ln/>
        </p:spPr>
        <p:txBody>
          <a:bodyPr/>
          <a:lstStyle/>
          <a:p>
            <a:endParaRPr lang="en-US"/>
          </a:p>
        </p:txBody>
      </p:sp>
      <p:sp>
        <p:nvSpPr>
          <p:cNvPr id="38" name="Shape 34"/>
          <p:cNvSpPr/>
          <p:nvPr/>
        </p:nvSpPr>
        <p:spPr>
          <a:xfrm rot="5400000">
            <a:off x="4074054" y="5548395"/>
            <a:ext cx="400050" cy="26458"/>
          </a:xfrm>
          <a:prstGeom prst="rect">
            <a:avLst/>
          </a:prstGeom>
          <a:solidFill>
            <a:srgbClr val="FD6953"/>
          </a:solidFill>
          <a:ln/>
        </p:spPr>
        <p:txBody>
          <a:bodyPr/>
          <a:lstStyle/>
          <a:p>
            <a:endParaRPr lang="en-US"/>
          </a:p>
        </p:txBody>
      </p:sp>
      <p:sp>
        <p:nvSpPr>
          <p:cNvPr id="39" name="Shape 35"/>
          <p:cNvSpPr/>
          <p:nvPr/>
        </p:nvSpPr>
        <p:spPr>
          <a:xfrm rot="5400000">
            <a:off x="4223412" y="5617807"/>
            <a:ext cx="125677" cy="161925"/>
          </a:xfrm>
          <a:prstGeom prst="rect">
            <a:avLst/>
          </a:prstGeom>
          <a:solidFill>
            <a:srgbClr val="FD6953"/>
          </a:solidFill>
          <a:ln/>
        </p:spPr>
        <p:txBody>
          <a:bodyPr/>
          <a:lstStyle/>
          <a:p>
            <a:endParaRPr lang="en-US"/>
          </a:p>
        </p:txBody>
      </p:sp>
      <p:sp>
        <p:nvSpPr>
          <p:cNvPr id="40" name="Text 36"/>
          <p:cNvSpPr/>
          <p:nvPr/>
        </p:nvSpPr>
        <p:spPr>
          <a:xfrm>
            <a:off x="853782" y="5380654"/>
            <a:ext cx="6864831" cy="220931"/>
          </a:xfrm>
          <a:prstGeom prst="rect">
            <a:avLst/>
          </a:prstGeom>
          <a:noFill/>
          <a:ln/>
        </p:spPr>
        <p:txBody>
          <a:bodyPr wrap="square" lIns="25400" tIns="25400" rIns="25400" bIns="25400" rtlCol="0" anchor="t">
            <a:normAutofit lnSpcReduction="10000"/>
          </a:bodyPr>
          <a:lstStyle/>
          <a:p>
            <a:pPr marL="0" indent="0" algn="ctr">
              <a:lnSpc>
                <a:spcPct val="92160"/>
              </a:lnSpc>
              <a:buNone/>
            </a:pPr>
            <a:r>
              <a:rPr lang="en-US" sz="1200" i="1" dirty="0">
                <a:solidFill>
                  <a:srgbClr val="FD6953"/>
                </a:solidFill>
                <a:latin typeface="Oracle Sans Tab" pitchFamily="34" charset="0"/>
                <a:ea typeface="Oracle Sans Tab" pitchFamily="34" charset="-122"/>
                <a:cs typeface="Oracle Sans Tab" pitchFamily="34" charset="-120"/>
              </a:rPr>
              <a:t>tools · the only way to act</a:t>
            </a:r>
            <a:endParaRPr lang="en-US" sz="1200" dirty="0"/>
          </a:p>
        </p:txBody>
      </p:sp>
      <p:sp>
        <p:nvSpPr>
          <p:cNvPr id="41" name="Shape 37"/>
          <p:cNvSpPr/>
          <p:nvPr/>
        </p:nvSpPr>
        <p:spPr>
          <a:xfrm rot="5400000">
            <a:off x="11000608" y="5548395"/>
            <a:ext cx="400050" cy="26458"/>
          </a:xfrm>
          <a:prstGeom prst="rect">
            <a:avLst/>
          </a:prstGeom>
          <a:solidFill>
            <a:srgbClr val="FD6953"/>
          </a:solidFill>
          <a:ln/>
        </p:spPr>
        <p:txBody>
          <a:bodyPr/>
          <a:lstStyle/>
          <a:p>
            <a:endParaRPr lang="en-US"/>
          </a:p>
        </p:txBody>
      </p:sp>
      <p:sp>
        <p:nvSpPr>
          <p:cNvPr id="42" name="Shape 38"/>
          <p:cNvSpPr/>
          <p:nvPr/>
        </p:nvSpPr>
        <p:spPr>
          <a:xfrm rot="5400000">
            <a:off x="11149966" y="5617807"/>
            <a:ext cx="125677" cy="161925"/>
          </a:xfrm>
          <a:prstGeom prst="rect">
            <a:avLst/>
          </a:prstGeom>
          <a:solidFill>
            <a:srgbClr val="FD6953"/>
          </a:solidFill>
          <a:ln/>
        </p:spPr>
        <p:txBody>
          <a:bodyPr/>
          <a:lstStyle/>
          <a:p>
            <a:endParaRPr lang="en-US"/>
          </a:p>
        </p:txBody>
      </p:sp>
      <p:sp>
        <p:nvSpPr>
          <p:cNvPr id="43" name="Text 39"/>
          <p:cNvSpPr/>
          <p:nvPr/>
        </p:nvSpPr>
        <p:spPr>
          <a:xfrm>
            <a:off x="7780388" y="5380654"/>
            <a:ext cx="6864831" cy="220931"/>
          </a:xfrm>
          <a:prstGeom prst="rect">
            <a:avLst/>
          </a:prstGeom>
          <a:noFill/>
          <a:ln/>
        </p:spPr>
        <p:txBody>
          <a:bodyPr wrap="square" lIns="25400" tIns="25400" rIns="25400" bIns="25400" rtlCol="0" anchor="t">
            <a:normAutofit lnSpcReduction="10000"/>
          </a:bodyPr>
          <a:lstStyle/>
          <a:p>
            <a:pPr marL="0" indent="0" algn="ctr">
              <a:lnSpc>
                <a:spcPct val="92160"/>
              </a:lnSpc>
              <a:buNone/>
            </a:pPr>
            <a:r>
              <a:rPr lang="en-US" sz="1200" i="1" dirty="0">
                <a:solidFill>
                  <a:srgbClr val="FD6953"/>
                </a:solidFill>
                <a:latin typeface="Oracle Sans Tab" pitchFamily="34" charset="0"/>
                <a:ea typeface="Oracle Sans Tab" pitchFamily="34" charset="-122"/>
                <a:cs typeface="Oracle Sans Tab" pitchFamily="34" charset="-120"/>
              </a:rPr>
              <a:t>read / write · how it remembers</a:t>
            </a:r>
            <a:endParaRPr lang="en-US" sz="1200" dirty="0"/>
          </a:p>
        </p:txBody>
      </p:sp>
      <p:sp>
        <p:nvSpPr>
          <p:cNvPr id="44" name="Shape 40"/>
          <p:cNvSpPr/>
          <p:nvPr/>
        </p:nvSpPr>
        <p:spPr>
          <a:xfrm>
            <a:off x="1165820" y="5760682"/>
            <a:ext cx="6240756" cy="741040"/>
          </a:xfrm>
          <a:prstGeom prst="roundRect">
            <a:avLst>
              <a:gd name="adj" fmla="val 12982"/>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45" name="Shape 41"/>
          <p:cNvSpPr/>
          <p:nvPr/>
        </p:nvSpPr>
        <p:spPr>
          <a:xfrm>
            <a:off x="1330616" y="5856904"/>
            <a:ext cx="548597" cy="548597"/>
          </a:xfrm>
          <a:prstGeom prst="roundRect">
            <a:avLst>
              <a:gd name="adj" fmla="val 12501"/>
            </a:avLst>
          </a:prstGeom>
          <a:solidFill>
            <a:srgbClr val="0B5060"/>
          </a:solidFill>
          <a:ln w="16536">
            <a:solidFill>
              <a:srgbClr val="E0836F"/>
            </a:solidFill>
            <a:prstDash val="solid"/>
          </a:ln>
        </p:spPr>
        <p:txBody>
          <a:bodyPr/>
          <a:lstStyle/>
          <a:p>
            <a:endParaRPr lang="en-US"/>
          </a:p>
        </p:txBody>
      </p:sp>
      <p:sp>
        <p:nvSpPr>
          <p:cNvPr id="46" name="Text 42"/>
          <p:cNvSpPr/>
          <p:nvPr/>
        </p:nvSpPr>
        <p:spPr>
          <a:xfrm>
            <a:off x="1292516" y="5971160"/>
            <a:ext cx="624797" cy="358132"/>
          </a:xfrm>
          <a:prstGeom prst="rect">
            <a:avLst/>
          </a:prstGeom>
          <a:noFill/>
          <a:ln/>
        </p:spPr>
        <p:txBody>
          <a:bodyPr wrap="square" lIns="25400" tIns="25400" rIns="25400" bIns="25400" rtlCol="0" anchor="t">
            <a:normAutofit/>
          </a:bodyPr>
          <a:lstStyle/>
          <a:p>
            <a:pPr marL="0" indent="0" algn="ctr">
              <a:lnSpc>
                <a:spcPct val="92160"/>
              </a:lnSpc>
              <a:buNone/>
            </a:pPr>
            <a:r>
              <a:rPr lang="en-US" sz="2100" b="1" dirty="0">
                <a:solidFill>
                  <a:srgbClr val="FD6953"/>
                </a:solidFill>
                <a:latin typeface="Oracle Sans Tab" pitchFamily="34" charset="0"/>
                <a:ea typeface="Oracle Sans Tab" pitchFamily="34" charset="-122"/>
                <a:cs typeface="Oracle Sans Tab" pitchFamily="34" charset="-120"/>
              </a:rPr>
              <a:t>6</a:t>
            </a:r>
            <a:endParaRPr lang="en-US" sz="2100" dirty="0"/>
          </a:p>
        </p:txBody>
      </p:sp>
      <p:sp>
        <p:nvSpPr>
          <p:cNvPr id="47" name="Text 43"/>
          <p:cNvSpPr/>
          <p:nvPr/>
        </p:nvSpPr>
        <p:spPr>
          <a:xfrm>
            <a:off x="2044061" y="5856904"/>
            <a:ext cx="5382126"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b="1" dirty="0">
                <a:solidFill>
                  <a:srgbClr val="FFFFFF"/>
                </a:solidFill>
                <a:latin typeface="Oracle Sans Tab" pitchFamily="34" charset="0"/>
                <a:ea typeface="Oracle Sans Tab" pitchFamily="34" charset="-122"/>
                <a:cs typeface="Oracle Sans Tab" pitchFamily="34" charset="-120"/>
              </a:rPr>
              <a:t>Skills &amp; Automations</a:t>
            </a:r>
            <a:endParaRPr lang="en-US" sz="1725" dirty="0"/>
          </a:p>
        </p:txBody>
      </p:sp>
      <p:sp>
        <p:nvSpPr>
          <p:cNvPr id="48" name="Text 44"/>
          <p:cNvSpPr/>
          <p:nvPr/>
        </p:nvSpPr>
        <p:spPr>
          <a:xfrm>
            <a:off x="2044061" y="6185514"/>
            <a:ext cx="5747902" cy="200002"/>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275" dirty="0">
                <a:solidFill>
                  <a:srgbClr val="C3D7DC"/>
                </a:solidFill>
                <a:latin typeface="Oracle Sans Tab" pitchFamily="34" charset="0"/>
                <a:ea typeface="Oracle Sans Tab" pitchFamily="34" charset="-122"/>
                <a:cs typeface="Oracle Sans Tab" pitchFamily="34" charset="-120"/>
              </a:rPr>
              <a:t>toolbox + skillbox, harvester, HITL automations</a:t>
            </a:r>
            <a:endParaRPr lang="en-US" sz="1275" dirty="0"/>
          </a:p>
        </p:txBody>
      </p:sp>
      <p:sp>
        <p:nvSpPr>
          <p:cNvPr id="49" name="Shape 45"/>
          <p:cNvSpPr/>
          <p:nvPr/>
        </p:nvSpPr>
        <p:spPr>
          <a:xfrm>
            <a:off x="1165820" y="6611276"/>
            <a:ext cx="6240756" cy="741040"/>
          </a:xfrm>
          <a:prstGeom prst="roundRect">
            <a:avLst>
              <a:gd name="adj" fmla="val 12982"/>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50" name="Shape 46"/>
          <p:cNvSpPr/>
          <p:nvPr/>
        </p:nvSpPr>
        <p:spPr>
          <a:xfrm>
            <a:off x="1330616" y="6707498"/>
            <a:ext cx="548597" cy="548597"/>
          </a:xfrm>
          <a:prstGeom prst="roundRect">
            <a:avLst>
              <a:gd name="adj" fmla="val 12501"/>
            </a:avLst>
          </a:prstGeom>
          <a:solidFill>
            <a:srgbClr val="0B5060"/>
          </a:solidFill>
          <a:ln w="16536">
            <a:solidFill>
              <a:srgbClr val="E0836F"/>
            </a:solidFill>
            <a:prstDash val="solid"/>
          </a:ln>
        </p:spPr>
        <p:txBody>
          <a:bodyPr/>
          <a:lstStyle/>
          <a:p>
            <a:endParaRPr lang="en-US"/>
          </a:p>
        </p:txBody>
      </p:sp>
      <p:sp>
        <p:nvSpPr>
          <p:cNvPr id="51" name="Text 47"/>
          <p:cNvSpPr/>
          <p:nvPr/>
        </p:nvSpPr>
        <p:spPr>
          <a:xfrm>
            <a:off x="1292516" y="6821754"/>
            <a:ext cx="624797" cy="358132"/>
          </a:xfrm>
          <a:prstGeom prst="rect">
            <a:avLst/>
          </a:prstGeom>
          <a:noFill/>
          <a:ln/>
        </p:spPr>
        <p:txBody>
          <a:bodyPr wrap="square" lIns="25400" tIns="25400" rIns="25400" bIns="25400" rtlCol="0" anchor="t">
            <a:normAutofit/>
          </a:bodyPr>
          <a:lstStyle/>
          <a:p>
            <a:pPr marL="0" indent="0" algn="ctr">
              <a:lnSpc>
                <a:spcPct val="92160"/>
              </a:lnSpc>
              <a:buNone/>
            </a:pPr>
            <a:r>
              <a:rPr lang="en-US" sz="2100" b="1" dirty="0">
                <a:solidFill>
                  <a:srgbClr val="FD6953"/>
                </a:solidFill>
                <a:latin typeface="Oracle Sans Tab" pitchFamily="34" charset="0"/>
                <a:ea typeface="Oracle Sans Tab" pitchFamily="34" charset="-122"/>
                <a:cs typeface="Oracle Sans Tab" pitchFamily="34" charset="-120"/>
              </a:rPr>
              <a:t>8</a:t>
            </a:r>
            <a:endParaRPr lang="en-US" sz="2100" dirty="0"/>
          </a:p>
        </p:txBody>
      </p:sp>
      <p:sp>
        <p:nvSpPr>
          <p:cNvPr id="52" name="Text 48"/>
          <p:cNvSpPr/>
          <p:nvPr/>
        </p:nvSpPr>
        <p:spPr>
          <a:xfrm>
            <a:off x="2044061" y="6707498"/>
            <a:ext cx="5382126"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b="1" dirty="0">
                <a:solidFill>
                  <a:srgbClr val="FFFFFF"/>
                </a:solidFill>
                <a:latin typeface="Oracle Sans Tab" pitchFamily="34" charset="0"/>
                <a:ea typeface="Oracle Sans Tab" pitchFamily="34" charset="-122"/>
                <a:cs typeface="Oracle Sans Tab" pitchFamily="34" charset="-120"/>
              </a:rPr>
              <a:t>Context Engineering</a:t>
            </a:r>
            <a:endParaRPr lang="en-US" sz="1725" dirty="0"/>
          </a:p>
        </p:txBody>
      </p:sp>
      <p:sp>
        <p:nvSpPr>
          <p:cNvPr id="53" name="Text 49"/>
          <p:cNvSpPr/>
          <p:nvPr/>
        </p:nvSpPr>
        <p:spPr>
          <a:xfrm>
            <a:off x="2044061" y="7036108"/>
            <a:ext cx="5747902" cy="200002"/>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275" dirty="0">
                <a:solidFill>
                  <a:srgbClr val="C3D7DC"/>
                </a:solidFill>
                <a:latin typeface="Oracle Sans Tab" pitchFamily="34" charset="0"/>
                <a:ea typeface="Oracle Sans Tab" pitchFamily="34" charset="-122"/>
                <a:cs typeface="Oracle Sans Tab" pitchFamily="34" charset="-120"/>
              </a:rPr>
              <a:t>compaction (context card), offload to table or file</a:t>
            </a:r>
            <a:endParaRPr lang="en-US" sz="1275" dirty="0"/>
          </a:p>
        </p:txBody>
      </p:sp>
      <p:sp>
        <p:nvSpPr>
          <p:cNvPr id="54" name="Shape 50"/>
          <p:cNvSpPr/>
          <p:nvPr/>
        </p:nvSpPr>
        <p:spPr>
          <a:xfrm>
            <a:off x="1165820" y="7461870"/>
            <a:ext cx="6240756" cy="741040"/>
          </a:xfrm>
          <a:prstGeom prst="roundRect">
            <a:avLst>
              <a:gd name="adj" fmla="val 12982"/>
            </a:avLst>
          </a:prstGeom>
          <a:solidFill>
            <a:srgbClr val="0B5060"/>
          </a:solidFill>
          <a:ln w="16536">
            <a:solidFill>
              <a:srgbClr val="E0836F"/>
            </a:solidFill>
            <a:prstDash val="solid"/>
          </a:ln>
          <a:effectLst>
            <a:outerShdw blurRad="114300" dist="19050" dir="5400000" algn="bl" rotWithShape="0">
              <a:srgbClr val="000000">
                <a:alpha val="18000"/>
              </a:srgbClr>
            </a:outerShdw>
          </a:effectLst>
        </p:spPr>
        <p:txBody>
          <a:bodyPr/>
          <a:lstStyle/>
          <a:p>
            <a:endParaRPr lang="en-US"/>
          </a:p>
        </p:txBody>
      </p:sp>
      <p:sp>
        <p:nvSpPr>
          <p:cNvPr id="55" name="Shape 51"/>
          <p:cNvSpPr/>
          <p:nvPr/>
        </p:nvSpPr>
        <p:spPr>
          <a:xfrm>
            <a:off x="1330616" y="7557110"/>
            <a:ext cx="548597" cy="548597"/>
          </a:xfrm>
          <a:prstGeom prst="roundRect">
            <a:avLst>
              <a:gd name="adj" fmla="val 12501"/>
            </a:avLst>
          </a:prstGeom>
          <a:solidFill>
            <a:srgbClr val="0B5060"/>
          </a:solidFill>
          <a:ln w="16536">
            <a:solidFill>
              <a:srgbClr val="E0836F"/>
            </a:solidFill>
            <a:prstDash val="solid"/>
          </a:ln>
        </p:spPr>
        <p:txBody>
          <a:bodyPr/>
          <a:lstStyle/>
          <a:p>
            <a:endParaRPr lang="en-US"/>
          </a:p>
        </p:txBody>
      </p:sp>
      <p:sp>
        <p:nvSpPr>
          <p:cNvPr id="56" name="Text 52"/>
          <p:cNvSpPr/>
          <p:nvPr/>
        </p:nvSpPr>
        <p:spPr>
          <a:xfrm>
            <a:off x="1292516" y="7671366"/>
            <a:ext cx="624797" cy="358132"/>
          </a:xfrm>
          <a:prstGeom prst="rect">
            <a:avLst/>
          </a:prstGeom>
          <a:noFill/>
          <a:ln/>
        </p:spPr>
        <p:txBody>
          <a:bodyPr wrap="square" lIns="25400" tIns="25400" rIns="25400" bIns="25400" rtlCol="0" anchor="t">
            <a:normAutofit/>
          </a:bodyPr>
          <a:lstStyle/>
          <a:p>
            <a:pPr marL="0" indent="0" algn="ctr">
              <a:lnSpc>
                <a:spcPct val="92160"/>
              </a:lnSpc>
              <a:buNone/>
            </a:pPr>
            <a:r>
              <a:rPr lang="en-US" sz="2100" b="1" dirty="0">
                <a:solidFill>
                  <a:srgbClr val="FD6953"/>
                </a:solidFill>
                <a:latin typeface="Oracle Sans Tab" pitchFamily="34" charset="0"/>
                <a:ea typeface="Oracle Sans Tab" pitchFamily="34" charset="-122"/>
                <a:cs typeface="Oracle Sans Tab" pitchFamily="34" charset="-120"/>
              </a:rPr>
              <a:t>5</a:t>
            </a:r>
            <a:endParaRPr lang="en-US" sz="2100" dirty="0"/>
          </a:p>
        </p:txBody>
      </p:sp>
      <p:sp>
        <p:nvSpPr>
          <p:cNvPr id="57" name="Text 53"/>
          <p:cNvSpPr/>
          <p:nvPr/>
        </p:nvSpPr>
        <p:spPr>
          <a:xfrm>
            <a:off x="2044061" y="7557110"/>
            <a:ext cx="5382126"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b="1" dirty="0">
                <a:solidFill>
                  <a:srgbClr val="FFFFFF"/>
                </a:solidFill>
                <a:latin typeface="Oracle Sans Tab" pitchFamily="34" charset="0"/>
                <a:ea typeface="Oracle Sans Tab" pitchFamily="34" charset="-122"/>
                <a:cs typeface="Oracle Sans Tab" pitchFamily="34" charset="-120"/>
              </a:rPr>
              <a:t>Semantic Layer</a:t>
            </a:r>
            <a:endParaRPr lang="en-US" sz="1725" dirty="0"/>
          </a:p>
        </p:txBody>
      </p:sp>
      <p:sp>
        <p:nvSpPr>
          <p:cNvPr id="58" name="Text 54"/>
          <p:cNvSpPr/>
          <p:nvPr/>
        </p:nvSpPr>
        <p:spPr>
          <a:xfrm>
            <a:off x="2044061" y="7886650"/>
            <a:ext cx="5747902" cy="200002"/>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275" dirty="0">
                <a:solidFill>
                  <a:srgbClr val="C3D7DC"/>
                </a:solidFill>
                <a:latin typeface="Oracle Sans Tab" pitchFamily="34" charset="0"/>
                <a:ea typeface="Oracle Sans Tab" pitchFamily="34" charset="-122"/>
                <a:cs typeface="Oracle Sans Tab" pitchFamily="34" charset="-120"/>
              </a:rPr>
              <a:t>schema meaning, a searchable catalog (scheduled)</a:t>
            </a:r>
            <a:endParaRPr lang="en-US" sz="1275" dirty="0"/>
          </a:p>
        </p:txBody>
      </p:sp>
      <p:sp>
        <p:nvSpPr>
          <p:cNvPr id="59" name="Shape 55"/>
          <p:cNvSpPr/>
          <p:nvPr/>
        </p:nvSpPr>
        <p:spPr>
          <a:xfrm>
            <a:off x="8092426" y="5760682"/>
            <a:ext cx="6240756" cy="741040"/>
          </a:xfrm>
          <a:prstGeom prst="roundRect">
            <a:avLst>
              <a:gd name="adj" fmla="val 12982"/>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60" name="Shape 56"/>
          <p:cNvSpPr/>
          <p:nvPr/>
        </p:nvSpPr>
        <p:spPr>
          <a:xfrm>
            <a:off x="8257222" y="5856904"/>
            <a:ext cx="548597" cy="548597"/>
          </a:xfrm>
          <a:prstGeom prst="roundRect">
            <a:avLst>
              <a:gd name="adj" fmla="val 12501"/>
            </a:avLst>
          </a:prstGeom>
          <a:solidFill>
            <a:srgbClr val="0B5060"/>
          </a:solidFill>
          <a:ln w="16536">
            <a:solidFill>
              <a:srgbClr val="E0836F"/>
            </a:solidFill>
            <a:prstDash val="solid"/>
          </a:ln>
        </p:spPr>
        <p:txBody>
          <a:bodyPr/>
          <a:lstStyle/>
          <a:p>
            <a:endParaRPr lang="en-US"/>
          </a:p>
        </p:txBody>
      </p:sp>
      <p:sp>
        <p:nvSpPr>
          <p:cNvPr id="61" name="Text 57"/>
          <p:cNvSpPr/>
          <p:nvPr/>
        </p:nvSpPr>
        <p:spPr>
          <a:xfrm>
            <a:off x="8219122" y="5971160"/>
            <a:ext cx="624797" cy="358132"/>
          </a:xfrm>
          <a:prstGeom prst="rect">
            <a:avLst/>
          </a:prstGeom>
          <a:noFill/>
          <a:ln/>
        </p:spPr>
        <p:txBody>
          <a:bodyPr wrap="square" lIns="25400" tIns="25400" rIns="25400" bIns="25400" rtlCol="0" anchor="t">
            <a:normAutofit/>
          </a:bodyPr>
          <a:lstStyle/>
          <a:p>
            <a:pPr marL="0" indent="0" algn="ctr">
              <a:lnSpc>
                <a:spcPct val="92160"/>
              </a:lnSpc>
              <a:buNone/>
            </a:pPr>
            <a:r>
              <a:rPr lang="en-US" sz="2100" b="1" dirty="0">
                <a:solidFill>
                  <a:srgbClr val="FD6953"/>
                </a:solidFill>
                <a:latin typeface="Oracle Sans Tab" pitchFamily="34" charset="0"/>
                <a:ea typeface="Oracle Sans Tab" pitchFamily="34" charset="-122"/>
                <a:cs typeface="Oracle Sans Tab" pitchFamily="34" charset="-120"/>
              </a:rPr>
              <a:t>4</a:t>
            </a:r>
            <a:endParaRPr lang="en-US" sz="2100" dirty="0"/>
          </a:p>
        </p:txBody>
      </p:sp>
      <p:sp>
        <p:nvSpPr>
          <p:cNvPr id="62" name="Text 58"/>
          <p:cNvSpPr/>
          <p:nvPr/>
        </p:nvSpPr>
        <p:spPr>
          <a:xfrm>
            <a:off x="8970615" y="5856904"/>
            <a:ext cx="5382126"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b="1" dirty="0">
                <a:solidFill>
                  <a:srgbClr val="FFFFFF"/>
                </a:solidFill>
                <a:latin typeface="Oracle Sans Tab" pitchFamily="34" charset="0"/>
                <a:ea typeface="Oracle Sans Tab" pitchFamily="34" charset="-122"/>
                <a:cs typeface="Oracle Sans Tab" pitchFamily="34" charset="-120"/>
              </a:rPr>
              <a:t>Cognitive Memory (OAMP)</a:t>
            </a:r>
            <a:endParaRPr lang="en-US" sz="1725" dirty="0"/>
          </a:p>
        </p:txBody>
      </p:sp>
      <p:sp>
        <p:nvSpPr>
          <p:cNvPr id="63" name="Text 59"/>
          <p:cNvSpPr/>
          <p:nvPr/>
        </p:nvSpPr>
        <p:spPr>
          <a:xfrm>
            <a:off x="8970615" y="6185514"/>
            <a:ext cx="5747902" cy="200002"/>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275" dirty="0">
                <a:solidFill>
                  <a:srgbClr val="C3D7DC"/>
                </a:solidFill>
                <a:latin typeface="Oracle Sans Tab" pitchFamily="34" charset="0"/>
                <a:ea typeface="Oracle Sans Tab" pitchFamily="34" charset="-122"/>
                <a:cs typeface="Oracle Sans Tab" pitchFamily="34" charset="-120"/>
              </a:rPr>
              <a:t>episodic, semantic, working, workflow recipes</a:t>
            </a:r>
            <a:endParaRPr lang="en-US" sz="1275" dirty="0"/>
          </a:p>
        </p:txBody>
      </p:sp>
      <p:sp>
        <p:nvSpPr>
          <p:cNvPr id="64" name="Shape 60"/>
          <p:cNvSpPr/>
          <p:nvPr/>
        </p:nvSpPr>
        <p:spPr>
          <a:xfrm>
            <a:off x="8092426" y="6611276"/>
            <a:ext cx="6240756" cy="741040"/>
          </a:xfrm>
          <a:prstGeom prst="roundRect">
            <a:avLst>
              <a:gd name="adj" fmla="val 12982"/>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65" name="Shape 61"/>
          <p:cNvSpPr/>
          <p:nvPr/>
        </p:nvSpPr>
        <p:spPr>
          <a:xfrm>
            <a:off x="8257222" y="6707498"/>
            <a:ext cx="548597" cy="548597"/>
          </a:xfrm>
          <a:prstGeom prst="roundRect">
            <a:avLst>
              <a:gd name="adj" fmla="val 12501"/>
            </a:avLst>
          </a:prstGeom>
          <a:solidFill>
            <a:srgbClr val="0B5060"/>
          </a:solidFill>
          <a:ln w="16536">
            <a:solidFill>
              <a:srgbClr val="E0836F"/>
            </a:solidFill>
            <a:prstDash val="solid"/>
          </a:ln>
        </p:spPr>
        <p:txBody>
          <a:bodyPr/>
          <a:lstStyle/>
          <a:p>
            <a:endParaRPr lang="en-US"/>
          </a:p>
        </p:txBody>
      </p:sp>
      <p:sp>
        <p:nvSpPr>
          <p:cNvPr id="66" name="Text 62"/>
          <p:cNvSpPr/>
          <p:nvPr/>
        </p:nvSpPr>
        <p:spPr>
          <a:xfrm>
            <a:off x="8219122" y="6821754"/>
            <a:ext cx="624797" cy="358132"/>
          </a:xfrm>
          <a:prstGeom prst="rect">
            <a:avLst/>
          </a:prstGeom>
          <a:noFill/>
          <a:ln/>
        </p:spPr>
        <p:txBody>
          <a:bodyPr wrap="square" lIns="25400" tIns="25400" rIns="25400" bIns="25400" rtlCol="0" anchor="t">
            <a:normAutofit/>
          </a:bodyPr>
          <a:lstStyle/>
          <a:p>
            <a:pPr marL="0" indent="0" algn="ctr">
              <a:lnSpc>
                <a:spcPct val="92160"/>
              </a:lnSpc>
              <a:buNone/>
            </a:pPr>
            <a:r>
              <a:rPr lang="en-US" sz="2100" b="1" dirty="0">
                <a:solidFill>
                  <a:srgbClr val="FD6953"/>
                </a:solidFill>
                <a:latin typeface="Oracle Sans Tab" pitchFamily="34" charset="0"/>
                <a:ea typeface="Oracle Sans Tab" pitchFamily="34" charset="-122"/>
                <a:cs typeface="Oracle Sans Tab" pitchFamily="34" charset="-120"/>
              </a:rPr>
              <a:t>3</a:t>
            </a:r>
            <a:endParaRPr lang="en-US" sz="2100" dirty="0"/>
          </a:p>
        </p:txBody>
      </p:sp>
      <p:sp>
        <p:nvSpPr>
          <p:cNvPr id="67" name="Text 63"/>
          <p:cNvSpPr/>
          <p:nvPr/>
        </p:nvSpPr>
        <p:spPr>
          <a:xfrm>
            <a:off x="8970615" y="6707498"/>
            <a:ext cx="5382126"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b="1" dirty="0">
                <a:solidFill>
                  <a:srgbClr val="FFFFFF"/>
                </a:solidFill>
                <a:latin typeface="Oracle Sans Tab" pitchFamily="34" charset="0"/>
                <a:ea typeface="Oracle Sans Tab" pitchFamily="34" charset="-122"/>
                <a:cs typeface="Oracle Sans Tab" pitchFamily="34" charset="-120"/>
              </a:rPr>
              <a:t>Retrieval · read path</a:t>
            </a:r>
            <a:endParaRPr lang="en-US" sz="1725" dirty="0"/>
          </a:p>
        </p:txBody>
      </p:sp>
      <p:sp>
        <p:nvSpPr>
          <p:cNvPr id="68" name="Text 64"/>
          <p:cNvSpPr/>
          <p:nvPr/>
        </p:nvSpPr>
        <p:spPr>
          <a:xfrm>
            <a:off x="8970615" y="7036108"/>
            <a:ext cx="5747902" cy="200002"/>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275" dirty="0">
                <a:solidFill>
                  <a:srgbClr val="C3D7DC"/>
                </a:solidFill>
                <a:latin typeface="Oracle Sans Tab" pitchFamily="34" charset="0"/>
                <a:ea typeface="Oracle Sans Tab" pitchFamily="34" charset="-122"/>
                <a:cs typeface="Oracle Sans Tab" pitchFamily="34" charset="-120"/>
              </a:rPr>
              <a:t>keyword, vector, hybrid RRF, cross-encoder rerank</a:t>
            </a:r>
            <a:endParaRPr lang="en-US" sz="1275" dirty="0"/>
          </a:p>
        </p:txBody>
      </p:sp>
      <p:sp>
        <p:nvSpPr>
          <p:cNvPr id="69" name="Shape 65"/>
          <p:cNvSpPr/>
          <p:nvPr/>
        </p:nvSpPr>
        <p:spPr>
          <a:xfrm>
            <a:off x="8092426" y="7461870"/>
            <a:ext cx="6240756" cy="741040"/>
          </a:xfrm>
          <a:prstGeom prst="roundRect">
            <a:avLst>
              <a:gd name="adj" fmla="val 12982"/>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70" name="Shape 66"/>
          <p:cNvSpPr/>
          <p:nvPr/>
        </p:nvSpPr>
        <p:spPr>
          <a:xfrm>
            <a:off x="8257222" y="7557110"/>
            <a:ext cx="548597" cy="548597"/>
          </a:xfrm>
          <a:prstGeom prst="roundRect">
            <a:avLst>
              <a:gd name="adj" fmla="val 12501"/>
            </a:avLst>
          </a:prstGeom>
          <a:solidFill>
            <a:srgbClr val="0B5060"/>
          </a:solidFill>
          <a:ln w="16536">
            <a:solidFill>
              <a:srgbClr val="E0836F"/>
            </a:solidFill>
            <a:prstDash val="solid"/>
          </a:ln>
        </p:spPr>
        <p:txBody>
          <a:bodyPr/>
          <a:lstStyle/>
          <a:p>
            <a:endParaRPr lang="en-US"/>
          </a:p>
        </p:txBody>
      </p:sp>
      <p:sp>
        <p:nvSpPr>
          <p:cNvPr id="71" name="Text 67"/>
          <p:cNvSpPr/>
          <p:nvPr/>
        </p:nvSpPr>
        <p:spPr>
          <a:xfrm>
            <a:off x="8219122" y="7671366"/>
            <a:ext cx="624797" cy="358132"/>
          </a:xfrm>
          <a:prstGeom prst="rect">
            <a:avLst/>
          </a:prstGeom>
          <a:noFill/>
          <a:ln/>
        </p:spPr>
        <p:txBody>
          <a:bodyPr wrap="square" lIns="25400" tIns="25400" rIns="25400" bIns="25400" rtlCol="0" anchor="t">
            <a:normAutofit/>
          </a:bodyPr>
          <a:lstStyle/>
          <a:p>
            <a:pPr marL="0" indent="0" algn="ctr">
              <a:lnSpc>
                <a:spcPct val="92160"/>
              </a:lnSpc>
              <a:buNone/>
            </a:pPr>
            <a:r>
              <a:rPr lang="en-US" sz="2100" b="1" dirty="0">
                <a:solidFill>
                  <a:srgbClr val="FD6953"/>
                </a:solidFill>
                <a:latin typeface="Oracle Sans Tab" pitchFamily="34" charset="0"/>
                <a:ea typeface="Oracle Sans Tab" pitchFamily="34" charset="-122"/>
                <a:cs typeface="Oracle Sans Tab" pitchFamily="34" charset="-120"/>
              </a:rPr>
              <a:t>3</a:t>
            </a:r>
            <a:endParaRPr lang="en-US" sz="2100" dirty="0"/>
          </a:p>
        </p:txBody>
      </p:sp>
      <p:sp>
        <p:nvSpPr>
          <p:cNvPr id="72" name="Text 68"/>
          <p:cNvSpPr/>
          <p:nvPr/>
        </p:nvSpPr>
        <p:spPr>
          <a:xfrm>
            <a:off x="8970615" y="7557110"/>
            <a:ext cx="5382126"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b="1" dirty="0">
                <a:solidFill>
                  <a:srgbClr val="FFFFFF"/>
                </a:solidFill>
                <a:latin typeface="Oracle Sans Tab" pitchFamily="34" charset="0"/>
                <a:ea typeface="Oracle Sans Tab" pitchFamily="34" charset="-122"/>
                <a:cs typeface="Oracle Sans Tab" pitchFamily="34" charset="-120"/>
              </a:rPr>
              <a:t>Encoding · write path</a:t>
            </a:r>
            <a:endParaRPr lang="en-US" sz="1725" dirty="0"/>
          </a:p>
        </p:txBody>
      </p:sp>
      <p:sp>
        <p:nvSpPr>
          <p:cNvPr id="73" name="Text 69"/>
          <p:cNvSpPr/>
          <p:nvPr/>
        </p:nvSpPr>
        <p:spPr>
          <a:xfrm>
            <a:off x="8970615" y="7886650"/>
            <a:ext cx="5747902" cy="200002"/>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275" dirty="0">
                <a:solidFill>
                  <a:srgbClr val="C3D7DC"/>
                </a:solidFill>
                <a:latin typeface="Oracle Sans Tab" pitchFamily="34" charset="0"/>
                <a:ea typeface="Oracle Sans Tab" pitchFamily="34" charset="-122"/>
                <a:cs typeface="Oracle Sans Tab" pitchFamily="34" charset="-120"/>
              </a:rPr>
              <a:t>OracleVS, embeddings computed in-database</a:t>
            </a:r>
            <a:endParaRPr lang="en-US" sz="1275" dirty="0"/>
          </a:p>
        </p:txBody>
      </p:sp>
      <p:sp>
        <p:nvSpPr>
          <p:cNvPr id="74" name="Shape 70"/>
          <p:cNvSpPr/>
          <p:nvPr/>
        </p:nvSpPr>
        <p:spPr>
          <a:xfrm>
            <a:off x="7406628" y="6131202"/>
            <a:ext cx="685798" cy="19844"/>
          </a:xfrm>
          <a:prstGeom prst="rect">
            <a:avLst/>
          </a:prstGeom>
          <a:solidFill>
            <a:srgbClr val="FFFFFF">
              <a:alpha val="34000"/>
            </a:srgbClr>
          </a:solidFill>
          <a:ln/>
        </p:spPr>
        <p:txBody>
          <a:bodyPr/>
          <a:lstStyle/>
          <a:p>
            <a:endParaRPr lang="en-US"/>
          </a:p>
        </p:txBody>
      </p:sp>
      <p:sp>
        <p:nvSpPr>
          <p:cNvPr id="75" name="Shape 71"/>
          <p:cNvSpPr/>
          <p:nvPr/>
        </p:nvSpPr>
        <p:spPr>
          <a:xfrm>
            <a:off x="7983285" y="6058441"/>
            <a:ext cx="109140" cy="145521"/>
          </a:xfrm>
          <a:prstGeom prst="rect">
            <a:avLst/>
          </a:prstGeom>
          <a:solidFill>
            <a:srgbClr val="FFFFFF">
              <a:alpha val="34000"/>
            </a:srgbClr>
          </a:solidFill>
          <a:ln/>
        </p:spPr>
        <p:txBody>
          <a:bodyPr/>
          <a:lstStyle/>
          <a:p>
            <a:endParaRPr lang="en-US"/>
          </a:p>
        </p:txBody>
      </p:sp>
      <p:sp>
        <p:nvSpPr>
          <p:cNvPr id="76" name="Shape 72"/>
          <p:cNvSpPr/>
          <p:nvPr/>
        </p:nvSpPr>
        <p:spPr>
          <a:xfrm rot="10800000">
            <a:off x="7406628" y="6058441"/>
            <a:ext cx="109140" cy="145521"/>
          </a:xfrm>
          <a:prstGeom prst="rect">
            <a:avLst/>
          </a:prstGeom>
          <a:solidFill>
            <a:srgbClr val="FFFFFF">
              <a:alpha val="34000"/>
            </a:srgbClr>
          </a:solidFill>
          <a:ln/>
        </p:spPr>
        <p:txBody>
          <a:bodyPr/>
          <a:lstStyle/>
          <a:p>
            <a:endParaRPr lang="en-US"/>
          </a:p>
        </p:txBody>
      </p:sp>
      <p:sp>
        <p:nvSpPr>
          <p:cNvPr id="77" name="Shape 73"/>
          <p:cNvSpPr/>
          <p:nvPr/>
        </p:nvSpPr>
        <p:spPr>
          <a:xfrm>
            <a:off x="7406628" y="7831408"/>
            <a:ext cx="685798" cy="19844"/>
          </a:xfrm>
          <a:prstGeom prst="rect">
            <a:avLst/>
          </a:prstGeom>
          <a:solidFill>
            <a:srgbClr val="FFFFFF">
              <a:alpha val="34000"/>
            </a:srgbClr>
          </a:solidFill>
          <a:ln/>
        </p:spPr>
        <p:txBody>
          <a:bodyPr/>
          <a:lstStyle/>
          <a:p>
            <a:endParaRPr lang="en-US"/>
          </a:p>
        </p:txBody>
      </p:sp>
      <p:sp>
        <p:nvSpPr>
          <p:cNvPr id="78" name="Shape 74"/>
          <p:cNvSpPr/>
          <p:nvPr/>
        </p:nvSpPr>
        <p:spPr>
          <a:xfrm>
            <a:off x="7983285" y="7758647"/>
            <a:ext cx="109140" cy="145521"/>
          </a:xfrm>
          <a:prstGeom prst="rect">
            <a:avLst/>
          </a:prstGeom>
          <a:solidFill>
            <a:srgbClr val="FFFFFF">
              <a:alpha val="34000"/>
            </a:srgbClr>
          </a:solidFill>
          <a:ln/>
        </p:spPr>
        <p:txBody>
          <a:bodyPr/>
          <a:lstStyle/>
          <a:p>
            <a:endParaRPr lang="en-US"/>
          </a:p>
        </p:txBody>
      </p:sp>
      <p:sp>
        <p:nvSpPr>
          <p:cNvPr id="79" name="Shape 75"/>
          <p:cNvSpPr/>
          <p:nvPr/>
        </p:nvSpPr>
        <p:spPr>
          <a:xfrm rot="10800000">
            <a:off x="7406628" y="7758647"/>
            <a:ext cx="109140" cy="145521"/>
          </a:xfrm>
          <a:prstGeom prst="rect">
            <a:avLst/>
          </a:prstGeom>
          <a:solidFill>
            <a:srgbClr val="FFFFFF">
              <a:alpha val="34000"/>
            </a:srgbClr>
          </a:solidFill>
          <a:ln/>
        </p:spPr>
        <p:txBody>
          <a:bodyPr/>
          <a:lstStyle/>
          <a:p>
            <a:endParaRPr lang="en-US"/>
          </a:p>
        </p:txBody>
      </p:sp>
      <p:sp>
        <p:nvSpPr>
          <p:cNvPr id="80" name="Shape 76"/>
          <p:cNvSpPr/>
          <p:nvPr/>
        </p:nvSpPr>
        <p:spPr>
          <a:xfrm>
            <a:off x="1165820" y="8311482"/>
            <a:ext cx="13441660" cy="685798"/>
          </a:xfrm>
          <a:prstGeom prst="roundRect">
            <a:avLst>
              <a:gd name="adj" fmla="val 14028"/>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81" name="Shape 77"/>
          <p:cNvSpPr/>
          <p:nvPr/>
        </p:nvSpPr>
        <p:spPr>
          <a:xfrm>
            <a:off x="1330616" y="8380057"/>
            <a:ext cx="548597" cy="548597"/>
          </a:xfrm>
          <a:prstGeom prst="roundRect">
            <a:avLst>
              <a:gd name="adj" fmla="val 12501"/>
            </a:avLst>
          </a:prstGeom>
          <a:solidFill>
            <a:srgbClr val="0B5060"/>
          </a:solidFill>
          <a:ln w="16536">
            <a:solidFill>
              <a:srgbClr val="E0836F"/>
            </a:solidFill>
            <a:prstDash val="solid"/>
          </a:ln>
        </p:spPr>
        <p:txBody>
          <a:bodyPr/>
          <a:lstStyle/>
          <a:p>
            <a:endParaRPr lang="en-US"/>
          </a:p>
        </p:txBody>
      </p:sp>
      <p:sp>
        <p:nvSpPr>
          <p:cNvPr id="82" name="Text 78"/>
          <p:cNvSpPr/>
          <p:nvPr/>
        </p:nvSpPr>
        <p:spPr>
          <a:xfrm>
            <a:off x="1292516" y="8494313"/>
            <a:ext cx="624797" cy="358132"/>
          </a:xfrm>
          <a:prstGeom prst="rect">
            <a:avLst/>
          </a:prstGeom>
          <a:noFill/>
          <a:ln/>
        </p:spPr>
        <p:txBody>
          <a:bodyPr wrap="square" lIns="25400" tIns="25400" rIns="25400" bIns="25400" rtlCol="0" anchor="t">
            <a:normAutofit/>
          </a:bodyPr>
          <a:lstStyle/>
          <a:p>
            <a:pPr marL="0" indent="0" algn="ctr">
              <a:lnSpc>
                <a:spcPct val="92160"/>
              </a:lnSpc>
              <a:buNone/>
            </a:pPr>
            <a:r>
              <a:rPr lang="en-US" sz="2100" b="1" dirty="0">
                <a:solidFill>
                  <a:srgbClr val="FD6953"/>
                </a:solidFill>
                <a:latin typeface="Oracle Sans Tab" pitchFamily="34" charset="0"/>
                <a:ea typeface="Oracle Sans Tab" pitchFamily="34" charset="-122"/>
                <a:cs typeface="Oracle Sans Tab" pitchFamily="34" charset="-120"/>
              </a:rPr>
              <a:t>2</a:t>
            </a:r>
            <a:endParaRPr lang="en-US" sz="2100" dirty="0"/>
          </a:p>
        </p:txBody>
      </p:sp>
      <p:sp>
        <p:nvSpPr>
          <p:cNvPr id="83" name="Text 79"/>
          <p:cNvSpPr/>
          <p:nvPr/>
        </p:nvSpPr>
        <p:spPr>
          <a:xfrm>
            <a:off x="2044061" y="8407704"/>
            <a:ext cx="12799058"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b="1" dirty="0">
                <a:solidFill>
                  <a:srgbClr val="FFFFFF"/>
                </a:solidFill>
                <a:latin typeface="Oracle Sans Tab" pitchFamily="34" charset="0"/>
                <a:ea typeface="Oracle Sans Tab" pitchFamily="34" charset="-122"/>
                <a:cs typeface="Oracle Sans Tab" pitchFamily="34" charset="-120"/>
              </a:rPr>
              <a:t>Memory Substrate</a:t>
            </a:r>
            <a:endParaRPr lang="en-US" sz="1725" dirty="0"/>
          </a:p>
        </p:txBody>
      </p:sp>
      <p:sp>
        <p:nvSpPr>
          <p:cNvPr id="84" name="Text 80"/>
          <p:cNvSpPr/>
          <p:nvPr/>
        </p:nvSpPr>
        <p:spPr>
          <a:xfrm>
            <a:off x="2044061" y="8737244"/>
            <a:ext cx="13668896" cy="200002"/>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275" dirty="0">
                <a:solidFill>
                  <a:srgbClr val="C3D7DC"/>
                </a:solidFill>
                <a:latin typeface="Oracle Sans Tab" pitchFamily="34" charset="0"/>
                <a:ea typeface="Oracle Sans Tab" pitchFamily="34" charset="-122"/>
                <a:cs typeface="Oracle Sans Tab" pitchFamily="34" charset="-120"/>
              </a:rPr>
              <a:t>one ACID / security / backup boundary: vector &amp; relational tables + in-DB scratch filesystem (SecureFile LOBs)</a:t>
            </a:r>
            <a:endParaRPr lang="en-US" sz="1275" dirty="0"/>
          </a:p>
        </p:txBody>
      </p:sp>
      <p:sp>
        <p:nvSpPr>
          <p:cNvPr id="85" name="Shape 81"/>
          <p:cNvSpPr/>
          <p:nvPr/>
        </p:nvSpPr>
        <p:spPr>
          <a:xfrm>
            <a:off x="1165820" y="9052522"/>
            <a:ext cx="13441660" cy="603839"/>
          </a:xfrm>
          <a:prstGeom prst="roundRect">
            <a:avLst>
              <a:gd name="adj" fmla="val 15932"/>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86" name="Shape 82"/>
          <p:cNvSpPr/>
          <p:nvPr/>
        </p:nvSpPr>
        <p:spPr>
          <a:xfrm>
            <a:off x="1330616" y="9080169"/>
            <a:ext cx="548597" cy="548597"/>
          </a:xfrm>
          <a:prstGeom prst="roundRect">
            <a:avLst>
              <a:gd name="adj" fmla="val 12501"/>
            </a:avLst>
          </a:prstGeom>
          <a:solidFill>
            <a:srgbClr val="0B5060"/>
          </a:solidFill>
          <a:ln w="16536">
            <a:solidFill>
              <a:srgbClr val="E0836F"/>
            </a:solidFill>
            <a:prstDash val="solid"/>
          </a:ln>
        </p:spPr>
        <p:txBody>
          <a:bodyPr/>
          <a:lstStyle/>
          <a:p>
            <a:endParaRPr lang="en-US"/>
          </a:p>
        </p:txBody>
      </p:sp>
      <p:sp>
        <p:nvSpPr>
          <p:cNvPr id="87" name="Text 83"/>
          <p:cNvSpPr/>
          <p:nvPr/>
        </p:nvSpPr>
        <p:spPr>
          <a:xfrm>
            <a:off x="1292516" y="9194425"/>
            <a:ext cx="624797" cy="358132"/>
          </a:xfrm>
          <a:prstGeom prst="rect">
            <a:avLst/>
          </a:prstGeom>
          <a:noFill/>
          <a:ln/>
        </p:spPr>
        <p:txBody>
          <a:bodyPr wrap="square" lIns="25400" tIns="25400" rIns="25400" bIns="25400" rtlCol="0" anchor="t">
            <a:normAutofit/>
          </a:bodyPr>
          <a:lstStyle/>
          <a:p>
            <a:pPr marL="0" indent="0" algn="ctr">
              <a:lnSpc>
                <a:spcPct val="92160"/>
              </a:lnSpc>
              <a:buNone/>
            </a:pPr>
            <a:r>
              <a:rPr lang="en-US" sz="2100" b="1" dirty="0">
                <a:solidFill>
                  <a:srgbClr val="FD6953"/>
                </a:solidFill>
                <a:latin typeface="Oracle Sans Tab" pitchFamily="34" charset="0"/>
                <a:ea typeface="Oracle Sans Tab" pitchFamily="34" charset="-122"/>
                <a:cs typeface="Oracle Sans Tab" pitchFamily="34" charset="-120"/>
              </a:rPr>
              <a:t>1</a:t>
            </a:r>
            <a:endParaRPr lang="en-US" sz="2100" dirty="0"/>
          </a:p>
        </p:txBody>
      </p:sp>
      <p:sp>
        <p:nvSpPr>
          <p:cNvPr id="88" name="Text 84"/>
          <p:cNvSpPr/>
          <p:nvPr/>
        </p:nvSpPr>
        <p:spPr>
          <a:xfrm>
            <a:off x="2044061" y="9148743"/>
            <a:ext cx="12799058" cy="300926"/>
          </a:xfrm>
          <a:prstGeom prst="rect">
            <a:avLst/>
          </a:prstGeom>
          <a:noFill/>
          <a:ln/>
        </p:spPr>
        <p:txBody>
          <a:bodyPr wrap="square" lIns="25400" tIns="25400" rIns="25400" bIns="25400" rtlCol="0" anchor="t">
            <a:normAutofit/>
          </a:bodyPr>
          <a:lstStyle/>
          <a:p>
            <a:pPr marL="0" indent="0" algn="l">
              <a:lnSpc>
                <a:spcPct val="92160"/>
              </a:lnSpc>
              <a:buNone/>
            </a:pPr>
            <a:r>
              <a:rPr lang="en-US" sz="1725" b="1" dirty="0">
                <a:solidFill>
                  <a:srgbClr val="FFFFFF"/>
                </a:solidFill>
                <a:latin typeface="Oracle Sans Tab" pitchFamily="34" charset="0"/>
                <a:ea typeface="Oracle Sans Tab" pitchFamily="34" charset="-122"/>
                <a:cs typeface="Oracle Sans Tab" pitchFamily="34" charset="-120"/>
              </a:rPr>
              <a:t>Foundation</a:t>
            </a:r>
            <a:endParaRPr lang="en-US" sz="1725" dirty="0"/>
          </a:p>
        </p:txBody>
      </p:sp>
      <p:sp>
        <p:nvSpPr>
          <p:cNvPr id="89" name="Text 85"/>
          <p:cNvSpPr/>
          <p:nvPr/>
        </p:nvSpPr>
        <p:spPr>
          <a:xfrm>
            <a:off x="2044061" y="9477354"/>
            <a:ext cx="13668896" cy="200002"/>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275" dirty="0">
                <a:solidFill>
                  <a:srgbClr val="C3D7DC"/>
                </a:solidFill>
                <a:latin typeface="Oracle Sans Tab" pitchFamily="34" charset="0"/>
                <a:ea typeface="Oracle Sans Tab" pitchFamily="34" charset="-122"/>
                <a:cs typeface="Oracle Sans Tab" pitchFamily="34" charset="-120"/>
              </a:rPr>
              <a:t>the database · a least-privilege AGENT user · chat LLM + ONNX embedder + ONNX reranker loaded in-DB</a:t>
            </a:r>
            <a:endParaRPr lang="en-US" sz="1275"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Shape 0"/>
          <p:cNvSpPr/>
          <p:nvPr/>
        </p:nvSpPr>
        <p:spPr>
          <a:xfrm>
            <a:off x="0" y="0"/>
            <a:ext cx="18287979" cy="96170"/>
          </a:xfrm>
          <a:prstGeom prst="rect">
            <a:avLst/>
          </a:prstGeom>
          <a:solidFill>
            <a:srgbClr val="C74634"/>
          </a:solidFill>
          <a:ln/>
        </p:spPr>
        <p:txBody>
          <a:bodyPr/>
          <a:lstStyle/>
          <a:p>
            <a:endParaRPr lang="en-US"/>
          </a:p>
        </p:txBody>
      </p:sp>
      <p:sp>
        <p:nvSpPr>
          <p:cNvPr id="4" name="Text 1"/>
          <p:cNvSpPr/>
          <p:nvPr/>
        </p:nvSpPr>
        <p:spPr>
          <a:xfrm>
            <a:off x="891522" y="398115"/>
            <a:ext cx="11768315" cy="220931"/>
          </a:xfrm>
          <a:prstGeom prst="rect">
            <a:avLst/>
          </a:prstGeom>
          <a:noFill/>
          <a:ln/>
        </p:spPr>
        <p:txBody>
          <a:bodyPr wrap="square" lIns="25400" tIns="25400" rIns="25400" bIns="25400" rtlCol="0" anchor="t">
            <a:normAutofit/>
          </a:bodyPr>
          <a:lstStyle/>
          <a:p>
            <a:pPr marL="0" indent="0" algn="l">
              <a:lnSpc>
                <a:spcPct val="92160"/>
              </a:lnSpc>
              <a:buNone/>
            </a:pPr>
            <a:r>
              <a:rPr lang="en-US" sz="1125" b="1" dirty="0">
                <a:solidFill>
                  <a:srgbClr val="FD6953"/>
                </a:solidFill>
                <a:latin typeface="Oracle Sans Tab" pitchFamily="34" charset="0"/>
                <a:ea typeface="Oracle Sans Tab" pitchFamily="34" charset="-122"/>
                <a:cs typeface="Oracle Sans Tab" pitchFamily="34" charset="-120"/>
              </a:rPr>
              <a:t>ORACLE AI DATABASE · AGENT MEMORY ARCHITECTURE</a:t>
            </a:r>
            <a:endParaRPr lang="en-US" sz="1125" dirty="0"/>
          </a:p>
        </p:txBody>
      </p:sp>
      <p:sp>
        <p:nvSpPr>
          <p:cNvPr id="5" name="Text 2"/>
          <p:cNvSpPr/>
          <p:nvPr/>
        </p:nvSpPr>
        <p:spPr>
          <a:xfrm>
            <a:off x="863875" y="672414"/>
            <a:ext cx="11302003" cy="609590"/>
          </a:xfrm>
          <a:prstGeom prst="rect">
            <a:avLst/>
          </a:prstGeom>
          <a:noFill/>
          <a:ln/>
        </p:spPr>
        <p:txBody>
          <a:bodyPr wrap="square" lIns="25400" tIns="25400" rIns="25400" bIns="25400" rtlCol="0" anchor="t">
            <a:normAutofit/>
          </a:bodyPr>
          <a:lstStyle/>
          <a:p>
            <a:pPr marL="0" indent="0" algn="l">
              <a:lnSpc>
                <a:spcPct val="92160"/>
              </a:lnSpc>
              <a:buNone/>
            </a:pPr>
            <a:r>
              <a:rPr lang="en-US" sz="3750" dirty="0">
                <a:solidFill>
                  <a:srgbClr val="FFFFFF"/>
                </a:solidFill>
                <a:latin typeface="Oracle Sans Tab" pitchFamily="34" charset="0"/>
                <a:ea typeface="Oracle Sans Tab" pitchFamily="34" charset="-122"/>
                <a:cs typeface="Oracle Sans Tab" pitchFamily="34" charset="-120"/>
              </a:rPr>
              <a:t>The memory core is the last line of defence</a:t>
            </a:r>
            <a:endParaRPr lang="en-US" sz="3750" dirty="0"/>
          </a:p>
        </p:txBody>
      </p:sp>
      <p:sp>
        <p:nvSpPr>
          <p:cNvPr id="6" name="Shape 3"/>
          <p:cNvSpPr/>
          <p:nvPr/>
        </p:nvSpPr>
        <p:spPr>
          <a:xfrm>
            <a:off x="781968" y="1289637"/>
            <a:ext cx="1577320" cy="61908"/>
          </a:xfrm>
          <a:prstGeom prst="rect">
            <a:avLst/>
          </a:prstGeom>
          <a:solidFill>
            <a:srgbClr val="C74634"/>
          </a:solidFill>
          <a:ln/>
        </p:spPr>
        <p:txBody>
          <a:bodyPr/>
          <a:lstStyle/>
          <a:p>
            <a:endParaRPr lang="en-US"/>
          </a:p>
        </p:txBody>
      </p:sp>
      <p:sp>
        <p:nvSpPr>
          <p:cNvPr id="7" name="Shape 4"/>
          <p:cNvSpPr/>
          <p:nvPr/>
        </p:nvSpPr>
        <p:spPr>
          <a:xfrm>
            <a:off x="11854780" y="411448"/>
            <a:ext cx="1618247" cy="576244"/>
          </a:xfrm>
          <a:prstGeom prst="roundRect">
            <a:avLst>
              <a:gd name="adj" fmla="val 9587"/>
            </a:avLst>
          </a:prstGeom>
          <a:solidFill>
            <a:srgbClr val="0B5060"/>
          </a:solidFill>
          <a:ln w="16536">
            <a:solidFill>
              <a:srgbClr val="FD6953"/>
            </a:solidFill>
            <a:prstDash val="solid"/>
          </a:ln>
        </p:spPr>
        <p:txBody>
          <a:bodyPr/>
          <a:lstStyle/>
          <a:p>
            <a:endParaRPr lang="en-US"/>
          </a:p>
        </p:txBody>
      </p:sp>
      <p:sp>
        <p:nvSpPr>
          <p:cNvPr id="8" name="Text 5"/>
          <p:cNvSpPr/>
          <p:nvPr/>
        </p:nvSpPr>
        <p:spPr>
          <a:xfrm>
            <a:off x="11924731" y="562395"/>
            <a:ext cx="1478344" cy="175249"/>
          </a:xfrm>
          <a:prstGeom prst="rect">
            <a:avLst/>
          </a:prstGeom>
          <a:noFill/>
          <a:ln/>
        </p:spPr>
        <p:txBody>
          <a:bodyPr wrap="square" lIns="25400" tIns="25400" rIns="25400" bIns="25400" rtlCol="0" anchor="t">
            <a:normAutofit lnSpcReduction="10000"/>
          </a:bodyPr>
          <a:lstStyle/>
          <a:p>
            <a:pPr marL="0" indent="0" algn="ctr">
              <a:lnSpc>
                <a:spcPct val="69120"/>
              </a:lnSpc>
              <a:buNone/>
            </a:pPr>
            <a:r>
              <a:rPr lang="en-US" sz="1125" b="1" dirty="0">
                <a:solidFill>
                  <a:srgbClr val="FD6953"/>
                </a:solidFill>
                <a:latin typeface="Oracle Sans Tab" pitchFamily="34" charset="0"/>
                <a:ea typeface="Oracle Sans Tab" pitchFamily="34" charset="-122"/>
                <a:cs typeface="Oracle Sans Tab" pitchFamily="34" charset="-120"/>
              </a:rPr>
              <a:t>Prompt</a:t>
            </a:r>
            <a:endParaRPr lang="en-US" sz="1125" dirty="0"/>
          </a:p>
        </p:txBody>
      </p:sp>
      <p:sp>
        <p:nvSpPr>
          <p:cNvPr id="9" name="Text 6"/>
          <p:cNvSpPr/>
          <p:nvPr/>
        </p:nvSpPr>
        <p:spPr>
          <a:xfrm>
            <a:off x="11924731" y="699544"/>
            <a:ext cx="1478344" cy="175249"/>
          </a:xfrm>
          <a:prstGeom prst="rect">
            <a:avLst/>
          </a:prstGeom>
          <a:noFill/>
          <a:ln/>
        </p:spPr>
        <p:txBody>
          <a:bodyPr wrap="square" lIns="25400" tIns="25400" rIns="25400" bIns="25400" rtlCol="0" anchor="t">
            <a:normAutofit lnSpcReduction="10000"/>
          </a:bodyPr>
          <a:lstStyle/>
          <a:p>
            <a:pPr marL="0" indent="0" algn="ctr">
              <a:lnSpc>
                <a:spcPct val="69120"/>
              </a:lnSpc>
              <a:buNone/>
            </a:pPr>
            <a:r>
              <a:rPr lang="en-US" sz="1125" b="1" dirty="0">
                <a:solidFill>
                  <a:srgbClr val="FD6953"/>
                </a:solidFill>
                <a:latin typeface="Oracle Sans Tab" pitchFamily="34" charset="0"/>
                <a:ea typeface="Oracle Sans Tab" pitchFamily="34" charset="-122"/>
                <a:cs typeface="Oracle Sans Tab" pitchFamily="34" charset="-120"/>
              </a:rPr>
              <a:t>engineering</a:t>
            </a:r>
            <a:endParaRPr lang="en-US" sz="1125" dirty="0"/>
          </a:p>
        </p:txBody>
      </p:sp>
      <p:sp>
        <p:nvSpPr>
          <p:cNvPr id="10" name="Shape 7"/>
          <p:cNvSpPr/>
          <p:nvPr/>
        </p:nvSpPr>
        <p:spPr>
          <a:xfrm>
            <a:off x="13884578" y="411448"/>
            <a:ext cx="1618247" cy="576244"/>
          </a:xfrm>
          <a:prstGeom prst="roundRect">
            <a:avLst>
              <a:gd name="adj" fmla="val 9587"/>
            </a:avLst>
          </a:prstGeom>
          <a:solidFill>
            <a:srgbClr val="0B5060"/>
          </a:solidFill>
          <a:ln w="16536">
            <a:solidFill>
              <a:srgbClr val="5B9DC4"/>
            </a:solidFill>
            <a:prstDash val="solid"/>
          </a:ln>
        </p:spPr>
        <p:txBody>
          <a:bodyPr/>
          <a:lstStyle/>
          <a:p>
            <a:endParaRPr lang="en-US"/>
          </a:p>
        </p:txBody>
      </p:sp>
      <p:sp>
        <p:nvSpPr>
          <p:cNvPr id="11" name="Text 8"/>
          <p:cNvSpPr/>
          <p:nvPr/>
        </p:nvSpPr>
        <p:spPr>
          <a:xfrm>
            <a:off x="13954530" y="562395"/>
            <a:ext cx="1478344" cy="175249"/>
          </a:xfrm>
          <a:prstGeom prst="rect">
            <a:avLst/>
          </a:prstGeom>
          <a:noFill/>
          <a:ln/>
        </p:spPr>
        <p:txBody>
          <a:bodyPr wrap="square" lIns="25400" tIns="25400" rIns="25400" bIns="25400" rtlCol="0" anchor="t">
            <a:normAutofit lnSpcReduction="10000"/>
          </a:bodyPr>
          <a:lstStyle/>
          <a:p>
            <a:pPr marL="0" indent="0" algn="ctr">
              <a:lnSpc>
                <a:spcPct val="69120"/>
              </a:lnSpc>
              <a:buNone/>
            </a:pPr>
            <a:r>
              <a:rPr lang="en-US" sz="1125" b="1" dirty="0">
                <a:solidFill>
                  <a:srgbClr val="7FBEDE"/>
                </a:solidFill>
                <a:latin typeface="Oracle Sans Tab" pitchFamily="34" charset="0"/>
                <a:ea typeface="Oracle Sans Tab" pitchFamily="34" charset="-122"/>
                <a:cs typeface="Oracle Sans Tab" pitchFamily="34" charset="-120"/>
              </a:rPr>
              <a:t>Context</a:t>
            </a:r>
            <a:endParaRPr lang="en-US" sz="1125" dirty="0"/>
          </a:p>
        </p:txBody>
      </p:sp>
      <p:sp>
        <p:nvSpPr>
          <p:cNvPr id="12" name="Text 9"/>
          <p:cNvSpPr/>
          <p:nvPr/>
        </p:nvSpPr>
        <p:spPr>
          <a:xfrm>
            <a:off x="13954530" y="699544"/>
            <a:ext cx="1478344" cy="175249"/>
          </a:xfrm>
          <a:prstGeom prst="rect">
            <a:avLst/>
          </a:prstGeom>
          <a:noFill/>
          <a:ln/>
        </p:spPr>
        <p:txBody>
          <a:bodyPr wrap="square" lIns="25400" tIns="25400" rIns="25400" bIns="25400" rtlCol="0" anchor="t">
            <a:normAutofit lnSpcReduction="10000"/>
          </a:bodyPr>
          <a:lstStyle/>
          <a:p>
            <a:pPr marL="0" indent="0" algn="ctr">
              <a:lnSpc>
                <a:spcPct val="69120"/>
              </a:lnSpc>
              <a:buNone/>
            </a:pPr>
            <a:r>
              <a:rPr lang="en-US" sz="1125" b="1" dirty="0">
                <a:solidFill>
                  <a:srgbClr val="7FBEDE"/>
                </a:solidFill>
                <a:latin typeface="Oracle Sans Tab" pitchFamily="34" charset="0"/>
                <a:ea typeface="Oracle Sans Tab" pitchFamily="34" charset="-122"/>
                <a:cs typeface="Oracle Sans Tab" pitchFamily="34" charset="-120"/>
              </a:rPr>
              <a:t>engineering</a:t>
            </a:r>
            <a:endParaRPr lang="en-US" sz="1125" dirty="0"/>
          </a:p>
        </p:txBody>
      </p:sp>
      <p:sp>
        <p:nvSpPr>
          <p:cNvPr id="13" name="Shape 10"/>
          <p:cNvSpPr/>
          <p:nvPr/>
        </p:nvSpPr>
        <p:spPr>
          <a:xfrm>
            <a:off x="15914325" y="411448"/>
            <a:ext cx="1618247" cy="576244"/>
          </a:xfrm>
          <a:prstGeom prst="roundRect">
            <a:avLst>
              <a:gd name="adj" fmla="val 9587"/>
            </a:avLst>
          </a:prstGeom>
          <a:solidFill>
            <a:srgbClr val="6B6396"/>
          </a:solidFill>
          <a:ln w="16536">
            <a:solidFill>
              <a:srgbClr val="B6A1C3"/>
            </a:solidFill>
            <a:prstDash val="solid"/>
          </a:ln>
        </p:spPr>
        <p:txBody>
          <a:bodyPr/>
          <a:lstStyle/>
          <a:p>
            <a:endParaRPr lang="en-US"/>
          </a:p>
        </p:txBody>
      </p:sp>
      <p:sp>
        <p:nvSpPr>
          <p:cNvPr id="14" name="Text 11"/>
          <p:cNvSpPr/>
          <p:nvPr/>
        </p:nvSpPr>
        <p:spPr>
          <a:xfrm>
            <a:off x="15984277" y="562395"/>
            <a:ext cx="1478344" cy="175249"/>
          </a:xfrm>
          <a:prstGeom prst="rect">
            <a:avLst/>
          </a:prstGeom>
          <a:noFill/>
          <a:ln/>
        </p:spPr>
        <p:txBody>
          <a:bodyPr wrap="square" lIns="25400" tIns="25400" rIns="25400" bIns="25400" rtlCol="0" anchor="t">
            <a:normAutofit lnSpcReduction="10000"/>
          </a:bodyPr>
          <a:lstStyle/>
          <a:p>
            <a:pPr marL="0" indent="0" algn="ctr">
              <a:lnSpc>
                <a:spcPct val="69120"/>
              </a:lnSpc>
              <a:buNone/>
            </a:pPr>
            <a:r>
              <a:rPr lang="en-US" sz="1125" b="1" dirty="0">
                <a:solidFill>
                  <a:srgbClr val="FFFFFF"/>
                </a:solidFill>
                <a:latin typeface="Oracle Sans Tab" pitchFamily="34" charset="0"/>
                <a:ea typeface="Oracle Sans Tab" pitchFamily="34" charset="-122"/>
                <a:cs typeface="Oracle Sans Tab" pitchFamily="34" charset="-120"/>
              </a:rPr>
              <a:t>Memory</a:t>
            </a:r>
            <a:endParaRPr lang="en-US" sz="1125" dirty="0"/>
          </a:p>
        </p:txBody>
      </p:sp>
      <p:sp>
        <p:nvSpPr>
          <p:cNvPr id="15" name="Text 12"/>
          <p:cNvSpPr/>
          <p:nvPr/>
        </p:nvSpPr>
        <p:spPr>
          <a:xfrm>
            <a:off x="15984277" y="699544"/>
            <a:ext cx="1478344" cy="175249"/>
          </a:xfrm>
          <a:prstGeom prst="rect">
            <a:avLst/>
          </a:prstGeom>
          <a:noFill/>
          <a:ln/>
        </p:spPr>
        <p:txBody>
          <a:bodyPr wrap="square" lIns="25400" tIns="25400" rIns="25400" bIns="25400" rtlCol="0" anchor="t">
            <a:normAutofit lnSpcReduction="10000"/>
          </a:bodyPr>
          <a:lstStyle/>
          <a:p>
            <a:pPr marL="0" indent="0" algn="ctr">
              <a:lnSpc>
                <a:spcPct val="69120"/>
              </a:lnSpc>
              <a:buNone/>
            </a:pPr>
            <a:r>
              <a:rPr lang="en-US" sz="1125" b="1" dirty="0">
                <a:solidFill>
                  <a:srgbClr val="FFFFFF"/>
                </a:solidFill>
                <a:latin typeface="Oracle Sans Tab" pitchFamily="34" charset="0"/>
                <a:ea typeface="Oracle Sans Tab" pitchFamily="34" charset="-122"/>
                <a:cs typeface="Oracle Sans Tab" pitchFamily="34" charset="-120"/>
              </a:rPr>
              <a:t>engineering</a:t>
            </a:r>
            <a:endParaRPr lang="en-US" sz="1125" dirty="0"/>
          </a:p>
        </p:txBody>
      </p:sp>
      <p:sp>
        <p:nvSpPr>
          <p:cNvPr id="16" name="Text 13"/>
          <p:cNvSpPr/>
          <p:nvPr/>
        </p:nvSpPr>
        <p:spPr>
          <a:xfrm>
            <a:off x="13572129" y="562395"/>
            <a:ext cx="213349" cy="312399"/>
          </a:xfrm>
          <a:prstGeom prst="rect">
            <a:avLst/>
          </a:prstGeom>
          <a:noFill/>
          <a:ln/>
        </p:spPr>
        <p:txBody>
          <a:bodyPr wrap="square" lIns="25400" tIns="25400" rIns="25400" bIns="25400" rtlCol="0" anchor="t">
            <a:normAutofit/>
          </a:bodyPr>
          <a:lstStyle/>
          <a:p>
            <a:pPr marL="0" indent="0" algn="ctr">
              <a:lnSpc>
                <a:spcPct val="92160"/>
              </a:lnSpc>
              <a:buNone/>
            </a:pPr>
            <a:r>
              <a:rPr lang="en-US" sz="1800" b="1" dirty="0">
                <a:solidFill>
                  <a:srgbClr val="C3D7DC"/>
                </a:solidFill>
                <a:latin typeface="Oracle Sans Tab" pitchFamily="34" charset="0"/>
                <a:ea typeface="Oracle Sans Tab" pitchFamily="34" charset="-122"/>
                <a:cs typeface="Oracle Sans Tab" pitchFamily="34" charset="-120"/>
              </a:rPr>
              <a:t>→</a:t>
            </a:r>
            <a:endParaRPr lang="en-US" sz="1800" dirty="0"/>
          </a:p>
        </p:txBody>
      </p:sp>
      <p:sp>
        <p:nvSpPr>
          <p:cNvPr id="17" name="Text 14"/>
          <p:cNvSpPr/>
          <p:nvPr/>
        </p:nvSpPr>
        <p:spPr>
          <a:xfrm>
            <a:off x="15601927" y="562395"/>
            <a:ext cx="213349" cy="312399"/>
          </a:xfrm>
          <a:prstGeom prst="rect">
            <a:avLst/>
          </a:prstGeom>
          <a:noFill/>
          <a:ln/>
        </p:spPr>
        <p:txBody>
          <a:bodyPr wrap="square" lIns="25400" tIns="25400" rIns="25400" bIns="25400" rtlCol="0" anchor="t">
            <a:normAutofit/>
          </a:bodyPr>
          <a:lstStyle/>
          <a:p>
            <a:pPr marL="0" indent="0" algn="ctr">
              <a:lnSpc>
                <a:spcPct val="92160"/>
              </a:lnSpc>
              <a:buNone/>
            </a:pPr>
            <a:r>
              <a:rPr lang="en-US" sz="1800" b="1" dirty="0">
                <a:solidFill>
                  <a:srgbClr val="C3D7DC"/>
                </a:solidFill>
                <a:latin typeface="Oracle Sans Tab" pitchFamily="34" charset="0"/>
                <a:ea typeface="Oracle Sans Tab" pitchFamily="34" charset="-122"/>
                <a:cs typeface="Oracle Sans Tab" pitchFamily="34" charset="-120"/>
              </a:rPr>
              <a:t>→</a:t>
            </a:r>
            <a:endParaRPr lang="en-US" sz="1800" dirty="0"/>
          </a:p>
        </p:txBody>
      </p:sp>
      <p:sp>
        <p:nvSpPr>
          <p:cNvPr id="18" name="Shape 15"/>
          <p:cNvSpPr/>
          <p:nvPr/>
        </p:nvSpPr>
        <p:spPr>
          <a:xfrm>
            <a:off x="685798" y="1618247"/>
            <a:ext cx="6336977" cy="7571372"/>
          </a:xfrm>
          <a:prstGeom prst="roundRect">
            <a:avLst>
              <a:gd name="adj" fmla="val 872"/>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9" name="Shape 16"/>
          <p:cNvSpPr/>
          <p:nvPr/>
        </p:nvSpPr>
        <p:spPr>
          <a:xfrm>
            <a:off x="685798" y="1618247"/>
            <a:ext cx="6336977" cy="548597"/>
          </a:xfrm>
          <a:prstGeom prst="rect">
            <a:avLst/>
          </a:prstGeom>
          <a:solidFill>
            <a:srgbClr val="C74634"/>
          </a:solidFill>
          <a:ln/>
        </p:spPr>
        <p:txBody>
          <a:bodyPr/>
          <a:lstStyle/>
          <a:p>
            <a:endParaRPr lang="en-US"/>
          </a:p>
        </p:txBody>
      </p:sp>
      <p:sp>
        <p:nvSpPr>
          <p:cNvPr id="20" name="Text 17"/>
          <p:cNvSpPr/>
          <p:nvPr/>
        </p:nvSpPr>
        <p:spPr>
          <a:xfrm>
            <a:off x="1042004" y="1804024"/>
            <a:ext cx="3319239"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b="1" dirty="0">
                <a:solidFill>
                  <a:srgbClr val="FFFFFF"/>
                </a:solidFill>
                <a:latin typeface="Oracle Sans Tab" pitchFamily="34" charset="0"/>
                <a:ea typeface="Oracle Sans Tab" pitchFamily="34" charset="-122"/>
                <a:cs typeface="Oracle Sans Tab" pitchFamily="34" charset="-120"/>
              </a:rPr>
              <a:t>MEMORY CORE</a:t>
            </a:r>
            <a:endParaRPr lang="en-US" sz="1575" dirty="0"/>
          </a:p>
        </p:txBody>
      </p:sp>
      <p:sp>
        <p:nvSpPr>
          <p:cNvPr id="21" name="Text 18"/>
          <p:cNvSpPr/>
          <p:nvPr/>
        </p:nvSpPr>
        <p:spPr>
          <a:xfrm>
            <a:off x="4190370" y="1824023"/>
            <a:ext cx="2489429" cy="220931"/>
          </a:xfrm>
          <a:prstGeom prst="rect">
            <a:avLst/>
          </a:prstGeom>
          <a:noFill/>
          <a:ln/>
        </p:spPr>
        <p:txBody>
          <a:bodyPr wrap="square" lIns="25400" tIns="25400" rIns="25400" bIns="25400" rtlCol="0" anchor="t">
            <a:normAutofit lnSpcReduction="10000"/>
          </a:bodyPr>
          <a:lstStyle/>
          <a:p>
            <a:pPr marL="0" indent="0" algn="r">
              <a:lnSpc>
                <a:spcPct val="92160"/>
              </a:lnSpc>
              <a:buNone/>
            </a:pPr>
            <a:r>
              <a:rPr lang="en-US" sz="1200" i="1" dirty="0">
                <a:solidFill>
                  <a:srgbClr val="FFFFFF"/>
                </a:solidFill>
                <a:latin typeface="Oracle Sans Tab" pitchFamily="34" charset="0"/>
                <a:ea typeface="Oracle Sans Tab" pitchFamily="34" charset="-122"/>
                <a:cs typeface="Oracle Sans Tab" pitchFamily="34" charset="-120"/>
              </a:rPr>
              <a:t>Oracle AI Database</a:t>
            </a:r>
            <a:endParaRPr lang="en-US" sz="1200" dirty="0"/>
          </a:p>
        </p:txBody>
      </p:sp>
      <p:sp>
        <p:nvSpPr>
          <p:cNvPr id="22" name="Text 19"/>
          <p:cNvSpPr/>
          <p:nvPr/>
        </p:nvSpPr>
        <p:spPr>
          <a:xfrm>
            <a:off x="1069599" y="2372672"/>
            <a:ext cx="6125119" cy="220931"/>
          </a:xfrm>
          <a:prstGeom prst="rect">
            <a:avLst/>
          </a:prstGeom>
          <a:noFill/>
          <a:ln/>
        </p:spPr>
        <p:txBody>
          <a:bodyPr wrap="square" lIns="25400" tIns="25400" rIns="25400" bIns="25400" rtlCol="0" anchor="t">
            <a:normAutofit/>
          </a:bodyPr>
          <a:lstStyle/>
          <a:p>
            <a:pPr marL="0" indent="0" algn="l">
              <a:lnSpc>
                <a:spcPct val="92160"/>
              </a:lnSpc>
              <a:buNone/>
            </a:pPr>
            <a:r>
              <a:rPr lang="en-US" sz="1125" b="1" dirty="0">
                <a:solidFill>
                  <a:srgbClr val="FD6953"/>
                </a:solidFill>
                <a:latin typeface="Oracle Sans Tab" pitchFamily="34" charset="0"/>
                <a:ea typeface="Oracle Sans Tab" pitchFamily="34" charset="-122"/>
                <a:cs typeface="Oracle Sans Tab" pitchFamily="34" charset="-120"/>
              </a:rPr>
              <a:t>CONVERGED DATA MODEL</a:t>
            </a:r>
            <a:endParaRPr lang="en-US" sz="1125" dirty="0"/>
          </a:p>
        </p:txBody>
      </p:sp>
      <p:sp>
        <p:nvSpPr>
          <p:cNvPr id="23" name="Shape 20"/>
          <p:cNvSpPr/>
          <p:nvPr/>
        </p:nvSpPr>
        <p:spPr>
          <a:xfrm>
            <a:off x="932449" y="2578396"/>
            <a:ext cx="1102982" cy="603839"/>
          </a:xfrm>
          <a:prstGeom prst="roundRect">
            <a:avLst>
              <a:gd name="adj" fmla="val 9149"/>
            </a:avLst>
          </a:prstGeom>
          <a:solidFill>
            <a:srgbClr val="0B5060"/>
          </a:solidFill>
          <a:ln w="13229">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4" name="Text 21"/>
          <p:cNvSpPr/>
          <p:nvPr/>
        </p:nvSpPr>
        <p:spPr>
          <a:xfrm>
            <a:off x="1059146" y="2811715"/>
            <a:ext cx="849641" cy="175249"/>
          </a:xfrm>
          <a:prstGeom prst="rect">
            <a:avLst/>
          </a:prstGeom>
          <a:noFill/>
          <a:ln/>
        </p:spPr>
        <p:txBody>
          <a:bodyPr wrap="square" lIns="25400" tIns="25400" rIns="25400" bIns="25400" rtlCol="0" anchor="t">
            <a:normAutofit lnSpcReduction="10000"/>
          </a:bodyPr>
          <a:lstStyle/>
          <a:p>
            <a:pPr marL="0" indent="0" algn="ctr">
              <a:lnSpc>
                <a:spcPct val="69120"/>
              </a:lnSpc>
              <a:buNone/>
            </a:pPr>
            <a:r>
              <a:rPr lang="en-US" sz="1125" dirty="0">
                <a:solidFill>
                  <a:srgbClr val="FFFFFF"/>
                </a:solidFill>
                <a:latin typeface="Oracle Sans Tab" pitchFamily="34" charset="0"/>
                <a:ea typeface="Oracle Sans Tab" pitchFamily="34" charset="-122"/>
                <a:cs typeface="Oracle Sans Tab" pitchFamily="34" charset="-120"/>
              </a:rPr>
              <a:t>JSON</a:t>
            </a:r>
            <a:endParaRPr lang="en-US" sz="1125" dirty="0"/>
          </a:p>
        </p:txBody>
      </p:sp>
      <p:sp>
        <p:nvSpPr>
          <p:cNvPr id="25" name="Shape 22"/>
          <p:cNvSpPr/>
          <p:nvPr/>
        </p:nvSpPr>
        <p:spPr>
          <a:xfrm>
            <a:off x="2117390" y="2578396"/>
            <a:ext cx="1102982" cy="603839"/>
          </a:xfrm>
          <a:prstGeom prst="roundRect">
            <a:avLst>
              <a:gd name="adj" fmla="val 9149"/>
            </a:avLst>
          </a:prstGeom>
          <a:solidFill>
            <a:srgbClr val="0B5060"/>
          </a:solidFill>
          <a:ln w="13229">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6" name="Text 23"/>
          <p:cNvSpPr/>
          <p:nvPr/>
        </p:nvSpPr>
        <p:spPr>
          <a:xfrm>
            <a:off x="2244035" y="2811715"/>
            <a:ext cx="849641" cy="175249"/>
          </a:xfrm>
          <a:prstGeom prst="rect">
            <a:avLst/>
          </a:prstGeom>
          <a:noFill/>
          <a:ln/>
        </p:spPr>
        <p:txBody>
          <a:bodyPr wrap="square" lIns="25400" tIns="25400" rIns="25400" bIns="25400" rtlCol="0" anchor="t">
            <a:normAutofit lnSpcReduction="10000"/>
          </a:bodyPr>
          <a:lstStyle/>
          <a:p>
            <a:pPr marL="0" indent="0" algn="ctr">
              <a:lnSpc>
                <a:spcPct val="69120"/>
              </a:lnSpc>
              <a:buNone/>
            </a:pPr>
            <a:r>
              <a:rPr lang="en-US" sz="1125" dirty="0">
                <a:solidFill>
                  <a:srgbClr val="FFFFFF"/>
                </a:solidFill>
                <a:latin typeface="Oracle Sans Tab" pitchFamily="34" charset="0"/>
                <a:ea typeface="Oracle Sans Tab" pitchFamily="34" charset="-122"/>
                <a:cs typeface="Oracle Sans Tab" pitchFamily="34" charset="-120"/>
              </a:rPr>
              <a:t>Relational</a:t>
            </a:r>
            <a:endParaRPr lang="en-US" sz="1125" dirty="0"/>
          </a:p>
        </p:txBody>
      </p:sp>
      <p:sp>
        <p:nvSpPr>
          <p:cNvPr id="27" name="Shape 24"/>
          <p:cNvSpPr/>
          <p:nvPr/>
        </p:nvSpPr>
        <p:spPr>
          <a:xfrm>
            <a:off x="3303261" y="2578396"/>
            <a:ext cx="1102982" cy="603839"/>
          </a:xfrm>
          <a:prstGeom prst="roundRect">
            <a:avLst>
              <a:gd name="adj" fmla="val 9149"/>
            </a:avLst>
          </a:prstGeom>
          <a:solidFill>
            <a:srgbClr val="0B5060"/>
          </a:solidFill>
          <a:ln w="13229">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28" name="Text 25"/>
          <p:cNvSpPr/>
          <p:nvPr/>
        </p:nvSpPr>
        <p:spPr>
          <a:xfrm>
            <a:off x="3428975" y="2811715"/>
            <a:ext cx="849641" cy="175249"/>
          </a:xfrm>
          <a:prstGeom prst="rect">
            <a:avLst/>
          </a:prstGeom>
          <a:noFill/>
          <a:ln/>
        </p:spPr>
        <p:txBody>
          <a:bodyPr wrap="square" lIns="25400" tIns="25400" rIns="25400" bIns="25400" rtlCol="0" anchor="t">
            <a:normAutofit lnSpcReduction="10000"/>
          </a:bodyPr>
          <a:lstStyle/>
          <a:p>
            <a:pPr marL="0" indent="0" algn="ctr">
              <a:lnSpc>
                <a:spcPct val="69120"/>
              </a:lnSpc>
              <a:buNone/>
            </a:pPr>
            <a:r>
              <a:rPr lang="en-US" sz="1125" dirty="0">
                <a:solidFill>
                  <a:srgbClr val="FFFFFF"/>
                </a:solidFill>
                <a:latin typeface="Oracle Sans Tab" pitchFamily="34" charset="0"/>
                <a:ea typeface="Oracle Sans Tab" pitchFamily="34" charset="-122"/>
                <a:cs typeface="Oracle Sans Tab" pitchFamily="34" charset="-120"/>
              </a:rPr>
              <a:t>AI vectors</a:t>
            </a:r>
            <a:endParaRPr lang="en-US" sz="1125" dirty="0"/>
          </a:p>
        </p:txBody>
      </p:sp>
      <p:sp>
        <p:nvSpPr>
          <p:cNvPr id="29" name="Shape 26"/>
          <p:cNvSpPr/>
          <p:nvPr/>
        </p:nvSpPr>
        <p:spPr>
          <a:xfrm>
            <a:off x="4488150" y="2578396"/>
            <a:ext cx="1102982" cy="603839"/>
          </a:xfrm>
          <a:prstGeom prst="roundRect">
            <a:avLst>
              <a:gd name="adj" fmla="val 9149"/>
            </a:avLst>
          </a:prstGeom>
          <a:solidFill>
            <a:srgbClr val="0B5060"/>
          </a:solidFill>
          <a:ln w="13229">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30" name="Text 27"/>
          <p:cNvSpPr/>
          <p:nvPr/>
        </p:nvSpPr>
        <p:spPr>
          <a:xfrm>
            <a:off x="4613864" y="2811715"/>
            <a:ext cx="849641" cy="175249"/>
          </a:xfrm>
          <a:prstGeom prst="rect">
            <a:avLst/>
          </a:prstGeom>
          <a:noFill/>
          <a:ln/>
        </p:spPr>
        <p:txBody>
          <a:bodyPr wrap="square" lIns="25400" tIns="25400" rIns="25400" bIns="25400" rtlCol="0" anchor="t">
            <a:normAutofit lnSpcReduction="10000"/>
          </a:bodyPr>
          <a:lstStyle/>
          <a:p>
            <a:pPr marL="0" indent="0" algn="ctr">
              <a:lnSpc>
                <a:spcPct val="69120"/>
              </a:lnSpc>
              <a:buNone/>
            </a:pPr>
            <a:r>
              <a:rPr lang="en-US" sz="1125" dirty="0">
                <a:solidFill>
                  <a:srgbClr val="FFFFFF"/>
                </a:solidFill>
                <a:latin typeface="Oracle Sans Tab" pitchFamily="34" charset="0"/>
                <a:ea typeface="Oracle Sans Tab" pitchFamily="34" charset="-122"/>
                <a:cs typeface="Oracle Sans Tab" pitchFamily="34" charset="-120"/>
              </a:rPr>
              <a:t>Graph</a:t>
            </a:r>
            <a:endParaRPr lang="en-US" sz="1125" dirty="0"/>
          </a:p>
        </p:txBody>
      </p:sp>
      <p:sp>
        <p:nvSpPr>
          <p:cNvPr id="31" name="Shape 28"/>
          <p:cNvSpPr/>
          <p:nvPr/>
        </p:nvSpPr>
        <p:spPr>
          <a:xfrm>
            <a:off x="5673090" y="2578396"/>
            <a:ext cx="1102982" cy="603839"/>
          </a:xfrm>
          <a:prstGeom prst="roundRect">
            <a:avLst>
              <a:gd name="adj" fmla="val 9149"/>
            </a:avLst>
          </a:prstGeom>
          <a:solidFill>
            <a:srgbClr val="0B5060"/>
          </a:solidFill>
          <a:ln w="13229">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32" name="Text 29"/>
          <p:cNvSpPr/>
          <p:nvPr/>
        </p:nvSpPr>
        <p:spPr>
          <a:xfrm>
            <a:off x="5799735" y="2811715"/>
            <a:ext cx="849641" cy="175249"/>
          </a:xfrm>
          <a:prstGeom prst="rect">
            <a:avLst/>
          </a:prstGeom>
          <a:noFill/>
          <a:ln/>
        </p:spPr>
        <p:txBody>
          <a:bodyPr wrap="square" lIns="25400" tIns="25400" rIns="25400" bIns="25400" rtlCol="0" anchor="t">
            <a:normAutofit lnSpcReduction="10000"/>
          </a:bodyPr>
          <a:lstStyle/>
          <a:p>
            <a:pPr marL="0" indent="0" algn="ctr">
              <a:lnSpc>
                <a:spcPct val="69120"/>
              </a:lnSpc>
              <a:buNone/>
            </a:pPr>
            <a:r>
              <a:rPr lang="en-US" sz="1125" dirty="0">
                <a:solidFill>
                  <a:srgbClr val="FFFFFF"/>
                </a:solidFill>
                <a:latin typeface="Oracle Sans Tab" pitchFamily="34" charset="0"/>
                <a:ea typeface="Oracle Sans Tab" pitchFamily="34" charset="-122"/>
                <a:cs typeface="Oracle Sans Tab" pitchFamily="34" charset="-120"/>
              </a:rPr>
              <a:t>Spatial</a:t>
            </a:r>
            <a:endParaRPr lang="en-US" sz="1125" dirty="0"/>
          </a:p>
        </p:txBody>
      </p:sp>
      <p:sp>
        <p:nvSpPr>
          <p:cNvPr id="33" name="Shape 30"/>
          <p:cNvSpPr/>
          <p:nvPr/>
        </p:nvSpPr>
        <p:spPr>
          <a:xfrm>
            <a:off x="2310763" y="3579471"/>
            <a:ext cx="3086065" cy="1399191"/>
          </a:xfrm>
          <a:prstGeom prst="rect">
            <a:avLst/>
          </a:prstGeom>
          <a:solidFill>
            <a:srgbClr val="0B5060"/>
          </a:solidFill>
          <a:ln w="19844">
            <a:solidFill>
              <a:srgbClr val="FD6953"/>
            </a:solidFill>
            <a:prstDash val="solid"/>
          </a:ln>
        </p:spPr>
        <p:txBody>
          <a:bodyPr/>
          <a:lstStyle/>
          <a:p>
            <a:endParaRPr lang="en-US"/>
          </a:p>
        </p:txBody>
      </p:sp>
      <p:sp>
        <p:nvSpPr>
          <p:cNvPr id="34" name="Shape 31"/>
          <p:cNvSpPr/>
          <p:nvPr/>
        </p:nvSpPr>
        <p:spPr>
          <a:xfrm>
            <a:off x="2310763" y="4800585"/>
            <a:ext cx="3086065" cy="356206"/>
          </a:xfrm>
          <a:prstGeom prst="roundRect">
            <a:avLst>
              <a:gd name="adj" fmla="val 50000"/>
            </a:avLst>
          </a:prstGeom>
          <a:solidFill>
            <a:srgbClr val="0B5060"/>
          </a:solidFill>
          <a:ln w="19844">
            <a:solidFill>
              <a:srgbClr val="FD6953"/>
            </a:solidFill>
            <a:prstDash val="solid"/>
          </a:ln>
        </p:spPr>
        <p:txBody>
          <a:bodyPr/>
          <a:lstStyle/>
          <a:p>
            <a:endParaRPr lang="en-US"/>
          </a:p>
        </p:txBody>
      </p:sp>
      <p:sp>
        <p:nvSpPr>
          <p:cNvPr id="35" name="Shape 32"/>
          <p:cNvSpPr/>
          <p:nvPr/>
        </p:nvSpPr>
        <p:spPr>
          <a:xfrm>
            <a:off x="2310763" y="3401343"/>
            <a:ext cx="3086065" cy="356206"/>
          </a:xfrm>
          <a:prstGeom prst="roundRect">
            <a:avLst>
              <a:gd name="adj" fmla="val 50000"/>
            </a:avLst>
          </a:prstGeom>
          <a:solidFill>
            <a:srgbClr val="0B5060"/>
          </a:solidFill>
          <a:ln w="19844">
            <a:solidFill>
              <a:srgbClr val="FD6953"/>
            </a:solidFill>
            <a:prstDash val="solid"/>
          </a:ln>
        </p:spPr>
        <p:txBody>
          <a:bodyPr/>
          <a:lstStyle/>
          <a:p>
            <a:endParaRPr lang="en-US"/>
          </a:p>
        </p:txBody>
      </p:sp>
      <p:sp>
        <p:nvSpPr>
          <p:cNvPr id="36" name="Text 33"/>
          <p:cNvSpPr/>
          <p:nvPr/>
        </p:nvSpPr>
        <p:spPr>
          <a:xfrm>
            <a:off x="2405736" y="4260928"/>
            <a:ext cx="2896119" cy="289558"/>
          </a:xfrm>
          <a:prstGeom prst="rect">
            <a:avLst/>
          </a:prstGeom>
          <a:noFill/>
          <a:ln/>
        </p:spPr>
        <p:txBody>
          <a:bodyPr wrap="square" lIns="25400" tIns="25400" rIns="25400" bIns="25400" rtlCol="0" anchor="t">
            <a:normAutofit/>
          </a:bodyPr>
          <a:lstStyle/>
          <a:p>
            <a:pPr marL="0" indent="0" algn="ctr">
              <a:lnSpc>
                <a:spcPct val="92160"/>
              </a:lnSpc>
              <a:buNone/>
            </a:pPr>
            <a:r>
              <a:rPr lang="en-US" sz="1650" b="1" dirty="0">
                <a:solidFill>
                  <a:srgbClr val="FD6953"/>
                </a:solidFill>
                <a:latin typeface="Oracle Sans Tab" pitchFamily="34" charset="0"/>
                <a:ea typeface="Oracle Sans Tab" pitchFamily="34" charset="-122"/>
                <a:cs typeface="Oracle Sans Tab" pitchFamily="34" charset="-120"/>
              </a:rPr>
              <a:t>Oracle AI Database</a:t>
            </a:r>
            <a:endParaRPr lang="en-US" sz="1650" dirty="0"/>
          </a:p>
        </p:txBody>
      </p:sp>
      <p:sp>
        <p:nvSpPr>
          <p:cNvPr id="37" name="Text 34"/>
          <p:cNvSpPr/>
          <p:nvPr/>
        </p:nvSpPr>
        <p:spPr>
          <a:xfrm>
            <a:off x="1069599" y="5280608"/>
            <a:ext cx="6125119" cy="220931"/>
          </a:xfrm>
          <a:prstGeom prst="rect">
            <a:avLst/>
          </a:prstGeom>
          <a:noFill/>
          <a:ln/>
        </p:spPr>
        <p:txBody>
          <a:bodyPr wrap="square" lIns="25400" tIns="25400" rIns="25400" bIns="25400" rtlCol="0" anchor="t">
            <a:normAutofit/>
          </a:bodyPr>
          <a:lstStyle/>
          <a:p>
            <a:pPr marL="0" indent="0" algn="l">
              <a:lnSpc>
                <a:spcPct val="92160"/>
              </a:lnSpc>
              <a:buNone/>
            </a:pPr>
            <a:r>
              <a:rPr lang="en-US" sz="1125" b="1" dirty="0">
                <a:solidFill>
                  <a:srgbClr val="C3D7DC"/>
                </a:solidFill>
                <a:latin typeface="Oracle Sans Tab" pitchFamily="34" charset="0"/>
                <a:ea typeface="Oracle Sans Tab" pitchFamily="34" charset="-122"/>
                <a:cs typeface="Oracle Sans Tab" pitchFamily="34" charset="-120"/>
              </a:rPr>
              <a:t>INGESTION</a:t>
            </a:r>
            <a:endParaRPr lang="en-US" sz="1125" dirty="0"/>
          </a:p>
        </p:txBody>
      </p:sp>
      <p:sp>
        <p:nvSpPr>
          <p:cNvPr id="38" name="Shape 35"/>
          <p:cNvSpPr/>
          <p:nvPr/>
        </p:nvSpPr>
        <p:spPr>
          <a:xfrm>
            <a:off x="932449" y="5486383"/>
            <a:ext cx="1399191" cy="850542"/>
          </a:xfrm>
          <a:prstGeom prst="roundRect">
            <a:avLst>
              <a:gd name="adj" fmla="val 6495"/>
            </a:avLst>
          </a:prstGeom>
          <a:solidFill>
            <a:srgbClr val="0B5060"/>
          </a:solidFill>
          <a:ln w="13229">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39" name="Text 36"/>
          <p:cNvSpPr/>
          <p:nvPr/>
        </p:nvSpPr>
        <p:spPr>
          <a:xfrm>
            <a:off x="1059146" y="5705905"/>
            <a:ext cx="1145850" cy="175249"/>
          </a:xfrm>
          <a:prstGeom prst="rect">
            <a:avLst/>
          </a:prstGeom>
          <a:noFill/>
          <a:ln/>
        </p:spPr>
        <p:txBody>
          <a:bodyPr wrap="square" lIns="25400" tIns="25400" rIns="25400" bIns="25400" rtlCol="0" anchor="t">
            <a:normAutofit/>
          </a:bodyPr>
          <a:lstStyle/>
          <a:p>
            <a:pPr marL="0" indent="0" algn="ctr">
              <a:lnSpc>
                <a:spcPct val="69120"/>
              </a:lnSpc>
              <a:buNone/>
            </a:pPr>
            <a:r>
              <a:rPr lang="en-US" sz="975" dirty="0">
                <a:solidFill>
                  <a:srgbClr val="FFFFFF"/>
                </a:solidFill>
                <a:latin typeface="Oracle Sans Tab" pitchFamily="34" charset="0"/>
                <a:ea typeface="Oracle Sans Tab" pitchFamily="34" charset="-122"/>
                <a:cs typeface="Oracle Sans Tab" pitchFamily="34" charset="-120"/>
              </a:rPr>
              <a:t>Raw ingestion</a:t>
            </a:r>
            <a:endParaRPr lang="en-US" sz="975" dirty="0"/>
          </a:p>
        </p:txBody>
      </p:sp>
      <p:sp>
        <p:nvSpPr>
          <p:cNvPr id="40" name="Text 37"/>
          <p:cNvSpPr/>
          <p:nvPr/>
        </p:nvSpPr>
        <p:spPr>
          <a:xfrm>
            <a:off x="1059146" y="5843054"/>
            <a:ext cx="1145850" cy="312399"/>
          </a:xfrm>
          <a:prstGeom prst="rect">
            <a:avLst/>
          </a:prstGeom>
          <a:noFill/>
          <a:ln/>
        </p:spPr>
        <p:txBody>
          <a:bodyPr wrap="square" lIns="25400" tIns="25400" rIns="25400" bIns="25400" rtlCol="0" anchor="t">
            <a:normAutofit/>
          </a:bodyPr>
          <a:lstStyle/>
          <a:p>
            <a:pPr marL="0" indent="0" algn="ctr">
              <a:lnSpc>
                <a:spcPct val="69120"/>
              </a:lnSpc>
              <a:buNone/>
            </a:pPr>
            <a:r>
              <a:rPr lang="en-US" sz="975" dirty="0">
                <a:solidFill>
                  <a:srgbClr val="FFFFFF"/>
                </a:solidFill>
                <a:latin typeface="Oracle Sans Tab" pitchFamily="34" charset="0"/>
                <a:ea typeface="Oracle Sans Tab" pitchFamily="34" charset="-122"/>
                <a:cs typeface="Oracle Sans Tab" pitchFamily="34" charset="-120"/>
              </a:rPr>
              <a:t>(files, streams, APIs)</a:t>
            </a:r>
            <a:endParaRPr lang="en-US" sz="975" dirty="0"/>
          </a:p>
        </p:txBody>
      </p:sp>
      <p:sp>
        <p:nvSpPr>
          <p:cNvPr id="41" name="Shape 38"/>
          <p:cNvSpPr/>
          <p:nvPr/>
        </p:nvSpPr>
        <p:spPr>
          <a:xfrm>
            <a:off x="2413599" y="5486383"/>
            <a:ext cx="1399191" cy="850542"/>
          </a:xfrm>
          <a:prstGeom prst="roundRect">
            <a:avLst>
              <a:gd name="adj" fmla="val 6495"/>
            </a:avLst>
          </a:prstGeom>
          <a:solidFill>
            <a:srgbClr val="0B5060"/>
          </a:solidFill>
          <a:ln w="13229">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42" name="Text 39"/>
          <p:cNvSpPr/>
          <p:nvPr/>
        </p:nvSpPr>
        <p:spPr>
          <a:xfrm>
            <a:off x="2540296" y="5705905"/>
            <a:ext cx="1145850" cy="312399"/>
          </a:xfrm>
          <a:prstGeom prst="rect">
            <a:avLst/>
          </a:prstGeom>
          <a:noFill/>
          <a:ln/>
        </p:spPr>
        <p:txBody>
          <a:bodyPr wrap="square" lIns="25400" tIns="25400" rIns="25400" bIns="25400" rtlCol="0" anchor="t">
            <a:normAutofit/>
          </a:bodyPr>
          <a:lstStyle/>
          <a:p>
            <a:pPr marL="0" indent="0" algn="ctr">
              <a:lnSpc>
                <a:spcPct val="69120"/>
              </a:lnSpc>
              <a:buNone/>
            </a:pPr>
            <a:r>
              <a:rPr lang="en-US" sz="975" dirty="0">
                <a:solidFill>
                  <a:srgbClr val="FFFFFF"/>
                </a:solidFill>
                <a:latin typeface="Oracle Sans Tab" pitchFamily="34" charset="0"/>
                <a:ea typeface="Oracle Sans Tab" pitchFamily="34" charset="-122"/>
                <a:cs typeface="Oracle Sans Tab" pitchFamily="34" charset="-120"/>
              </a:rPr>
              <a:t>Document processing</a:t>
            </a:r>
            <a:endParaRPr lang="en-US" sz="975" dirty="0"/>
          </a:p>
        </p:txBody>
      </p:sp>
      <p:sp>
        <p:nvSpPr>
          <p:cNvPr id="43" name="Text 40"/>
          <p:cNvSpPr/>
          <p:nvPr/>
        </p:nvSpPr>
        <p:spPr>
          <a:xfrm>
            <a:off x="2540296" y="5980203"/>
            <a:ext cx="1145850" cy="175249"/>
          </a:xfrm>
          <a:prstGeom prst="rect">
            <a:avLst/>
          </a:prstGeom>
          <a:noFill/>
          <a:ln/>
        </p:spPr>
        <p:txBody>
          <a:bodyPr wrap="square" lIns="25400" tIns="25400" rIns="25400" bIns="25400" rtlCol="0" anchor="t">
            <a:normAutofit/>
          </a:bodyPr>
          <a:lstStyle/>
          <a:p>
            <a:pPr marL="0" indent="0" algn="ctr">
              <a:lnSpc>
                <a:spcPct val="69120"/>
              </a:lnSpc>
              <a:buNone/>
            </a:pPr>
            <a:r>
              <a:rPr lang="en-US" sz="975" dirty="0">
                <a:solidFill>
                  <a:srgbClr val="FFFFFF"/>
                </a:solidFill>
                <a:latin typeface="Oracle Sans Tab" pitchFamily="34" charset="0"/>
                <a:ea typeface="Oracle Sans Tab" pitchFamily="34" charset="-122"/>
                <a:cs typeface="Oracle Sans Tab" pitchFamily="34" charset="-120"/>
              </a:rPr>
              <a:t>&amp; chunking</a:t>
            </a:r>
            <a:endParaRPr lang="en-US" sz="975" dirty="0"/>
          </a:p>
        </p:txBody>
      </p:sp>
      <p:sp>
        <p:nvSpPr>
          <p:cNvPr id="44" name="Shape 41"/>
          <p:cNvSpPr/>
          <p:nvPr/>
        </p:nvSpPr>
        <p:spPr>
          <a:xfrm>
            <a:off x="3895679" y="5486383"/>
            <a:ext cx="1399191" cy="850542"/>
          </a:xfrm>
          <a:prstGeom prst="roundRect">
            <a:avLst>
              <a:gd name="adj" fmla="val 6495"/>
            </a:avLst>
          </a:prstGeom>
          <a:solidFill>
            <a:srgbClr val="0B5060"/>
          </a:solidFill>
          <a:ln w="13229">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45" name="Text 42"/>
          <p:cNvSpPr/>
          <p:nvPr/>
        </p:nvSpPr>
        <p:spPr>
          <a:xfrm>
            <a:off x="4021394" y="5774480"/>
            <a:ext cx="1145850" cy="175249"/>
          </a:xfrm>
          <a:prstGeom prst="rect">
            <a:avLst/>
          </a:prstGeom>
          <a:noFill/>
          <a:ln/>
        </p:spPr>
        <p:txBody>
          <a:bodyPr wrap="square" lIns="25400" tIns="25400" rIns="25400" bIns="25400" rtlCol="0" anchor="t">
            <a:normAutofit/>
          </a:bodyPr>
          <a:lstStyle/>
          <a:p>
            <a:pPr marL="0" indent="0" algn="ctr">
              <a:lnSpc>
                <a:spcPct val="69120"/>
              </a:lnSpc>
              <a:buNone/>
            </a:pPr>
            <a:r>
              <a:rPr lang="en-US" sz="975" dirty="0">
                <a:solidFill>
                  <a:srgbClr val="FFFFFF"/>
                </a:solidFill>
                <a:latin typeface="Oracle Sans Tab" pitchFamily="34" charset="0"/>
                <a:ea typeface="Oracle Sans Tab" pitchFamily="34" charset="-122"/>
                <a:cs typeface="Oracle Sans Tab" pitchFamily="34" charset="-120"/>
              </a:rPr>
              <a:t>Embedding</a:t>
            </a:r>
            <a:endParaRPr lang="en-US" sz="975" dirty="0"/>
          </a:p>
        </p:txBody>
      </p:sp>
      <p:sp>
        <p:nvSpPr>
          <p:cNvPr id="46" name="Text 43"/>
          <p:cNvSpPr/>
          <p:nvPr/>
        </p:nvSpPr>
        <p:spPr>
          <a:xfrm>
            <a:off x="4021394" y="5911629"/>
            <a:ext cx="1145850" cy="175249"/>
          </a:xfrm>
          <a:prstGeom prst="rect">
            <a:avLst/>
          </a:prstGeom>
          <a:noFill/>
          <a:ln/>
        </p:spPr>
        <p:txBody>
          <a:bodyPr wrap="square" lIns="25400" tIns="25400" rIns="25400" bIns="25400" rtlCol="0" anchor="t">
            <a:normAutofit/>
          </a:bodyPr>
          <a:lstStyle/>
          <a:p>
            <a:pPr marL="0" indent="0" algn="ctr">
              <a:lnSpc>
                <a:spcPct val="69120"/>
              </a:lnSpc>
              <a:buNone/>
            </a:pPr>
            <a:r>
              <a:rPr lang="en-US" sz="975" dirty="0">
                <a:solidFill>
                  <a:srgbClr val="FFFFFF"/>
                </a:solidFill>
                <a:latin typeface="Oracle Sans Tab" pitchFamily="34" charset="0"/>
                <a:ea typeface="Oracle Sans Tab" pitchFamily="34" charset="-122"/>
                <a:cs typeface="Oracle Sans Tab" pitchFamily="34" charset="-120"/>
              </a:rPr>
              <a:t>generation</a:t>
            </a:r>
            <a:endParaRPr lang="en-US" sz="975" dirty="0"/>
          </a:p>
        </p:txBody>
      </p:sp>
      <p:sp>
        <p:nvSpPr>
          <p:cNvPr id="47" name="Shape 44"/>
          <p:cNvSpPr/>
          <p:nvPr/>
        </p:nvSpPr>
        <p:spPr>
          <a:xfrm>
            <a:off x="5376829" y="5486383"/>
            <a:ext cx="1399191" cy="850542"/>
          </a:xfrm>
          <a:prstGeom prst="roundRect">
            <a:avLst>
              <a:gd name="adj" fmla="val 6495"/>
            </a:avLst>
          </a:prstGeom>
          <a:solidFill>
            <a:srgbClr val="0B5060"/>
          </a:solidFill>
          <a:ln w="13229">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48" name="Text 45"/>
          <p:cNvSpPr/>
          <p:nvPr/>
        </p:nvSpPr>
        <p:spPr>
          <a:xfrm>
            <a:off x="5503525" y="5843054"/>
            <a:ext cx="1145850" cy="175249"/>
          </a:xfrm>
          <a:prstGeom prst="rect">
            <a:avLst/>
          </a:prstGeom>
          <a:noFill/>
          <a:ln/>
        </p:spPr>
        <p:txBody>
          <a:bodyPr wrap="square" lIns="25400" tIns="25400" rIns="25400" bIns="25400" rtlCol="0" anchor="t">
            <a:normAutofit/>
          </a:bodyPr>
          <a:lstStyle/>
          <a:p>
            <a:pPr marL="0" indent="0" algn="ctr">
              <a:lnSpc>
                <a:spcPct val="69120"/>
              </a:lnSpc>
              <a:buNone/>
            </a:pPr>
            <a:r>
              <a:rPr lang="en-US" sz="975" dirty="0">
                <a:solidFill>
                  <a:srgbClr val="FFFFFF"/>
                </a:solidFill>
                <a:latin typeface="Oracle Sans Tab" pitchFamily="34" charset="0"/>
                <a:ea typeface="Oracle Sans Tab" pitchFamily="34" charset="-122"/>
                <a:cs typeface="Oracle Sans Tab" pitchFamily="34" charset="-120"/>
              </a:rPr>
              <a:t>Connectors</a:t>
            </a:r>
            <a:endParaRPr lang="en-US" sz="975" dirty="0"/>
          </a:p>
        </p:txBody>
      </p:sp>
      <p:sp>
        <p:nvSpPr>
          <p:cNvPr id="49" name="Text 46"/>
          <p:cNvSpPr/>
          <p:nvPr/>
        </p:nvSpPr>
        <p:spPr>
          <a:xfrm>
            <a:off x="1069599" y="6652203"/>
            <a:ext cx="6125119" cy="220931"/>
          </a:xfrm>
          <a:prstGeom prst="rect">
            <a:avLst/>
          </a:prstGeom>
          <a:noFill/>
          <a:ln/>
        </p:spPr>
        <p:txBody>
          <a:bodyPr wrap="square" lIns="25400" tIns="25400" rIns="25400" bIns="25400" rtlCol="0" anchor="t">
            <a:normAutofit/>
          </a:bodyPr>
          <a:lstStyle/>
          <a:p>
            <a:pPr marL="0" indent="0" algn="l">
              <a:lnSpc>
                <a:spcPct val="92160"/>
              </a:lnSpc>
              <a:buNone/>
            </a:pPr>
            <a:r>
              <a:rPr lang="en-US" sz="1125" b="1" dirty="0">
                <a:solidFill>
                  <a:srgbClr val="B6A1C3"/>
                </a:solidFill>
                <a:latin typeface="Oracle Sans Tab" pitchFamily="34" charset="0"/>
                <a:ea typeface="Oracle Sans Tab" pitchFamily="34" charset="-122"/>
                <a:cs typeface="Oracle Sans Tab" pitchFamily="34" charset="-120"/>
              </a:rPr>
              <a:t>TYPED MEMORY</a:t>
            </a:r>
            <a:endParaRPr lang="en-US" sz="1125" dirty="0"/>
          </a:p>
        </p:txBody>
      </p:sp>
      <p:sp>
        <p:nvSpPr>
          <p:cNvPr id="50" name="Shape 47"/>
          <p:cNvSpPr/>
          <p:nvPr/>
        </p:nvSpPr>
        <p:spPr>
          <a:xfrm>
            <a:off x="932449" y="6857979"/>
            <a:ext cx="1102982" cy="905784"/>
          </a:xfrm>
          <a:prstGeom prst="roundRect">
            <a:avLst>
              <a:gd name="adj" fmla="val 6099"/>
            </a:avLst>
          </a:prstGeom>
          <a:solidFill>
            <a:srgbClr val="0B5060"/>
          </a:solidFill>
          <a:ln w="13229">
            <a:solidFill>
              <a:srgbClr val="FFFFFF">
                <a:alpha val="2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51" name="Text 48"/>
          <p:cNvSpPr/>
          <p:nvPr/>
        </p:nvSpPr>
        <p:spPr>
          <a:xfrm>
            <a:off x="1059146" y="7242297"/>
            <a:ext cx="849641" cy="175249"/>
          </a:xfrm>
          <a:prstGeom prst="rect">
            <a:avLst/>
          </a:prstGeom>
          <a:noFill/>
          <a:ln/>
        </p:spPr>
        <p:txBody>
          <a:bodyPr wrap="square" lIns="25400" tIns="25400" rIns="25400" bIns="25400" rtlCol="0" anchor="t">
            <a:normAutofit/>
          </a:bodyPr>
          <a:lstStyle/>
          <a:p>
            <a:pPr marL="0" indent="0" algn="ctr">
              <a:lnSpc>
                <a:spcPct val="69120"/>
              </a:lnSpc>
              <a:buNone/>
            </a:pPr>
            <a:r>
              <a:rPr lang="en-US" sz="900" dirty="0">
                <a:solidFill>
                  <a:srgbClr val="B6A1C3"/>
                </a:solidFill>
                <a:latin typeface="Oracle Sans Tab" pitchFamily="34" charset="0"/>
                <a:ea typeface="Oracle Sans Tab" pitchFamily="34" charset="-122"/>
                <a:cs typeface="Oracle Sans Tab" pitchFamily="34" charset="-120"/>
              </a:rPr>
              <a:t>Conversational</a:t>
            </a:r>
            <a:endParaRPr lang="en-US" sz="900" dirty="0"/>
          </a:p>
        </p:txBody>
      </p:sp>
      <p:sp>
        <p:nvSpPr>
          <p:cNvPr id="52" name="Shape 49"/>
          <p:cNvSpPr/>
          <p:nvPr/>
        </p:nvSpPr>
        <p:spPr>
          <a:xfrm>
            <a:off x="2117390" y="6857979"/>
            <a:ext cx="1102982" cy="905784"/>
          </a:xfrm>
          <a:prstGeom prst="roundRect">
            <a:avLst>
              <a:gd name="adj" fmla="val 6099"/>
            </a:avLst>
          </a:prstGeom>
          <a:solidFill>
            <a:srgbClr val="0B5060"/>
          </a:solidFill>
          <a:ln w="13229">
            <a:solidFill>
              <a:srgbClr val="FFFFFF">
                <a:alpha val="2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53" name="Text 50"/>
          <p:cNvSpPr/>
          <p:nvPr/>
        </p:nvSpPr>
        <p:spPr>
          <a:xfrm>
            <a:off x="2244035" y="7242297"/>
            <a:ext cx="849641" cy="175249"/>
          </a:xfrm>
          <a:prstGeom prst="rect">
            <a:avLst/>
          </a:prstGeom>
          <a:noFill/>
          <a:ln/>
        </p:spPr>
        <p:txBody>
          <a:bodyPr wrap="square" lIns="25400" tIns="25400" rIns="25400" bIns="25400" rtlCol="0" anchor="t">
            <a:normAutofit/>
          </a:bodyPr>
          <a:lstStyle/>
          <a:p>
            <a:pPr marL="0" indent="0" algn="ctr">
              <a:lnSpc>
                <a:spcPct val="69120"/>
              </a:lnSpc>
              <a:buNone/>
            </a:pPr>
            <a:r>
              <a:rPr lang="en-US" sz="900" dirty="0">
                <a:solidFill>
                  <a:srgbClr val="B6A1C3"/>
                </a:solidFill>
                <a:latin typeface="Oracle Sans Tab" pitchFamily="34" charset="0"/>
                <a:ea typeface="Oracle Sans Tab" pitchFamily="34" charset="-122"/>
                <a:cs typeface="Oracle Sans Tab" pitchFamily="34" charset="-120"/>
              </a:rPr>
              <a:t>Entity</a:t>
            </a:r>
            <a:endParaRPr lang="en-US" sz="900" dirty="0"/>
          </a:p>
        </p:txBody>
      </p:sp>
      <p:sp>
        <p:nvSpPr>
          <p:cNvPr id="54" name="Shape 51"/>
          <p:cNvSpPr/>
          <p:nvPr/>
        </p:nvSpPr>
        <p:spPr>
          <a:xfrm>
            <a:off x="3303261" y="6857979"/>
            <a:ext cx="1102982" cy="905784"/>
          </a:xfrm>
          <a:prstGeom prst="roundRect">
            <a:avLst>
              <a:gd name="adj" fmla="val 6099"/>
            </a:avLst>
          </a:prstGeom>
          <a:solidFill>
            <a:srgbClr val="0B5060"/>
          </a:solidFill>
          <a:ln w="13229">
            <a:solidFill>
              <a:srgbClr val="FFFFFF">
                <a:alpha val="2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55" name="Text 52"/>
          <p:cNvSpPr/>
          <p:nvPr/>
        </p:nvSpPr>
        <p:spPr>
          <a:xfrm>
            <a:off x="3428975" y="7173722"/>
            <a:ext cx="849641" cy="175249"/>
          </a:xfrm>
          <a:prstGeom prst="rect">
            <a:avLst/>
          </a:prstGeom>
          <a:noFill/>
          <a:ln/>
        </p:spPr>
        <p:txBody>
          <a:bodyPr wrap="square" lIns="25400" tIns="25400" rIns="25400" bIns="25400" rtlCol="0" anchor="t">
            <a:normAutofit/>
          </a:bodyPr>
          <a:lstStyle/>
          <a:p>
            <a:pPr marL="0" indent="0" algn="ctr">
              <a:lnSpc>
                <a:spcPct val="69120"/>
              </a:lnSpc>
              <a:buNone/>
            </a:pPr>
            <a:r>
              <a:rPr lang="en-US" sz="900" dirty="0">
                <a:solidFill>
                  <a:srgbClr val="B6A1C3"/>
                </a:solidFill>
                <a:latin typeface="Oracle Sans Tab" pitchFamily="34" charset="0"/>
                <a:ea typeface="Oracle Sans Tab" pitchFamily="34" charset="-122"/>
                <a:cs typeface="Oracle Sans Tab" pitchFamily="34" charset="-120"/>
              </a:rPr>
              <a:t>Toolbox</a:t>
            </a:r>
            <a:endParaRPr lang="en-US" sz="900" dirty="0"/>
          </a:p>
        </p:txBody>
      </p:sp>
      <p:sp>
        <p:nvSpPr>
          <p:cNvPr id="56" name="Text 53"/>
          <p:cNvSpPr/>
          <p:nvPr/>
        </p:nvSpPr>
        <p:spPr>
          <a:xfrm>
            <a:off x="3428975" y="7310871"/>
            <a:ext cx="849641" cy="175249"/>
          </a:xfrm>
          <a:prstGeom prst="rect">
            <a:avLst/>
          </a:prstGeom>
          <a:noFill/>
          <a:ln/>
        </p:spPr>
        <p:txBody>
          <a:bodyPr wrap="square" lIns="25400" tIns="25400" rIns="25400" bIns="25400" rtlCol="0" anchor="t">
            <a:normAutofit/>
          </a:bodyPr>
          <a:lstStyle/>
          <a:p>
            <a:pPr marL="0" indent="0" algn="ctr">
              <a:lnSpc>
                <a:spcPct val="69120"/>
              </a:lnSpc>
              <a:buNone/>
            </a:pPr>
            <a:r>
              <a:rPr lang="en-US" sz="900" dirty="0">
                <a:solidFill>
                  <a:srgbClr val="B6A1C3"/>
                </a:solidFill>
                <a:latin typeface="Oracle Sans Tab" pitchFamily="34" charset="0"/>
                <a:ea typeface="Oracle Sans Tab" pitchFamily="34" charset="-122"/>
                <a:cs typeface="Oracle Sans Tab" pitchFamily="34" charset="-120"/>
              </a:rPr>
              <a:t>&amp; skills</a:t>
            </a:r>
            <a:endParaRPr lang="en-US" sz="900" dirty="0"/>
          </a:p>
        </p:txBody>
      </p:sp>
      <p:sp>
        <p:nvSpPr>
          <p:cNvPr id="57" name="Shape 54"/>
          <p:cNvSpPr/>
          <p:nvPr/>
        </p:nvSpPr>
        <p:spPr>
          <a:xfrm>
            <a:off x="4488150" y="6857979"/>
            <a:ext cx="1102982" cy="905784"/>
          </a:xfrm>
          <a:prstGeom prst="roundRect">
            <a:avLst>
              <a:gd name="adj" fmla="val 6099"/>
            </a:avLst>
          </a:prstGeom>
          <a:solidFill>
            <a:srgbClr val="0B5060"/>
          </a:solidFill>
          <a:ln w="13229">
            <a:solidFill>
              <a:srgbClr val="FFFFFF">
                <a:alpha val="2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58" name="Text 55"/>
          <p:cNvSpPr/>
          <p:nvPr/>
        </p:nvSpPr>
        <p:spPr>
          <a:xfrm>
            <a:off x="4613864" y="7105148"/>
            <a:ext cx="849641" cy="175249"/>
          </a:xfrm>
          <a:prstGeom prst="rect">
            <a:avLst/>
          </a:prstGeom>
          <a:noFill/>
          <a:ln/>
        </p:spPr>
        <p:txBody>
          <a:bodyPr wrap="square" lIns="25400" tIns="25400" rIns="25400" bIns="25400" rtlCol="0" anchor="t">
            <a:normAutofit/>
          </a:bodyPr>
          <a:lstStyle/>
          <a:p>
            <a:pPr marL="0" indent="0" algn="ctr">
              <a:lnSpc>
                <a:spcPct val="69120"/>
              </a:lnSpc>
              <a:buNone/>
            </a:pPr>
            <a:r>
              <a:rPr lang="en-US" sz="900" dirty="0">
                <a:solidFill>
                  <a:srgbClr val="B6A1C3"/>
                </a:solidFill>
                <a:latin typeface="Oracle Sans Tab" pitchFamily="34" charset="0"/>
                <a:ea typeface="Oracle Sans Tab" pitchFamily="34" charset="-122"/>
                <a:cs typeface="Oracle Sans Tab" pitchFamily="34" charset="-120"/>
              </a:rPr>
              <a:t>Semantic</a:t>
            </a:r>
            <a:endParaRPr lang="en-US" sz="900" dirty="0"/>
          </a:p>
        </p:txBody>
      </p:sp>
      <p:sp>
        <p:nvSpPr>
          <p:cNvPr id="59" name="Text 56"/>
          <p:cNvSpPr/>
          <p:nvPr/>
        </p:nvSpPr>
        <p:spPr>
          <a:xfrm>
            <a:off x="4613864" y="7242297"/>
            <a:ext cx="849641" cy="312399"/>
          </a:xfrm>
          <a:prstGeom prst="rect">
            <a:avLst/>
          </a:prstGeom>
          <a:noFill/>
          <a:ln/>
        </p:spPr>
        <p:txBody>
          <a:bodyPr wrap="square" lIns="25400" tIns="25400" rIns="25400" bIns="25400" rtlCol="0" anchor="t">
            <a:normAutofit/>
          </a:bodyPr>
          <a:lstStyle/>
          <a:p>
            <a:pPr marL="0" indent="0" algn="ctr">
              <a:lnSpc>
                <a:spcPct val="69120"/>
              </a:lnSpc>
              <a:buNone/>
            </a:pPr>
            <a:r>
              <a:rPr lang="en-US" sz="900" dirty="0">
                <a:solidFill>
                  <a:srgbClr val="B6A1C3"/>
                </a:solidFill>
                <a:latin typeface="Oracle Sans Tab" pitchFamily="34" charset="0"/>
                <a:ea typeface="Oracle Sans Tab" pitchFamily="34" charset="-122"/>
                <a:cs typeface="Oracle Sans Tab" pitchFamily="34" charset="-120"/>
              </a:rPr>
              <a:t>(knowledge base)</a:t>
            </a:r>
            <a:endParaRPr lang="en-US" sz="900" dirty="0"/>
          </a:p>
        </p:txBody>
      </p:sp>
      <p:sp>
        <p:nvSpPr>
          <p:cNvPr id="60" name="Shape 57"/>
          <p:cNvSpPr/>
          <p:nvPr/>
        </p:nvSpPr>
        <p:spPr>
          <a:xfrm>
            <a:off x="5673090" y="6857979"/>
            <a:ext cx="1102982" cy="905784"/>
          </a:xfrm>
          <a:prstGeom prst="roundRect">
            <a:avLst>
              <a:gd name="adj" fmla="val 6099"/>
            </a:avLst>
          </a:prstGeom>
          <a:solidFill>
            <a:srgbClr val="0B5060"/>
          </a:solidFill>
          <a:ln w="13229">
            <a:solidFill>
              <a:srgbClr val="FFFFFF">
                <a:alpha val="2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61" name="Text 58"/>
          <p:cNvSpPr/>
          <p:nvPr/>
        </p:nvSpPr>
        <p:spPr>
          <a:xfrm>
            <a:off x="5799735" y="7242297"/>
            <a:ext cx="849641" cy="175249"/>
          </a:xfrm>
          <a:prstGeom prst="rect">
            <a:avLst/>
          </a:prstGeom>
          <a:noFill/>
          <a:ln/>
        </p:spPr>
        <p:txBody>
          <a:bodyPr wrap="square" lIns="25400" tIns="25400" rIns="25400" bIns="25400" rtlCol="0" anchor="t">
            <a:normAutofit/>
          </a:bodyPr>
          <a:lstStyle/>
          <a:p>
            <a:pPr marL="0" indent="0" algn="ctr">
              <a:lnSpc>
                <a:spcPct val="69120"/>
              </a:lnSpc>
              <a:buNone/>
            </a:pPr>
            <a:r>
              <a:rPr lang="en-US" sz="900" dirty="0">
                <a:solidFill>
                  <a:srgbClr val="B6A1C3"/>
                </a:solidFill>
                <a:latin typeface="Oracle Sans Tab" pitchFamily="34" charset="0"/>
                <a:ea typeface="Oracle Sans Tab" pitchFamily="34" charset="-122"/>
                <a:cs typeface="Oracle Sans Tab" pitchFamily="34" charset="-120"/>
              </a:rPr>
              <a:t>Workflow</a:t>
            </a:r>
            <a:endParaRPr lang="en-US" sz="900" dirty="0"/>
          </a:p>
        </p:txBody>
      </p:sp>
      <p:sp>
        <p:nvSpPr>
          <p:cNvPr id="62" name="Shape 59"/>
          <p:cNvSpPr/>
          <p:nvPr/>
        </p:nvSpPr>
        <p:spPr>
          <a:xfrm>
            <a:off x="932449" y="8120021"/>
            <a:ext cx="5842589" cy="795300"/>
          </a:xfrm>
          <a:prstGeom prst="roundRect">
            <a:avLst>
              <a:gd name="adj" fmla="val 6946"/>
            </a:avLst>
          </a:prstGeom>
          <a:solidFill>
            <a:srgbClr val="0B5060"/>
          </a:solidFill>
          <a:ln w="13229">
            <a:solidFill>
              <a:srgbClr val="FFFFFF">
                <a:alpha val="20000"/>
              </a:srgbClr>
            </a:solidFill>
            <a:prstDash val="solid"/>
          </a:ln>
        </p:spPr>
        <p:txBody>
          <a:bodyPr/>
          <a:lstStyle/>
          <a:p>
            <a:endParaRPr lang="en-US"/>
          </a:p>
        </p:txBody>
      </p:sp>
      <p:sp>
        <p:nvSpPr>
          <p:cNvPr id="63" name="Text 60"/>
          <p:cNvSpPr/>
          <p:nvPr/>
        </p:nvSpPr>
        <p:spPr>
          <a:xfrm>
            <a:off x="1234395" y="8372926"/>
            <a:ext cx="5396871" cy="327591"/>
          </a:xfrm>
          <a:prstGeom prst="rect">
            <a:avLst/>
          </a:prstGeom>
          <a:noFill/>
          <a:ln/>
        </p:spPr>
        <p:txBody>
          <a:bodyPr wrap="square" lIns="25400" tIns="25400" rIns="25400" bIns="25400" rtlCol="0" anchor="t">
            <a:normAutofit lnSpcReduction="10000"/>
          </a:bodyPr>
          <a:lstStyle/>
          <a:p>
            <a:pPr marL="0" indent="0" algn="l">
              <a:lnSpc>
                <a:spcPct val="72960"/>
              </a:lnSpc>
              <a:buNone/>
            </a:pPr>
            <a:r>
              <a:rPr lang="en-US" sz="1200" i="1" dirty="0">
                <a:solidFill>
                  <a:srgbClr val="C3D7DC"/>
                </a:solidFill>
                <a:latin typeface="Oracle Sans Tab" pitchFamily="34" charset="0"/>
                <a:ea typeface="Oracle Sans Tab" pitchFamily="34" charset="-122"/>
                <a:cs typeface="Oracle Sans Tab" pitchFamily="34" charset="-120"/>
              </a:rPr>
              <a:t>Durable, governed, queryable. One engine for every shape memory takes, not a vector store bolted on.</a:t>
            </a:r>
            <a:endParaRPr lang="en-US" sz="1200" dirty="0"/>
          </a:p>
        </p:txBody>
      </p:sp>
      <p:sp>
        <p:nvSpPr>
          <p:cNvPr id="64" name="Text 61"/>
          <p:cNvSpPr/>
          <p:nvPr/>
        </p:nvSpPr>
        <p:spPr>
          <a:xfrm>
            <a:off x="7406628" y="1714469"/>
            <a:ext cx="1659620" cy="220931"/>
          </a:xfrm>
          <a:prstGeom prst="rect">
            <a:avLst/>
          </a:prstGeom>
          <a:noFill/>
          <a:ln/>
        </p:spPr>
        <p:txBody>
          <a:bodyPr wrap="square" lIns="25400" tIns="25400" rIns="25400" bIns="25400" rtlCol="0" anchor="t">
            <a:normAutofit/>
          </a:bodyPr>
          <a:lstStyle/>
          <a:p>
            <a:pPr marL="0" indent="0" algn="l">
              <a:lnSpc>
                <a:spcPct val="92160"/>
              </a:lnSpc>
              <a:buNone/>
            </a:pPr>
            <a:r>
              <a:rPr lang="en-US" sz="1125" b="1" dirty="0">
                <a:solidFill>
                  <a:srgbClr val="FD6953"/>
                </a:solidFill>
                <a:latin typeface="Oracle Sans Tab" pitchFamily="34" charset="0"/>
                <a:ea typeface="Oracle Sans Tab" pitchFamily="34" charset="-122"/>
                <a:cs typeface="Oracle Sans Tab" pitchFamily="34" charset="-120"/>
              </a:rPr>
              <a:t>MEMORY OPS</a:t>
            </a:r>
            <a:endParaRPr lang="en-US" sz="1125" dirty="0"/>
          </a:p>
        </p:txBody>
      </p:sp>
      <p:sp>
        <p:nvSpPr>
          <p:cNvPr id="65" name="Shape 62"/>
          <p:cNvSpPr/>
          <p:nvPr/>
        </p:nvSpPr>
        <p:spPr>
          <a:xfrm>
            <a:off x="7269478" y="2029747"/>
            <a:ext cx="1783043" cy="893434"/>
          </a:xfrm>
          <a:prstGeom prst="roundRect">
            <a:avLst>
              <a:gd name="adj" fmla="val 6183"/>
            </a:avLst>
          </a:prstGeom>
          <a:solidFill>
            <a:srgbClr val="0B5060"/>
          </a:solidFill>
          <a:ln w="13229">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66" name="Shape 63"/>
          <p:cNvSpPr/>
          <p:nvPr/>
        </p:nvSpPr>
        <p:spPr>
          <a:xfrm>
            <a:off x="7269478" y="2029747"/>
            <a:ext cx="96170" cy="893434"/>
          </a:xfrm>
          <a:prstGeom prst="rect">
            <a:avLst/>
          </a:prstGeom>
          <a:solidFill>
            <a:srgbClr val="C74634"/>
          </a:solidFill>
          <a:ln/>
        </p:spPr>
        <p:txBody>
          <a:bodyPr/>
          <a:lstStyle/>
          <a:p>
            <a:endParaRPr lang="en-US"/>
          </a:p>
        </p:txBody>
      </p:sp>
      <p:sp>
        <p:nvSpPr>
          <p:cNvPr id="67" name="Text 64"/>
          <p:cNvSpPr/>
          <p:nvPr/>
        </p:nvSpPr>
        <p:spPr>
          <a:xfrm>
            <a:off x="7571372" y="2407863"/>
            <a:ext cx="1418658" cy="175249"/>
          </a:xfrm>
          <a:prstGeom prst="rect">
            <a:avLst/>
          </a:prstGeom>
          <a:noFill/>
          <a:ln/>
        </p:spPr>
        <p:txBody>
          <a:bodyPr wrap="square" lIns="25400" tIns="25400" rIns="25400" bIns="25400" rtlCol="0" anchor="t">
            <a:normAutofit/>
          </a:bodyPr>
          <a:lstStyle/>
          <a:p>
            <a:pPr marL="0" indent="0" algn="l">
              <a:lnSpc>
                <a:spcPct val="69120"/>
              </a:lnSpc>
              <a:buNone/>
            </a:pPr>
            <a:r>
              <a:rPr lang="en-US" sz="1050" dirty="0">
                <a:solidFill>
                  <a:srgbClr val="FFFFFF"/>
                </a:solidFill>
                <a:latin typeface="Oracle Sans Tab" pitchFamily="34" charset="0"/>
                <a:ea typeface="Oracle Sans Tab" pitchFamily="34" charset="-122"/>
                <a:cs typeface="Oracle Sans Tab" pitchFamily="34" charset="-120"/>
              </a:rPr>
              <a:t>Memory retrieval</a:t>
            </a:r>
            <a:endParaRPr lang="en-US" sz="1050" dirty="0"/>
          </a:p>
        </p:txBody>
      </p:sp>
      <p:sp>
        <p:nvSpPr>
          <p:cNvPr id="68" name="Shape 65"/>
          <p:cNvSpPr/>
          <p:nvPr/>
        </p:nvSpPr>
        <p:spPr>
          <a:xfrm>
            <a:off x="7269478" y="3060382"/>
            <a:ext cx="1783043" cy="893434"/>
          </a:xfrm>
          <a:prstGeom prst="roundRect">
            <a:avLst>
              <a:gd name="adj" fmla="val 6183"/>
            </a:avLst>
          </a:prstGeom>
          <a:solidFill>
            <a:srgbClr val="0B5060"/>
          </a:solidFill>
          <a:ln w="13229">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69" name="Shape 66"/>
          <p:cNvSpPr/>
          <p:nvPr/>
        </p:nvSpPr>
        <p:spPr>
          <a:xfrm>
            <a:off x="7269478" y="3060382"/>
            <a:ext cx="96170" cy="893434"/>
          </a:xfrm>
          <a:prstGeom prst="rect">
            <a:avLst/>
          </a:prstGeom>
          <a:solidFill>
            <a:srgbClr val="C74634"/>
          </a:solidFill>
          <a:ln/>
        </p:spPr>
        <p:txBody>
          <a:bodyPr/>
          <a:lstStyle/>
          <a:p>
            <a:endParaRPr lang="en-US"/>
          </a:p>
        </p:txBody>
      </p:sp>
      <p:sp>
        <p:nvSpPr>
          <p:cNvPr id="70" name="Text 67"/>
          <p:cNvSpPr/>
          <p:nvPr/>
        </p:nvSpPr>
        <p:spPr>
          <a:xfrm>
            <a:off x="7571372" y="3438498"/>
            <a:ext cx="1418658" cy="175249"/>
          </a:xfrm>
          <a:prstGeom prst="rect">
            <a:avLst/>
          </a:prstGeom>
          <a:noFill/>
          <a:ln/>
        </p:spPr>
        <p:txBody>
          <a:bodyPr wrap="square" lIns="25400" tIns="25400" rIns="25400" bIns="25400" rtlCol="0" anchor="t">
            <a:normAutofit/>
          </a:bodyPr>
          <a:lstStyle/>
          <a:p>
            <a:pPr marL="0" indent="0" algn="l">
              <a:lnSpc>
                <a:spcPct val="69120"/>
              </a:lnSpc>
              <a:buNone/>
            </a:pPr>
            <a:r>
              <a:rPr lang="en-US" sz="1050" dirty="0">
                <a:solidFill>
                  <a:srgbClr val="FFFFFF"/>
                </a:solidFill>
                <a:latin typeface="Oracle Sans Tab" pitchFamily="34" charset="0"/>
                <a:ea typeface="Oracle Sans Tab" pitchFamily="34" charset="-122"/>
                <a:cs typeface="Oracle Sans Tab" pitchFamily="34" charset="-120"/>
              </a:rPr>
              <a:t>Memory indexing</a:t>
            </a:r>
            <a:endParaRPr lang="en-US" sz="1050" dirty="0"/>
          </a:p>
        </p:txBody>
      </p:sp>
      <p:sp>
        <p:nvSpPr>
          <p:cNvPr id="71" name="Shape 68"/>
          <p:cNvSpPr/>
          <p:nvPr/>
        </p:nvSpPr>
        <p:spPr>
          <a:xfrm>
            <a:off x="7269478" y="4090965"/>
            <a:ext cx="1783043" cy="893434"/>
          </a:xfrm>
          <a:prstGeom prst="roundRect">
            <a:avLst>
              <a:gd name="adj" fmla="val 6183"/>
            </a:avLst>
          </a:prstGeom>
          <a:solidFill>
            <a:srgbClr val="0B5060"/>
          </a:solidFill>
          <a:ln w="13229">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72" name="Shape 69"/>
          <p:cNvSpPr/>
          <p:nvPr/>
        </p:nvSpPr>
        <p:spPr>
          <a:xfrm>
            <a:off x="7269478" y="4090965"/>
            <a:ext cx="96170" cy="893434"/>
          </a:xfrm>
          <a:prstGeom prst="rect">
            <a:avLst/>
          </a:prstGeom>
          <a:solidFill>
            <a:srgbClr val="C74634"/>
          </a:solidFill>
          <a:ln/>
        </p:spPr>
        <p:txBody>
          <a:bodyPr/>
          <a:lstStyle/>
          <a:p>
            <a:endParaRPr lang="en-US"/>
          </a:p>
        </p:txBody>
      </p:sp>
      <p:sp>
        <p:nvSpPr>
          <p:cNvPr id="73" name="Text 70"/>
          <p:cNvSpPr/>
          <p:nvPr/>
        </p:nvSpPr>
        <p:spPr>
          <a:xfrm>
            <a:off x="7571372" y="4469081"/>
            <a:ext cx="1418658" cy="175249"/>
          </a:xfrm>
          <a:prstGeom prst="rect">
            <a:avLst/>
          </a:prstGeom>
          <a:noFill/>
          <a:ln/>
        </p:spPr>
        <p:txBody>
          <a:bodyPr wrap="square" lIns="25400" tIns="25400" rIns="25400" bIns="25400" rtlCol="0" anchor="t">
            <a:normAutofit/>
          </a:bodyPr>
          <a:lstStyle/>
          <a:p>
            <a:pPr marL="0" indent="0" algn="l">
              <a:lnSpc>
                <a:spcPct val="69120"/>
              </a:lnSpc>
              <a:buNone/>
            </a:pPr>
            <a:r>
              <a:rPr lang="en-US" sz="1050" dirty="0">
                <a:solidFill>
                  <a:srgbClr val="FFFFFF"/>
                </a:solidFill>
                <a:latin typeface="Oracle Sans Tab" pitchFamily="34" charset="0"/>
                <a:ea typeface="Oracle Sans Tab" pitchFamily="34" charset="-122"/>
                <a:cs typeface="Oracle Sans Tab" pitchFamily="34" charset="-120"/>
              </a:rPr>
              <a:t>Memory storage</a:t>
            </a:r>
            <a:endParaRPr lang="en-US" sz="1050" dirty="0"/>
          </a:p>
        </p:txBody>
      </p:sp>
      <p:sp>
        <p:nvSpPr>
          <p:cNvPr id="74" name="Shape 71"/>
          <p:cNvSpPr/>
          <p:nvPr/>
        </p:nvSpPr>
        <p:spPr>
          <a:xfrm>
            <a:off x="7269478" y="5121548"/>
            <a:ext cx="1783043" cy="893434"/>
          </a:xfrm>
          <a:prstGeom prst="roundRect">
            <a:avLst>
              <a:gd name="adj" fmla="val 6183"/>
            </a:avLst>
          </a:prstGeom>
          <a:solidFill>
            <a:srgbClr val="0B5060"/>
          </a:solidFill>
          <a:ln w="13229">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75" name="Shape 72"/>
          <p:cNvSpPr/>
          <p:nvPr/>
        </p:nvSpPr>
        <p:spPr>
          <a:xfrm>
            <a:off x="7269478" y="5121548"/>
            <a:ext cx="96170" cy="893434"/>
          </a:xfrm>
          <a:prstGeom prst="rect">
            <a:avLst/>
          </a:prstGeom>
          <a:solidFill>
            <a:srgbClr val="C74634"/>
          </a:solidFill>
          <a:ln/>
        </p:spPr>
        <p:txBody>
          <a:bodyPr/>
          <a:lstStyle/>
          <a:p>
            <a:endParaRPr lang="en-US"/>
          </a:p>
        </p:txBody>
      </p:sp>
      <p:sp>
        <p:nvSpPr>
          <p:cNvPr id="76" name="Text 73"/>
          <p:cNvSpPr/>
          <p:nvPr/>
        </p:nvSpPr>
        <p:spPr>
          <a:xfrm>
            <a:off x="7571372" y="5499664"/>
            <a:ext cx="1418658" cy="175249"/>
          </a:xfrm>
          <a:prstGeom prst="rect">
            <a:avLst/>
          </a:prstGeom>
          <a:noFill/>
          <a:ln/>
        </p:spPr>
        <p:txBody>
          <a:bodyPr wrap="square" lIns="25400" tIns="25400" rIns="25400" bIns="25400" rtlCol="0" anchor="t">
            <a:normAutofit/>
          </a:bodyPr>
          <a:lstStyle/>
          <a:p>
            <a:pPr marL="0" indent="0" algn="l">
              <a:lnSpc>
                <a:spcPct val="69120"/>
              </a:lnSpc>
              <a:buNone/>
            </a:pPr>
            <a:r>
              <a:rPr lang="en-US" sz="1050" dirty="0">
                <a:solidFill>
                  <a:srgbClr val="FFFFFF"/>
                </a:solidFill>
                <a:latin typeface="Oracle Sans Tab" pitchFamily="34" charset="0"/>
                <a:ea typeface="Oracle Sans Tab" pitchFamily="34" charset="-122"/>
                <a:cs typeface="Oracle Sans Tab" pitchFamily="34" charset="-120"/>
              </a:rPr>
              <a:t>Decay &amp; forgetting</a:t>
            </a:r>
            <a:endParaRPr lang="en-US" sz="1050" dirty="0"/>
          </a:p>
        </p:txBody>
      </p:sp>
      <p:sp>
        <p:nvSpPr>
          <p:cNvPr id="77" name="Shape 74"/>
          <p:cNvSpPr/>
          <p:nvPr/>
        </p:nvSpPr>
        <p:spPr>
          <a:xfrm>
            <a:off x="7269478" y="6152183"/>
            <a:ext cx="1783043" cy="893434"/>
          </a:xfrm>
          <a:prstGeom prst="roundRect">
            <a:avLst>
              <a:gd name="adj" fmla="val 6183"/>
            </a:avLst>
          </a:prstGeom>
          <a:solidFill>
            <a:srgbClr val="0B5060"/>
          </a:solidFill>
          <a:ln w="13229">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78" name="Shape 75"/>
          <p:cNvSpPr/>
          <p:nvPr/>
        </p:nvSpPr>
        <p:spPr>
          <a:xfrm>
            <a:off x="7269478" y="6152183"/>
            <a:ext cx="96170" cy="893434"/>
          </a:xfrm>
          <a:prstGeom prst="rect">
            <a:avLst/>
          </a:prstGeom>
          <a:solidFill>
            <a:srgbClr val="C74634"/>
          </a:solidFill>
          <a:ln/>
        </p:spPr>
        <p:txBody>
          <a:bodyPr/>
          <a:lstStyle/>
          <a:p>
            <a:endParaRPr lang="en-US"/>
          </a:p>
        </p:txBody>
      </p:sp>
      <p:sp>
        <p:nvSpPr>
          <p:cNvPr id="79" name="Text 76"/>
          <p:cNvSpPr/>
          <p:nvPr/>
        </p:nvSpPr>
        <p:spPr>
          <a:xfrm>
            <a:off x="7571372" y="6461724"/>
            <a:ext cx="1365889" cy="312399"/>
          </a:xfrm>
          <a:prstGeom prst="rect">
            <a:avLst/>
          </a:prstGeom>
          <a:noFill/>
          <a:ln/>
        </p:spPr>
        <p:txBody>
          <a:bodyPr wrap="square" lIns="25400" tIns="25400" rIns="25400" bIns="25400" rtlCol="0" anchor="t">
            <a:normAutofit/>
          </a:bodyPr>
          <a:lstStyle/>
          <a:p>
            <a:pPr marL="0" indent="0" algn="l">
              <a:lnSpc>
                <a:spcPct val="69120"/>
              </a:lnSpc>
              <a:buNone/>
            </a:pPr>
            <a:r>
              <a:rPr lang="en-US" sz="1050" dirty="0">
                <a:solidFill>
                  <a:srgbClr val="FFFFFF"/>
                </a:solidFill>
                <a:latin typeface="Oracle Sans Tab" pitchFamily="34" charset="0"/>
                <a:ea typeface="Oracle Sans Tab" pitchFamily="34" charset="-122"/>
                <a:cs typeface="Oracle Sans Tab" pitchFamily="34" charset="-120"/>
              </a:rPr>
              <a:t>Retrieval optimisation</a:t>
            </a:r>
            <a:endParaRPr lang="en-US" sz="1050" dirty="0"/>
          </a:p>
        </p:txBody>
      </p:sp>
      <p:sp>
        <p:nvSpPr>
          <p:cNvPr id="80" name="Shape 77"/>
          <p:cNvSpPr/>
          <p:nvPr/>
        </p:nvSpPr>
        <p:spPr>
          <a:xfrm>
            <a:off x="7269478" y="7182766"/>
            <a:ext cx="1783043" cy="893434"/>
          </a:xfrm>
          <a:prstGeom prst="roundRect">
            <a:avLst>
              <a:gd name="adj" fmla="val 6183"/>
            </a:avLst>
          </a:prstGeom>
          <a:solidFill>
            <a:srgbClr val="0B5060"/>
          </a:solidFill>
          <a:ln w="13229">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81" name="Shape 78"/>
          <p:cNvSpPr/>
          <p:nvPr/>
        </p:nvSpPr>
        <p:spPr>
          <a:xfrm>
            <a:off x="7269478" y="7182766"/>
            <a:ext cx="96170" cy="893434"/>
          </a:xfrm>
          <a:prstGeom prst="rect">
            <a:avLst/>
          </a:prstGeom>
          <a:solidFill>
            <a:srgbClr val="C74634"/>
          </a:solidFill>
          <a:ln/>
        </p:spPr>
        <p:txBody>
          <a:bodyPr/>
          <a:lstStyle/>
          <a:p>
            <a:endParaRPr lang="en-US"/>
          </a:p>
        </p:txBody>
      </p:sp>
      <p:sp>
        <p:nvSpPr>
          <p:cNvPr id="82" name="Text 79"/>
          <p:cNvSpPr/>
          <p:nvPr/>
        </p:nvSpPr>
        <p:spPr>
          <a:xfrm>
            <a:off x="7571372" y="7560882"/>
            <a:ext cx="1418658" cy="175249"/>
          </a:xfrm>
          <a:prstGeom prst="rect">
            <a:avLst/>
          </a:prstGeom>
          <a:noFill/>
          <a:ln/>
        </p:spPr>
        <p:txBody>
          <a:bodyPr wrap="square" lIns="25400" tIns="25400" rIns="25400" bIns="25400" rtlCol="0" anchor="t">
            <a:normAutofit/>
          </a:bodyPr>
          <a:lstStyle/>
          <a:p>
            <a:pPr marL="0" indent="0" algn="l">
              <a:lnSpc>
                <a:spcPct val="69120"/>
              </a:lnSpc>
              <a:buNone/>
            </a:pPr>
            <a:r>
              <a:rPr lang="en-US" sz="1050" dirty="0">
                <a:solidFill>
                  <a:srgbClr val="FFFFFF"/>
                </a:solidFill>
                <a:latin typeface="Oracle Sans Tab" pitchFamily="34" charset="0"/>
                <a:ea typeface="Oracle Sans Tab" pitchFamily="34" charset="-122"/>
                <a:cs typeface="Oracle Sans Tab" pitchFamily="34" charset="-120"/>
              </a:rPr>
              <a:t>Storage optimisation</a:t>
            </a:r>
            <a:endParaRPr lang="en-US" sz="1050" dirty="0"/>
          </a:p>
        </p:txBody>
      </p:sp>
      <p:sp>
        <p:nvSpPr>
          <p:cNvPr id="83" name="Shape 80"/>
          <p:cNvSpPr/>
          <p:nvPr/>
        </p:nvSpPr>
        <p:spPr>
          <a:xfrm>
            <a:off x="7269478" y="8214331"/>
            <a:ext cx="1783043" cy="893434"/>
          </a:xfrm>
          <a:prstGeom prst="roundRect">
            <a:avLst>
              <a:gd name="adj" fmla="val 6183"/>
            </a:avLst>
          </a:prstGeom>
          <a:solidFill>
            <a:srgbClr val="0B5060"/>
          </a:solidFill>
          <a:ln w="13229">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84" name="Shape 81"/>
          <p:cNvSpPr/>
          <p:nvPr/>
        </p:nvSpPr>
        <p:spPr>
          <a:xfrm>
            <a:off x="7269478" y="8214331"/>
            <a:ext cx="96170" cy="893434"/>
          </a:xfrm>
          <a:prstGeom prst="rect">
            <a:avLst/>
          </a:prstGeom>
          <a:solidFill>
            <a:srgbClr val="C74634"/>
          </a:solidFill>
          <a:ln/>
        </p:spPr>
        <p:txBody>
          <a:bodyPr/>
          <a:lstStyle/>
          <a:p>
            <a:endParaRPr lang="en-US"/>
          </a:p>
        </p:txBody>
      </p:sp>
      <p:sp>
        <p:nvSpPr>
          <p:cNvPr id="85" name="Text 82"/>
          <p:cNvSpPr/>
          <p:nvPr/>
        </p:nvSpPr>
        <p:spPr>
          <a:xfrm>
            <a:off x="7571372" y="8592447"/>
            <a:ext cx="1418658" cy="175249"/>
          </a:xfrm>
          <a:prstGeom prst="rect">
            <a:avLst/>
          </a:prstGeom>
          <a:noFill/>
          <a:ln/>
        </p:spPr>
        <p:txBody>
          <a:bodyPr wrap="square" lIns="25400" tIns="25400" rIns="25400" bIns="25400" rtlCol="0" anchor="t">
            <a:normAutofit/>
          </a:bodyPr>
          <a:lstStyle/>
          <a:p>
            <a:pPr marL="0" indent="0" algn="l">
              <a:lnSpc>
                <a:spcPct val="69120"/>
              </a:lnSpc>
              <a:buNone/>
            </a:pPr>
            <a:r>
              <a:rPr lang="en-US" sz="1050" dirty="0">
                <a:solidFill>
                  <a:srgbClr val="FFFFFF"/>
                </a:solidFill>
                <a:latin typeface="Oracle Sans Tab" pitchFamily="34" charset="0"/>
                <a:ea typeface="Oracle Sans Tab" pitchFamily="34" charset="-122"/>
                <a:cs typeface="Oracle Sans Tab" pitchFamily="34" charset="-120"/>
              </a:rPr>
              <a:t>Data modelling</a:t>
            </a:r>
            <a:endParaRPr lang="en-US" sz="1050" dirty="0"/>
          </a:p>
        </p:txBody>
      </p:sp>
      <p:sp>
        <p:nvSpPr>
          <p:cNvPr id="86" name="Shape 83"/>
          <p:cNvSpPr/>
          <p:nvPr/>
        </p:nvSpPr>
        <p:spPr>
          <a:xfrm>
            <a:off x="9244965" y="1618247"/>
            <a:ext cx="630504" cy="7571372"/>
          </a:xfrm>
          <a:prstGeom prst="roundRect">
            <a:avLst>
              <a:gd name="adj" fmla="val 8762"/>
            </a:avLst>
          </a:prstGeom>
          <a:solidFill>
            <a:srgbClr val="04303F"/>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87" name="Shape 84"/>
          <p:cNvSpPr/>
          <p:nvPr/>
        </p:nvSpPr>
        <p:spPr>
          <a:xfrm>
            <a:off x="9244965" y="1618247"/>
            <a:ext cx="630504" cy="137149"/>
          </a:xfrm>
          <a:prstGeom prst="rect">
            <a:avLst/>
          </a:prstGeom>
          <a:solidFill>
            <a:srgbClr val="C74634"/>
          </a:solidFill>
          <a:ln/>
        </p:spPr>
        <p:txBody>
          <a:bodyPr/>
          <a:lstStyle/>
          <a:p>
            <a:endParaRPr lang="en-US"/>
          </a:p>
        </p:txBody>
      </p:sp>
      <p:sp>
        <p:nvSpPr>
          <p:cNvPr id="88" name="Shape 85"/>
          <p:cNvSpPr/>
          <p:nvPr/>
        </p:nvSpPr>
        <p:spPr>
          <a:xfrm>
            <a:off x="8477492" y="5219733"/>
            <a:ext cx="2165397" cy="369486"/>
          </a:xfrm>
          <a:prstGeom prst="roundRect">
            <a:avLst>
              <a:gd name="adj" fmla="val 30935"/>
            </a:avLst>
          </a:prstGeom>
          <a:solidFill>
            <a:srgbClr val="04303F"/>
          </a:solidFill>
          <a:ln/>
          <a:effectLst>
            <a:outerShdw blurRad="133350" dist="28575" dir="5400000" algn="bl" rotWithShape="0">
              <a:srgbClr val="000000">
                <a:alpha val="30000"/>
              </a:srgbClr>
            </a:outerShdw>
          </a:effectLst>
        </p:spPr>
        <p:txBody>
          <a:bodyPr/>
          <a:lstStyle/>
          <a:p>
            <a:endParaRPr lang="en-US"/>
          </a:p>
        </p:txBody>
      </p:sp>
      <p:sp>
        <p:nvSpPr>
          <p:cNvPr id="89" name="Text 86"/>
          <p:cNvSpPr/>
          <p:nvPr/>
        </p:nvSpPr>
        <p:spPr>
          <a:xfrm rot="16200000">
            <a:off x="7806914" y="4915144"/>
            <a:ext cx="3593253" cy="292417"/>
          </a:xfrm>
          <a:prstGeom prst="rect">
            <a:avLst/>
          </a:prstGeom>
          <a:noFill/>
          <a:ln/>
        </p:spPr>
        <p:txBody>
          <a:bodyPr wrap="square" lIns="25400" tIns="25400" rIns="25400" bIns="25400" rtlCol="0" anchor="t">
            <a:noAutofit/>
          </a:bodyPr>
          <a:lstStyle/>
          <a:p>
            <a:pPr marL="0" indent="0" algn="ctr">
              <a:lnSpc>
                <a:spcPct val="92160"/>
              </a:lnSpc>
              <a:buNone/>
            </a:pPr>
            <a:r>
              <a:rPr lang="en-US" sz="2000" b="1" dirty="0">
                <a:solidFill>
                  <a:srgbClr val="FFFFFF"/>
                </a:solidFill>
                <a:latin typeface="Oracle Sans Tab" pitchFamily="34" charset="0"/>
                <a:ea typeface="Oracle Sans Tab" pitchFamily="34" charset="-122"/>
                <a:cs typeface="Oracle Sans Tab" pitchFamily="34" charset="-120"/>
              </a:rPr>
              <a:t>MEMORY MANAGER</a:t>
            </a:r>
            <a:endParaRPr lang="en-US" sz="2000" dirty="0"/>
          </a:p>
        </p:txBody>
      </p:sp>
      <p:sp>
        <p:nvSpPr>
          <p:cNvPr id="90" name="Shape 87"/>
          <p:cNvSpPr/>
          <p:nvPr/>
        </p:nvSpPr>
        <p:spPr>
          <a:xfrm>
            <a:off x="10094577" y="1618247"/>
            <a:ext cx="4691031" cy="7571372"/>
          </a:xfrm>
          <a:prstGeom prst="roundRect">
            <a:avLst>
              <a:gd name="adj" fmla="val 1178"/>
            </a:avLst>
          </a:prstGeom>
          <a:solidFill>
            <a:srgbClr val="0B5060"/>
          </a:solidFill>
          <a:ln w="16536">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1" name="Shape 88"/>
          <p:cNvSpPr/>
          <p:nvPr/>
        </p:nvSpPr>
        <p:spPr>
          <a:xfrm>
            <a:off x="10094577" y="1618247"/>
            <a:ext cx="4691031" cy="548597"/>
          </a:xfrm>
          <a:prstGeom prst="rect">
            <a:avLst/>
          </a:prstGeom>
          <a:solidFill>
            <a:srgbClr val="00688C"/>
          </a:solidFill>
          <a:ln/>
        </p:spPr>
        <p:txBody>
          <a:bodyPr/>
          <a:lstStyle/>
          <a:p>
            <a:endParaRPr lang="en-US"/>
          </a:p>
        </p:txBody>
      </p:sp>
      <p:sp>
        <p:nvSpPr>
          <p:cNvPr id="92" name="Text 89"/>
          <p:cNvSpPr/>
          <p:nvPr/>
        </p:nvSpPr>
        <p:spPr>
          <a:xfrm>
            <a:off x="10451764" y="1804024"/>
            <a:ext cx="3017511"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b="1" dirty="0">
                <a:solidFill>
                  <a:srgbClr val="FFFFFF"/>
                </a:solidFill>
                <a:latin typeface="Oracle Sans Tab" pitchFamily="34" charset="0"/>
                <a:ea typeface="Oracle Sans Tab" pitchFamily="34" charset="-122"/>
                <a:cs typeface="Oracle Sans Tab" pitchFamily="34" charset="-120"/>
              </a:rPr>
              <a:t>CONTEXT WINDOW</a:t>
            </a:r>
            <a:endParaRPr lang="en-US" sz="1575" dirty="0"/>
          </a:p>
        </p:txBody>
      </p:sp>
      <p:sp>
        <p:nvSpPr>
          <p:cNvPr id="93" name="Text 90"/>
          <p:cNvSpPr/>
          <p:nvPr/>
        </p:nvSpPr>
        <p:spPr>
          <a:xfrm>
            <a:off x="12556763" y="1824023"/>
            <a:ext cx="1885973" cy="220931"/>
          </a:xfrm>
          <a:prstGeom prst="rect">
            <a:avLst/>
          </a:prstGeom>
          <a:noFill/>
          <a:ln/>
        </p:spPr>
        <p:txBody>
          <a:bodyPr wrap="square" lIns="25400" tIns="25400" rIns="25400" bIns="25400" rtlCol="0" anchor="t">
            <a:normAutofit lnSpcReduction="10000"/>
          </a:bodyPr>
          <a:lstStyle/>
          <a:p>
            <a:pPr marL="0" indent="0" algn="r">
              <a:lnSpc>
                <a:spcPct val="92160"/>
              </a:lnSpc>
              <a:buNone/>
            </a:pPr>
            <a:r>
              <a:rPr lang="en-US" sz="1200" i="1" dirty="0">
                <a:solidFill>
                  <a:srgbClr val="FFFFFF"/>
                </a:solidFill>
                <a:latin typeface="Oracle Sans Tab" pitchFamily="34" charset="0"/>
                <a:ea typeface="Oracle Sans Tab" pitchFamily="34" charset="-122"/>
                <a:cs typeface="Oracle Sans Tab" pitchFamily="34" charset="-120"/>
              </a:rPr>
              <a:t>assembled per call</a:t>
            </a:r>
            <a:endParaRPr lang="en-US" sz="1200" dirty="0"/>
          </a:p>
        </p:txBody>
      </p:sp>
      <p:sp>
        <p:nvSpPr>
          <p:cNvPr id="94" name="Shape 91"/>
          <p:cNvSpPr/>
          <p:nvPr/>
        </p:nvSpPr>
        <p:spPr>
          <a:xfrm>
            <a:off x="10314616" y="2304097"/>
            <a:ext cx="4251937" cy="493355"/>
          </a:xfrm>
          <a:prstGeom prst="roundRect">
            <a:avLst>
              <a:gd name="adj" fmla="val 11198"/>
            </a:avLst>
          </a:prstGeom>
          <a:solidFill>
            <a:srgbClr val="0B5060"/>
          </a:solidFill>
          <a:ln w="16536">
            <a:solidFill>
              <a:srgbClr val="FFFFFF">
                <a:alpha val="25000"/>
              </a:srgbClr>
            </a:solidFill>
            <a:prstDash val="solid"/>
          </a:ln>
        </p:spPr>
        <p:txBody>
          <a:bodyPr/>
          <a:lstStyle/>
          <a:p>
            <a:endParaRPr lang="en-US"/>
          </a:p>
        </p:txBody>
      </p:sp>
      <p:sp>
        <p:nvSpPr>
          <p:cNvPr id="95" name="Text 92"/>
          <p:cNvSpPr/>
          <p:nvPr/>
        </p:nvSpPr>
        <p:spPr>
          <a:xfrm>
            <a:off x="10561788" y="2413599"/>
            <a:ext cx="3757487" cy="312399"/>
          </a:xfrm>
          <a:prstGeom prst="rect">
            <a:avLst/>
          </a:prstGeom>
          <a:noFill/>
          <a:ln/>
        </p:spPr>
        <p:txBody>
          <a:bodyPr wrap="square" lIns="25400" tIns="25400" rIns="25400" bIns="25400" rtlCol="0" anchor="t">
            <a:normAutofit fontScale="92500" lnSpcReduction="20000"/>
          </a:bodyPr>
          <a:lstStyle/>
          <a:p>
            <a:pPr marL="0" indent="0" algn="ctr">
              <a:lnSpc>
                <a:spcPct val="69120"/>
              </a:lnSpc>
              <a:buNone/>
            </a:pPr>
            <a:r>
              <a:rPr lang="en-US" sz="1050" b="1" dirty="0">
                <a:solidFill>
                  <a:srgbClr val="7FBEDE"/>
                </a:solidFill>
                <a:latin typeface="Oracle Sans Tab" pitchFamily="34" charset="0"/>
                <a:ea typeface="Oracle Sans Tab" pitchFamily="34" charset="-122"/>
                <a:cs typeface="Oracle Sans Tab" pitchFamily="34" charset="-120"/>
              </a:rPr>
              <a:t>Context engineering </a:t>
            </a:r>
            <a:r>
              <a:rPr lang="en-US" sz="1050" dirty="0">
                <a:solidFill>
                  <a:srgbClr val="FFFFFF"/>
                </a:solidFill>
                <a:latin typeface="Oracle Sans Tab" pitchFamily="34" charset="0"/>
                <a:ea typeface="Oracle Sans Tab" pitchFamily="34" charset="-122"/>
                <a:cs typeface="Oracle Sans Tab" pitchFamily="34" charset="-120"/>
              </a:rPr>
              <a:t>token budgeting · JIT retrieval · context </a:t>
            </a:r>
          </a:p>
          <a:p>
            <a:pPr marL="0" indent="0" algn="ctr">
              <a:lnSpc>
                <a:spcPct val="69120"/>
              </a:lnSpc>
              <a:buNone/>
            </a:pPr>
            <a:endParaRPr lang="en-US" sz="1050" dirty="0">
              <a:solidFill>
                <a:srgbClr val="FFFFFF"/>
              </a:solidFill>
              <a:latin typeface="Oracle Sans Tab" pitchFamily="34" charset="0"/>
              <a:ea typeface="Oracle Sans Tab" pitchFamily="34" charset="-122"/>
              <a:cs typeface="Oracle Sans Tab" pitchFamily="34" charset="-120"/>
            </a:endParaRPr>
          </a:p>
          <a:p>
            <a:pPr marL="0" indent="0" algn="ctr">
              <a:lnSpc>
                <a:spcPct val="69120"/>
              </a:lnSpc>
              <a:buNone/>
            </a:pPr>
            <a:r>
              <a:rPr lang="en-US" sz="1050" dirty="0">
                <a:solidFill>
                  <a:srgbClr val="FFFFFF"/>
                </a:solidFill>
                <a:latin typeface="Oracle Sans Tab" pitchFamily="34" charset="0"/>
                <a:ea typeface="Oracle Sans Tab" pitchFamily="34" charset="-122"/>
                <a:cs typeface="Oracle Sans Tab" pitchFamily="34" charset="-120"/>
              </a:rPr>
              <a:t>retrieval · compose &amp; order · offloading</a:t>
            </a:r>
            <a:endParaRPr lang="en-US" sz="1200" dirty="0"/>
          </a:p>
        </p:txBody>
      </p:sp>
      <p:sp>
        <p:nvSpPr>
          <p:cNvPr id="96" name="Shape 93"/>
          <p:cNvSpPr/>
          <p:nvPr/>
        </p:nvSpPr>
        <p:spPr>
          <a:xfrm>
            <a:off x="10314616" y="2907936"/>
            <a:ext cx="4251937" cy="493355"/>
          </a:xfrm>
          <a:prstGeom prst="roundRect">
            <a:avLst>
              <a:gd name="adj" fmla="val 11198"/>
            </a:avLst>
          </a:prstGeom>
          <a:solidFill>
            <a:srgbClr val="0B5060"/>
          </a:solidFill>
          <a:ln w="16536">
            <a:solidFill>
              <a:srgbClr val="E0836F"/>
            </a:solidFill>
            <a:prstDash val="solid"/>
          </a:ln>
        </p:spPr>
        <p:txBody>
          <a:bodyPr/>
          <a:lstStyle/>
          <a:p>
            <a:endParaRPr lang="en-US"/>
          </a:p>
        </p:txBody>
      </p:sp>
      <p:sp>
        <p:nvSpPr>
          <p:cNvPr id="97" name="Text 94"/>
          <p:cNvSpPr/>
          <p:nvPr/>
        </p:nvSpPr>
        <p:spPr>
          <a:xfrm>
            <a:off x="10561788" y="3017438"/>
            <a:ext cx="3757487" cy="421060"/>
          </a:xfrm>
          <a:prstGeom prst="rect">
            <a:avLst/>
          </a:prstGeom>
          <a:noFill/>
          <a:ln/>
        </p:spPr>
        <p:txBody>
          <a:bodyPr wrap="square" lIns="25400" tIns="25400" rIns="25400" bIns="25400" rtlCol="0" anchor="t">
            <a:normAutofit/>
          </a:bodyPr>
          <a:lstStyle/>
          <a:p>
            <a:pPr marL="0" indent="0" algn="ctr">
              <a:lnSpc>
                <a:spcPct val="69120"/>
              </a:lnSpc>
              <a:buNone/>
            </a:pPr>
            <a:r>
              <a:rPr lang="en-US" sz="1050" b="1" dirty="0">
                <a:solidFill>
                  <a:srgbClr val="FD6953"/>
                </a:solidFill>
                <a:latin typeface="Oracle Sans Tab" pitchFamily="34" charset="0"/>
                <a:ea typeface="Oracle Sans Tab" pitchFamily="34" charset="-122"/>
                <a:cs typeface="Oracle Sans Tab" pitchFamily="34" charset="-120"/>
              </a:rPr>
              <a:t>Prompt engineering </a:t>
            </a:r>
            <a:r>
              <a:rPr lang="en-US" sz="1050" dirty="0">
                <a:solidFill>
                  <a:srgbClr val="FFFFFF"/>
                </a:solidFill>
                <a:latin typeface="Oracle Sans Tab" pitchFamily="34" charset="0"/>
                <a:ea typeface="Oracle Sans Tab" pitchFamily="34" charset="-122"/>
                <a:cs typeface="Oracle Sans Tab" pitchFamily="34" charset="-120"/>
              </a:rPr>
              <a:t>role · attitude · few-shot · chain of </a:t>
            </a:r>
          </a:p>
          <a:p>
            <a:pPr marL="0" indent="0" algn="ctr">
              <a:lnSpc>
                <a:spcPct val="69120"/>
              </a:lnSpc>
              <a:buNone/>
            </a:pPr>
            <a:endParaRPr lang="en-US" sz="1050" dirty="0">
              <a:solidFill>
                <a:srgbClr val="FFFFFF"/>
              </a:solidFill>
              <a:latin typeface="Oracle Sans Tab" pitchFamily="34" charset="0"/>
              <a:ea typeface="Oracle Sans Tab" pitchFamily="34" charset="-122"/>
              <a:cs typeface="Oracle Sans Tab" pitchFamily="34" charset="-120"/>
            </a:endParaRPr>
          </a:p>
          <a:p>
            <a:pPr marL="0" indent="0" algn="ctr">
              <a:lnSpc>
                <a:spcPct val="69120"/>
              </a:lnSpc>
              <a:buNone/>
            </a:pPr>
            <a:r>
              <a:rPr lang="en-US" sz="1050" dirty="0">
                <a:solidFill>
                  <a:srgbClr val="FFFFFF"/>
                </a:solidFill>
                <a:latin typeface="Oracle Sans Tab" pitchFamily="34" charset="0"/>
                <a:ea typeface="Oracle Sans Tab" pitchFamily="34" charset="-122"/>
                <a:cs typeface="Oracle Sans Tab" pitchFamily="34" charset="-120"/>
              </a:rPr>
              <a:t>thought · behavioural conditioning</a:t>
            </a:r>
            <a:endParaRPr lang="en-US" sz="1200" dirty="0"/>
          </a:p>
        </p:txBody>
      </p:sp>
      <p:sp>
        <p:nvSpPr>
          <p:cNvPr id="98" name="Shape 95"/>
          <p:cNvSpPr/>
          <p:nvPr/>
        </p:nvSpPr>
        <p:spPr>
          <a:xfrm>
            <a:off x="10314616" y="3566139"/>
            <a:ext cx="4251937" cy="621978"/>
          </a:xfrm>
          <a:prstGeom prst="roundRect">
            <a:avLst>
              <a:gd name="adj" fmla="val 8882"/>
            </a:avLst>
          </a:prstGeom>
          <a:solidFill>
            <a:srgbClr val="0B5060"/>
          </a:solidFill>
          <a:ln w="13229">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99" name="Text 96"/>
          <p:cNvSpPr/>
          <p:nvPr/>
        </p:nvSpPr>
        <p:spPr>
          <a:xfrm>
            <a:off x="10283241" y="3808553"/>
            <a:ext cx="4314636" cy="175249"/>
          </a:xfrm>
          <a:prstGeom prst="rect">
            <a:avLst/>
          </a:prstGeom>
          <a:noFill/>
          <a:ln/>
        </p:spPr>
        <p:txBody>
          <a:bodyPr wrap="square" lIns="25400" tIns="25400" rIns="25400" bIns="25400" rtlCol="0" anchor="t">
            <a:normAutofit fontScale="92500" lnSpcReduction="10000"/>
          </a:bodyPr>
          <a:lstStyle/>
          <a:p>
            <a:pPr marL="0" indent="0" algn="ctr">
              <a:lnSpc>
                <a:spcPct val="69120"/>
              </a:lnSpc>
              <a:buNone/>
            </a:pPr>
            <a:r>
              <a:rPr lang="en-US" sz="1200" dirty="0">
                <a:solidFill>
                  <a:srgbClr val="FFFFFF"/>
                </a:solidFill>
                <a:latin typeface="Oracle Sans Tab" pitchFamily="34" charset="0"/>
                <a:ea typeface="Oracle Sans Tab" pitchFamily="34" charset="-122"/>
                <a:cs typeface="Oracle Sans Tab" pitchFamily="34" charset="-120"/>
              </a:rPr>
              <a:t>System prompt</a:t>
            </a:r>
            <a:endParaRPr lang="en-US" sz="1200" dirty="0"/>
          </a:p>
        </p:txBody>
      </p:sp>
      <p:sp>
        <p:nvSpPr>
          <p:cNvPr id="100" name="Shape 97"/>
          <p:cNvSpPr/>
          <p:nvPr/>
        </p:nvSpPr>
        <p:spPr>
          <a:xfrm>
            <a:off x="10314616" y="4256691"/>
            <a:ext cx="4251937" cy="621978"/>
          </a:xfrm>
          <a:prstGeom prst="roundRect">
            <a:avLst>
              <a:gd name="adj" fmla="val 8882"/>
            </a:avLst>
          </a:prstGeom>
          <a:solidFill>
            <a:srgbClr val="0B5060"/>
          </a:solidFill>
          <a:ln w="13229">
            <a:solidFill>
              <a:srgbClr val="FFFFFF">
                <a:alpha val="20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01" name="Text 98"/>
          <p:cNvSpPr/>
          <p:nvPr/>
        </p:nvSpPr>
        <p:spPr>
          <a:xfrm>
            <a:off x="10283241" y="4499105"/>
            <a:ext cx="4314636" cy="175249"/>
          </a:xfrm>
          <a:prstGeom prst="rect">
            <a:avLst/>
          </a:prstGeom>
          <a:noFill/>
          <a:ln/>
        </p:spPr>
        <p:txBody>
          <a:bodyPr wrap="square" lIns="25400" tIns="25400" rIns="25400" bIns="25400" rtlCol="0" anchor="t">
            <a:normAutofit fontScale="92500" lnSpcReduction="10000"/>
          </a:bodyPr>
          <a:lstStyle/>
          <a:p>
            <a:pPr marL="0" indent="0" algn="ctr">
              <a:lnSpc>
                <a:spcPct val="69120"/>
              </a:lnSpc>
              <a:buNone/>
            </a:pPr>
            <a:r>
              <a:rPr lang="en-US" sz="1200" dirty="0">
                <a:solidFill>
                  <a:srgbClr val="FFFFFF"/>
                </a:solidFill>
                <a:latin typeface="Oracle Sans Tab" pitchFamily="34" charset="0"/>
                <a:ea typeface="Oracle Sans Tab" pitchFamily="34" charset="-122"/>
                <a:cs typeface="Oracle Sans Tab" pitchFamily="34" charset="-120"/>
              </a:rPr>
              <a:t>User query</a:t>
            </a:r>
            <a:endParaRPr lang="en-US" sz="1200" dirty="0"/>
          </a:p>
        </p:txBody>
      </p:sp>
      <p:sp>
        <p:nvSpPr>
          <p:cNvPr id="102" name="Shape 99"/>
          <p:cNvSpPr/>
          <p:nvPr/>
        </p:nvSpPr>
        <p:spPr>
          <a:xfrm>
            <a:off x="10314616" y="4948225"/>
            <a:ext cx="4251937" cy="621978"/>
          </a:xfrm>
          <a:prstGeom prst="roundRect">
            <a:avLst>
              <a:gd name="adj" fmla="val 8882"/>
            </a:avLst>
          </a:prstGeom>
          <a:solidFill>
            <a:srgbClr val="0B5060"/>
          </a:solidFill>
          <a:ln w="13229">
            <a:solidFill>
              <a:srgbClr val="FFFFFF">
                <a:alpha val="2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03" name="Text 100"/>
          <p:cNvSpPr/>
          <p:nvPr/>
        </p:nvSpPr>
        <p:spPr>
          <a:xfrm>
            <a:off x="10283241" y="5190639"/>
            <a:ext cx="4314636" cy="175249"/>
          </a:xfrm>
          <a:prstGeom prst="rect">
            <a:avLst/>
          </a:prstGeom>
          <a:noFill/>
          <a:ln/>
        </p:spPr>
        <p:txBody>
          <a:bodyPr wrap="square" lIns="25400" tIns="25400" rIns="25400" bIns="25400" rtlCol="0" anchor="t">
            <a:normAutofit fontScale="92500" lnSpcReduction="10000"/>
          </a:bodyPr>
          <a:lstStyle/>
          <a:p>
            <a:pPr marL="0" indent="0" algn="ctr">
              <a:lnSpc>
                <a:spcPct val="69120"/>
              </a:lnSpc>
              <a:buNone/>
            </a:pPr>
            <a:r>
              <a:rPr lang="en-US" sz="1200" dirty="0">
                <a:solidFill>
                  <a:srgbClr val="B6A1C3"/>
                </a:solidFill>
                <a:latin typeface="Oracle Sans Tab" pitchFamily="34" charset="0"/>
                <a:ea typeface="Oracle Sans Tab" pitchFamily="34" charset="-122"/>
                <a:cs typeface="Oracle Sans Tab" pitchFamily="34" charset="-120"/>
              </a:rPr>
              <a:t>Recent interactions</a:t>
            </a:r>
            <a:endParaRPr lang="en-US" sz="1200" dirty="0"/>
          </a:p>
        </p:txBody>
      </p:sp>
      <p:sp>
        <p:nvSpPr>
          <p:cNvPr id="104" name="Shape 101"/>
          <p:cNvSpPr/>
          <p:nvPr/>
        </p:nvSpPr>
        <p:spPr>
          <a:xfrm>
            <a:off x="10314616" y="5638777"/>
            <a:ext cx="4251937" cy="621978"/>
          </a:xfrm>
          <a:prstGeom prst="roundRect">
            <a:avLst>
              <a:gd name="adj" fmla="val 8882"/>
            </a:avLst>
          </a:prstGeom>
          <a:solidFill>
            <a:srgbClr val="0B5060"/>
          </a:solidFill>
          <a:ln w="13229">
            <a:solidFill>
              <a:srgbClr val="FFFFFF">
                <a:alpha val="2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05" name="Text 102"/>
          <p:cNvSpPr/>
          <p:nvPr/>
        </p:nvSpPr>
        <p:spPr>
          <a:xfrm>
            <a:off x="10283241" y="5881191"/>
            <a:ext cx="4314636" cy="175249"/>
          </a:xfrm>
          <a:prstGeom prst="rect">
            <a:avLst/>
          </a:prstGeom>
          <a:noFill/>
          <a:ln/>
        </p:spPr>
        <p:txBody>
          <a:bodyPr wrap="square" lIns="25400" tIns="25400" rIns="25400" bIns="25400" rtlCol="0" anchor="t">
            <a:normAutofit fontScale="92500" lnSpcReduction="10000"/>
          </a:bodyPr>
          <a:lstStyle/>
          <a:p>
            <a:pPr marL="0" indent="0" algn="ctr">
              <a:lnSpc>
                <a:spcPct val="69120"/>
              </a:lnSpc>
              <a:buNone/>
            </a:pPr>
            <a:r>
              <a:rPr lang="en-US" sz="1200" dirty="0">
                <a:solidFill>
                  <a:srgbClr val="B6A1C3"/>
                </a:solidFill>
                <a:latin typeface="Oracle Sans Tab" pitchFamily="34" charset="0"/>
                <a:ea typeface="Oracle Sans Tab" pitchFamily="34" charset="-122"/>
                <a:cs typeface="Oracle Sans Tab" pitchFamily="34" charset="-120"/>
              </a:rPr>
              <a:t>Relevant knowledge</a:t>
            </a:r>
            <a:endParaRPr lang="en-US" sz="1200" dirty="0"/>
          </a:p>
        </p:txBody>
      </p:sp>
      <p:sp>
        <p:nvSpPr>
          <p:cNvPr id="106" name="Shape 103"/>
          <p:cNvSpPr/>
          <p:nvPr/>
        </p:nvSpPr>
        <p:spPr>
          <a:xfrm>
            <a:off x="10314616" y="6330311"/>
            <a:ext cx="4251937" cy="621978"/>
          </a:xfrm>
          <a:prstGeom prst="roundRect">
            <a:avLst>
              <a:gd name="adj" fmla="val 8882"/>
            </a:avLst>
          </a:prstGeom>
          <a:solidFill>
            <a:srgbClr val="0B5060"/>
          </a:solidFill>
          <a:ln w="13229">
            <a:solidFill>
              <a:srgbClr val="FFFFFF">
                <a:alpha val="2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07" name="Text 104"/>
          <p:cNvSpPr/>
          <p:nvPr/>
        </p:nvSpPr>
        <p:spPr>
          <a:xfrm>
            <a:off x="10283241" y="6572725"/>
            <a:ext cx="4314636" cy="175249"/>
          </a:xfrm>
          <a:prstGeom prst="rect">
            <a:avLst/>
          </a:prstGeom>
          <a:noFill/>
          <a:ln/>
        </p:spPr>
        <p:txBody>
          <a:bodyPr wrap="square" lIns="25400" tIns="25400" rIns="25400" bIns="25400" rtlCol="0" anchor="t">
            <a:normAutofit fontScale="92500" lnSpcReduction="10000"/>
          </a:bodyPr>
          <a:lstStyle/>
          <a:p>
            <a:pPr marL="0" indent="0" algn="ctr">
              <a:lnSpc>
                <a:spcPct val="69120"/>
              </a:lnSpc>
              <a:buNone/>
            </a:pPr>
            <a:r>
              <a:rPr lang="en-US" sz="1200" dirty="0">
                <a:solidFill>
                  <a:srgbClr val="B6A1C3"/>
                </a:solidFill>
                <a:latin typeface="Oracle Sans Tab" pitchFamily="34" charset="0"/>
                <a:ea typeface="Oracle Sans Tab" pitchFamily="34" charset="-122"/>
                <a:cs typeface="Oracle Sans Tab" pitchFamily="34" charset="-120"/>
              </a:rPr>
              <a:t>Relevant workflows</a:t>
            </a:r>
            <a:endParaRPr lang="en-US" sz="1200" dirty="0"/>
          </a:p>
        </p:txBody>
      </p:sp>
      <p:sp>
        <p:nvSpPr>
          <p:cNvPr id="108" name="Shape 105"/>
          <p:cNvSpPr/>
          <p:nvPr/>
        </p:nvSpPr>
        <p:spPr>
          <a:xfrm>
            <a:off x="10314616" y="7020863"/>
            <a:ext cx="4251937" cy="621978"/>
          </a:xfrm>
          <a:prstGeom prst="roundRect">
            <a:avLst>
              <a:gd name="adj" fmla="val 8882"/>
            </a:avLst>
          </a:prstGeom>
          <a:solidFill>
            <a:srgbClr val="0B5060"/>
          </a:solidFill>
          <a:ln w="13229">
            <a:solidFill>
              <a:srgbClr val="FFFFFF">
                <a:alpha val="2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09" name="Text 106"/>
          <p:cNvSpPr/>
          <p:nvPr/>
        </p:nvSpPr>
        <p:spPr>
          <a:xfrm>
            <a:off x="10283241" y="7263278"/>
            <a:ext cx="4314636" cy="175249"/>
          </a:xfrm>
          <a:prstGeom prst="rect">
            <a:avLst/>
          </a:prstGeom>
          <a:noFill/>
          <a:ln/>
        </p:spPr>
        <p:txBody>
          <a:bodyPr wrap="square" lIns="25400" tIns="25400" rIns="25400" bIns="25400" rtlCol="0" anchor="t">
            <a:normAutofit fontScale="92500" lnSpcReduction="10000"/>
          </a:bodyPr>
          <a:lstStyle/>
          <a:p>
            <a:pPr marL="0" indent="0" algn="ctr">
              <a:lnSpc>
                <a:spcPct val="69120"/>
              </a:lnSpc>
              <a:buNone/>
            </a:pPr>
            <a:r>
              <a:rPr lang="en-US" sz="1200" dirty="0">
                <a:solidFill>
                  <a:srgbClr val="B6A1C3"/>
                </a:solidFill>
                <a:latin typeface="Oracle Sans Tab" pitchFamily="34" charset="0"/>
                <a:ea typeface="Oracle Sans Tab" pitchFamily="34" charset="-122"/>
                <a:cs typeface="Oracle Sans Tab" pitchFamily="34" charset="-120"/>
              </a:rPr>
              <a:t>Relevant entities</a:t>
            </a:r>
            <a:endParaRPr lang="en-US" sz="1200" dirty="0"/>
          </a:p>
        </p:txBody>
      </p:sp>
      <p:sp>
        <p:nvSpPr>
          <p:cNvPr id="110" name="Shape 107"/>
          <p:cNvSpPr/>
          <p:nvPr/>
        </p:nvSpPr>
        <p:spPr>
          <a:xfrm>
            <a:off x="10314616" y="7711415"/>
            <a:ext cx="4251937" cy="621978"/>
          </a:xfrm>
          <a:prstGeom prst="roundRect">
            <a:avLst>
              <a:gd name="adj" fmla="val 8882"/>
            </a:avLst>
          </a:prstGeom>
          <a:solidFill>
            <a:srgbClr val="0B5060"/>
          </a:solidFill>
          <a:ln w="13229">
            <a:solidFill>
              <a:srgbClr val="FFFFFF">
                <a:alpha val="2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11" name="Text 108"/>
          <p:cNvSpPr/>
          <p:nvPr/>
        </p:nvSpPr>
        <p:spPr>
          <a:xfrm>
            <a:off x="10283241" y="7953830"/>
            <a:ext cx="4314636" cy="175249"/>
          </a:xfrm>
          <a:prstGeom prst="rect">
            <a:avLst/>
          </a:prstGeom>
          <a:noFill/>
          <a:ln/>
        </p:spPr>
        <p:txBody>
          <a:bodyPr wrap="square" lIns="25400" tIns="25400" rIns="25400" bIns="25400" rtlCol="0" anchor="t">
            <a:normAutofit fontScale="92500" lnSpcReduction="10000"/>
          </a:bodyPr>
          <a:lstStyle/>
          <a:p>
            <a:pPr marL="0" indent="0" algn="ctr">
              <a:lnSpc>
                <a:spcPct val="69120"/>
              </a:lnSpc>
              <a:buNone/>
            </a:pPr>
            <a:r>
              <a:rPr lang="en-US" sz="1200" dirty="0">
                <a:solidFill>
                  <a:srgbClr val="B6A1C3"/>
                </a:solidFill>
                <a:latin typeface="Oracle Sans Tab" pitchFamily="34" charset="0"/>
                <a:ea typeface="Oracle Sans Tab" pitchFamily="34" charset="-122"/>
                <a:cs typeface="Oracle Sans Tab" pitchFamily="34" charset="-120"/>
              </a:rPr>
              <a:t>Relevant summaries</a:t>
            </a:r>
            <a:endParaRPr lang="en-US" sz="1200" dirty="0"/>
          </a:p>
        </p:txBody>
      </p:sp>
      <p:sp>
        <p:nvSpPr>
          <p:cNvPr id="112" name="Shape 109"/>
          <p:cNvSpPr/>
          <p:nvPr/>
        </p:nvSpPr>
        <p:spPr>
          <a:xfrm>
            <a:off x="10314616" y="8402949"/>
            <a:ext cx="4251937" cy="621978"/>
          </a:xfrm>
          <a:prstGeom prst="roundRect">
            <a:avLst>
              <a:gd name="adj" fmla="val 8882"/>
            </a:avLst>
          </a:prstGeom>
          <a:solidFill>
            <a:srgbClr val="0B5060"/>
          </a:solidFill>
          <a:ln w="13229">
            <a:solidFill>
              <a:srgbClr val="FFFFFF">
                <a:alpha val="2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13" name="Text 110"/>
          <p:cNvSpPr/>
          <p:nvPr/>
        </p:nvSpPr>
        <p:spPr>
          <a:xfrm>
            <a:off x="10283241" y="8645364"/>
            <a:ext cx="4314636" cy="175249"/>
          </a:xfrm>
          <a:prstGeom prst="rect">
            <a:avLst/>
          </a:prstGeom>
          <a:noFill/>
          <a:ln/>
        </p:spPr>
        <p:txBody>
          <a:bodyPr wrap="square" lIns="25400" tIns="25400" rIns="25400" bIns="25400" rtlCol="0" anchor="t">
            <a:normAutofit fontScale="92500" lnSpcReduction="10000"/>
          </a:bodyPr>
          <a:lstStyle/>
          <a:p>
            <a:pPr marL="0" indent="0" algn="ctr">
              <a:lnSpc>
                <a:spcPct val="69120"/>
              </a:lnSpc>
              <a:buNone/>
            </a:pPr>
            <a:r>
              <a:rPr lang="en-US" sz="1200" dirty="0">
                <a:solidFill>
                  <a:srgbClr val="FFFFFF"/>
                </a:solidFill>
                <a:latin typeface="Oracle Sans Tab" pitchFamily="34" charset="0"/>
                <a:ea typeface="Oracle Sans Tab" pitchFamily="34" charset="-122"/>
                <a:cs typeface="Oracle Sans Tab" pitchFamily="34" charset="-120"/>
              </a:rPr>
              <a:t>Relevant tools &amp; outputs</a:t>
            </a:r>
            <a:endParaRPr lang="en-US" sz="1200" dirty="0"/>
          </a:p>
        </p:txBody>
      </p:sp>
      <p:sp>
        <p:nvSpPr>
          <p:cNvPr id="114" name="Shape 111"/>
          <p:cNvSpPr/>
          <p:nvPr/>
        </p:nvSpPr>
        <p:spPr>
          <a:xfrm>
            <a:off x="15087553" y="3497564"/>
            <a:ext cx="2509821" cy="3812842"/>
          </a:xfrm>
          <a:prstGeom prst="roundRect">
            <a:avLst>
              <a:gd name="adj" fmla="val 2201"/>
            </a:avLst>
          </a:prstGeom>
          <a:solidFill>
            <a:srgbClr val="04303F"/>
          </a:solidFill>
          <a:ln w="16536">
            <a:solidFill>
              <a:srgbClr val="FFFFFF">
                <a:alpha val="45000"/>
              </a:srgbClr>
            </a:solidFill>
            <a:prstDash val="solid"/>
          </a:ln>
          <a:effectLst>
            <a:outerShdw blurRad="114300" dist="19050" dir="5400000" algn="bl" rotWithShape="0">
              <a:srgbClr val="000000">
                <a:alpha val="18000"/>
              </a:srgbClr>
            </a:outerShdw>
          </a:effectLst>
        </p:spPr>
        <p:txBody>
          <a:bodyPr/>
          <a:lstStyle/>
          <a:p>
            <a:endParaRPr lang="en-US"/>
          </a:p>
        </p:txBody>
      </p:sp>
      <p:sp>
        <p:nvSpPr>
          <p:cNvPr id="115" name="Shape 112"/>
          <p:cNvSpPr/>
          <p:nvPr/>
        </p:nvSpPr>
        <p:spPr>
          <a:xfrm>
            <a:off x="15087553" y="3497564"/>
            <a:ext cx="2509821" cy="137149"/>
          </a:xfrm>
          <a:prstGeom prst="rect">
            <a:avLst/>
          </a:prstGeom>
          <a:solidFill>
            <a:srgbClr val="C74634"/>
          </a:solidFill>
          <a:ln/>
        </p:spPr>
        <p:txBody>
          <a:bodyPr/>
          <a:lstStyle/>
          <a:p>
            <a:endParaRPr lang="en-US"/>
          </a:p>
        </p:txBody>
      </p:sp>
      <p:sp>
        <p:nvSpPr>
          <p:cNvPr id="116" name="Text 113"/>
          <p:cNvSpPr/>
          <p:nvPr/>
        </p:nvSpPr>
        <p:spPr>
          <a:xfrm>
            <a:off x="15186603" y="4183362"/>
            <a:ext cx="2311722" cy="723846"/>
          </a:xfrm>
          <a:prstGeom prst="rect">
            <a:avLst/>
          </a:prstGeom>
          <a:noFill/>
          <a:ln/>
        </p:spPr>
        <p:txBody>
          <a:bodyPr wrap="square" lIns="25400" tIns="25400" rIns="25400" bIns="25400" rtlCol="0" anchor="t">
            <a:normAutofit/>
          </a:bodyPr>
          <a:lstStyle/>
          <a:p>
            <a:pPr marL="0" indent="0" algn="ctr">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LLM</a:t>
            </a:r>
            <a:endParaRPr lang="en-US" sz="4500" dirty="0"/>
          </a:p>
        </p:txBody>
      </p:sp>
      <p:sp>
        <p:nvSpPr>
          <p:cNvPr id="117" name="Text 114"/>
          <p:cNvSpPr/>
          <p:nvPr/>
        </p:nvSpPr>
        <p:spPr>
          <a:xfrm>
            <a:off x="15112927" y="5136792"/>
            <a:ext cx="2459075" cy="243824"/>
          </a:xfrm>
          <a:prstGeom prst="rect">
            <a:avLst/>
          </a:prstGeom>
          <a:noFill/>
          <a:ln/>
        </p:spPr>
        <p:txBody>
          <a:bodyPr wrap="square" lIns="25400" tIns="25400" rIns="25400" bIns="25400" rtlCol="0" anchor="t">
            <a:normAutofit/>
          </a:bodyPr>
          <a:lstStyle/>
          <a:p>
            <a:pPr marL="0" indent="0" algn="ctr">
              <a:lnSpc>
                <a:spcPct val="92160"/>
              </a:lnSpc>
              <a:buNone/>
            </a:pPr>
            <a:r>
              <a:rPr lang="en-US" sz="1350" dirty="0">
                <a:solidFill>
                  <a:srgbClr val="FFFFFF"/>
                </a:solidFill>
                <a:latin typeface="Oracle Sans Tab" pitchFamily="34" charset="0"/>
                <a:ea typeface="Oracle Sans Tab" pitchFamily="34" charset="-122"/>
                <a:cs typeface="Oracle Sans Tab" pitchFamily="34" charset="-120"/>
              </a:rPr>
              <a:t>Transformer</a:t>
            </a:r>
            <a:endParaRPr lang="en-US" sz="1350" dirty="0"/>
          </a:p>
        </p:txBody>
      </p:sp>
      <p:sp>
        <p:nvSpPr>
          <p:cNvPr id="118" name="Shape 115"/>
          <p:cNvSpPr/>
          <p:nvPr/>
        </p:nvSpPr>
        <p:spPr>
          <a:xfrm>
            <a:off x="15554296" y="5719754"/>
            <a:ext cx="1577320" cy="548597"/>
          </a:xfrm>
          <a:prstGeom prst="roundRect">
            <a:avLst>
              <a:gd name="adj" fmla="val 10070"/>
            </a:avLst>
          </a:prstGeom>
          <a:solidFill>
            <a:srgbClr val="C74634"/>
          </a:solidFill>
          <a:ln w="16536">
            <a:solidFill>
              <a:srgbClr val="FD6953"/>
            </a:solidFill>
            <a:prstDash val="solid"/>
          </a:ln>
        </p:spPr>
        <p:txBody>
          <a:bodyPr/>
          <a:lstStyle/>
          <a:p>
            <a:endParaRPr lang="en-US"/>
          </a:p>
        </p:txBody>
      </p:sp>
      <p:sp>
        <p:nvSpPr>
          <p:cNvPr id="119" name="Text 116"/>
          <p:cNvSpPr/>
          <p:nvPr/>
        </p:nvSpPr>
        <p:spPr>
          <a:xfrm>
            <a:off x="15626293" y="5896901"/>
            <a:ext cx="1433323" cy="232352"/>
          </a:xfrm>
          <a:prstGeom prst="rect">
            <a:avLst/>
          </a:prstGeom>
          <a:noFill/>
          <a:ln/>
        </p:spPr>
        <p:txBody>
          <a:bodyPr wrap="square" lIns="25400" tIns="25400" rIns="25400" bIns="25400" rtlCol="0" anchor="t">
            <a:normAutofit/>
          </a:bodyPr>
          <a:lstStyle/>
          <a:p>
            <a:pPr marL="0" indent="0" algn="ctr">
              <a:lnSpc>
                <a:spcPct val="92160"/>
              </a:lnSpc>
              <a:buNone/>
            </a:pPr>
            <a:r>
              <a:rPr lang="en-US" sz="1275" b="1" dirty="0">
                <a:solidFill>
                  <a:srgbClr val="FFFFFF"/>
                </a:solidFill>
                <a:latin typeface="Oracle Sans Tab" pitchFamily="34" charset="0"/>
                <a:ea typeface="Oracle Sans Tab" pitchFamily="34" charset="-122"/>
                <a:cs typeface="Oracle Sans Tab" pitchFamily="34" charset="-120"/>
              </a:rPr>
              <a:t>STATELESS</a:t>
            </a:r>
            <a:endParaRPr lang="en-US" sz="1275" dirty="0"/>
          </a:p>
        </p:txBody>
      </p:sp>
      <p:sp>
        <p:nvSpPr>
          <p:cNvPr id="120" name="Text 117"/>
          <p:cNvSpPr/>
          <p:nvPr/>
        </p:nvSpPr>
        <p:spPr>
          <a:xfrm>
            <a:off x="14962062" y="6474126"/>
            <a:ext cx="2760803" cy="175249"/>
          </a:xfrm>
          <a:prstGeom prst="rect">
            <a:avLst/>
          </a:prstGeom>
          <a:noFill/>
          <a:ln/>
        </p:spPr>
        <p:txBody>
          <a:bodyPr wrap="square" lIns="25400" tIns="25400" rIns="25400" bIns="25400" rtlCol="0" anchor="t">
            <a:normAutofit lnSpcReduction="10000"/>
          </a:bodyPr>
          <a:lstStyle/>
          <a:p>
            <a:pPr marL="0" indent="0" algn="ctr">
              <a:lnSpc>
                <a:spcPct val="69120"/>
              </a:lnSpc>
              <a:buNone/>
            </a:pPr>
            <a:r>
              <a:rPr lang="en-US" sz="1125" i="1" dirty="0">
                <a:solidFill>
                  <a:srgbClr val="9FBBC3"/>
                </a:solidFill>
                <a:latin typeface="Oracle Sans Tab" pitchFamily="34" charset="0"/>
                <a:ea typeface="Oracle Sans Tab" pitchFamily="34" charset="-122"/>
                <a:cs typeface="Oracle Sans Tab" pitchFamily="34" charset="-120"/>
              </a:rPr>
              <a:t>swappable, remembers nothing</a:t>
            </a:r>
            <a:endParaRPr lang="en-US" sz="1125" dirty="0"/>
          </a:p>
        </p:txBody>
      </p:sp>
      <p:sp>
        <p:nvSpPr>
          <p:cNvPr id="121" name="Shape 118"/>
          <p:cNvSpPr/>
          <p:nvPr/>
        </p:nvSpPr>
        <p:spPr>
          <a:xfrm>
            <a:off x="7050370" y="4170029"/>
            <a:ext cx="192391" cy="23151"/>
          </a:xfrm>
          <a:prstGeom prst="rect">
            <a:avLst/>
          </a:prstGeom>
          <a:solidFill>
            <a:srgbClr val="FD6953"/>
          </a:solidFill>
          <a:ln/>
        </p:spPr>
        <p:txBody>
          <a:bodyPr/>
          <a:lstStyle/>
          <a:p>
            <a:endParaRPr lang="en-US"/>
          </a:p>
        </p:txBody>
      </p:sp>
      <p:sp>
        <p:nvSpPr>
          <p:cNvPr id="122" name="Shape 119"/>
          <p:cNvSpPr/>
          <p:nvPr/>
        </p:nvSpPr>
        <p:spPr>
          <a:xfrm>
            <a:off x="7130314" y="4093962"/>
            <a:ext cx="112448" cy="152135"/>
          </a:xfrm>
          <a:prstGeom prst="rect">
            <a:avLst/>
          </a:prstGeom>
          <a:solidFill>
            <a:srgbClr val="FD6953"/>
          </a:solidFill>
          <a:ln/>
        </p:spPr>
        <p:txBody>
          <a:bodyPr/>
          <a:lstStyle/>
          <a:p>
            <a:endParaRPr lang="en-US"/>
          </a:p>
        </p:txBody>
      </p:sp>
      <p:sp>
        <p:nvSpPr>
          <p:cNvPr id="123" name="Shape 120"/>
          <p:cNvSpPr/>
          <p:nvPr/>
        </p:nvSpPr>
        <p:spPr>
          <a:xfrm>
            <a:off x="7050370" y="6638923"/>
            <a:ext cx="192391" cy="23151"/>
          </a:xfrm>
          <a:prstGeom prst="rect">
            <a:avLst/>
          </a:prstGeom>
          <a:solidFill>
            <a:srgbClr val="FD6953"/>
          </a:solidFill>
          <a:ln/>
        </p:spPr>
        <p:txBody>
          <a:bodyPr/>
          <a:lstStyle/>
          <a:p>
            <a:endParaRPr lang="en-US"/>
          </a:p>
        </p:txBody>
      </p:sp>
      <p:sp>
        <p:nvSpPr>
          <p:cNvPr id="124" name="Shape 121"/>
          <p:cNvSpPr/>
          <p:nvPr/>
        </p:nvSpPr>
        <p:spPr>
          <a:xfrm>
            <a:off x="7130314" y="6562855"/>
            <a:ext cx="112448" cy="152135"/>
          </a:xfrm>
          <a:prstGeom prst="rect">
            <a:avLst/>
          </a:prstGeom>
          <a:solidFill>
            <a:srgbClr val="FD6953"/>
          </a:solidFill>
          <a:ln/>
        </p:spPr>
        <p:txBody>
          <a:bodyPr/>
          <a:lstStyle/>
          <a:p>
            <a:endParaRPr lang="en-US"/>
          </a:p>
        </p:txBody>
      </p:sp>
      <p:sp>
        <p:nvSpPr>
          <p:cNvPr id="125" name="Shape 122"/>
          <p:cNvSpPr/>
          <p:nvPr/>
        </p:nvSpPr>
        <p:spPr>
          <a:xfrm>
            <a:off x="9065855" y="5404476"/>
            <a:ext cx="164744" cy="23151"/>
          </a:xfrm>
          <a:prstGeom prst="rect">
            <a:avLst/>
          </a:prstGeom>
          <a:solidFill>
            <a:srgbClr val="FD6953"/>
          </a:solidFill>
          <a:ln/>
        </p:spPr>
        <p:txBody>
          <a:bodyPr/>
          <a:lstStyle/>
          <a:p>
            <a:endParaRPr lang="en-US"/>
          </a:p>
        </p:txBody>
      </p:sp>
      <p:sp>
        <p:nvSpPr>
          <p:cNvPr id="126" name="Shape 123"/>
          <p:cNvSpPr/>
          <p:nvPr/>
        </p:nvSpPr>
        <p:spPr>
          <a:xfrm>
            <a:off x="9118151" y="5328408"/>
            <a:ext cx="112448" cy="152135"/>
          </a:xfrm>
          <a:prstGeom prst="rect">
            <a:avLst/>
          </a:prstGeom>
          <a:solidFill>
            <a:srgbClr val="FD6953"/>
          </a:solidFill>
          <a:ln/>
        </p:spPr>
        <p:txBody>
          <a:bodyPr/>
          <a:lstStyle/>
          <a:p>
            <a:endParaRPr lang="en-US"/>
          </a:p>
        </p:txBody>
      </p:sp>
      <p:sp>
        <p:nvSpPr>
          <p:cNvPr id="127" name="Shape 124"/>
          <p:cNvSpPr/>
          <p:nvPr/>
        </p:nvSpPr>
        <p:spPr>
          <a:xfrm>
            <a:off x="9888853" y="5404476"/>
            <a:ext cx="192391" cy="23151"/>
          </a:xfrm>
          <a:prstGeom prst="rect">
            <a:avLst/>
          </a:prstGeom>
          <a:solidFill>
            <a:srgbClr val="FD6953"/>
          </a:solidFill>
          <a:ln/>
        </p:spPr>
        <p:txBody>
          <a:bodyPr/>
          <a:lstStyle/>
          <a:p>
            <a:endParaRPr lang="en-US"/>
          </a:p>
        </p:txBody>
      </p:sp>
      <p:sp>
        <p:nvSpPr>
          <p:cNvPr id="128" name="Shape 125"/>
          <p:cNvSpPr/>
          <p:nvPr/>
        </p:nvSpPr>
        <p:spPr>
          <a:xfrm>
            <a:off x="9968797" y="5328408"/>
            <a:ext cx="112448" cy="152135"/>
          </a:xfrm>
          <a:prstGeom prst="rect">
            <a:avLst/>
          </a:prstGeom>
          <a:solidFill>
            <a:srgbClr val="FD6953"/>
          </a:solidFill>
          <a:ln/>
        </p:spPr>
        <p:txBody>
          <a:bodyPr/>
          <a:lstStyle/>
          <a:p>
            <a:endParaRPr lang="en-US"/>
          </a:p>
        </p:txBody>
      </p:sp>
      <p:sp>
        <p:nvSpPr>
          <p:cNvPr id="129" name="Shape 126"/>
          <p:cNvSpPr/>
          <p:nvPr/>
        </p:nvSpPr>
        <p:spPr>
          <a:xfrm>
            <a:off x="14813255" y="5404476"/>
            <a:ext cx="246652" cy="23151"/>
          </a:xfrm>
          <a:prstGeom prst="rect">
            <a:avLst/>
          </a:prstGeom>
          <a:solidFill>
            <a:srgbClr val="FD6953"/>
          </a:solidFill>
          <a:ln/>
        </p:spPr>
        <p:txBody>
          <a:bodyPr/>
          <a:lstStyle/>
          <a:p>
            <a:endParaRPr lang="en-US"/>
          </a:p>
        </p:txBody>
      </p:sp>
      <p:sp>
        <p:nvSpPr>
          <p:cNvPr id="130" name="Shape 127"/>
          <p:cNvSpPr/>
          <p:nvPr/>
        </p:nvSpPr>
        <p:spPr>
          <a:xfrm>
            <a:off x="14947460" y="5328408"/>
            <a:ext cx="112448" cy="152135"/>
          </a:xfrm>
          <a:prstGeom prst="rect">
            <a:avLst/>
          </a:prstGeom>
          <a:solidFill>
            <a:srgbClr val="FD6953"/>
          </a:solidFill>
          <a:ln/>
        </p:spPr>
        <p:txBody>
          <a:bodyPr/>
          <a:lstStyle/>
          <a:p>
            <a:endParaRPr lang="en-US"/>
          </a:p>
        </p:txBody>
      </p:sp>
      <p:sp>
        <p:nvSpPr>
          <p:cNvPr id="131" name="Shape 128"/>
          <p:cNvSpPr/>
          <p:nvPr/>
        </p:nvSpPr>
        <p:spPr>
          <a:xfrm rot="5400000">
            <a:off x="15242050" y="8390599"/>
            <a:ext cx="2181225" cy="19844"/>
          </a:xfrm>
          <a:prstGeom prst="rect">
            <a:avLst/>
          </a:prstGeom>
          <a:solidFill>
            <a:srgbClr val="FD6953"/>
          </a:solidFill>
          <a:ln/>
        </p:spPr>
        <p:txBody>
          <a:bodyPr/>
          <a:lstStyle/>
          <a:p>
            <a:endParaRPr lang="en-US"/>
          </a:p>
        </p:txBody>
      </p:sp>
      <p:sp>
        <p:nvSpPr>
          <p:cNvPr id="132" name="Shape 129"/>
          <p:cNvSpPr/>
          <p:nvPr/>
        </p:nvSpPr>
        <p:spPr>
          <a:xfrm>
            <a:off x="3853770" y="9491617"/>
            <a:ext cx="12488177" cy="19844"/>
          </a:xfrm>
          <a:prstGeom prst="rect">
            <a:avLst/>
          </a:prstGeom>
          <a:solidFill>
            <a:srgbClr val="FD6953"/>
          </a:solidFill>
          <a:ln/>
        </p:spPr>
        <p:txBody>
          <a:bodyPr/>
          <a:lstStyle/>
          <a:p>
            <a:endParaRPr lang="en-US"/>
          </a:p>
        </p:txBody>
      </p:sp>
      <p:sp>
        <p:nvSpPr>
          <p:cNvPr id="133" name="Shape 130"/>
          <p:cNvSpPr/>
          <p:nvPr/>
        </p:nvSpPr>
        <p:spPr>
          <a:xfrm rot="5400000">
            <a:off x="3705339" y="9344546"/>
            <a:ext cx="276225" cy="19844"/>
          </a:xfrm>
          <a:prstGeom prst="rect">
            <a:avLst/>
          </a:prstGeom>
          <a:solidFill>
            <a:srgbClr val="FD6953"/>
          </a:solidFill>
          <a:ln/>
        </p:spPr>
        <p:txBody>
          <a:bodyPr/>
          <a:lstStyle/>
          <a:p>
            <a:endParaRPr lang="en-US"/>
          </a:p>
        </p:txBody>
      </p:sp>
      <p:sp>
        <p:nvSpPr>
          <p:cNvPr id="134" name="Shape 131"/>
          <p:cNvSpPr/>
          <p:nvPr/>
        </p:nvSpPr>
        <p:spPr>
          <a:xfrm rot="5400000">
            <a:off x="3804160" y="9377317"/>
            <a:ext cx="99219" cy="133350"/>
          </a:xfrm>
          <a:prstGeom prst="rect">
            <a:avLst/>
          </a:prstGeom>
          <a:solidFill>
            <a:srgbClr val="FD6953"/>
          </a:solidFill>
          <a:ln/>
        </p:spPr>
        <p:txBody>
          <a:bodyPr/>
          <a:lstStyle/>
          <a:p>
            <a:endParaRPr lang="en-US"/>
          </a:p>
        </p:txBody>
      </p:sp>
      <p:sp>
        <p:nvSpPr>
          <p:cNvPr id="135" name="Text 132"/>
          <p:cNvSpPr/>
          <p:nvPr/>
        </p:nvSpPr>
        <p:spPr>
          <a:xfrm>
            <a:off x="7187160" y="9297313"/>
            <a:ext cx="7845562" cy="220931"/>
          </a:xfrm>
          <a:prstGeom prst="rect">
            <a:avLst/>
          </a:prstGeom>
          <a:noFill/>
          <a:ln/>
        </p:spPr>
        <p:txBody>
          <a:bodyPr wrap="square" lIns="25400" tIns="25400" rIns="25400" bIns="25400" rtlCol="0" anchor="t">
            <a:normAutofit/>
          </a:bodyPr>
          <a:lstStyle/>
          <a:p>
            <a:pPr marL="0" indent="0" algn="ctr">
              <a:lnSpc>
                <a:spcPct val="92160"/>
              </a:lnSpc>
              <a:buNone/>
            </a:pPr>
            <a:r>
              <a:rPr lang="en-US" sz="1125" b="1" i="1" dirty="0">
                <a:solidFill>
                  <a:srgbClr val="FD6953"/>
                </a:solidFill>
                <a:latin typeface="Oracle Sans Tab" pitchFamily="34" charset="0"/>
                <a:ea typeface="Oracle Sans Tab" pitchFamily="34" charset="-122"/>
                <a:cs typeface="Oracle Sans Tab" pitchFamily="34" charset="-120"/>
              </a:rPr>
              <a:t>Raw output → refined output, written back to memory. The agent learns.</a:t>
            </a:r>
            <a:endParaRPr lang="en-US" sz="1125" dirty="0"/>
          </a:p>
        </p:txBody>
      </p:sp>
      <p:sp>
        <p:nvSpPr>
          <p:cNvPr id="136" name="Shape 133"/>
          <p:cNvSpPr/>
          <p:nvPr/>
        </p:nvSpPr>
        <p:spPr>
          <a:xfrm>
            <a:off x="0" y="9738320"/>
            <a:ext cx="18287979" cy="548597"/>
          </a:xfrm>
          <a:prstGeom prst="rect">
            <a:avLst/>
          </a:prstGeom>
          <a:solidFill>
            <a:srgbClr val="04303F"/>
          </a:solidFill>
          <a:ln/>
        </p:spPr>
        <p:txBody>
          <a:bodyPr/>
          <a:lstStyle/>
          <a:p>
            <a:endParaRPr lang="en-US"/>
          </a:p>
        </p:txBody>
      </p:sp>
      <p:sp>
        <p:nvSpPr>
          <p:cNvPr id="137" name="Text 134"/>
          <p:cNvSpPr/>
          <p:nvPr/>
        </p:nvSpPr>
        <p:spPr>
          <a:xfrm>
            <a:off x="891522" y="9909731"/>
            <a:ext cx="8750804" cy="243824"/>
          </a:xfrm>
          <a:prstGeom prst="rect">
            <a:avLst/>
          </a:prstGeom>
          <a:noFill/>
          <a:ln/>
        </p:spPr>
        <p:txBody>
          <a:bodyPr wrap="square" lIns="25400" tIns="25400" rIns="25400" bIns="25400" rtlCol="0" anchor="t">
            <a:normAutofit/>
          </a:bodyPr>
          <a:lstStyle/>
          <a:p>
            <a:pPr marL="0" indent="0" algn="l">
              <a:lnSpc>
                <a:spcPct val="92160"/>
              </a:lnSpc>
              <a:buNone/>
            </a:pPr>
            <a:r>
              <a:rPr lang="en-US" sz="1350" b="1" dirty="0">
                <a:solidFill>
                  <a:srgbClr val="FFFFFF"/>
                </a:solidFill>
                <a:latin typeface="Oracle Sans Tab" pitchFamily="34" charset="0"/>
                <a:ea typeface="Oracle Sans Tab" pitchFamily="34" charset="-122"/>
                <a:cs typeface="Oracle Sans Tab" pitchFamily="34" charset="-120"/>
              </a:rPr>
              <a:t>ORACLE</a:t>
            </a:r>
            <a:r>
              <a:rPr lang="en-US" sz="1350" dirty="0">
                <a:solidFill>
                  <a:srgbClr val="9FBBC3"/>
                </a:solidFill>
                <a:latin typeface="Oracle Sans Tab" pitchFamily="34" charset="0"/>
                <a:ea typeface="Oracle Sans Tab" pitchFamily="34" charset="-122"/>
                <a:cs typeface="Oracle Sans Tab" pitchFamily="34" charset="-120"/>
              </a:rPr>
              <a:t>| AI Developer Experience</a:t>
            </a:r>
            <a:endParaRPr lang="en-US" sz="1200" dirty="0"/>
          </a:p>
        </p:txBody>
      </p:sp>
      <p:sp>
        <p:nvSpPr>
          <p:cNvPr id="138" name="Text 135"/>
          <p:cNvSpPr/>
          <p:nvPr/>
        </p:nvSpPr>
        <p:spPr>
          <a:xfrm>
            <a:off x="10373848" y="9915467"/>
            <a:ext cx="7091185" cy="232352"/>
          </a:xfrm>
          <a:prstGeom prst="rect">
            <a:avLst/>
          </a:prstGeom>
          <a:noFill/>
          <a:ln/>
        </p:spPr>
        <p:txBody>
          <a:bodyPr wrap="square" lIns="25400" tIns="25400" rIns="25400" bIns="25400" rtlCol="0" anchor="t">
            <a:normAutofit/>
          </a:bodyPr>
          <a:lstStyle/>
          <a:p>
            <a:pPr marL="0" indent="0" algn="r">
              <a:lnSpc>
                <a:spcPct val="92160"/>
              </a:lnSpc>
              <a:buNone/>
            </a:pPr>
            <a:r>
              <a:rPr lang="en-US" sz="1275" dirty="0">
                <a:solidFill>
                  <a:srgbClr val="9FBBC3"/>
                </a:solidFill>
                <a:latin typeface="Oracle Sans Tab" pitchFamily="34" charset="0"/>
                <a:ea typeface="Oracle Sans Tab" pitchFamily="34" charset="-122"/>
                <a:cs typeface="Oracle Sans Tab" pitchFamily="34" charset="-120"/>
              </a:rPr>
              <a:t>Memory engineering · the agent harness</a:t>
            </a:r>
            <a:endParaRPr lang="en-US" sz="1275" dirty="0"/>
          </a:p>
        </p:txBody>
      </p:sp>
      <p:sp>
        <p:nvSpPr>
          <p:cNvPr id="139" name="Shape 136"/>
          <p:cNvSpPr/>
          <p:nvPr/>
        </p:nvSpPr>
        <p:spPr>
          <a:xfrm>
            <a:off x="17643108" y="9827876"/>
            <a:ext cx="370520" cy="370520"/>
          </a:xfrm>
          <a:prstGeom prst="roundRect">
            <a:avLst>
              <a:gd name="adj" fmla="val 14910"/>
            </a:avLst>
          </a:prstGeom>
          <a:solidFill>
            <a:srgbClr val="C74634"/>
          </a:solidFill>
          <a:ln w="16536">
            <a:solidFill>
              <a:srgbClr val="FD6953"/>
            </a:solidFill>
            <a:prstDash val="solid"/>
          </a:ln>
        </p:spPr>
        <p:txBody>
          <a:bodyPr/>
          <a:lstStyle/>
          <a:p>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960096" y="634276"/>
            <a:ext cx="11315665" cy="278137"/>
          </a:xfrm>
          <a:prstGeom prst="rect">
            <a:avLst/>
          </a:prstGeom>
          <a:noFill/>
          <a:ln/>
        </p:spPr>
        <p:txBody>
          <a:bodyPr wrap="square" lIns="25400" tIns="25400" rIns="25400" bIns="25400" rtlCol="0" anchor="t">
            <a:normAutofit/>
          </a:bodyPr>
          <a:lstStyle/>
          <a:p>
            <a:pPr marL="0" indent="0" algn="l">
              <a:lnSpc>
                <a:spcPct val="92160"/>
              </a:lnSpc>
              <a:buNone/>
            </a:pPr>
            <a:r>
              <a:rPr lang="en-US" sz="1575" dirty="0">
                <a:solidFill>
                  <a:srgbClr val="FD6953"/>
                </a:solidFill>
                <a:latin typeface="Oracle Sans Tab" pitchFamily="34" charset="0"/>
                <a:ea typeface="Oracle Sans Tab" pitchFamily="34" charset="-122"/>
                <a:cs typeface="Oracle Sans Tab" pitchFamily="34" charset="-120"/>
              </a:rPr>
              <a:t>ONE SUBSTRATE</a:t>
            </a:r>
            <a:endParaRPr lang="en-US" sz="1575" dirty="0"/>
          </a:p>
        </p:txBody>
      </p:sp>
      <p:sp>
        <p:nvSpPr>
          <p:cNvPr id="4" name="Text 1"/>
          <p:cNvSpPr/>
          <p:nvPr/>
        </p:nvSpPr>
        <p:spPr>
          <a:xfrm>
            <a:off x="8224991" y="634276"/>
            <a:ext cx="9102839" cy="278137"/>
          </a:xfrm>
          <a:prstGeom prst="rect">
            <a:avLst/>
          </a:prstGeom>
          <a:noFill/>
          <a:ln/>
        </p:spPr>
        <p:txBody>
          <a:bodyPr wrap="square" lIns="25400" tIns="25400" rIns="25400" bIns="25400" rtlCol="0" anchor="t">
            <a:normAutofit/>
          </a:bodyPr>
          <a:lstStyle/>
          <a:p>
            <a:pPr marL="0" indent="0" algn="r">
              <a:lnSpc>
                <a:spcPct val="92160"/>
              </a:lnSpc>
              <a:buNone/>
            </a:pPr>
            <a:r>
              <a:rPr lang="en-US" sz="1575" dirty="0">
                <a:solidFill>
                  <a:srgbClr val="9FBBC3"/>
                </a:solidFill>
                <a:latin typeface="Oracle Sans Tab" pitchFamily="34" charset="0"/>
                <a:ea typeface="Oracle Sans Tab" pitchFamily="34" charset="-122"/>
                <a:cs typeface="Oracle Sans Tab" pitchFamily="34" charset="-120"/>
              </a:rPr>
              <a:t>THE HARNESS, ENCAPSULATED ON ORACLE</a:t>
            </a:r>
            <a:endParaRPr lang="en-US" sz="1575" dirty="0"/>
          </a:p>
        </p:txBody>
      </p:sp>
      <p:sp>
        <p:nvSpPr>
          <p:cNvPr id="5" name="Shape 2"/>
          <p:cNvSpPr/>
          <p:nvPr/>
        </p:nvSpPr>
        <p:spPr>
          <a:xfrm>
            <a:off x="960096" y="1262042"/>
            <a:ext cx="576244" cy="26458"/>
          </a:xfrm>
          <a:prstGeom prst="rect">
            <a:avLst/>
          </a:prstGeom>
          <a:solidFill>
            <a:srgbClr val="FD6953"/>
          </a:solidFill>
          <a:ln/>
        </p:spPr>
        <p:txBody>
          <a:bodyPr/>
          <a:lstStyle/>
          <a:p>
            <a:endParaRPr lang="en-US"/>
          </a:p>
        </p:txBody>
      </p:sp>
      <p:sp>
        <p:nvSpPr>
          <p:cNvPr id="6" name="Text 3"/>
          <p:cNvSpPr/>
          <p:nvPr/>
        </p:nvSpPr>
        <p:spPr>
          <a:xfrm>
            <a:off x="960096" y="1522078"/>
            <a:ext cx="15540180" cy="312399"/>
          </a:xfrm>
          <a:prstGeom prst="rect">
            <a:avLst/>
          </a:prstGeom>
          <a:noFill/>
          <a:ln/>
        </p:spPr>
        <p:txBody>
          <a:bodyPr wrap="square" lIns="25400" tIns="25400" rIns="25400" bIns="25400" rtlCol="0" anchor="t">
            <a:normAutofit/>
          </a:bodyPr>
          <a:lstStyle/>
          <a:p>
            <a:pPr marL="0" indent="0" algn="l">
              <a:lnSpc>
                <a:spcPct val="92160"/>
              </a:lnSpc>
              <a:buNone/>
            </a:pPr>
            <a:r>
              <a:rPr lang="en-US" sz="1800" b="1" dirty="0">
                <a:solidFill>
                  <a:srgbClr val="FD6953"/>
                </a:solidFill>
                <a:latin typeface="Oracle Sans Tab" pitchFamily="34" charset="0"/>
                <a:ea typeface="Oracle Sans Tab" pitchFamily="34" charset="-122"/>
                <a:cs typeface="Oracle Sans Tab" pitchFamily="34" charset="-120"/>
              </a:rPr>
              <a:t>THE HARNESS ON ORACLE</a:t>
            </a:r>
            <a:endParaRPr lang="en-US" sz="1800" dirty="0"/>
          </a:p>
        </p:txBody>
      </p:sp>
      <p:sp>
        <p:nvSpPr>
          <p:cNvPr id="7" name="Text 4"/>
          <p:cNvSpPr/>
          <p:nvPr/>
        </p:nvSpPr>
        <p:spPr>
          <a:xfrm>
            <a:off x="960096" y="1988819"/>
            <a:ext cx="16952925" cy="723846"/>
          </a:xfrm>
          <a:prstGeom prst="rect">
            <a:avLst/>
          </a:prstGeom>
          <a:noFill/>
          <a:ln/>
        </p:spPr>
        <p:txBody>
          <a:bodyPr wrap="square" lIns="25400" tIns="25400" rIns="25400" bIns="25400" rtlCol="0" anchor="t">
            <a:normAutofit/>
          </a:bodyPr>
          <a:lstStyle/>
          <a:p>
            <a:pPr marL="0" indent="0" algn="l">
              <a:lnSpc>
                <a:spcPct val="92160"/>
              </a:lnSpc>
              <a:buNone/>
            </a:pPr>
            <a:r>
              <a:rPr lang="en-US" sz="4500" b="1" dirty="0">
                <a:solidFill>
                  <a:srgbClr val="FFFFFF"/>
                </a:solidFill>
                <a:latin typeface="Oracle Sans Tab" pitchFamily="34" charset="0"/>
                <a:ea typeface="Oracle Sans Tab" pitchFamily="34" charset="-122"/>
                <a:cs typeface="Oracle Sans Tab" pitchFamily="34" charset="-120"/>
              </a:rPr>
              <a:t>Every layer maps to an Oracle </a:t>
            </a:r>
            <a:r>
              <a:rPr lang="en-US" sz="4500" b="1" i="1" dirty="0">
                <a:solidFill>
                  <a:srgbClr val="FD6953"/>
                </a:solidFill>
                <a:latin typeface="Oracle Sans Tab" pitchFamily="34" charset="0"/>
                <a:ea typeface="Oracle Sans Tab" pitchFamily="34" charset="-122"/>
                <a:cs typeface="Oracle Sans Tab" pitchFamily="34" charset="-120"/>
              </a:rPr>
              <a:t>primitive.</a:t>
            </a:r>
            <a:endParaRPr lang="en-US" sz="1200" dirty="0"/>
          </a:p>
        </p:txBody>
      </p:sp>
      <p:sp>
        <p:nvSpPr>
          <p:cNvPr id="8" name="Shape 5"/>
          <p:cNvSpPr/>
          <p:nvPr/>
        </p:nvSpPr>
        <p:spPr>
          <a:xfrm>
            <a:off x="960096" y="3497564"/>
            <a:ext cx="16367735" cy="6103607"/>
          </a:xfrm>
          <a:prstGeom prst="roundRect">
            <a:avLst>
              <a:gd name="adj" fmla="val 2247"/>
            </a:avLst>
          </a:prstGeom>
          <a:solidFill>
            <a:srgbClr val="0B5060"/>
          </a:solidFill>
          <a:ln w="26458">
            <a:solidFill>
              <a:srgbClr val="FD6953"/>
            </a:solidFill>
            <a:prstDash val="solid"/>
          </a:ln>
          <a:effectLst>
            <a:outerShdw blurRad="114300" dist="19050" dir="5400000" algn="bl" rotWithShape="0">
              <a:srgbClr val="000000">
                <a:alpha val="18000"/>
              </a:srgbClr>
            </a:outerShdw>
          </a:effectLst>
        </p:spPr>
        <p:txBody>
          <a:bodyPr/>
          <a:lstStyle/>
          <a:p>
            <a:endParaRPr lang="en-US"/>
          </a:p>
        </p:txBody>
      </p:sp>
      <p:sp>
        <p:nvSpPr>
          <p:cNvPr id="9" name="Shape 6"/>
          <p:cNvSpPr/>
          <p:nvPr/>
        </p:nvSpPr>
        <p:spPr>
          <a:xfrm>
            <a:off x="1440170" y="3497564"/>
            <a:ext cx="4663436" cy="630504"/>
          </a:xfrm>
          <a:prstGeom prst="roundRect">
            <a:avLst>
              <a:gd name="adj" fmla="val 12992"/>
            </a:avLst>
          </a:prstGeom>
          <a:solidFill>
            <a:srgbClr val="C74634"/>
          </a:solidFill>
          <a:ln w="16536">
            <a:solidFill>
              <a:srgbClr val="FD6953"/>
            </a:solidFill>
            <a:prstDash val="solid"/>
          </a:ln>
        </p:spPr>
        <p:txBody>
          <a:bodyPr/>
          <a:lstStyle/>
          <a:p>
            <a:endParaRPr lang="en-US"/>
          </a:p>
        </p:txBody>
      </p:sp>
      <p:sp>
        <p:nvSpPr>
          <p:cNvPr id="10" name="Text 7"/>
          <p:cNvSpPr/>
          <p:nvPr/>
        </p:nvSpPr>
        <p:spPr>
          <a:xfrm>
            <a:off x="1206999" y="3698534"/>
            <a:ext cx="5129780" cy="266665"/>
          </a:xfrm>
          <a:prstGeom prst="rect">
            <a:avLst/>
          </a:prstGeom>
          <a:noFill/>
          <a:ln/>
        </p:spPr>
        <p:txBody>
          <a:bodyPr wrap="square" lIns="25400" tIns="25400" rIns="25400" bIns="25400" rtlCol="0" anchor="t">
            <a:normAutofit/>
          </a:bodyPr>
          <a:lstStyle/>
          <a:p>
            <a:pPr marL="0" indent="0" algn="ctr">
              <a:lnSpc>
                <a:spcPct val="92160"/>
              </a:lnSpc>
              <a:buNone/>
            </a:pPr>
            <a:r>
              <a:rPr lang="en-US" sz="1500" b="1" dirty="0">
                <a:solidFill>
                  <a:srgbClr val="FFFFFF"/>
                </a:solidFill>
                <a:latin typeface="Oracle Sans Tab" pitchFamily="34" charset="0"/>
                <a:ea typeface="Oracle Sans Tab" pitchFamily="34" charset="-122"/>
                <a:cs typeface="Oracle Sans Tab" pitchFamily="34" charset="-120"/>
              </a:rPr>
              <a:t>AGENT HARNESS ON ORACLE</a:t>
            </a:r>
            <a:endParaRPr lang="en-US" sz="1500" dirty="0"/>
          </a:p>
        </p:txBody>
      </p:sp>
      <p:sp>
        <p:nvSpPr>
          <p:cNvPr id="11" name="Shape 8"/>
          <p:cNvSpPr/>
          <p:nvPr/>
        </p:nvSpPr>
        <p:spPr>
          <a:xfrm>
            <a:off x="1440170" y="4320511"/>
            <a:ext cx="15407637" cy="582910"/>
          </a:xfrm>
          <a:prstGeom prst="roundRect">
            <a:avLst>
              <a:gd name="adj" fmla="val 11765"/>
            </a:avLst>
          </a:prstGeom>
          <a:solidFill>
            <a:srgbClr val="04303F"/>
          </a:solidFill>
          <a:ln w="16536">
            <a:solidFill>
              <a:srgbClr val="FFFFFF">
                <a:alpha val="45000"/>
              </a:srgbClr>
            </a:solidFill>
            <a:prstDash val="solid"/>
          </a:ln>
        </p:spPr>
        <p:txBody>
          <a:bodyPr/>
          <a:lstStyle/>
          <a:p>
            <a:endParaRPr lang="en-US"/>
          </a:p>
        </p:txBody>
      </p:sp>
      <p:sp>
        <p:nvSpPr>
          <p:cNvPr id="12" name="Text 9"/>
          <p:cNvSpPr/>
          <p:nvPr/>
        </p:nvSpPr>
        <p:spPr>
          <a:xfrm>
            <a:off x="1714469" y="4348158"/>
            <a:ext cx="3814387"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Model</a:t>
            </a:r>
            <a:endParaRPr lang="en-US" sz="1875" dirty="0"/>
          </a:p>
        </p:txBody>
      </p:sp>
      <p:sp>
        <p:nvSpPr>
          <p:cNvPr id="13" name="Text 10"/>
          <p:cNvSpPr/>
          <p:nvPr/>
        </p:nvSpPr>
        <p:spPr>
          <a:xfrm>
            <a:off x="5554958" y="4361491"/>
            <a:ext cx="12120351" cy="247648"/>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650" dirty="0">
                <a:solidFill>
                  <a:srgbClr val="9FBBC3"/>
                </a:solidFill>
                <a:latin typeface="Oracle Sans Tab" pitchFamily="34" charset="0"/>
                <a:ea typeface="Oracle Sans Tab" pitchFamily="34" charset="-122"/>
                <a:cs typeface="Oracle Sans Tab" pitchFamily="34" charset="-120"/>
              </a:rPr>
              <a:t>OCI Generative AI (hosted frontier models) + in-database ONNX embedder &amp; reranker</a:t>
            </a:r>
            <a:endParaRPr lang="en-US" sz="1650" dirty="0"/>
          </a:p>
        </p:txBody>
      </p:sp>
      <p:sp>
        <p:nvSpPr>
          <p:cNvPr id="14" name="Text 11"/>
          <p:cNvSpPr/>
          <p:nvPr/>
        </p:nvSpPr>
        <p:spPr>
          <a:xfrm>
            <a:off x="1714469" y="4999643"/>
            <a:ext cx="3814387"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Storage</a:t>
            </a:r>
            <a:endParaRPr lang="en-US" sz="1875" dirty="0"/>
          </a:p>
        </p:txBody>
      </p:sp>
      <p:sp>
        <p:nvSpPr>
          <p:cNvPr id="15" name="Text 12"/>
          <p:cNvSpPr/>
          <p:nvPr/>
        </p:nvSpPr>
        <p:spPr>
          <a:xfrm>
            <a:off x="5554958" y="5012975"/>
            <a:ext cx="12120351" cy="247648"/>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650" dirty="0">
                <a:solidFill>
                  <a:srgbClr val="C3D7DC"/>
                </a:solidFill>
                <a:latin typeface="Oracle Sans Tab" pitchFamily="34" charset="0"/>
                <a:ea typeface="Oracle Sans Tab" pitchFamily="34" charset="-122"/>
                <a:cs typeface="Oracle Sans Tab" pitchFamily="34" charset="-120"/>
              </a:rPr>
              <a:t>In-database POSIX filesystem (SecureFiles LOBs) + relational / vector tables, one ACID boundary</a:t>
            </a:r>
            <a:endParaRPr lang="en-US" sz="1650" dirty="0"/>
          </a:p>
        </p:txBody>
      </p:sp>
      <p:sp>
        <p:nvSpPr>
          <p:cNvPr id="16" name="Shape 13"/>
          <p:cNvSpPr/>
          <p:nvPr/>
        </p:nvSpPr>
        <p:spPr>
          <a:xfrm>
            <a:off x="1714469" y="5554958"/>
            <a:ext cx="14858990" cy="13229"/>
          </a:xfrm>
          <a:prstGeom prst="rect">
            <a:avLst/>
          </a:prstGeom>
          <a:solidFill>
            <a:srgbClr val="FFFFFF">
              <a:alpha val="22000"/>
            </a:srgbClr>
          </a:solidFill>
          <a:ln/>
        </p:spPr>
        <p:txBody>
          <a:bodyPr/>
          <a:lstStyle/>
          <a:p>
            <a:endParaRPr lang="en-US"/>
          </a:p>
        </p:txBody>
      </p:sp>
      <p:sp>
        <p:nvSpPr>
          <p:cNvPr id="17" name="Text 14"/>
          <p:cNvSpPr/>
          <p:nvPr/>
        </p:nvSpPr>
        <p:spPr>
          <a:xfrm>
            <a:off x="1714469" y="5651179"/>
            <a:ext cx="3814387"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Encoding &amp; retrieval</a:t>
            </a:r>
            <a:endParaRPr lang="en-US" sz="1875" dirty="0"/>
          </a:p>
        </p:txBody>
      </p:sp>
      <p:sp>
        <p:nvSpPr>
          <p:cNvPr id="18" name="Text 15"/>
          <p:cNvSpPr/>
          <p:nvPr/>
        </p:nvSpPr>
        <p:spPr>
          <a:xfrm>
            <a:off x="5554958" y="5664512"/>
            <a:ext cx="12120351" cy="247648"/>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650" dirty="0">
                <a:solidFill>
                  <a:srgbClr val="C3D7DC"/>
                </a:solidFill>
                <a:latin typeface="Oracle Sans Tab" pitchFamily="34" charset="0"/>
                <a:ea typeface="Oracle Sans Tab" pitchFamily="34" charset="-122"/>
                <a:cs typeface="Oracle Sans Tab" pitchFamily="34" charset="-120"/>
              </a:rPr>
              <a:t>OracleVS + in-DB embeddings, AI Vector Search (HNSW), Oracle Text, hybrid RRF, rerank</a:t>
            </a:r>
            <a:endParaRPr lang="en-US" sz="1650" dirty="0"/>
          </a:p>
        </p:txBody>
      </p:sp>
      <p:sp>
        <p:nvSpPr>
          <p:cNvPr id="19" name="Shape 16"/>
          <p:cNvSpPr/>
          <p:nvPr/>
        </p:nvSpPr>
        <p:spPr>
          <a:xfrm>
            <a:off x="1714469" y="6206443"/>
            <a:ext cx="14858990" cy="13229"/>
          </a:xfrm>
          <a:prstGeom prst="rect">
            <a:avLst/>
          </a:prstGeom>
          <a:solidFill>
            <a:srgbClr val="FFFFFF">
              <a:alpha val="22000"/>
            </a:srgbClr>
          </a:solidFill>
          <a:ln/>
        </p:spPr>
        <p:txBody>
          <a:bodyPr/>
          <a:lstStyle/>
          <a:p>
            <a:endParaRPr lang="en-US"/>
          </a:p>
        </p:txBody>
      </p:sp>
      <p:sp>
        <p:nvSpPr>
          <p:cNvPr id="20" name="Text 17"/>
          <p:cNvSpPr/>
          <p:nvPr/>
        </p:nvSpPr>
        <p:spPr>
          <a:xfrm>
            <a:off x="1714469" y="6302664"/>
            <a:ext cx="3814387"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Memory</a:t>
            </a:r>
            <a:endParaRPr lang="en-US" sz="1875" dirty="0"/>
          </a:p>
        </p:txBody>
      </p:sp>
      <p:sp>
        <p:nvSpPr>
          <p:cNvPr id="21" name="Text 18"/>
          <p:cNvSpPr/>
          <p:nvPr/>
        </p:nvSpPr>
        <p:spPr>
          <a:xfrm>
            <a:off x="5554958" y="6315996"/>
            <a:ext cx="12120351" cy="247648"/>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650" dirty="0">
                <a:solidFill>
                  <a:srgbClr val="C3D7DC"/>
                </a:solidFill>
                <a:latin typeface="Oracle Sans Tab" pitchFamily="34" charset="0"/>
                <a:ea typeface="Oracle Sans Tab" pitchFamily="34" charset="-122"/>
                <a:cs typeface="Oracle Sans Tab" pitchFamily="34" charset="-120"/>
              </a:rPr>
              <a:t>Oracle AI Agent Memory Package (OAMP)</a:t>
            </a:r>
            <a:endParaRPr lang="en-US" sz="1650" dirty="0"/>
          </a:p>
        </p:txBody>
      </p:sp>
      <p:sp>
        <p:nvSpPr>
          <p:cNvPr id="22" name="Shape 19"/>
          <p:cNvSpPr/>
          <p:nvPr/>
        </p:nvSpPr>
        <p:spPr>
          <a:xfrm>
            <a:off x="1714469" y="6857979"/>
            <a:ext cx="14858990" cy="13229"/>
          </a:xfrm>
          <a:prstGeom prst="rect">
            <a:avLst/>
          </a:prstGeom>
          <a:solidFill>
            <a:srgbClr val="FFFFFF">
              <a:alpha val="22000"/>
            </a:srgbClr>
          </a:solidFill>
          <a:ln/>
        </p:spPr>
        <p:txBody>
          <a:bodyPr/>
          <a:lstStyle/>
          <a:p>
            <a:endParaRPr lang="en-US"/>
          </a:p>
        </p:txBody>
      </p:sp>
      <p:sp>
        <p:nvSpPr>
          <p:cNvPr id="23" name="Text 20"/>
          <p:cNvSpPr/>
          <p:nvPr/>
        </p:nvSpPr>
        <p:spPr>
          <a:xfrm>
            <a:off x="1714469" y="6954201"/>
            <a:ext cx="3814387"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Semantic</a:t>
            </a:r>
            <a:endParaRPr lang="en-US" sz="1875" dirty="0"/>
          </a:p>
        </p:txBody>
      </p:sp>
      <p:sp>
        <p:nvSpPr>
          <p:cNvPr id="24" name="Text 21"/>
          <p:cNvSpPr/>
          <p:nvPr/>
        </p:nvSpPr>
        <p:spPr>
          <a:xfrm>
            <a:off x="5554958" y="6967533"/>
            <a:ext cx="12120351" cy="247648"/>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650" dirty="0">
                <a:solidFill>
                  <a:srgbClr val="C3D7DC"/>
                </a:solidFill>
                <a:latin typeface="Oracle Sans Tab" pitchFamily="34" charset="0"/>
                <a:ea typeface="Oracle Sans Tab" pitchFamily="34" charset="-122"/>
                <a:cs typeface="Oracle Sans Tab" pitchFamily="34" charset="-120"/>
              </a:rPr>
              <a:t>Comments + annotations + use-case domains + views + V$SQL, catalog (DBMS_SCHEDULER)</a:t>
            </a:r>
            <a:endParaRPr lang="en-US" sz="1650" dirty="0"/>
          </a:p>
        </p:txBody>
      </p:sp>
      <p:sp>
        <p:nvSpPr>
          <p:cNvPr id="25" name="Shape 22"/>
          <p:cNvSpPr/>
          <p:nvPr/>
        </p:nvSpPr>
        <p:spPr>
          <a:xfrm>
            <a:off x="1714469" y="7509464"/>
            <a:ext cx="14858990" cy="13229"/>
          </a:xfrm>
          <a:prstGeom prst="rect">
            <a:avLst/>
          </a:prstGeom>
          <a:solidFill>
            <a:srgbClr val="FFFFFF">
              <a:alpha val="22000"/>
            </a:srgbClr>
          </a:solidFill>
          <a:ln/>
        </p:spPr>
        <p:txBody>
          <a:bodyPr/>
          <a:lstStyle/>
          <a:p>
            <a:endParaRPr lang="en-US"/>
          </a:p>
        </p:txBody>
      </p:sp>
      <p:sp>
        <p:nvSpPr>
          <p:cNvPr id="26" name="Text 23"/>
          <p:cNvSpPr/>
          <p:nvPr/>
        </p:nvSpPr>
        <p:spPr>
          <a:xfrm>
            <a:off x="1714469" y="7605685"/>
            <a:ext cx="3814387"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Skills &amp; automations</a:t>
            </a:r>
            <a:endParaRPr lang="en-US" sz="1875" dirty="0"/>
          </a:p>
        </p:txBody>
      </p:sp>
      <p:sp>
        <p:nvSpPr>
          <p:cNvPr id="27" name="Text 24"/>
          <p:cNvSpPr/>
          <p:nvPr/>
        </p:nvSpPr>
        <p:spPr>
          <a:xfrm>
            <a:off x="5554958" y="7619018"/>
            <a:ext cx="12120351" cy="247648"/>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650" dirty="0">
                <a:solidFill>
                  <a:srgbClr val="C3D7DC"/>
                </a:solidFill>
                <a:latin typeface="Oracle Sans Tab" pitchFamily="34" charset="0"/>
                <a:ea typeface="Oracle Sans Tab" pitchFamily="34" charset="-122"/>
                <a:cs typeface="Oracle Sans Tab" pitchFamily="34" charset="-120"/>
              </a:rPr>
              <a:t>Toolbox / skillbox tables (HNSW), SHA-versioned SKILL.md, DBMS_SCHEDULER automations</a:t>
            </a:r>
            <a:endParaRPr lang="en-US" sz="1650" dirty="0"/>
          </a:p>
        </p:txBody>
      </p:sp>
      <p:sp>
        <p:nvSpPr>
          <p:cNvPr id="28" name="Shape 25"/>
          <p:cNvSpPr/>
          <p:nvPr/>
        </p:nvSpPr>
        <p:spPr>
          <a:xfrm>
            <a:off x="1714469" y="8161000"/>
            <a:ext cx="14858990" cy="13229"/>
          </a:xfrm>
          <a:prstGeom prst="rect">
            <a:avLst/>
          </a:prstGeom>
          <a:solidFill>
            <a:srgbClr val="FFFFFF">
              <a:alpha val="22000"/>
            </a:srgbClr>
          </a:solidFill>
          <a:ln/>
        </p:spPr>
        <p:txBody>
          <a:bodyPr/>
          <a:lstStyle/>
          <a:p>
            <a:endParaRPr lang="en-US"/>
          </a:p>
        </p:txBody>
      </p:sp>
      <p:sp>
        <p:nvSpPr>
          <p:cNvPr id="29" name="Text 26"/>
          <p:cNvSpPr/>
          <p:nvPr/>
        </p:nvSpPr>
        <p:spPr>
          <a:xfrm>
            <a:off x="1714469" y="8257222"/>
            <a:ext cx="3814387"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Agent loop</a:t>
            </a:r>
            <a:endParaRPr lang="en-US" sz="1875" dirty="0"/>
          </a:p>
        </p:txBody>
      </p:sp>
      <p:sp>
        <p:nvSpPr>
          <p:cNvPr id="30" name="Text 27"/>
          <p:cNvSpPr/>
          <p:nvPr/>
        </p:nvSpPr>
        <p:spPr>
          <a:xfrm>
            <a:off x="5554958" y="8270554"/>
            <a:ext cx="12120351" cy="247648"/>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650" dirty="0">
                <a:solidFill>
                  <a:srgbClr val="C3D7DC"/>
                </a:solidFill>
                <a:latin typeface="Oracle Sans Tab" pitchFamily="34" charset="0"/>
                <a:ea typeface="Oracle Sans Tab" pitchFamily="34" charset="-122"/>
                <a:cs typeface="Oracle Sans Tab" pitchFamily="34" charset="-120"/>
              </a:rPr>
              <a:t>LangGraph state graph + Oracle-backed checkpoints</a:t>
            </a:r>
            <a:endParaRPr lang="en-US" sz="1650" dirty="0"/>
          </a:p>
        </p:txBody>
      </p:sp>
      <p:sp>
        <p:nvSpPr>
          <p:cNvPr id="31" name="Shape 28"/>
          <p:cNvSpPr/>
          <p:nvPr/>
        </p:nvSpPr>
        <p:spPr>
          <a:xfrm>
            <a:off x="1714469" y="8812485"/>
            <a:ext cx="14858990" cy="13229"/>
          </a:xfrm>
          <a:prstGeom prst="rect">
            <a:avLst/>
          </a:prstGeom>
          <a:solidFill>
            <a:srgbClr val="FFFFFF">
              <a:alpha val="22000"/>
            </a:srgbClr>
          </a:solidFill>
          <a:ln/>
        </p:spPr>
        <p:txBody>
          <a:bodyPr/>
          <a:lstStyle/>
          <a:p>
            <a:endParaRPr lang="en-US"/>
          </a:p>
        </p:txBody>
      </p:sp>
      <p:sp>
        <p:nvSpPr>
          <p:cNvPr id="32" name="Text 29"/>
          <p:cNvSpPr/>
          <p:nvPr/>
        </p:nvSpPr>
        <p:spPr>
          <a:xfrm>
            <a:off x="1714469" y="8908707"/>
            <a:ext cx="3814387" cy="323819"/>
          </a:xfrm>
          <a:prstGeom prst="rect">
            <a:avLst/>
          </a:prstGeom>
          <a:noFill/>
          <a:ln/>
        </p:spPr>
        <p:txBody>
          <a:bodyPr wrap="square" lIns="25400" tIns="25400" rIns="25400" bIns="25400" rtlCol="0" anchor="t">
            <a:normAutofit/>
          </a:bodyPr>
          <a:lstStyle/>
          <a:p>
            <a:pPr marL="0" indent="0" algn="l">
              <a:lnSpc>
                <a:spcPct val="92160"/>
              </a:lnSpc>
              <a:buNone/>
            </a:pPr>
            <a:r>
              <a:rPr lang="en-US" sz="1875" b="1" dirty="0">
                <a:solidFill>
                  <a:srgbClr val="FFFFFF"/>
                </a:solidFill>
                <a:latin typeface="Oracle Sans Tab" pitchFamily="34" charset="0"/>
                <a:ea typeface="Oracle Sans Tab" pitchFamily="34" charset="-122"/>
                <a:cs typeface="Oracle Sans Tab" pitchFamily="34" charset="-120"/>
              </a:rPr>
              <a:t>Context engineering</a:t>
            </a:r>
            <a:endParaRPr lang="en-US" sz="1875" dirty="0"/>
          </a:p>
        </p:txBody>
      </p:sp>
      <p:sp>
        <p:nvSpPr>
          <p:cNvPr id="33" name="Text 30"/>
          <p:cNvSpPr/>
          <p:nvPr/>
        </p:nvSpPr>
        <p:spPr>
          <a:xfrm>
            <a:off x="5554958" y="8922039"/>
            <a:ext cx="12120351" cy="247648"/>
          </a:xfrm>
          <a:prstGeom prst="rect">
            <a:avLst/>
          </a:prstGeom>
          <a:noFill/>
          <a:ln/>
        </p:spPr>
        <p:txBody>
          <a:bodyPr wrap="square" lIns="25400" tIns="25400" rIns="25400" bIns="25400" rtlCol="0" anchor="t">
            <a:normAutofit lnSpcReduction="10000"/>
          </a:bodyPr>
          <a:lstStyle/>
          <a:p>
            <a:pPr marL="0" indent="0" algn="l">
              <a:lnSpc>
                <a:spcPct val="76800"/>
              </a:lnSpc>
              <a:buNone/>
            </a:pPr>
            <a:r>
              <a:rPr lang="en-US" sz="1650" dirty="0">
                <a:solidFill>
                  <a:srgbClr val="C3D7DC"/>
                </a:solidFill>
                <a:latin typeface="Oracle Sans Tab" pitchFamily="34" charset="0"/>
                <a:ea typeface="Oracle Sans Tab" pitchFamily="34" charset="-122"/>
                <a:cs typeface="Oracle Sans Tab" pitchFamily="34" charset="-120"/>
              </a:rPr>
              <a:t>OAMP context card (compaction) + substrate-aware offloading, row-level security</a:t>
            </a:r>
            <a:endParaRPr lang="en-US" sz="16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2193059" y="764811"/>
            <a:ext cx="13901809" cy="2095339"/>
          </a:xfrm>
          <a:prstGeom prst="rect">
            <a:avLst/>
          </a:prstGeom>
          <a:noFill/>
          <a:ln/>
        </p:spPr>
        <p:txBody>
          <a:bodyPr wrap="square" lIns="25400" tIns="25400" rIns="25400" bIns="25400" rtlCol="0" anchor="t">
            <a:normAutofit/>
          </a:bodyPr>
          <a:lstStyle/>
          <a:p>
            <a:pPr marL="0" indent="0" algn="ctr">
              <a:lnSpc>
                <a:spcPct val="92160"/>
              </a:lnSpc>
              <a:buNone/>
            </a:pPr>
            <a:r>
              <a:rPr lang="en-US" sz="4500" b="1" i="1" dirty="0">
                <a:solidFill>
                  <a:srgbClr val="FFFFFF"/>
                </a:solidFill>
                <a:latin typeface="Oracle Sans Tab" pitchFamily="34" charset="0"/>
                <a:ea typeface="Oracle Sans Tab" pitchFamily="34" charset="-122"/>
                <a:cs typeface="Oracle Sans Tab" pitchFamily="34" charset="-120"/>
              </a:rPr>
              <a:t>Join the Oracle AI Developer Discord Channel to ask questions about Agent Memory and the Oracle AI Agent Memory Package</a:t>
            </a:r>
            <a:endParaRPr lang="en-US" sz="4500" dirty="0"/>
          </a:p>
        </p:txBody>
      </p:sp>
      <p:pic>
        <p:nvPicPr>
          <p:cNvPr id="4" name="Image 1" descr="preencoded.png"/>
          <p:cNvPicPr>
            <a:picLocks noChangeAspect="1"/>
          </p:cNvPicPr>
          <p:nvPr/>
        </p:nvPicPr>
        <p:blipFill>
          <a:blip r:embed="rId4"/>
          <a:srcRect/>
          <a:stretch/>
        </p:blipFill>
        <p:spPr>
          <a:xfrm>
            <a:off x="5874990" y="3203215"/>
            <a:ext cx="6537947" cy="6537947"/>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432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7979" cy="10286969"/>
          </a:xfrm>
          <a:prstGeom prst="rect">
            <a:avLst/>
          </a:prstGeom>
        </p:spPr>
      </p:pic>
      <p:sp>
        <p:nvSpPr>
          <p:cNvPr id="3" name="Text 0"/>
          <p:cNvSpPr/>
          <p:nvPr/>
        </p:nvSpPr>
        <p:spPr>
          <a:xfrm>
            <a:off x="2193059" y="764811"/>
            <a:ext cx="13901809" cy="723846"/>
          </a:xfrm>
          <a:prstGeom prst="rect">
            <a:avLst/>
          </a:prstGeom>
          <a:noFill/>
          <a:ln/>
        </p:spPr>
        <p:txBody>
          <a:bodyPr wrap="square" lIns="25400" tIns="25400" rIns="25400" bIns="25400" rtlCol="0" anchor="t">
            <a:normAutofit/>
          </a:bodyPr>
          <a:lstStyle/>
          <a:p>
            <a:pPr marL="0" indent="0" algn="ctr">
              <a:lnSpc>
                <a:spcPct val="92160"/>
              </a:lnSpc>
              <a:buNone/>
            </a:pPr>
            <a:r>
              <a:rPr lang="en-US" sz="4500" b="1" i="1" dirty="0">
                <a:solidFill>
                  <a:srgbClr val="FFFFFF"/>
                </a:solidFill>
                <a:latin typeface="Oracle Sans Tab" pitchFamily="34" charset="0"/>
                <a:ea typeface="Oracle Sans Tab" pitchFamily="34" charset="-122"/>
                <a:cs typeface="Oracle Sans Tab" pitchFamily="34" charset="-120"/>
              </a:rPr>
              <a:t>Oracle AI Developer Hub</a:t>
            </a:r>
            <a:endParaRPr lang="en-US" sz="4500" dirty="0"/>
          </a:p>
        </p:txBody>
      </p:sp>
      <p:pic>
        <p:nvPicPr>
          <p:cNvPr id="4" name="Image 1" descr="preencoded.png"/>
          <p:cNvPicPr>
            <a:picLocks noChangeAspect="1"/>
          </p:cNvPicPr>
          <p:nvPr/>
        </p:nvPicPr>
        <p:blipFill>
          <a:blip r:embed="rId4"/>
          <a:srcRect/>
          <a:stretch/>
        </p:blipFill>
        <p:spPr>
          <a:xfrm>
            <a:off x="5034886" y="2068814"/>
            <a:ext cx="8218154" cy="821815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4223</TotalTime>
  <Words>11686</Words>
  <Application>Microsoft Macintosh PowerPoint</Application>
  <PresentationFormat>Custom</PresentationFormat>
  <Paragraphs>1305</Paragraphs>
  <Slides>67</Slides>
  <Notes>67</Notes>
  <HiddenSlides>15</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67</vt:i4>
      </vt:variant>
    </vt:vector>
  </HeadingPairs>
  <TitlesOfParts>
    <vt:vector size="71" baseType="lpstr">
      <vt:lpstr>Arial</vt:lpstr>
      <vt:lpstr>Menlo</vt:lpstr>
      <vt:lpstr>Oracle Sans Tab</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Ignacio Martinez</cp:lastModifiedBy>
  <cp:revision>6</cp:revision>
  <dcterms:created xsi:type="dcterms:W3CDTF">2026-09-15T16:46:03Z</dcterms:created>
  <dcterms:modified xsi:type="dcterms:W3CDTF">2026-09-18T15:57:13Z</dcterms:modified>
</cp:coreProperties>
</file>